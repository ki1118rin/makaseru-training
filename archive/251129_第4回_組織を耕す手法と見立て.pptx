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2" r:id="rId2"/>
  </p:sldMasterIdLst>
  <p:notesMasterIdLst>
    <p:notesMasterId r:id="rId82"/>
  </p:notesMasterIdLst>
  <p:sldIdLst>
    <p:sldId id="750" r:id="rId3"/>
    <p:sldId id="315" r:id="rId4"/>
    <p:sldId id="708" r:id="rId5"/>
    <p:sldId id="710" r:id="rId6"/>
    <p:sldId id="713" r:id="rId7"/>
    <p:sldId id="271" r:id="rId8"/>
    <p:sldId id="627" r:id="rId9"/>
    <p:sldId id="751" r:id="rId10"/>
    <p:sldId id="625" r:id="rId11"/>
    <p:sldId id="528" r:id="rId12"/>
    <p:sldId id="624" r:id="rId13"/>
    <p:sldId id="555" r:id="rId14"/>
    <p:sldId id="575" r:id="rId15"/>
    <p:sldId id="554" r:id="rId16"/>
    <p:sldId id="529" r:id="rId17"/>
    <p:sldId id="530" r:id="rId18"/>
    <p:sldId id="570" r:id="rId19"/>
    <p:sldId id="536" r:id="rId20"/>
    <p:sldId id="537" r:id="rId21"/>
    <p:sldId id="539" r:id="rId22"/>
    <p:sldId id="540" r:id="rId23"/>
    <p:sldId id="541" r:id="rId24"/>
    <p:sldId id="542" r:id="rId25"/>
    <p:sldId id="543" r:id="rId26"/>
    <p:sldId id="544" r:id="rId27"/>
    <p:sldId id="545" r:id="rId28"/>
    <p:sldId id="470" r:id="rId29"/>
    <p:sldId id="456" r:id="rId30"/>
    <p:sldId id="466" r:id="rId31"/>
    <p:sldId id="413" r:id="rId32"/>
    <p:sldId id="460" r:id="rId33"/>
    <p:sldId id="571" r:id="rId34"/>
    <p:sldId id="524" r:id="rId35"/>
    <p:sldId id="467" r:id="rId36"/>
    <p:sldId id="462" r:id="rId37"/>
    <p:sldId id="468" r:id="rId38"/>
    <p:sldId id="546" r:id="rId39"/>
    <p:sldId id="547" r:id="rId40"/>
    <p:sldId id="548" r:id="rId41"/>
    <p:sldId id="549" r:id="rId42"/>
    <p:sldId id="628" r:id="rId43"/>
    <p:sldId id="629" r:id="rId44"/>
    <p:sldId id="574" r:id="rId45"/>
    <p:sldId id="752" r:id="rId46"/>
    <p:sldId id="523" r:id="rId47"/>
    <p:sldId id="519" r:id="rId48"/>
    <p:sldId id="622" r:id="rId49"/>
    <p:sldId id="520" r:id="rId50"/>
    <p:sldId id="525" r:id="rId51"/>
    <p:sldId id="532" r:id="rId52"/>
    <p:sldId id="533" r:id="rId53"/>
    <p:sldId id="534" r:id="rId54"/>
    <p:sldId id="551" r:id="rId55"/>
    <p:sldId id="621" r:id="rId56"/>
    <p:sldId id="577" r:id="rId57"/>
    <p:sldId id="535" r:id="rId58"/>
    <p:sldId id="753" r:id="rId59"/>
    <p:sldId id="565" r:id="rId60"/>
    <p:sldId id="557" r:id="rId61"/>
    <p:sldId id="633" r:id="rId62"/>
    <p:sldId id="634" r:id="rId63"/>
    <p:sldId id="635" r:id="rId64"/>
    <p:sldId id="553" r:id="rId65"/>
    <p:sldId id="569" r:id="rId66"/>
    <p:sldId id="558" r:id="rId67"/>
    <p:sldId id="559" r:id="rId68"/>
    <p:sldId id="560" r:id="rId69"/>
    <p:sldId id="561" r:id="rId70"/>
    <p:sldId id="284" r:id="rId71"/>
    <p:sldId id="754" r:id="rId72"/>
    <p:sldId id="1141" r:id="rId73"/>
    <p:sldId id="1143" r:id="rId74"/>
    <p:sldId id="1142" r:id="rId75"/>
    <p:sldId id="1145" r:id="rId76"/>
    <p:sldId id="1144" r:id="rId77"/>
    <p:sldId id="1146" r:id="rId78"/>
    <p:sldId id="1147" r:id="rId79"/>
    <p:sldId id="576" r:id="rId80"/>
    <p:sldId id="393" r:id="rId8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iroshi Komukai" initials="" lastIdx="5" clrIdx="0"/>
  <p:cmAuthor id="1" name="児玉千織"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55" autoAdjust="0"/>
    <p:restoredTop sz="94656"/>
  </p:normalViewPr>
  <p:slideViewPr>
    <p:cSldViewPr snapToGrid="0">
      <p:cViewPr varScale="1">
        <p:scale>
          <a:sx n="107" d="100"/>
          <a:sy n="107" d="100"/>
        </p:scale>
        <p:origin x="51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uFillTx/>
              </a:defRPr>
            </a:lvl1pPr>
            <a:lvl2pPr marL="914400" lvl="1" indent="-298450">
              <a:spcBef>
                <a:spcPts val="0"/>
              </a:spcBef>
              <a:spcAft>
                <a:spcPts val="0"/>
              </a:spcAft>
              <a:buSzPts val="1100"/>
              <a:buChar char="○"/>
              <a:defRPr sz="1100">
                <a:uFillTx/>
              </a:defRPr>
            </a:lvl2pPr>
            <a:lvl3pPr marL="1371600" lvl="2" indent="-298450">
              <a:spcBef>
                <a:spcPts val="0"/>
              </a:spcBef>
              <a:spcAft>
                <a:spcPts val="0"/>
              </a:spcAft>
              <a:buSzPts val="1100"/>
              <a:buChar char="■"/>
              <a:defRPr sz="1100">
                <a:uFillTx/>
              </a:defRPr>
            </a:lvl3pPr>
            <a:lvl4pPr marL="1828800" lvl="3" indent="-298450">
              <a:spcBef>
                <a:spcPts val="0"/>
              </a:spcBef>
              <a:spcAft>
                <a:spcPts val="0"/>
              </a:spcAft>
              <a:buSzPts val="1100"/>
              <a:buChar char="●"/>
              <a:defRPr sz="1100">
                <a:uFillTx/>
              </a:defRPr>
            </a:lvl4pPr>
            <a:lvl5pPr marL="2286000" lvl="4" indent="-298450">
              <a:spcBef>
                <a:spcPts val="0"/>
              </a:spcBef>
              <a:spcAft>
                <a:spcPts val="0"/>
              </a:spcAft>
              <a:buSzPts val="1100"/>
              <a:buChar char="○"/>
              <a:defRPr sz="1100">
                <a:uFillTx/>
              </a:defRPr>
            </a:lvl5pPr>
            <a:lvl6pPr marL="2743200" lvl="5" indent="-298450">
              <a:spcBef>
                <a:spcPts val="0"/>
              </a:spcBef>
              <a:spcAft>
                <a:spcPts val="0"/>
              </a:spcAft>
              <a:buSzPts val="1100"/>
              <a:buChar char="■"/>
              <a:defRPr sz="1100">
                <a:uFillTx/>
              </a:defRPr>
            </a:lvl6pPr>
            <a:lvl7pPr marL="3200400" lvl="6" indent="-298450">
              <a:spcBef>
                <a:spcPts val="0"/>
              </a:spcBef>
              <a:spcAft>
                <a:spcPts val="0"/>
              </a:spcAft>
              <a:buSzPts val="1100"/>
              <a:buChar char="●"/>
              <a:defRPr sz="1100">
                <a:uFillTx/>
              </a:defRPr>
            </a:lvl7pPr>
            <a:lvl8pPr marL="3657600" lvl="7" indent="-298450">
              <a:spcBef>
                <a:spcPts val="0"/>
              </a:spcBef>
              <a:spcAft>
                <a:spcPts val="0"/>
              </a:spcAft>
              <a:buSzPts val="1100"/>
              <a:buChar char="○"/>
              <a:defRPr sz="1100">
                <a:uFillTx/>
              </a:defRPr>
            </a:lvl8pPr>
            <a:lvl9pPr marL="4114800" lvl="8" indent="-298450">
              <a:spcBef>
                <a:spcPts val="0"/>
              </a:spcBef>
              <a:spcAft>
                <a:spcPts val="0"/>
              </a:spcAft>
              <a:buSzPts val="1100"/>
              <a:buChar char="■"/>
              <a:defRPr sz="1100">
                <a:uFillTx/>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D8BC5-3934-4E9E-06F7-86935F36A6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EC9152A-5314-46AA-695A-756F91B57B92}"/>
              </a:ext>
            </a:extLst>
          </p:cNvPr>
          <p:cNvSpPr>
            <a:spLocks noGrp="1" noRot="1" noChangeAspect="1"/>
          </p:cNvSpPr>
          <p:nvPr>
            <p:ph type="sldImg"/>
          </p:nvPr>
        </p:nvSpPr>
        <p:spPr>
          <a:xfrm>
            <a:off x="381000" y="685800"/>
            <a:ext cx="6096000" cy="3429000"/>
          </a:xfrm>
        </p:spPr>
      </p:sp>
      <p:sp>
        <p:nvSpPr>
          <p:cNvPr id="3" name="ノート プレースホルダー 2">
            <a:extLst>
              <a:ext uri="{FF2B5EF4-FFF2-40B4-BE49-F238E27FC236}">
                <a16:creationId xmlns:a16="http://schemas.microsoft.com/office/drawing/2014/main" id="{BD054EEB-AF90-21B4-7CAA-C1E1571909C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EBC61F7-C712-7F95-9E99-28AEDACCA734}"/>
              </a:ext>
            </a:extLst>
          </p:cNvPr>
          <p:cNvSpPr>
            <a:spLocks noGrp="1"/>
          </p:cNvSpPr>
          <p:nvPr>
            <p:ph type="sldNum" sz="quarter" idx="10"/>
          </p:nvPr>
        </p:nvSpPr>
        <p:spPr/>
        <p:txBody>
          <a:bodyPr/>
          <a:lstStyle/>
          <a:p>
            <a:fld id="{31BD7B3A-84C7-4F5B-BE81-B2A1CB5B805B}" type="slidenum">
              <a:rPr kumimoji="1" lang="ja-JP" altLang="en-US" smtClean="0"/>
              <a:t>1</a:t>
            </a:fld>
            <a:endParaRPr kumimoji="1" lang="ja-JP" altLang="en-US"/>
          </a:p>
        </p:txBody>
      </p:sp>
      <p:sp>
        <p:nvSpPr>
          <p:cNvPr id="5" name="フッター プレースホルダー 4">
            <a:extLst>
              <a:ext uri="{FF2B5EF4-FFF2-40B4-BE49-F238E27FC236}">
                <a16:creationId xmlns:a16="http://schemas.microsoft.com/office/drawing/2014/main" id="{E3298050-5EB1-F274-9DAA-6D876FC734F5}"/>
              </a:ext>
            </a:extLst>
          </p:cNvPr>
          <p:cNvSpPr>
            <a:spLocks noGrp="1"/>
          </p:cNvSpPr>
          <p:nvPr>
            <p:ph type="ftr" sz="quarter" idx="11"/>
          </p:nvPr>
        </p:nvSpPr>
        <p:spPr/>
        <p:txBody>
          <a:bodyPr/>
          <a:lstStyle/>
          <a:p>
            <a:r>
              <a:rPr kumimoji="1" lang="en-US" altLang="ja-JP"/>
              <a:t>@2018 Hiroshi Komukai</a:t>
            </a:r>
            <a:endParaRPr kumimoji="1" lang="ja-JP" altLang="en-US"/>
          </a:p>
        </p:txBody>
      </p:sp>
      <p:sp>
        <p:nvSpPr>
          <p:cNvPr id="6" name="ヘッダー プレースホルダー 5">
            <a:extLst>
              <a:ext uri="{FF2B5EF4-FFF2-40B4-BE49-F238E27FC236}">
                <a16:creationId xmlns:a16="http://schemas.microsoft.com/office/drawing/2014/main" id="{CD132AE3-07A1-046F-C48A-A189FFCF82A5}"/>
              </a:ext>
            </a:extLst>
          </p:cNvPr>
          <p:cNvSpPr>
            <a:spLocks noGrp="1"/>
          </p:cNvSpPr>
          <p:nvPr>
            <p:ph type="hdr" sz="quarter" idx="12"/>
          </p:nvPr>
        </p:nvSpPr>
        <p:spPr/>
        <p:txBody>
          <a:bodyPr/>
          <a:lstStyle/>
          <a:p>
            <a:r>
              <a:rPr kumimoji="1" lang="zh-CN" altLang="en-US"/>
              <a:t>合宿参加者限定</a:t>
            </a:r>
            <a:endParaRPr kumimoji="1" lang="ja-JP" altLang="en-US"/>
          </a:p>
        </p:txBody>
      </p:sp>
    </p:spTree>
    <p:extLst>
      <p:ext uri="{BB962C8B-B14F-4D97-AF65-F5344CB8AC3E}">
        <p14:creationId xmlns:p14="http://schemas.microsoft.com/office/powerpoint/2010/main" val="3649132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31BD7B3A-84C7-4F5B-BE81-B2A1CB5B805B}" type="slidenum">
              <a:rPr kumimoji="1" lang="ja-JP" altLang="en-US" smtClean="0"/>
              <a:t>2</a:t>
            </a:fld>
            <a:endParaRPr kumimoji="1" lang="ja-JP" altLang="en-US"/>
          </a:p>
        </p:txBody>
      </p:sp>
      <p:sp>
        <p:nvSpPr>
          <p:cNvPr id="5" name="フッター プレースホルダー 4"/>
          <p:cNvSpPr>
            <a:spLocks noGrp="1"/>
          </p:cNvSpPr>
          <p:nvPr>
            <p:ph type="ftr" sz="quarter" idx="11"/>
          </p:nvPr>
        </p:nvSpPr>
        <p:spPr/>
        <p:txBody>
          <a:bodyPr/>
          <a:lstStyle/>
          <a:p>
            <a:r>
              <a:rPr kumimoji="1" lang="en-US" altLang="ja-JP"/>
              <a:t>@2018 Hiroshi Komukai</a:t>
            </a:r>
            <a:endParaRPr kumimoji="1" lang="ja-JP" altLang="en-US"/>
          </a:p>
        </p:txBody>
      </p:sp>
      <p:sp>
        <p:nvSpPr>
          <p:cNvPr id="6" name="ヘッダー プレースホルダー 5"/>
          <p:cNvSpPr>
            <a:spLocks noGrp="1"/>
          </p:cNvSpPr>
          <p:nvPr>
            <p:ph type="hdr" sz="quarter" idx="12"/>
          </p:nvPr>
        </p:nvSpPr>
        <p:spPr/>
        <p:txBody>
          <a:bodyPr/>
          <a:lstStyle/>
          <a:p>
            <a:r>
              <a:rPr kumimoji="1" lang="zh-CN" altLang="en-US"/>
              <a:t>合宿参加者限定</a:t>
            </a:r>
            <a:endParaRPr kumimoji="1" lang="ja-JP" altLang="en-US"/>
          </a:p>
        </p:txBody>
      </p:sp>
    </p:spTree>
    <p:extLst>
      <p:ext uri="{BB962C8B-B14F-4D97-AF65-F5344CB8AC3E}">
        <p14:creationId xmlns:p14="http://schemas.microsoft.com/office/powerpoint/2010/main" val="1677370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A6A979DA-328C-F14B-C8D4-991F31871D5A}"/>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A7BC8A0C-B0D7-30B8-9878-A4182E6C25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a:extLst>
              <a:ext uri="{FF2B5EF4-FFF2-40B4-BE49-F238E27FC236}">
                <a16:creationId xmlns:a16="http://schemas.microsoft.com/office/drawing/2014/main" id="{9C13A370-ABAF-8EA1-E74A-003D82739C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5780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F22D68D6-484E-D44C-17E8-08FD56E0932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F38F2594-A674-D69A-8338-241C172F7B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a:extLst>
              <a:ext uri="{FF2B5EF4-FFF2-40B4-BE49-F238E27FC236}">
                <a16:creationId xmlns:a16="http://schemas.microsoft.com/office/drawing/2014/main" id="{EA352219-96F8-9DFB-6CBF-C704BC23B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457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FCB8F620-29D7-83EE-91FC-8F015FCF039E}"/>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431759F7-DDB6-1665-E153-DD416B27F7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a:extLst>
              <a:ext uri="{FF2B5EF4-FFF2-40B4-BE49-F238E27FC236}">
                <a16:creationId xmlns:a16="http://schemas.microsoft.com/office/drawing/2014/main" id="{83CA199C-8DDD-DE2F-8BED-7514F93238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3564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4918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688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3108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0661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6669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7837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9596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31BD7B3A-84C7-4F5B-BE81-B2A1CB5B805B}" type="slidenum">
              <a:rPr kumimoji="1" lang="ja-JP" altLang="en-US" smtClean="0"/>
              <a:t>13</a:t>
            </a:fld>
            <a:endParaRPr kumimoji="1" lang="ja-JP" altLang="en-US"/>
          </a:p>
        </p:txBody>
      </p:sp>
      <p:sp>
        <p:nvSpPr>
          <p:cNvPr id="5" name="フッター プレースホルダー 4"/>
          <p:cNvSpPr>
            <a:spLocks noGrp="1"/>
          </p:cNvSpPr>
          <p:nvPr>
            <p:ph type="ftr" sz="quarter" idx="11"/>
          </p:nvPr>
        </p:nvSpPr>
        <p:spPr/>
        <p:txBody>
          <a:bodyPr/>
          <a:lstStyle/>
          <a:p>
            <a:r>
              <a:rPr kumimoji="1" lang="en-US" altLang="ja-JP"/>
              <a:t>@2018 Hiroshi Komukai</a:t>
            </a:r>
            <a:endParaRPr kumimoji="1" lang="ja-JP" altLang="en-US"/>
          </a:p>
        </p:txBody>
      </p:sp>
      <p:sp>
        <p:nvSpPr>
          <p:cNvPr id="6" name="ヘッダー プレースホルダー 5"/>
          <p:cNvSpPr>
            <a:spLocks noGrp="1"/>
          </p:cNvSpPr>
          <p:nvPr>
            <p:ph type="hdr" sz="quarter" idx="12"/>
          </p:nvPr>
        </p:nvSpPr>
        <p:spPr/>
        <p:txBody>
          <a:bodyPr/>
          <a:lstStyle/>
          <a:p>
            <a:r>
              <a:rPr kumimoji="1" lang="zh-CN" altLang="en-US"/>
              <a:t>合宿参加者限定</a:t>
            </a:r>
            <a:endParaRPr kumimoji="1" lang="ja-JP" altLang="en-US"/>
          </a:p>
        </p:txBody>
      </p:sp>
    </p:spTree>
    <p:extLst>
      <p:ext uri="{BB962C8B-B14F-4D97-AF65-F5344CB8AC3E}">
        <p14:creationId xmlns:p14="http://schemas.microsoft.com/office/powerpoint/2010/main" val="1439600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1886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5401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2581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373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9317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0723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79783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2455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5563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0028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1426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2477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3536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27213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2809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98024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72282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45154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17918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06901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975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686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42054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9851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49946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6485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69469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13146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38858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31BD7B3A-84C7-4F5B-BE81-B2A1CB5B805B}" type="slidenum">
              <a:rPr kumimoji="1" lang="ja-JP" altLang="en-US" smtClean="0"/>
              <a:t>43</a:t>
            </a:fld>
            <a:endParaRPr kumimoji="1" lang="ja-JP" altLang="en-US"/>
          </a:p>
        </p:txBody>
      </p:sp>
      <p:sp>
        <p:nvSpPr>
          <p:cNvPr id="5" name="フッター プレースホルダー 4"/>
          <p:cNvSpPr>
            <a:spLocks noGrp="1"/>
          </p:cNvSpPr>
          <p:nvPr>
            <p:ph type="ftr" sz="quarter" idx="11"/>
          </p:nvPr>
        </p:nvSpPr>
        <p:spPr/>
        <p:txBody>
          <a:bodyPr/>
          <a:lstStyle/>
          <a:p>
            <a:r>
              <a:rPr kumimoji="1" lang="en-US" altLang="ja-JP"/>
              <a:t>@2018 Hiroshi Komukai</a:t>
            </a:r>
            <a:endParaRPr kumimoji="1" lang="ja-JP" altLang="en-US"/>
          </a:p>
        </p:txBody>
      </p:sp>
      <p:sp>
        <p:nvSpPr>
          <p:cNvPr id="6" name="ヘッダー プレースホルダー 5"/>
          <p:cNvSpPr>
            <a:spLocks noGrp="1"/>
          </p:cNvSpPr>
          <p:nvPr>
            <p:ph type="hdr" sz="quarter" idx="12"/>
          </p:nvPr>
        </p:nvSpPr>
        <p:spPr/>
        <p:txBody>
          <a:bodyPr/>
          <a:lstStyle/>
          <a:p>
            <a:r>
              <a:rPr kumimoji="1" lang="zh-CN" altLang="en-US"/>
              <a:t>合宿参加者限定</a:t>
            </a:r>
            <a:endParaRPr kumimoji="1" lang="ja-JP" altLang="en-US"/>
          </a:p>
        </p:txBody>
      </p:sp>
    </p:spTree>
    <p:extLst>
      <p:ext uri="{BB962C8B-B14F-4D97-AF65-F5344CB8AC3E}">
        <p14:creationId xmlns:p14="http://schemas.microsoft.com/office/powerpoint/2010/main" val="30797861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4376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22032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99348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92900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860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14175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45503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56794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72246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5470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22154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33772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73987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9130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67707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57091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50354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61594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16951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7681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64996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71697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67352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11144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24795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35894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0720" y="4721186"/>
            <a:ext cx="5445760" cy="4472702"/>
          </a:xfrm>
          <a:prstGeom prst="rect">
            <a:avLst/>
          </a:prstGeom>
        </p:spPr>
        <p:txBody>
          <a:bodyPr spcFirstLastPara="1" wrap="square" lIns="95664" tIns="95664" rIns="95664" bIns="95664" anchor="t" anchorCtr="0">
            <a:noAutofit/>
          </a:bodyPr>
          <a:lstStyle/>
          <a:p>
            <a:pPr marL="0" indent="0">
              <a:buNone/>
            </a:pPr>
            <a:endParaRPr>
              <a:uFillTx/>
            </a:endParaRPr>
          </a:p>
        </p:txBody>
      </p:sp>
      <p:sp>
        <p:nvSpPr>
          <p:cNvPr id="93" name="Google Shape;93;p2:notes"/>
          <p:cNvSpPr>
            <a:spLocks noGrp="1" noRot="1" noChangeAspect="1"/>
          </p:cNvSpPr>
          <p:nvPr>
            <p:ph type="sldImg" idx="2"/>
          </p:nvPr>
        </p:nvSpPr>
        <p:spPr>
          <a:xfrm>
            <a:off x="90488" y="744538"/>
            <a:ext cx="6626225"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7024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0720" y="4721186"/>
            <a:ext cx="5445760" cy="4472702"/>
          </a:xfrm>
          <a:prstGeom prst="rect">
            <a:avLst/>
          </a:prstGeom>
        </p:spPr>
        <p:txBody>
          <a:bodyPr spcFirstLastPara="1" wrap="square" lIns="95664" tIns="95664" rIns="95664" bIns="95664" anchor="t" anchorCtr="0">
            <a:noAutofit/>
          </a:bodyPr>
          <a:lstStyle/>
          <a:p>
            <a:pPr marL="0" indent="0">
              <a:buNone/>
            </a:pPr>
            <a:endParaRPr>
              <a:uFillTx/>
            </a:endParaRPr>
          </a:p>
        </p:txBody>
      </p:sp>
      <p:sp>
        <p:nvSpPr>
          <p:cNvPr id="93" name="Google Shape;93;p2:notes"/>
          <p:cNvSpPr>
            <a:spLocks noGrp="1" noRot="1" noChangeAspect="1"/>
          </p:cNvSpPr>
          <p:nvPr>
            <p:ph type="sldImg" idx="2"/>
          </p:nvPr>
        </p:nvSpPr>
        <p:spPr>
          <a:xfrm>
            <a:off x="90488" y="744538"/>
            <a:ext cx="6626225"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79487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0720" y="4721186"/>
            <a:ext cx="5445760" cy="4472702"/>
          </a:xfrm>
          <a:prstGeom prst="rect">
            <a:avLst/>
          </a:prstGeom>
        </p:spPr>
        <p:txBody>
          <a:bodyPr spcFirstLastPara="1" wrap="square" lIns="95664" tIns="95664" rIns="95664" bIns="95664" anchor="t" anchorCtr="0">
            <a:noAutofit/>
          </a:bodyPr>
          <a:lstStyle/>
          <a:p>
            <a:pPr marL="0" indent="0">
              <a:buNone/>
            </a:pPr>
            <a:endParaRPr>
              <a:uFillTx/>
            </a:endParaRPr>
          </a:p>
        </p:txBody>
      </p:sp>
      <p:sp>
        <p:nvSpPr>
          <p:cNvPr id="93" name="Google Shape;93;p2:notes"/>
          <p:cNvSpPr>
            <a:spLocks noGrp="1" noRot="1" noChangeAspect="1"/>
          </p:cNvSpPr>
          <p:nvPr>
            <p:ph type="sldImg" idx="2"/>
          </p:nvPr>
        </p:nvSpPr>
        <p:spPr>
          <a:xfrm>
            <a:off x="90488" y="744538"/>
            <a:ext cx="6626225"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134817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0720" y="4721186"/>
            <a:ext cx="5445760" cy="4472702"/>
          </a:xfrm>
          <a:prstGeom prst="rect">
            <a:avLst/>
          </a:prstGeom>
        </p:spPr>
        <p:txBody>
          <a:bodyPr spcFirstLastPara="1" wrap="square" lIns="95664" tIns="95664" rIns="95664" bIns="95664" anchor="t" anchorCtr="0">
            <a:noAutofit/>
          </a:bodyPr>
          <a:lstStyle/>
          <a:p>
            <a:pPr marL="0" indent="0">
              <a:buNone/>
            </a:pPr>
            <a:endParaRPr>
              <a:uFillTx/>
            </a:endParaRPr>
          </a:p>
        </p:txBody>
      </p:sp>
      <p:sp>
        <p:nvSpPr>
          <p:cNvPr id="93" name="Google Shape;93;p2:notes"/>
          <p:cNvSpPr>
            <a:spLocks noGrp="1" noRot="1" noChangeAspect="1"/>
          </p:cNvSpPr>
          <p:nvPr>
            <p:ph type="sldImg" idx="2"/>
          </p:nvPr>
        </p:nvSpPr>
        <p:spPr>
          <a:xfrm>
            <a:off x="90488" y="744538"/>
            <a:ext cx="6626225"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58737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0720" y="4721186"/>
            <a:ext cx="5445760" cy="4472702"/>
          </a:xfrm>
          <a:prstGeom prst="rect">
            <a:avLst/>
          </a:prstGeom>
        </p:spPr>
        <p:txBody>
          <a:bodyPr spcFirstLastPara="1" wrap="square" lIns="95664" tIns="95664" rIns="95664" bIns="95664" anchor="t" anchorCtr="0">
            <a:noAutofit/>
          </a:bodyPr>
          <a:lstStyle/>
          <a:p>
            <a:pPr marL="0" indent="0">
              <a:buNone/>
            </a:pPr>
            <a:endParaRPr>
              <a:uFillTx/>
            </a:endParaRPr>
          </a:p>
        </p:txBody>
      </p:sp>
      <p:sp>
        <p:nvSpPr>
          <p:cNvPr id="93" name="Google Shape;93;p2:notes"/>
          <p:cNvSpPr>
            <a:spLocks noGrp="1" noRot="1" noChangeAspect="1"/>
          </p:cNvSpPr>
          <p:nvPr>
            <p:ph type="sldImg" idx="2"/>
          </p:nvPr>
        </p:nvSpPr>
        <p:spPr>
          <a:xfrm>
            <a:off x="90488" y="744538"/>
            <a:ext cx="6626225"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69945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0720" y="4721186"/>
            <a:ext cx="5445760" cy="4472702"/>
          </a:xfrm>
          <a:prstGeom prst="rect">
            <a:avLst/>
          </a:prstGeom>
        </p:spPr>
        <p:txBody>
          <a:bodyPr spcFirstLastPara="1" wrap="square" lIns="95664" tIns="95664" rIns="95664" bIns="95664" anchor="t" anchorCtr="0">
            <a:noAutofit/>
          </a:bodyPr>
          <a:lstStyle/>
          <a:p>
            <a:pPr marL="0" indent="0">
              <a:buNone/>
            </a:pPr>
            <a:endParaRPr>
              <a:uFillTx/>
            </a:endParaRPr>
          </a:p>
        </p:txBody>
      </p:sp>
      <p:sp>
        <p:nvSpPr>
          <p:cNvPr id="93" name="Google Shape;93;p2:notes"/>
          <p:cNvSpPr>
            <a:spLocks noGrp="1" noRot="1" noChangeAspect="1"/>
          </p:cNvSpPr>
          <p:nvPr>
            <p:ph type="sldImg" idx="2"/>
          </p:nvPr>
        </p:nvSpPr>
        <p:spPr>
          <a:xfrm>
            <a:off x="90488" y="744538"/>
            <a:ext cx="6626225"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92781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628345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31BD7B3A-84C7-4F5B-BE81-B2A1CB5B805B}" type="slidenum">
              <a:rPr kumimoji="1" lang="ja-JP" altLang="en-US" smtClean="0"/>
              <a:t>78</a:t>
            </a:fld>
            <a:endParaRPr kumimoji="1" lang="ja-JP" altLang="en-US"/>
          </a:p>
        </p:txBody>
      </p:sp>
      <p:sp>
        <p:nvSpPr>
          <p:cNvPr id="5" name="フッター プレースホルダー 4"/>
          <p:cNvSpPr>
            <a:spLocks noGrp="1"/>
          </p:cNvSpPr>
          <p:nvPr>
            <p:ph type="ftr" sz="quarter" idx="11"/>
          </p:nvPr>
        </p:nvSpPr>
        <p:spPr/>
        <p:txBody>
          <a:bodyPr/>
          <a:lstStyle/>
          <a:p>
            <a:r>
              <a:rPr kumimoji="1" lang="en-US" altLang="ja-JP"/>
              <a:t>@2018 Hiroshi Komukai</a:t>
            </a:r>
            <a:endParaRPr kumimoji="1" lang="ja-JP" altLang="en-US"/>
          </a:p>
        </p:txBody>
      </p:sp>
      <p:sp>
        <p:nvSpPr>
          <p:cNvPr id="6" name="ヘッダー プレースホルダー 5"/>
          <p:cNvSpPr>
            <a:spLocks noGrp="1"/>
          </p:cNvSpPr>
          <p:nvPr>
            <p:ph type="hdr" sz="quarter" idx="12"/>
          </p:nvPr>
        </p:nvSpPr>
        <p:spPr/>
        <p:txBody>
          <a:bodyPr/>
          <a:lstStyle/>
          <a:p>
            <a:r>
              <a:rPr kumimoji="1" lang="zh-CN" altLang="en-US"/>
              <a:t>合宿参加者限定</a:t>
            </a:r>
            <a:endParaRPr kumimoji="1" lang="ja-JP" altLang="en-US"/>
          </a:p>
        </p:txBody>
      </p:sp>
    </p:spTree>
    <p:extLst>
      <p:ext uri="{BB962C8B-B14F-4D97-AF65-F5344CB8AC3E}">
        <p14:creationId xmlns:p14="http://schemas.microsoft.com/office/powerpoint/2010/main" val="2805515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uFillTx/>
              </a:defRPr>
            </a:lvl1pPr>
            <a:lvl2pPr lvl="1" algn="ctr">
              <a:lnSpc>
                <a:spcPct val="90000"/>
              </a:lnSpc>
              <a:spcBef>
                <a:spcPts val="500"/>
              </a:spcBef>
              <a:spcAft>
                <a:spcPts val="0"/>
              </a:spcAft>
              <a:buClr>
                <a:schemeClr val="dk1"/>
              </a:buClr>
              <a:buSzPts val="2000"/>
              <a:buNone/>
              <a:defRPr sz="2000">
                <a:uFillTx/>
              </a:defRPr>
            </a:lvl2pPr>
            <a:lvl3pPr lvl="2" algn="ctr">
              <a:lnSpc>
                <a:spcPct val="90000"/>
              </a:lnSpc>
              <a:spcBef>
                <a:spcPts val="500"/>
              </a:spcBef>
              <a:spcAft>
                <a:spcPts val="0"/>
              </a:spcAft>
              <a:buClr>
                <a:schemeClr val="dk1"/>
              </a:buClr>
              <a:buSzPts val="1800"/>
              <a:buNone/>
              <a:defRPr sz="1800">
                <a:uFillTx/>
              </a:defRPr>
            </a:lvl3pPr>
            <a:lvl4pPr lvl="3" algn="ctr">
              <a:lnSpc>
                <a:spcPct val="90000"/>
              </a:lnSpc>
              <a:spcBef>
                <a:spcPts val="500"/>
              </a:spcBef>
              <a:spcAft>
                <a:spcPts val="0"/>
              </a:spcAft>
              <a:buClr>
                <a:schemeClr val="dk1"/>
              </a:buClr>
              <a:buSzPts val="1600"/>
              <a:buNone/>
              <a:defRPr sz="1600">
                <a:uFillTx/>
              </a:defRPr>
            </a:lvl4pPr>
            <a:lvl5pPr lvl="4" algn="ctr">
              <a:lnSpc>
                <a:spcPct val="90000"/>
              </a:lnSpc>
              <a:spcBef>
                <a:spcPts val="500"/>
              </a:spcBef>
              <a:spcAft>
                <a:spcPts val="0"/>
              </a:spcAft>
              <a:buClr>
                <a:schemeClr val="dk1"/>
              </a:buClr>
              <a:buSzPts val="1600"/>
              <a:buNone/>
              <a:defRPr sz="1600">
                <a:uFillTx/>
              </a:defRPr>
            </a:lvl5pPr>
            <a:lvl6pPr lvl="5" algn="ctr">
              <a:lnSpc>
                <a:spcPct val="90000"/>
              </a:lnSpc>
              <a:spcBef>
                <a:spcPts val="500"/>
              </a:spcBef>
              <a:spcAft>
                <a:spcPts val="0"/>
              </a:spcAft>
              <a:buClr>
                <a:schemeClr val="dk1"/>
              </a:buClr>
              <a:buSzPts val="1600"/>
              <a:buNone/>
              <a:defRPr sz="1600">
                <a:uFillTx/>
              </a:defRPr>
            </a:lvl6pPr>
            <a:lvl7pPr lvl="6" algn="ctr">
              <a:lnSpc>
                <a:spcPct val="90000"/>
              </a:lnSpc>
              <a:spcBef>
                <a:spcPts val="500"/>
              </a:spcBef>
              <a:spcAft>
                <a:spcPts val="0"/>
              </a:spcAft>
              <a:buClr>
                <a:schemeClr val="dk1"/>
              </a:buClr>
              <a:buSzPts val="1600"/>
              <a:buNone/>
              <a:defRPr sz="1600">
                <a:uFillTx/>
              </a:defRPr>
            </a:lvl7pPr>
            <a:lvl8pPr lvl="7" algn="ctr">
              <a:lnSpc>
                <a:spcPct val="90000"/>
              </a:lnSpc>
              <a:spcBef>
                <a:spcPts val="500"/>
              </a:spcBef>
              <a:spcAft>
                <a:spcPts val="0"/>
              </a:spcAft>
              <a:buClr>
                <a:schemeClr val="dk1"/>
              </a:buClr>
              <a:buSzPts val="1600"/>
              <a:buNone/>
              <a:defRPr sz="1600">
                <a:uFillTx/>
              </a:defRPr>
            </a:lvl8pPr>
            <a:lvl9pPr lvl="8" algn="ctr">
              <a:lnSpc>
                <a:spcPct val="90000"/>
              </a:lnSpc>
              <a:spcBef>
                <a:spcPts val="500"/>
              </a:spcBef>
              <a:spcAft>
                <a:spcPts val="0"/>
              </a:spcAft>
              <a:buClr>
                <a:schemeClr val="dk1"/>
              </a:buClr>
              <a:buSzPts val="1600"/>
              <a:buNone/>
              <a:defRPr sz="1600">
                <a:uFillTx/>
              </a:defRPr>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uFillTx/>
              </a:defRPr>
            </a:lvl1pPr>
            <a:lvl2pPr marL="914400" lvl="1" indent="-228600" algn="l">
              <a:lnSpc>
                <a:spcPct val="90000"/>
              </a:lnSpc>
              <a:spcBef>
                <a:spcPts val="500"/>
              </a:spcBef>
              <a:spcAft>
                <a:spcPts val="0"/>
              </a:spcAft>
              <a:buClr>
                <a:srgbClr val="888888"/>
              </a:buClr>
              <a:buSzPts val="2000"/>
              <a:buNone/>
              <a:defRPr sz="2000">
                <a:solidFill>
                  <a:srgbClr val="888888"/>
                </a:solidFill>
                <a:uFillTx/>
              </a:defRPr>
            </a:lvl2pPr>
            <a:lvl3pPr marL="1371600" lvl="2" indent="-228600" algn="l">
              <a:lnSpc>
                <a:spcPct val="90000"/>
              </a:lnSpc>
              <a:spcBef>
                <a:spcPts val="500"/>
              </a:spcBef>
              <a:spcAft>
                <a:spcPts val="0"/>
              </a:spcAft>
              <a:buClr>
                <a:srgbClr val="888888"/>
              </a:buClr>
              <a:buSzPts val="1800"/>
              <a:buNone/>
              <a:defRPr sz="1800">
                <a:solidFill>
                  <a:srgbClr val="888888"/>
                </a:solidFill>
                <a:uFillTx/>
              </a:defRPr>
            </a:lvl3pPr>
            <a:lvl4pPr marL="1828800" lvl="3" indent="-228600" algn="l">
              <a:lnSpc>
                <a:spcPct val="90000"/>
              </a:lnSpc>
              <a:spcBef>
                <a:spcPts val="500"/>
              </a:spcBef>
              <a:spcAft>
                <a:spcPts val="0"/>
              </a:spcAft>
              <a:buClr>
                <a:srgbClr val="888888"/>
              </a:buClr>
              <a:buSzPts val="1600"/>
              <a:buNone/>
              <a:defRPr sz="1600">
                <a:solidFill>
                  <a:srgbClr val="888888"/>
                </a:solidFill>
                <a:uFillTx/>
              </a:defRPr>
            </a:lvl4pPr>
            <a:lvl5pPr marL="2286000" lvl="4" indent="-228600" algn="l">
              <a:lnSpc>
                <a:spcPct val="90000"/>
              </a:lnSpc>
              <a:spcBef>
                <a:spcPts val="500"/>
              </a:spcBef>
              <a:spcAft>
                <a:spcPts val="0"/>
              </a:spcAft>
              <a:buClr>
                <a:srgbClr val="888888"/>
              </a:buClr>
              <a:buSzPts val="1600"/>
              <a:buNone/>
              <a:defRPr sz="1600">
                <a:solidFill>
                  <a:srgbClr val="888888"/>
                </a:solidFill>
                <a:uFillTx/>
              </a:defRPr>
            </a:lvl5pPr>
            <a:lvl6pPr marL="2743200" lvl="5" indent="-228600" algn="l">
              <a:lnSpc>
                <a:spcPct val="90000"/>
              </a:lnSpc>
              <a:spcBef>
                <a:spcPts val="500"/>
              </a:spcBef>
              <a:spcAft>
                <a:spcPts val="0"/>
              </a:spcAft>
              <a:buClr>
                <a:srgbClr val="888888"/>
              </a:buClr>
              <a:buSzPts val="1600"/>
              <a:buNone/>
              <a:defRPr sz="1600">
                <a:solidFill>
                  <a:srgbClr val="888888"/>
                </a:solidFill>
                <a:uFillTx/>
              </a:defRPr>
            </a:lvl6pPr>
            <a:lvl7pPr marL="3200400" lvl="6" indent="-228600" algn="l">
              <a:lnSpc>
                <a:spcPct val="90000"/>
              </a:lnSpc>
              <a:spcBef>
                <a:spcPts val="500"/>
              </a:spcBef>
              <a:spcAft>
                <a:spcPts val="0"/>
              </a:spcAft>
              <a:buClr>
                <a:srgbClr val="888888"/>
              </a:buClr>
              <a:buSzPts val="1600"/>
              <a:buNone/>
              <a:defRPr sz="1600">
                <a:solidFill>
                  <a:srgbClr val="888888"/>
                </a:solidFill>
                <a:uFillTx/>
              </a:defRPr>
            </a:lvl7pPr>
            <a:lvl8pPr marL="3657600" lvl="7" indent="-228600" algn="l">
              <a:lnSpc>
                <a:spcPct val="90000"/>
              </a:lnSpc>
              <a:spcBef>
                <a:spcPts val="500"/>
              </a:spcBef>
              <a:spcAft>
                <a:spcPts val="0"/>
              </a:spcAft>
              <a:buClr>
                <a:srgbClr val="888888"/>
              </a:buClr>
              <a:buSzPts val="1600"/>
              <a:buNone/>
              <a:defRPr sz="1600">
                <a:solidFill>
                  <a:srgbClr val="888888"/>
                </a:solidFill>
                <a:uFillTx/>
              </a:defRPr>
            </a:lvl8pPr>
            <a:lvl9pPr marL="4114800" lvl="8" indent="-228600" algn="l">
              <a:lnSpc>
                <a:spcPct val="90000"/>
              </a:lnSpc>
              <a:spcBef>
                <a:spcPts val="500"/>
              </a:spcBef>
              <a:spcAft>
                <a:spcPts val="0"/>
              </a:spcAft>
              <a:buClr>
                <a:srgbClr val="888888"/>
              </a:buClr>
              <a:buSzPts val="1600"/>
              <a:buNone/>
              <a:defRPr sz="1600">
                <a:solidFill>
                  <a:srgbClr val="888888"/>
                </a:solidFill>
                <a:uFillTx/>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uFillTx/>
              </a:defRPr>
            </a:lvl1pPr>
            <a:lvl2pPr marL="914400" lvl="1" indent="-228600" algn="l">
              <a:lnSpc>
                <a:spcPct val="90000"/>
              </a:lnSpc>
              <a:spcBef>
                <a:spcPts val="500"/>
              </a:spcBef>
              <a:spcAft>
                <a:spcPts val="0"/>
              </a:spcAft>
              <a:buClr>
                <a:schemeClr val="dk1"/>
              </a:buClr>
              <a:buSzPts val="2000"/>
              <a:buNone/>
              <a:defRPr sz="2000" b="1">
                <a:uFillTx/>
              </a:defRPr>
            </a:lvl2pPr>
            <a:lvl3pPr marL="1371600" lvl="2" indent="-228600" algn="l">
              <a:lnSpc>
                <a:spcPct val="90000"/>
              </a:lnSpc>
              <a:spcBef>
                <a:spcPts val="500"/>
              </a:spcBef>
              <a:spcAft>
                <a:spcPts val="0"/>
              </a:spcAft>
              <a:buClr>
                <a:schemeClr val="dk1"/>
              </a:buClr>
              <a:buSzPts val="1800"/>
              <a:buNone/>
              <a:defRPr sz="1800" b="1">
                <a:uFillTx/>
              </a:defRPr>
            </a:lvl3pPr>
            <a:lvl4pPr marL="1828800" lvl="3" indent="-228600" algn="l">
              <a:lnSpc>
                <a:spcPct val="90000"/>
              </a:lnSpc>
              <a:spcBef>
                <a:spcPts val="500"/>
              </a:spcBef>
              <a:spcAft>
                <a:spcPts val="0"/>
              </a:spcAft>
              <a:buClr>
                <a:schemeClr val="dk1"/>
              </a:buClr>
              <a:buSzPts val="1600"/>
              <a:buNone/>
              <a:defRPr sz="1600" b="1">
                <a:uFillTx/>
              </a:defRPr>
            </a:lvl4pPr>
            <a:lvl5pPr marL="2286000" lvl="4" indent="-228600" algn="l">
              <a:lnSpc>
                <a:spcPct val="90000"/>
              </a:lnSpc>
              <a:spcBef>
                <a:spcPts val="500"/>
              </a:spcBef>
              <a:spcAft>
                <a:spcPts val="0"/>
              </a:spcAft>
              <a:buClr>
                <a:schemeClr val="dk1"/>
              </a:buClr>
              <a:buSzPts val="1600"/>
              <a:buNone/>
              <a:defRPr sz="1600" b="1">
                <a:uFillTx/>
              </a:defRPr>
            </a:lvl5pPr>
            <a:lvl6pPr marL="2743200" lvl="5" indent="-228600" algn="l">
              <a:lnSpc>
                <a:spcPct val="90000"/>
              </a:lnSpc>
              <a:spcBef>
                <a:spcPts val="500"/>
              </a:spcBef>
              <a:spcAft>
                <a:spcPts val="0"/>
              </a:spcAft>
              <a:buClr>
                <a:schemeClr val="dk1"/>
              </a:buClr>
              <a:buSzPts val="1600"/>
              <a:buNone/>
              <a:defRPr sz="1600" b="1">
                <a:uFillTx/>
              </a:defRPr>
            </a:lvl6pPr>
            <a:lvl7pPr marL="3200400" lvl="6" indent="-228600" algn="l">
              <a:lnSpc>
                <a:spcPct val="90000"/>
              </a:lnSpc>
              <a:spcBef>
                <a:spcPts val="500"/>
              </a:spcBef>
              <a:spcAft>
                <a:spcPts val="0"/>
              </a:spcAft>
              <a:buClr>
                <a:schemeClr val="dk1"/>
              </a:buClr>
              <a:buSzPts val="1600"/>
              <a:buNone/>
              <a:defRPr sz="1600" b="1">
                <a:uFillTx/>
              </a:defRPr>
            </a:lvl7pPr>
            <a:lvl8pPr marL="3657600" lvl="7" indent="-228600" algn="l">
              <a:lnSpc>
                <a:spcPct val="90000"/>
              </a:lnSpc>
              <a:spcBef>
                <a:spcPts val="500"/>
              </a:spcBef>
              <a:spcAft>
                <a:spcPts val="0"/>
              </a:spcAft>
              <a:buClr>
                <a:schemeClr val="dk1"/>
              </a:buClr>
              <a:buSzPts val="1600"/>
              <a:buNone/>
              <a:defRPr sz="1600" b="1">
                <a:uFillTx/>
              </a:defRPr>
            </a:lvl8pPr>
            <a:lvl9pPr marL="4114800" lvl="8" indent="-228600" algn="l">
              <a:lnSpc>
                <a:spcPct val="90000"/>
              </a:lnSpc>
              <a:spcBef>
                <a:spcPts val="500"/>
              </a:spcBef>
              <a:spcAft>
                <a:spcPts val="0"/>
              </a:spcAft>
              <a:buClr>
                <a:schemeClr val="dk1"/>
              </a:buClr>
              <a:buSzPts val="1600"/>
              <a:buNone/>
              <a:defRPr sz="1600" b="1">
                <a:uFillTx/>
              </a:defRPr>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uFillTx/>
              </a:defRPr>
            </a:lvl1pPr>
            <a:lvl2pPr marL="914400" lvl="1" indent="-228600" algn="l">
              <a:lnSpc>
                <a:spcPct val="90000"/>
              </a:lnSpc>
              <a:spcBef>
                <a:spcPts val="500"/>
              </a:spcBef>
              <a:spcAft>
                <a:spcPts val="0"/>
              </a:spcAft>
              <a:buClr>
                <a:schemeClr val="dk1"/>
              </a:buClr>
              <a:buSzPts val="2000"/>
              <a:buNone/>
              <a:defRPr sz="2000" b="1">
                <a:uFillTx/>
              </a:defRPr>
            </a:lvl2pPr>
            <a:lvl3pPr marL="1371600" lvl="2" indent="-228600" algn="l">
              <a:lnSpc>
                <a:spcPct val="90000"/>
              </a:lnSpc>
              <a:spcBef>
                <a:spcPts val="500"/>
              </a:spcBef>
              <a:spcAft>
                <a:spcPts val="0"/>
              </a:spcAft>
              <a:buClr>
                <a:schemeClr val="dk1"/>
              </a:buClr>
              <a:buSzPts val="1800"/>
              <a:buNone/>
              <a:defRPr sz="1800" b="1">
                <a:uFillTx/>
              </a:defRPr>
            </a:lvl3pPr>
            <a:lvl4pPr marL="1828800" lvl="3" indent="-228600" algn="l">
              <a:lnSpc>
                <a:spcPct val="90000"/>
              </a:lnSpc>
              <a:spcBef>
                <a:spcPts val="500"/>
              </a:spcBef>
              <a:spcAft>
                <a:spcPts val="0"/>
              </a:spcAft>
              <a:buClr>
                <a:schemeClr val="dk1"/>
              </a:buClr>
              <a:buSzPts val="1600"/>
              <a:buNone/>
              <a:defRPr sz="1600" b="1">
                <a:uFillTx/>
              </a:defRPr>
            </a:lvl4pPr>
            <a:lvl5pPr marL="2286000" lvl="4" indent="-228600" algn="l">
              <a:lnSpc>
                <a:spcPct val="90000"/>
              </a:lnSpc>
              <a:spcBef>
                <a:spcPts val="500"/>
              </a:spcBef>
              <a:spcAft>
                <a:spcPts val="0"/>
              </a:spcAft>
              <a:buClr>
                <a:schemeClr val="dk1"/>
              </a:buClr>
              <a:buSzPts val="1600"/>
              <a:buNone/>
              <a:defRPr sz="1600" b="1">
                <a:uFillTx/>
              </a:defRPr>
            </a:lvl5pPr>
            <a:lvl6pPr marL="2743200" lvl="5" indent="-228600" algn="l">
              <a:lnSpc>
                <a:spcPct val="90000"/>
              </a:lnSpc>
              <a:spcBef>
                <a:spcPts val="500"/>
              </a:spcBef>
              <a:spcAft>
                <a:spcPts val="0"/>
              </a:spcAft>
              <a:buClr>
                <a:schemeClr val="dk1"/>
              </a:buClr>
              <a:buSzPts val="1600"/>
              <a:buNone/>
              <a:defRPr sz="1600" b="1">
                <a:uFillTx/>
              </a:defRPr>
            </a:lvl6pPr>
            <a:lvl7pPr marL="3200400" lvl="6" indent="-228600" algn="l">
              <a:lnSpc>
                <a:spcPct val="90000"/>
              </a:lnSpc>
              <a:spcBef>
                <a:spcPts val="500"/>
              </a:spcBef>
              <a:spcAft>
                <a:spcPts val="0"/>
              </a:spcAft>
              <a:buClr>
                <a:schemeClr val="dk1"/>
              </a:buClr>
              <a:buSzPts val="1600"/>
              <a:buNone/>
              <a:defRPr sz="1600" b="1">
                <a:uFillTx/>
              </a:defRPr>
            </a:lvl7pPr>
            <a:lvl8pPr marL="3657600" lvl="7" indent="-228600" algn="l">
              <a:lnSpc>
                <a:spcPct val="90000"/>
              </a:lnSpc>
              <a:spcBef>
                <a:spcPts val="500"/>
              </a:spcBef>
              <a:spcAft>
                <a:spcPts val="0"/>
              </a:spcAft>
              <a:buClr>
                <a:schemeClr val="dk1"/>
              </a:buClr>
              <a:buSzPts val="1600"/>
              <a:buNone/>
              <a:defRPr sz="1600" b="1">
                <a:uFillTx/>
              </a:defRPr>
            </a:lvl8pPr>
            <a:lvl9pPr marL="4114800" lvl="8" indent="-228600" algn="l">
              <a:lnSpc>
                <a:spcPct val="90000"/>
              </a:lnSpc>
              <a:spcBef>
                <a:spcPts val="500"/>
              </a:spcBef>
              <a:spcAft>
                <a:spcPts val="0"/>
              </a:spcAft>
              <a:buClr>
                <a:schemeClr val="dk1"/>
              </a:buClr>
              <a:buSzPts val="1600"/>
              <a:buNone/>
              <a:defRPr sz="1600" b="1">
                <a:uFillTx/>
              </a:defRPr>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uFillTx/>
              </a:defRPr>
            </a:lvl1pPr>
            <a:lvl2pPr marL="914400" lvl="1" indent="-406400" algn="l">
              <a:lnSpc>
                <a:spcPct val="90000"/>
              </a:lnSpc>
              <a:spcBef>
                <a:spcPts val="500"/>
              </a:spcBef>
              <a:spcAft>
                <a:spcPts val="0"/>
              </a:spcAft>
              <a:buClr>
                <a:schemeClr val="dk1"/>
              </a:buClr>
              <a:buSzPts val="2800"/>
              <a:buChar char="•"/>
              <a:defRPr sz="2800">
                <a:uFillTx/>
              </a:defRPr>
            </a:lvl2pPr>
            <a:lvl3pPr marL="1371600" lvl="2" indent="-381000" algn="l">
              <a:lnSpc>
                <a:spcPct val="90000"/>
              </a:lnSpc>
              <a:spcBef>
                <a:spcPts val="500"/>
              </a:spcBef>
              <a:spcAft>
                <a:spcPts val="0"/>
              </a:spcAft>
              <a:buClr>
                <a:schemeClr val="dk1"/>
              </a:buClr>
              <a:buSzPts val="2400"/>
              <a:buChar char="•"/>
              <a:defRPr sz="2400">
                <a:uFillTx/>
              </a:defRPr>
            </a:lvl3pPr>
            <a:lvl4pPr marL="1828800" lvl="3" indent="-355600" algn="l">
              <a:lnSpc>
                <a:spcPct val="90000"/>
              </a:lnSpc>
              <a:spcBef>
                <a:spcPts val="500"/>
              </a:spcBef>
              <a:spcAft>
                <a:spcPts val="0"/>
              </a:spcAft>
              <a:buClr>
                <a:schemeClr val="dk1"/>
              </a:buClr>
              <a:buSzPts val="2000"/>
              <a:buChar char="•"/>
              <a:defRPr sz="2000">
                <a:uFillTx/>
              </a:defRPr>
            </a:lvl4pPr>
            <a:lvl5pPr marL="2286000" lvl="4" indent="-355600" algn="l">
              <a:lnSpc>
                <a:spcPct val="90000"/>
              </a:lnSpc>
              <a:spcBef>
                <a:spcPts val="500"/>
              </a:spcBef>
              <a:spcAft>
                <a:spcPts val="0"/>
              </a:spcAft>
              <a:buClr>
                <a:schemeClr val="dk1"/>
              </a:buClr>
              <a:buSzPts val="2000"/>
              <a:buChar char="•"/>
              <a:defRPr sz="2000">
                <a:uFillTx/>
              </a:defRPr>
            </a:lvl5pPr>
            <a:lvl6pPr marL="2743200" lvl="5" indent="-355600" algn="l">
              <a:lnSpc>
                <a:spcPct val="90000"/>
              </a:lnSpc>
              <a:spcBef>
                <a:spcPts val="500"/>
              </a:spcBef>
              <a:spcAft>
                <a:spcPts val="0"/>
              </a:spcAft>
              <a:buClr>
                <a:schemeClr val="dk1"/>
              </a:buClr>
              <a:buSzPts val="2000"/>
              <a:buChar char="•"/>
              <a:defRPr sz="2000">
                <a:uFillTx/>
              </a:defRPr>
            </a:lvl6pPr>
            <a:lvl7pPr marL="3200400" lvl="6" indent="-355600" algn="l">
              <a:lnSpc>
                <a:spcPct val="90000"/>
              </a:lnSpc>
              <a:spcBef>
                <a:spcPts val="500"/>
              </a:spcBef>
              <a:spcAft>
                <a:spcPts val="0"/>
              </a:spcAft>
              <a:buClr>
                <a:schemeClr val="dk1"/>
              </a:buClr>
              <a:buSzPts val="2000"/>
              <a:buChar char="•"/>
              <a:defRPr sz="2000">
                <a:uFillTx/>
              </a:defRPr>
            </a:lvl7pPr>
            <a:lvl8pPr marL="3657600" lvl="7" indent="-355600" algn="l">
              <a:lnSpc>
                <a:spcPct val="90000"/>
              </a:lnSpc>
              <a:spcBef>
                <a:spcPts val="500"/>
              </a:spcBef>
              <a:spcAft>
                <a:spcPts val="0"/>
              </a:spcAft>
              <a:buClr>
                <a:schemeClr val="dk1"/>
              </a:buClr>
              <a:buSzPts val="2000"/>
              <a:buChar char="•"/>
              <a:defRPr sz="2000">
                <a:uFillTx/>
              </a:defRPr>
            </a:lvl8pPr>
            <a:lvl9pPr marL="4114800" lvl="8" indent="-355600" algn="l">
              <a:lnSpc>
                <a:spcPct val="90000"/>
              </a:lnSpc>
              <a:spcBef>
                <a:spcPts val="500"/>
              </a:spcBef>
              <a:spcAft>
                <a:spcPts val="0"/>
              </a:spcAft>
              <a:buClr>
                <a:schemeClr val="dk1"/>
              </a:buClr>
              <a:buSzPts val="2000"/>
              <a:buChar char="•"/>
              <a:defRPr sz="2000">
                <a:uFillTx/>
              </a:defRPr>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uFillTx/>
              </a:defRPr>
            </a:lvl1pPr>
            <a:lvl2pPr marL="914400" lvl="1" indent="-228600" algn="l">
              <a:lnSpc>
                <a:spcPct val="90000"/>
              </a:lnSpc>
              <a:spcBef>
                <a:spcPts val="500"/>
              </a:spcBef>
              <a:spcAft>
                <a:spcPts val="0"/>
              </a:spcAft>
              <a:buClr>
                <a:schemeClr val="dk1"/>
              </a:buClr>
              <a:buSzPts val="1400"/>
              <a:buNone/>
              <a:defRPr sz="1400">
                <a:uFillTx/>
              </a:defRPr>
            </a:lvl2pPr>
            <a:lvl3pPr marL="1371600" lvl="2" indent="-228600" algn="l">
              <a:lnSpc>
                <a:spcPct val="90000"/>
              </a:lnSpc>
              <a:spcBef>
                <a:spcPts val="500"/>
              </a:spcBef>
              <a:spcAft>
                <a:spcPts val="0"/>
              </a:spcAft>
              <a:buClr>
                <a:schemeClr val="dk1"/>
              </a:buClr>
              <a:buSzPts val="1200"/>
              <a:buNone/>
              <a:defRPr sz="1200">
                <a:uFillTx/>
              </a:defRPr>
            </a:lvl3pPr>
            <a:lvl4pPr marL="1828800" lvl="3" indent="-228600" algn="l">
              <a:lnSpc>
                <a:spcPct val="90000"/>
              </a:lnSpc>
              <a:spcBef>
                <a:spcPts val="500"/>
              </a:spcBef>
              <a:spcAft>
                <a:spcPts val="0"/>
              </a:spcAft>
              <a:buClr>
                <a:schemeClr val="dk1"/>
              </a:buClr>
              <a:buSzPts val="1000"/>
              <a:buNone/>
              <a:defRPr sz="1000">
                <a:uFillTx/>
              </a:defRPr>
            </a:lvl4pPr>
            <a:lvl5pPr marL="2286000" lvl="4" indent="-228600" algn="l">
              <a:lnSpc>
                <a:spcPct val="90000"/>
              </a:lnSpc>
              <a:spcBef>
                <a:spcPts val="500"/>
              </a:spcBef>
              <a:spcAft>
                <a:spcPts val="0"/>
              </a:spcAft>
              <a:buClr>
                <a:schemeClr val="dk1"/>
              </a:buClr>
              <a:buSzPts val="1000"/>
              <a:buNone/>
              <a:defRPr sz="1000">
                <a:uFillTx/>
              </a:defRPr>
            </a:lvl5pPr>
            <a:lvl6pPr marL="2743200" lvl="5" indent="-228600" algn="l">
              <a:lnSpc>
                <a:spcPct val="90000"/>
              </a:lnSpc>
              <a:spcBef>
                <a:spcPts val="500"/>
              </a:spcBef>
              <a:spcAft>
                <a:spcPts val="0"/>
              </a:spcAft>
              <a:buClr>
                <a:schemeClr val="dk1"/>
              </a:buClr>
              <a:buSzPts val="1000"/>
              <a:buNone/>
              <a:defRPr sz="1000">
                <a:uFillTx/>
              </a:defRPr>
            </a:lvl6pPr>
            <a:lvl7pPr marL="3200400" lvl="6" indent="-228600" algn="l">
              <a:lnSpc>
                <a:spcPct val="90000"/>
              </a:lnSpc>
              <a:spcBef>
                <a:spcPts val="500"/>
              </a:spcBef>
              <a:spcAft>
                <a:spcPts val="0"/>
              </a:spcAft>
              <a:buClr>
                <a:schemeClr val="dk1"/>
              </a:buClr>
              <a:buSzPts val="1000"/>
              <a:buNone/>
              <a:defRPr sz="1000">
                <a:uFillTx/>
              </a:defRPr>
            </a:lvl7pPr>
            <a:lvl8pPr marL="3657600" lvl="7" indent="-228600" algn="l">
              <a:lnSpc>
                <a:spcPct val="90000"/>
              </a:lnSpc>
              <a:spcBef>
                <a:spcPts val="500"/>
              </a:spcBef>
              <a:spcAft>
                <a:spcPts val="0"/>
              </a:spcAft>
              <a:buClr>
                <a:schemeClr val="dk1"/>
              </a:buClr>
              <a:buSzPts val="1000"/>
              <a:buNone/>
              <a:defRPr sz="1000">
                <a:uFillTx/>
              </a:defRPr>
            </a:lvl8pPr>
            <a:lvl9pPr marL="4114800" lvl="8" indent="-228600" algn="l">
              <a:lnSpc>
                <a:spcPct val="90000"/>
              </a:lnSpc>
              <a:spcBef>
                <a:spcPts val="500"/>
              </a:spcBef>
              <a:spcAft>
                <a:spcPts val="0"/>
              </a:spcAft>
              <a:buClr>
                <a:schemeClr val="dk1"/>
              </a:buClr>
              <a:buSzPts val="1000"/>
              <a:buNone/>
              <a:defRPr sz="1000">
                <a:uFillTx/>
              </a:defRPr>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uFillTx/>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uFillTx/>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uFillTx/>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9pPr>
          </a:lstStyle>
          <a:p>
            <a:endParaRPr/>
          </a:p>
        </p:txBody>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uFillTx/>
              </a:defRPr>
            </a:lvl1pPr>
            <a:lvl2pPr marL="914400" lvl="1" indent="-228600" algn="l">
              <a:lnSpc>
                <a:spcPct val="90000"/>
              </a:lnSpc>
              <a:spcBef>
                <a:spcPts val="500"/>
              </a:spcBef>
              <a:spcAft>
                <a:spcPts val="0"/>
              </a:spcAft>
              <a:buClr>
                <a:schemeClr val="dk1"/>
              </a:buClr>
              <a:buSzPts val="1400"/>
              <a:buNone/>
              <a:defRPr sz="1400">
                <a:uFillTx/>
              </a:defRPr>
            </a:lvl2pPr>
            <a:lvl3pPr marL="1371600" lvl="2" indent="-228600" algn="l">
              <a:lnSpc>
                <a:spcPct val="90000"/>
              </a:lnSpc>
              <a:spcBef>
                <a:spcPts val="500"/>
              </a:spcBef>
              <a:spcAft>
                <a:spcPts val="0"/>
              </a:spcAft>
              <a:buClr>
                <a:schemeClr val="dk1"/>
              </a:buClr>
              <a:buSzPts val="1200"/>
              <a:buNone/>
              <a:defRPr sz="1200">
                <a:uFillTx/>
              </a:defRPr>
            </a:lvl3pPr>
            <a:lvl4pPr marL="1828800" lvl="3" indent="-228600" algn="l">
              <a:lnSpc>
                <a:spcPct val="90000"/>
              </a:lnSpc>
              <a:spcBef>
                <a:spcPts val="500"/>
              </a:spcBef>
              <a:spcAft>
                <a:spcPts val="0"/>
              </a:spcAft>
              <a:buClr>
                <a:schemeClr val="dk1"/>
              </a:buClr>
              <a:buSzPts val="1000"/>
              <a:buNone/>
              <a:defRPr sz="1000">
                <a:uFillTx/>
              </a:defRPr>
            </a:lvl4pPr>
            <a:lvl5pPr marL="2286000" lvl="4" indent="-228600" algn="l">
              <a:lnSpc>
                <a:spcPct val="90000"/>
              </a:lnSpc>
              <a:spcBef>
                <a:spcPts val="500"/>
              </a:spcBef>
              <a:spcAft>
                <a:spcPts val="0"/>
              </a:spcAft>
              <a:buClr>
                <a:schemeClr val="dk1"/>
              </a:buClr>
              <a:buSzPts val="1000"/>
              <a:buNone/>
              <a:defRPr sz="1000">
                <a:uFillTx/>
              </a:defRPr>
            </a:lvl5pPr>
            <a:lvl6pPr marL="2743200" lvl="5" indent="-228600" algn="l">
              <a:lnSpc>
                <a:spcPct val="90000"/>
              </a:lnSpc>
              <a:spcBef>
                <a:spcPts val="500"/>
              </a:spcBef>
              <a:spcAft>
                <a:spcPts val="0"/>
              </a:spcAft>
              <a:buClr>
                <a:schemeClr val="dk1"/>
              </a:buClr>
              <a:buSzPts val="1000"/>
              <a:buNone/>
              <a:defRPr sz="1000">
                <a:uFillTx/>
              </a:defRPr>
            </a:lvl6pPr>
            <a:lvl7pPr marL="3200400" lvl="6" indent="-228600" algn="l">
              <a:lnSpc>
                <a:spcPct val="90000"/>
              </a:lnSpc>
              <a:spcBef>
                <a:spcPts val="500"/>
              </a:spcBef>
              <a:spcAft>
                <a:spcPts val="0"/>
              </a:spcAft>
              <a:buClr>
                <a:schemeClr val="dk1"/>
              </a:buClr>
              <a:buSzPts val="1000"/>
              <a:buNone/>
              <a:defRPr sz="1000">
                <a:uFillTx/>
              </a:defRPr>
            </a:lvl7pPr>
            <a:lvl8pPr marL="3657600" lvl="7" indent="-228600" algn="l">
              <a:lnSpc>
                <a:spcPct val="90000"/>
              </a:lnSpc>
              <a:spcBef>
                <a:spcPts val="500"/>
              </a:spcBef>
              <a:spcAft>
                <a:spcPts val="0"/>
              </a:spcAft>
              <a:buClr>
                <a:schemeClr val="dk1"/>
              </a:buClr>
              <a:buSzPts val="1000"/>
              <a:buNone/>
              <a:defRPr sz="1000">
                <a:uFillTx/>
              </a:defRPr>
            </a:lvl8pPr>
            <a:lvl9pPr marL="4114800" lvl="8" indent="-228600" algn="l">
              <a:lnSpc>
                <a:spcPct val="90000"/>
              </a:lnSpc>
              <a:spcBef>
                <a:spcPts val="500"/>
              </a:spcBef>
              <a:spcAft>
                <a:spcPts val="0"/>
              </a:spcAft>
              <a:buClr>
                <a:schemeClr val="dk1"/>
              </a:buClr>
              <a:buSzPts val="1000"/>
              <a:buNone/>
              <a:defRPr sz="1000">
                <a:uFillTx/>
              </a:defRPr>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uFillTx/>
              </a:defRPr>
            </a:lvl1pPr>
            <a:lvl2pPr lvl="1" algn="ctr">
              <a:lnSpc>
                <a:spcPct val="90000"/>
              </a:lnSpc>
              <a:spcBef>
                <a:spcPts val="500"/>
              </a:spcBef>
              <a:spcAft>
                <a:spcPts val="0"/>
              </a:spcAft>
              <a:buClr>
                <a:schemeClr val="dk1"/>
              </a:buClr>
              <a:buSzPts val="2000"/>
              <a:buNone/>
              <a:defRPr sz="2000">
                <a:uFillTx/>
              </a:defRPr>
            </a:lvl2pPr>
            <a:lvl3pPr lvl="2" algn="ctr">
              <a:lnSpc>
                <a:spcPct val="90000"/>
              </a:lnSpc>
              <a:spcBef>
                <a:spcPts val="500"/>
              </a:spcBef>
              <a:spcAft>
                <a:spcPts val="0"/>
              </a:spcAft>
              <a:buClr>
                <a:schemeClr val="dk1"/>
              </a:buClr>
              <a:buSzPts val="1800"/>
              <a:buNone/>
              <a:defRPr sz="1800">
                <a:uFillTx/>
              </a:defRPr>
            </a:lvl3pPr>
            <a:lvl4pPr lvl="3" algn="ctr">
              <a:lnSpc>
                <a:spcPct val="90000"/>
              </a:lnSpc>
              <a:spcBef>
                <a:spcPts val="500"/>
              </a:spcBef>
              <a:spcAft>
                <a:spcPts val="0"/>
              </a:spcAft>
              <a:buClr>
                <a:schemeClr val="dk1"/>
              </a:buClr>
              <a:buSzPts val="1600"/>
              <a:buNone/>
              <a:defRPr sz="1600">
                <a:uFillTx/>
              </a:defRPr>
            </a:lvl4pPr>
            <a:lvl5pPr lvl="4" algn="ctr">
              <a:lnSpc>
                <a:spcPct val="90000"/>
              </a:lnSpc>
              <a:spcBef>
                <a:spcPts val="500"/>
              </a:spcBef>
              <a:spcAft>
                <a:spcPts val="0"/>
              </a:spcAft>
              <a:buClr>
                <a:schemeClr val="dk1"/>
              </a:buClr>
              <a:buSzPts val="1600"/>
              <a:buNone/>
              <a:defRPr sz="1600">
                <a:uFillTx/>
              </a:defRPr>
            </a:lvl5pPr>
            <a:lvl6pPr lvl="5" algn="ctr">
              <a:lnSpc>
                <a:spcPct val="90000"/>
              </a:lnSpc>
              <a:spcBef>
                <a:spcPts val="500"/>
              </a:spcBef>
              <a:spcAft>
                <a:spcPts val="0"/>
              </a:spcAft>
              <a:buClr>
                <a:schemeClr val="dk1"/>
              </a:buClr>
              <a:buSzPts val="1600"/>
              <a:buNone/>
              <a:defRPr sz="1600">
                <a:uFillTx/>
              </a:defRPr>
            </a:lvl6pPr>
            <a:lvl7pPr lvl="6" algn="ctr">
              <a:lnSpc>
                <a:spcPct val="90000"/>
              </a:lnSpc>
              <a:spcBef>
                <a:spcPts val="500"/>
              </a:spcBef>
              <a:spcAft>
                <a:spcPts val="0"/>
              </a:spcAft>
              <a:buClr>
                <a:schemeClr val="dk1"/>
              </a:buClr>
              <a:buSzPts val="1600"/>
              <a:buNone/>
              <a:defRPr sz="1600">
                <a:uFillTx/>
              </a:defRPr>
            </a:lvl7pPr>
            <a:lvl8pPr lvl="7" algn="ctr">
              <a:lnSpc>
                <a:spcPct val="90000"/>
              </a:lnSpc>
              <a:spcBef>
                <a:spcPts val="500"/>
              </a:spcBef>
              <a:spcAft>
                <a:spcPts val="0"/>
              </a:spcAft>
              <a:buClr>
                <a:schemeClr val="dk1"/>
              </a:buClr>
              <a:buSzPts val="1600"/>
              <a:buNone/>
              <a:defRPr sz="1600">
                <a:uFillTx/>
              </a:defRPr>
            </a:lvl8pPr>
            <a:lvl9pPr lvl="8" algn="ctr">
              <a:lnSpc>
                <a:spcPct val="90000"/>
              </a:lnSpc>
              <a:spcBef>
                <a:spcPts val="500"/>
              </a:spcBef>
              <a:spcAft>
                <a:spcPts val="0"/>
              </a:spcAft>
              <a:buClr>
                <a:schemeClr val="dk1"/>
              </a:buClr>
              <a:buSzPts val="1600"/>
              <a:buNone/>
              <a:defRPr sz="1600">
                <a:uFillTx/>
              </a:defRPr>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320261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uFillTx/>
              </a:defRPr>
            </a:lvl1pPr>
            <a:lvl2pPr marL="914400" lvl="1" indent="-228600" algn="l">
              <a:lnSpc>
                <a:spcPct val="90000"/>
              </a:lnSpc>
              <a:spcBef>
                <a:spcPts val="500"/>
              </a:spcBef>
              <a:spcAft>
                <a:spcPts val="0"/>
              </a:spcAft>
              <a:buClr>
                <a:srgbClr val="888888"/>
              </a:buClr>
              <a:buSzPts val="2000"/>
              <a:buNone/>
              <a:defRPr sz="2000">
                <a:solidFill>
                  <a:srgbClr val="888888"/>
                </a:solidFill>
                <a:uFillTx/>
              </a:defRPr>
            </a:lvl2pPr>
            <a:lvl3pPr marL="1371600" lvl="2" indent="-228600" algn="l">
              <a:lnSpc>
                <a:spcPct val="90000"/>
              </a:lnSpc>
              <a:spcBef>
                <a:spcPts val="500"/>
              </a:spcBef>
              <a:spcAft>
                <a:spcPts val="0"/>
              </a:spcAft>
              <a:buClr>
                <a:srgbClr val="888888"/>
              </a:buClr>
              <a:buSzPts val="1800"/>
              <a:buNone/>
              <a:defRPr sz="1800">
                <a:solidFill>
                  <a:srgbClr val="888888"/>
                </a:solidFill>
                <a:uFillTx/>
              </a:defRPr>
            </a:lvl3pPr>
            <a:lvl4pPr marL="1828800" lvl="3" indent="-228600" algn="l">
              <a:lnSpc>
                <a:spcPct val="90000"/>
              </a:lnSpc>
              <a:spcBef>
                <a:spcPts val="500"/>
              </a:spcBef>
              <a:spcAft>
                <a:spcPts val="0"/>
              </a:spcAft>
              <a:buClr>
                <a:srgbClr val="888888"/>
              </a:buClr>
              <a:buSzPts val="1600"/>
              <a:buNone/>
              <a:defRPr sz="1600">
                <a:solidFill>
                  <a:srgbClr val="888888"/>
                </a:solidFill>
                <a:uFillTx/>
              </a:defRPr>
            </a:lvl4pPr>
            <a:lvl5pPr marL="2286000" lvl="4" indent="-228600" algn="l">
              <a:lnSpc>
                <a:spcPct val="90000"/>
              </a:lnSpc>
              <a:spcBef>
                <a:spcPts val="500"/>
              </a:spcBef>
              <a:spcAft>
                <a:spcPts val="0"/>
              </a:spcAft>
              <a:buClr>
                <a:srgbClr val="888888"/>
              </a:buClr>
              <a:buSzPts val="1600"/>
              <a:buNone/>
              <a:defRPr sz="1600">
                <a:solidFill>
                  <a:srgbClr val="888888"/>
                </a:solidFill>
                <a:uFillTx/>
              </a:defRPr>
            </a:lvl5pPr>
            <a:lvl6pPr marL="2743200" lvl="5" indent="-228600" algn="l">
              <a:lnSpc>
                <a:spcPct val="90000"/>
              </a:lnSpc>
              <a:spcBef>
                <a:spcPts val="500"/>
              </a:spcBef>
              <a:spcAft>
                <a:spcPts val="0"/>
              </a:spcAft>
              <a:buClr>
                <a:srgbClr val="888888"/>
              </a:buClr>
              <a:buSzPts val="1600"/>
              <a:buNone/>
              <a:defRPr sz="1600">
                <a:solidFill>
                  <a:srgbClr val="888888"/>
                </a:solidFill>
                <a:uFillTx/>
              </a:defRPr>
            </a:lvl6pPr>
            <a:lvl7pPr marL="3200400" lvl="6" indent="-228600" algn="l">
              <a:lnSpc>
                <a:spcPct val="90000"/>
              </a:lnSpc>
              <a:spcBef>
                <a:spcPts val="500"/>
              </a:spcBef>
              <a:spcAft>
                <a:spcPts val="0"/>
              </a:spcAft>
              <a:buClr>
                <a:srgbClr val="888888"/>
              </a:buClr>
              <a:buSzPts val="1600"/>
              <a:buNone/>
              <a:defRPr sz="1600">
                <a:solidFill>
                  <a:srgbClr val="888888"/>
                </a:solidFill>
                <a:uFillTx/>
              </a:defRPr>
            </a:lvl7pPr>
            <a:lvl8pPr marL="3657600" lvl="7" indent="-228600" algn="l">
              <a:lnSpc>
                <a:spcPct val="90000"/>
              </a:lnSpc>
              <a:spcBef>
                <a:spcPts val="500"/>
              </a:spcBef>
              <a:spcAft>
                <a:spcPts val="0"/>
              </a:spcAft>
              <a:buClr>
                <a:srgbClr val="888888"/>
              </a:buClr>
              <a:buSzPts val="1600"/>
              <a:buNone/>
              <a:defRPr sz="1600">
                <a:solidFill>
                  <a:srgbClr val="888888"/>
                </a:solidFill>
                <a:uFillTx/>
              </a:defRPr>
            </a:lvl8pPr>
            <a:lvl9pPr marL="4114800" lvl="8" indent="-228600" algn="l">
              <a:lnSpc>
                <a:spcPct val="90000"/>
              </a:lnSpc>
              <a:spcBef>
                <a:spcPts val="500"/>
              </a:spcBef>
              <a:spcAft>
                <a:spcPts val="0"/>
              </a:spcAft>
              <a:buClr>
                <a:srgbClr val="888888"/>
              </a:buClr>
              <a:buSzPts val="1600"/>
              <a:buNone/>
              <a:defRPr sz="1600">
                <a:solidFill>
                  <a:srgbClr val="888888"/>
                </a:solidFill>
                <a:uFillTx/>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2797858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2947124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uFillTx/>
              </a:defRPr>
            </a:lvl1pPr>
            <a:lvl2pPr marL="914400" lvl="1" indent="-228600" algn="l">
              <a:lnSpc>
                <a:spcPct val="90000"/>
              </a:lnSpc>
              <a:spcBef>
                <a:spcPts val="500"/>
              </a:spcBef>
              <a:spcAft>
                <a:spcPts val="0"/>
              </a:spcAft>
              <a:buClr>
                <a:schemeClr val="dk1"/>
              </a:buClr>
              <a:buSzPts val="2000"/>
              <a:buNone/>
              <a:defRPr sz="2000" b="1">
                <a:uFillTx/>
              </a:defRPr>
            </a:lvl2pPr>
            <a:lvl3pPr marL="1371600" lvl="2" indent="-228600" algn="l">
              <a:lnSpc>
                <a:spcPct val="90000"/>
              </a:lnSpc>
              <a:spcBef>
                <a:spcPts val="500"/>
              </a:spcBef>
              <a:spcAft>
                <a:spcPts val="0"/>
              </a:spcAft>
              <a:buClr>
                <a:schemeClr val="dk1"/>
              </a:buClr>
              <a:buSzPts val="1800"/>
              <a:buNone/>
              <a:defRPr sz="1800" b="1">
                <a:uFillTx/>
              </a:defRPr>
            </a:lvl3pPr>
            <a:lvl4pPr marL="1828800" lvl="3" indent="-228600" algn="l">
              <a:lnSpc>
                <a:spcPct val="90000"/>
              </a:lnSpc>
              <a:spcBef>
                <a:spcPts val="500"/>
              </a:spcBef>
              <a:spcAft>
                <a:spcPts val="0"/>
              </a:spcAft>
              <a:buClr>
                <a:schemeClr val="dk1"/>
              </a:buClr>
              <a:buSzPts val="1600"/>
              <a:buNone/>
              <a:defRPr sz="1600" b="1">
                <a:uFillTx/>
              </a:defRPr>
            </a:lvl4pPr>
            <a:lvl5pPr marL="2286000" lvl="4" indent="-228600" algn="l">
              <a:lnSpc>
                <a:spcPct val="90000"/>
              </a:lnSpc>
              <a:spcBef>
                <a:spcPts val="500"/>
              </a:spcBef>
              <a:spcAft>
                <a:spcPts val="0"/>
              </a:spcAft>
              <a:buClr>
                <a:schemeClr val="dk1"/>
              </a:buClr>
              <a:buSzPts val="1600"/>
              <a:buNone/>
              <a:defRPr sz="1600" b="1">
                <a:uFillTx/>
              </a:defRPr>
            </a:lvl5pPr>
            <a:lvl6pPr marL="2743200" lvl="5" indent="-228600" algn="l">
              <a:lnSpc>
                <a:spcPct val="90000"/>
              </a:lnSpc>
              <a:spcBef>
                <a:spcPts val="500"/>
              </a:spcBef>
              <a:spcAft>
                <a:spcPts val="0"/>
              </a:spcAft>
              <a:buClr>
                <a:schemeClr val="dk1"/>
              </a:buClr>
              <a:buSzPts val="1600"/>
              <a:buNone/>
              <a:defRPr sz="1600" b="1">
                <a:uFillTx/>
              </a:defRPr>
            </a:lvl6pPr>
            <a:lvl7pPr marL="3200400" lvl="6" indent="-228600" algn="l">
              <a:lnSpc>
                <a:spcPct val="90000"/>
              </a:lnSpc>
              <a:spcBef>
                <a:spcPts val="500"/>
              </a:spcBef>
              <a:spcAft>
                <a:spcPts val="0"/>
              </a:spcAft>
              <a:buClr>
                <a:schemeClr val="dk1"/>
              </a:buClr>
              <a:buSzPts val="1600"/>
              <a:buNone/>
              <a:defRPr sz="1600" b="1">
                <a:uFillTx/>
              </a:defRPr>
            </a:lvl7pPr>
            <a:lvl8pPr marL="3657600" lvl="7" indent="-228600" algn="l">
              <a:lnSpc>
                <a:spcPct val="90000"/>
              </a:lnSpc>
              <a:spcBef>
                <a:spcPts val="500"/>
              </a:spcBef>
              <a:spcAft>
                <a:spcPts val="0"/>
              </a:spcAft>
              <a:buClr>
                <a:schemeClr val="dk1"/>
              </a:buClr>
              <a:buSzPts val="1600"/>
              <a:buNone/>
              <a:defRPr sz="1600" b="1">
                <a:uFillTx/>
              </a:defRPr>
            </a:lvl8pPr>
            <a:lvl9pPr marL="4114800" lvl="8" indent="-228600" algn="l">
              <a:lnSpc>
                <a:spcPct val="90000"/>
              </a:lnSpc>
              <a:spcBef>
                <a:spcPts val="500"/>
              </a:spcBef>
              <a:spcAft>
                <a:spcPts val="0"/>
              </a:spcAft>
              <a:buClr>
                <a:schemeClr val="dk1"/>
              </a:buClr>
              <a:buSzPts val="1600"/>
              <a:buNone/>
              <a:defRPr sz="1600" b="1">
                <a:uFillTx/>
              </a:defRPr>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uFillTx/>
              </a:defRPr>
            </a:lvl1pPr>
            <a:lvl2pPr marL="914400" lvl="1" indent="-228600" algn="l">
              <a:lnSpc>
                <a:spcPct val="90000"/>
              </a:lnSpc>
              <a:spcBef>
                <a:spcPts val="500"/>
              </a:spcBef>
              <a:spcAft>
                <a:spcPts val="0"/>
              </a:spcAft>
              <a:buClr>
                <a:schemeClr val="dk1"/>
              </a:buClr>
              <a:buSzPts val="2000"/>
              <a:buNone/>
              <a:defRPr sz="2000" b="1">
                <a:uFillTx/>
              </a:defRPr>
            </a:lvl2pPr>
            <a:lvl3pPr marL="1371600" lvl="2" indent="-228600" algn="l">
              <a:lnSpc>
                <a:spcPct val="90000"/>
              </a:lnSpc>
              <a:spcBef>
                <a:spcPts val="500"/>
              </a:spcBef>
              <a:spcAft>
                <a:spcPts val="0"/>
              </a:spcAft>
              <a:buClr>
                <a:schemeClr val="dk1"/>
              </a:buClr>
              <a:buSzPts val="1800"/>
              <a:buNone/>
              <a:defRPr sz="1800" b="1">
                <a:uFillTx/>
              </a:defRPr>
            </a:lvl3pPr>
            <a:lvl4pPr marL="1828800" lvl="3" indent="-228600" algn="l">
              <a:lnSpc>
                <a:spcPct val="90000"/>
              </a:lnSpc>
              <a:spcBef>
                <a:spcPts val="500"/>
              </a:spcBef>
              <a:spcAft>
                <a:spcPts val="0"/>
              </a:spcAft>
              <a:buClr>
                <a:schemeClr val="dk1"/>
              </a:buClr>
              <a:buSzPts val="1600"/>
              <a:buNone/>
              <a:defRPr sz="1600" b="1">
                <a:uFillTx/>
              </a:defRPr>
            </a:lvl4pPr>
            <a:lvl5pPr marL="2286000" lvl="4" indent="-228600" algn="l">
              <a:lnSpc>
                <a:spcPct val="90000"/>
              </a:lnSpc>
              <a:spcBef>
                <a:spcPts val="500"/>
              </a:spcBef>
              <a:spcAft>
                <a:spcPts val="0"/>
              </a:spcAft>
              <a:buClr>
                <a:schemeClr val="dk1"/>
              </a:buClr>
              <a:buSzPts val="1600"/>
              <a:buNone/>
              <a:defRPr sz="1600" b="1">
                <a:uFillTx/>
              </a:defRPr>
            </a:lvl5pPr>
            <a:lvl6pPr marL="2743200" lvl="5" indent="-228600" algn="l">
              <a:lnSpc>
                <a:spcPct val="90000"/>
              </a:lnSpc>
              <a:spcBef>
                <a:spcPts val="500"/>
              </a:spcBef>
              <a:spcAft>
                <a:spcPts val="0"/>
              </a:spcAft>
              <a:buClr>
                <a:schemeClr val="dk1"/>
              </a:buClr>
              <a:buSzPts val="1600"/>
              <a:buNone/>
              <a:defRPr sz="1600" b="1">
                <a:uFillTx/>
              </a:defRPr>
            </a:lvl6pPr>
            <a:lvl7pPr marL="3200400" lvl="6" indent="-228600" algn="l">
              <a:lnSpc>
                <a:spcPct val="90000"/>
              </a:lnSpc>
              <a:spcBef>
                <a:spcPts val="500"/>
              </a:spcBef>
              <a:spcAft>
                <a:spcPts val="0"/>
              </a:spcAft>
              <a:buClr>
                <a:schemeClr val="dk1"/>
              </a:buClr>
              <a:buSzPts val="1600"/>
              <a:buNone/>
              <a:defRPr sz="1600" b="1">
                <a:uFillTx/>
              </a:defRPr>
            </a:lvl7pPr>
            <a:lvl8pPr marL="3657600" lvl="7" indent="-228600" algn="l">
              <a:lnSpc>
                <a:spcPct val="90000"/>
              </a:lnSpc>
              <a:spcBef>
                <a:spcPts val="500"/>
              </a:spcBef>
              <a:spcAft>
                <a:spcPts val="0"/>
              </a:spcAft>
              <a:buClr>
                <a:schemeClr val="dk1"/>
              </a:buClr>
              <a:buSzPts val="1600"/>
              <a:buNone/>
              <a:defRPr sz="1600" b="1">
                <a:uFillTx/>
              </a:defRPr>
            </a:lvl8pPr>
            <a:lvl9pPr marL="4114800" lvl="8" indent="-228600" algn="l">
              <a:lnSpc>
                <a:spcPct val="90000"/>
              </a:lnSpc>
              <a:spcBef>
                <a:spcPts val="500"/>
              </a:spcBef>
              <a:spcAft>
                <a:spcPts val="0"/>
              </a:spcAft>
              <a:buClr>
                <a:schemeClr val="dk1"/>
              </a:buClr>
              <a:buSzPts val="1600"/>
              <a:buNone/>
              <a:defRPr sz="1600" b="1">
                <a:uFillTx/>
              </a:defRPr>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2747817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299768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3492751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uFillTx/>
              </a:defRPr>
            </a:lvl1pPr>
            <a:lvl2pPr marL="914400" lvl="1" indent="-406400" algn="l">
              <a:lnSpc>
                <a:spcPct val="90000"/>
              </a:lnSpc>
              <a:spcBef>
                <a:spcPts val="500"/>
              </a:spcBef>
              <a:spcAft>
                <a:spcPts val="0"/>
              </a:spcAft>
              <a:buClr>
                <a:schemeClr val="dk1"/>
              </a:buClr>
              <a:buSzPts val="2800"/>
              <a:buChar char="•"/>
              <a:defRPr sz="2800">
                <a:uFillTx/>
              </a:defRPr>
            </a:lvl2pPr>
            <a:lvl3pPr marL="1371600" lvl="2" indent="-381000" algn="l">
              <a:lnSpc>
                <a:spcPct val="90000"/>
              </a:lnSpc>
              <a:spcBef>
                <a:spcPts val="500"/>
              </a:spcBef>
              <a:spcAft>
                <a:spcPts val="0"/>
              </a:spcAft>
              <a:buClr>
                <a:schemeClr val="dk1"/>
              </a:buClr>
              <a:buSzPts val="2400"/>
              <a:buChar char="•"/>
              <a:defRPr sz="2400">
                <a:uFillTx/>
              </a:defRPr>
            </a:lvl3pPr>
            <a:lvl4pPr marL="1828800" lvl="3" indent="-355600" algn="l">
              <a:lnSpc>
                <a:spcPct val="90000"/>
              </a:lnSpc>
              <a:spcBef>
                <a:spcPts val="500"/>
              </a:spcBef>
              <a:spcAft>
                <a:spcPts val="0"/>
              </a:spcAft>
              <a:buClr>
                <a:schemeClr val="dk1"/>
              </a:buClr>
              <a:buSzPts val="2000"/>
              <a:buChar char="•"/>
              <a:defRPr sz="2000">
                <a:uFillTx/>
              </a:defRPr>
            </a:lvl4pPr>
            <a:lvl5pPr marL="2286000" lvl="4" indent="-355600" algn="l">
              <a:lnSpc>
                <a:spcPct val="90000"/>
              </a:lnSpc>
              <a:spcBef>
                <a:spcPts val="500"/>
              </a:spcBef>
              <a:spcAft>
                <a:spcPts val="0"/>
              </a:spcAft>
              <a:buClr>
                <a:schemeClr val="dk1"/>
              </a:buClr>
              <a:buSzPts val="2000"/>
              <a:buChar char="•"/>
              <a:defRPr sz="2000">
                <a:uFillTx/>
              </a:defRPr>
            </a:lvl5pPr>
            <a:lvl6pPr marL="2743200" lvl="5" indent="-355600" algn="l">
              <a:lnSpc>
                <a:spcPct val="90000"/>
              </a:lnSpc>
              <a:spcBef>
                <a:spcPts val="500"/>
              </a:spcBef>
              <a:spcAft>
                <a:spcPts val="0"/>
              </a:spcAft>
              <a:buClr>
                <a:schemeClr val="dk1"/>
              </a:buClr>
              <a:buSzPts val="2000"/>
              <a:buChar char="•"/>
              <a:defRPr sz="2000">
                <a:uFillTx/>
              </a:defRPr>
            </a:lvl6pPr>
            <a:lvl7pPr marL="3200400" lvl="6" indent="-355600" algn="l">
              <a:lnSpc>
                <a:spcPct val="90000"/>
              </a:lnSpc>
              <a:spcBef>
                <a:spcPts val="500"/>
              </a:spcBef>
              <a:spcAft>
                <a:spcPts val="0"/>
              </a:spcAft>
              <a:buClr>
                <a:schemeClr val="dk1"/>
              </a:buClr>
              <a:buSzPts val="2000"/>
              <a:buChar char="•"/>
              <a:defRPr sz="2000">
                <a:uFillTx/>
              </a:defRPr>
            </a:lvl7pPr>
            <a:lvl8pPr marL="3657600" lvl="7" indent="-355600" algn="l">
              <a:lnSpc>
                <a:spcPct val="90000"/>
              </a:lnSpc>
              <a:spcBef>
                <a:spcPts val="500"/>
              </a:spcBef>
              <a:spcAft>
                <a:spcPts val="0"/>
              </a:spcAft>
              <a:buClr>
                <a:schemeClr val="dk1"/>
              </a:buClr>
              <a:buSzPts val="2000"/>
              <a:buChar char="•"/>
              <a:defRPr sz="2000">
                <a:uFillTx/>
              </a:defRPr>
            </a:lvl8pPr>
            <a:lvl9pPr marL="4114800" lvl="8" indent="-355600" algn="l">
              <a:lnSpc>
                <a:spcPct val="90000"/>
              </a:lnSpc>
              <a:spcBef>
                <a:spcPts val="500"/>
              </a:spcBef>
              <a:spcAft>
                <a:spcPts val="0"/>
              </a:spcAft>
              <a:buClr>
                <a:schemeClr val="dk1"/>
              </a:buClr>
              <a:buSzPts val="2000"/>
              <a:buChar char="•"/>
              <a:defRPr sz="2000">
                <a:uFillTx/>
              </a:defRPr>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uFillTx/>
              </a:defRPr>
            </a:lvl1pPr>
            <a:lvl2pPr marL="914400" lvl="1" indent="-228600" algn="l">
              <a:lnSpc>
                <a:spcPct val="90000"/>
              </a:lnSpc>
              <a:spcBef>
                <a:spcPts val="500"/>
              </a:spcBef>
              <a:spcAft>
                <a:spcPts val="0"/>
              </a:spcAft>
              <a:buClr>
                <a:schemeClr val="dk1"/>
              </a:buClr>
              <a:buSzPts val="1400"/>
              <a:buNone/>
              <a:defRPr sz="1400">
                <a:uFillTx/>
              </a:defRPr>
            </a:lvl2pPr>
            <a:lvl3pPr marL="1371600" lvl="2" indent="-228600" algn="l">
              <a:lnSpc>
                <a:spcPct val="90000"/>
              </a:lnSpc>
              <a:spcBef>
                <a:spcPts val="500"/>
              </a:spcBef>
              <a:spcAft>
                <a:spcPts val="0"/>
              </a:spcAft>
              <a:buClr>
                <a:schemeClr val="dk1"/>
              </a:buClr>
              <a:buSzPts val="1200"/>
              <a:buNone/>
              <a:defRPr sz="1200">
                <a:uFillTx/>
              </a:defRPr>
            </a:lvl3pPr>
            <a:lvl4pPr marL="1828800" lvl="3" indent="-228600" algn="l">
              <a:lnSpc>
                <a:spcPct val="90000"/>
              </a:lnSpc>
              <a:spcBef>
                <a:spcPts val="500"/>
              </a:spcBef>
              <a:spcAft>
                <a:spcPts val="0"/>
              </a:spcAft>
              <a:buClr>
                <a:schemeClr val="dk1"/>
              </a:buClr>
              <a:buSzPts val="1000"/>
              <a:buNone/>
              <a:defRPr sz="1000">
                <a:uFillTx/>
              </a:defRPr>
            </a:lvl4pPr>
            <a:lvl5pPr marL="2286000" lvl="4" indent="-228600" algn="l">
              <a:lnSpc>
                <a:spcPct val="90000"/>
              </a:lnSpc>
              <a:spcBef>
                <a:spcPts val="500"/>
              </a:spcBef>
              <a:spcAft>
                <a:spcPts val="0"/>
              </a:spcAft>
              <a:buClr>
                <a:schemeClr val="dk1"/>
              </a:buClr>
              <a:buSzPts val="1000"/>
              <a:buNone/>
              <a:defRPr sz="1000">
                <a:uFillTx/>
              </a:defRPr>
            </a:lvl5pPr>
            <a:lvl6pPr marL="2743200" lvl="5" indent="-228600" algn="l">
              <a:lnSpc>
                <a:spcPct val="90000"/>
              </a:lnSpc>
              <a:spcBef>
                <a:spcPts val="500"/>
              </a:spcBef>
              <a:spcAft>
                <a:spcPts val="0"/>
              </a:spcAft>
              <a:buClr>
                <a:schemeClr val="dk1"/>
              </a:buClr>
              <a:buSzPts val="1000"/>
              <a:buNone/>
              <a:defRPr sz="1000">
                <a:uFillTx/>
              </a:defRPr>
            </a:lvl6pPr>
            <a:lvl7pPr marL="3200400" lvl="6" indent="-228600" algn="l">
              <a:lnSpc>
                <a:spcPct val="90000"/>
              </a:lnSpc>
              <a:spcBef>
                <a:spcPts val="500"/>
              </a:spcBef>
              <a:spcAft>
                <a:spcPts val="0"/>
              </a:spcAft>
              <a:buClr>
                <a:schemeClr val="dk1"/>
              </a:buClr>
              <a:buSzPts val="1000"/>
              <a:buNone/>
              <a:defRPr sz="1000">
                <a:uFillTx/>
              </a:defRPr>
            </a:lvl7pPr>
            <a:lvl8pPr marL="3657600" lvl="7" indent="-228600" algn="l">
              <a:lnSpc>
                <a:spcPct val="90000"/>
              </a:lnSpc>
              <a:spcBef>
                <a:spcPts val="500"/>
              </a:spcBef>
              <a:spcAft>
                <a:spcPts val="0"/>
              </a:spcAft>
              <a:buClr>
                <a:schemeClr val="dk1"/>
              </a:buClr>
              <a:buSzPts val="1000"/>
              <a:buNone/>
              <a:defRPr sz="1000">
                <a:uFillTx/>
              </a:defRPr>
            </a:lvl8pPr>
            <a:lvl9pPr marL="4114800" lvl="8" indent="-228600" algn="l">
              <a:lnSpc>
                <a:spcPct val="90000"/>
              </a:lnSpc>
              <a:spcBef>
                <a:spcPts val="500"/>
              </a:spcBef>
              <a:spcAft>
                <a:spcPts val="0"/>
              </a:spcAft>
              <a:buClr>
                <a:schemeClr val="dk1"/>
              </a:buClr>
              <a:buSzPts val="1000"/>
              <a:buNone/>
              <a:defRPr sz="1000">
                <a:uFillTx/>
              </a:defRPr>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687661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uFillTx/>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uFillTx/>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uFillTx/>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uFillTx/>
                <a:latin typeface="Arial"/>
                <a:ea typeface="Arial"/>
                <a:cs typeface="Arial"/>
                <a:sym typeface="Arial"/>
              </a:defRPr>
            </a:lvl9pPr>
          </a:lstStyle>
          <a:p>
            <a:endParaRPr/>
          </a:p>
        </p:txBody>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uFillTx/>
              </a:defRPr>
            </a:lvl1pPr>
            <a:lvl2pPr marL="914400" lvl="1" indent="-228600" algn="l">
              <a:lnSpc>
                <a:spcPct val="90000"/>
              </a:lnSpc>
              <a:spcBef>
                <a:spcPts val="500"/>
              </a:spcBef>
              <a:spcAft>
                <a:spcPts val="0"/>
              </a:spcAft>
              <a:buClr>
                <a:schemeClr val="dk1"/>
              </a:buClr>
              <a:buSzPts val="1400"/>
              <a:buNone/>
              <a:defRPr sz="1400">
                <a:uFillTx/>
              </a:defRPr>
            </a:lvl2pPr>
            <a:lvl3pPr marL="1371600" lvl="2" indent="-228600" algn="l">
              <a:lnSpc>
                <a:spcPct val="90000"/>
              </a:lnSpc>
              <a:spcBef>
                <a:spcPts val="500"/>
              </a:spcBef>
              <a:spcAft>
                <a:spcPts val="0"/>
              </a:spcAft>
              <a:buClr>
                <a:schemeClr val="dk1"/>
              </a:buClr>
              <a:buSzPts val="1200"/>
              <a:buNone/>
              <a:defRPr sz="1200">
                <a:uFillTx/>
              </a:defRPr>
            </a:lvl3pPr>
            <a:lvl4pPr marL="1828800" lvl="3" indent="-228600" algn="l">
              <a:lnSpc>
                <a:spcPct val="90000"/>
              </a:lnSpc>
              <a:spcBef>
                <a:spcPts val="500"/>
              </a:spcBef>
              <a:spcAft>
                <a:spcPts val="0"/>
              </a:spcAft>
              <a:buClr>
                <a:schemeClr val="dk1"/>
              </a:buClr>
              <a:buSzPts val="1000"/>
              <a:buNone/>
              <a:defRPr sz="1000">
                <a:uFillTx/>
              </a:defRPr>
            </a:lvl4pPr>
            <a:lvl5pPr marL="2286000" lvl="4" indent="-228600" algn="l">
              <a:lnSpc>
                <a:spcPct val="90000"/>
              </a:lnSpc>
              <a:spcBef>
                <a:spcPts val="500"/>
              </a:spcBef>
              <a:spcAft>
                <a:spcPts val="0"/>
              </a:spcAft>
              <a:buClr>
                <a:schemeClr val="dk1"/>
              </a:buClr>
              <a:buSzPts val="1000"/>
              <a:buNone/>
              <a:defRPr sz="1000">
                <a:uFillTx/>
              </a:defRPr>
            </a:lvl5pPr>
            <a:lvl6pPr marL="2743200" lvl="5" indent="-228600" algn="l">
              <a:lnSpc>
                <a:spcPct val="90000"/>
              </a:lnSpc>
              <a:spcBef>
                <a:spcPts val="500"/>
              </a:spcBef>
              <a:spcAft>
                <a:spcPts val="0"/>
              </a:spcAft>
              <a:buClr>
                <a:schemeClr val="dk1"/>
              </a:buClr>
              <a:buSzPts val="1000"/>
              <a:buNone/>
              <a:defRPr sz="1000">
                <a:uFillTx/>
              </a:defRPr>
            </a:lvl6pPr>
            <a:lvl7pPr marL="3200400" lvl="6" indent="-228600" algn="l">
              <a:lnSpc>
                <a:spcPct val="90000"/>
              </a:lnSpc>
              <a:spcBef>
                <a:spcPts val="500"/>
              </a:spcBef>
              <a:spcAft>
                <a:spcPts val="0"/>
              </a:spcAft>
              <a:buClr>
                <a:schemeClr val="dk1"/>
              </a:buClr>
              <a:buSzPts val="1000"/>
              <a:buNone/>
              <a:defRPr sz="1000">
                <a:uFillTx/>
              </a:defRPr>
            </a:lvl7pPr>
            <a:lvl8pPr marL="3657600" lvl="7" indent="-228600" algn="l">
              <a:lnSpc>
                <a:spcPct val="90000"/>
              </a:lnSpc>
              <a:spcBef>
                <a:spcPts val="500"/>
              </a:spcBef>
              <a:spcAft>
                <a:spcPts val="0"/>
              </a:spcAft>
              <a:buClr>
                <a:schemeClr val="dk1"/>
              </a:buClr>
              <a:buSzPts val="1000"/>
              <a:buNone/>
              <a:defRPr sz="1000">
                <a:uFillTx/>
              </a:defRPr>
            </a:lvl8pPr>
            <a:lvl9pPr marL="4114800" lvl="8" indent="-228600" algn="l">
              <a:lnSpc>
                <a:spcPct val="90000"/>
              </a:lnSpc>
              <a:spcBef>
                <a:spcPts val="500"/>
              </a:spcBef>
              <a:spcAft>
                <a:spcPts val="0"/>
              </a:spcAft>
              <a:buClr>
                <a:schemeClr val="dk1"/>
              </a:buClr>
              <a:buSzPts val="1000"/>
              <a:buNone/>
              <a:defRPr sz="1000">
                <a:uFillTx/>
              </a:defRPr>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26548608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4112438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uFillTx/>
              </a:defRPr>
            </a:lvl1pPr>
            <a:lvl2pPr lvl="1">
              <a:spcBef>
                <a:spcPts val="0"/>
              </a:spcBef>
              <a:spcAft>
                <a:spcPts val="0"/>
              </a:spcAft>
              <a:buSzPts val="1400"/>
              <a:buNone/>
              <a:defRPr>
                <a:uFillTx/>
              </a:defRPr>
            </a:lvl2pPr>
            <a:lvl3pPr lvl="2">
              <a:spcBef>
                <a:spcPts val="0"/>
              </a:spcBef>
              <a:spcAft>
                <a:spcPts val="0"/>
              </a:spcAft>
              <a:buSzPts val="1400"/>
              <a:buNone/>
              <a:defRPr>
                <a:uFillTx/>
              </a:defRPr>
            </a:lvl3pPr>
            <a:lvl4pPr lvl="3">
              <a:spcBef>
                <a:spcPts val="0"/>
              </a:spcBef>
              <a:spcAft>
                <a:spcPts val="0"/>
              </a:spcAft>
              <a:buSzPts val="1400"/>
              <a:buNone/>
              <a:defRPr>
                <a:uFillTx/>
              </a:defRPr>
            </a:lvl4pPr>
            <a:lvl5pPr lvl="4">
              <a:spcBef>
                <a:spcPts val="0"/>
              </a:spcBef>
              <a:spcAft>
                <a:spcPts val="0"/>
              </a:spcAft>
              <a:buSzPts val="1400"/>
              <a:buNone/>
              <a:defRPr>
                <a:uFillTx/>
              </a:defRPr>
            </a:lvl5pPr>
            <a:lvl6pPr lvl="5">
              <a:spcBef>
                <a:spcPts val="0"/>
              </a:spcBef>
              <a:spcAft>
                <a:spcPts val="0"/>
              </a:spcAft>
              <a:buSzPts val="1400"/>
              <a:buNone/>
              <a:defRPr>
                <a:uFillTx/>
              </a:defRPr>
            </a:lvl6pPr>
            <a:lvl7pPr lvl="6">
              <a:spcBef>
                <a:spcPts val="0"/>
              </a:spcBef>
              <a:spcAft>
                <a:spcPts val="0"/>
              </a:spcAft>
              <a:buSzPts val="1400"/>
              <a:buNone/>
              <a:defRPr>
                <a:uFillTx/>
              </a:defRPr>
            </a:lvl7pPr>
            <a:lvl8pPr lvl="7">
              <a:spcBef>
                <a:spcPts val="0"/>
              </a:spcBef>
              <a:spcAft>
                <a:spcPts val="0"/>
              </a:spcAft>
              <a:buSzPts val="1400"/>
              <a:buNone/>
              <a:defRPr>
                <a:uFillTx/>
              </a:defRPr>
            </a:lvl8pPr>
            <a:lvl9pPr lvl="8">
              <a:spcBef>
                <a:spcPts val="0"/>
              </a:spcBef>
              <a:spcAft>
                <a:spcPts val="0"/>
              </a:spcAft>
              <a:buSzPts val="1400"/>
              <a:buNone/>
              <a:defRPr>
                <a:uFillTx/>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uFillTx/>
              </a:defRPr>
            </a:lvl1pPr>
            <a:lvl2pPr marL="914400" lvl="1" indent="-342900" algn="l">
              <a:lnSpc>
                <a:spcPct val="90000"/>
              </a:lnSpc>
              <a:spcBef>
                <a:spcPts val="500"/>
              </a:spcBef>
              <a:spcAft>
                <a:spcPts val="0"/>
              </a:spcAft>
              <a:buClr>
                <a:schemeClr val="dk1"/>
              </a:buClr>
              <a:buSzPts val="1800"/>
              <a:buChar char="•"/>
              <a:defRPr>
                <a:uFillTx/>
              </a:defRPr>
            </a:lvl2pPr>
            <a:lvl3pPr marL="1371600" lvl="2" indent="-342900" algn="l">
              <a:lnSpc>
                <a:spcPct val="90000"/>
              </a:lnSpc>
              <a:spcBef>
                <a:spcPts val="500"/>
              </a:spcBef>
              <a:spcAft>
                <a:spcPts val="0"/>
              </a:spcAft>
              <a:buClr>
                <a:schemeClr val="dk1"/>
              </a:buClr>
              <a:buSzPts val="1800"/>
              <a:buChar char="•"/>
              <a:defRPr>
                <a:uFillTx/>
              </a:defRPr>
            </a:lvl3pPr>
            <a:lvl4pPr marL="1828800" lvl="3" indent="-342900" algn="l">
              <a:lnSpc>
                <a:spcPct val="90000"/>
              </a:lnSpc>
              <a:spcBef>
                <a:spcPts val="500"/>
              </a:spcBef>
              <a:spcAft>
                <a:spcPts val="0"/>
              </a:spcAft>
              <a:buClr>
                <a:schemeClr val="dk1"/>
              </a:buClr>
              <a:buSzPts val="1800"/>
              <a:buChar char="•"/>
              <a:defRPr>
                <a:uFillTx/>
              </a:defRPr>
            </a:lvl4pPr>
            <a:lvl5pPr marL="2286000" lvl="4" indent="-342900" algn="l">
              <a:lnSpc>
                <a:spcPct val="90000"/>
              </a:lnSpc>
              <a:spcBef>
                <a:spcPts val="500"/>
              </a:spcBef>
              <a:spcAft>
                <a:spcPts val="0"/>
              </a:spcAft>
              <a:buClr>
                <a:schemeClr val="dk1"/>
              </a:buClr>
              <a:buSzPts val="1800"/>
              <a:buChar char="•"/>
              <a:defRPr>
                <a:uFillTx/>
              </a:defRPr>
            </a:lvl5pPr>
            <a:lvl6pPr marL="2743200" lvl="5" indent="-342900" algn="l">
              <a:lnSpc>
                <a:spcPct val="90000"/>
              </a:lnSpc>
              <a:spcBef>
                <a:spcPts val="500"/>
              </a:spcBef>
              <a:spcAft>
                <a:spcPts val="0"/>
              </a:spcAft>
              <a:buClr>
                <a:schemeClr val="dk1"/>
              </a:buClr>
              <a:buSzPts val="1800"/>
              <a:buChar char="•"/>
              <a:defRPr>
                <a:uFillTx/>
              </a:defRPr>
            </a:lvl6pPr>
            <a:lvl7pPr marL="3200400" lvl="6" indent="-342900" algn="l">
              <a:lnSpc>
                <a:spcPct val="90000"/>
              </a:lnSpc>
              <a:spcBef>
                <a:spcPts val="500"/>
              </a:spcBef>
              <a:spcAft>
                <a:spcPts val="0"/>
              </a:spcAft>
              <a:buClr>
                <a:schemeClr val="dk1"/>
              </a:buClr>
              <a:buSzPts val="1800"/>
              <a:buChar char="•"/>
              <a:defRPr>
                <a:uFillTx/>
              </a:defRPr>
            </a:lvl7pPr>
            <a:lvl8pPr marL="3657600" lvl="7" indent="-342900" algn="l">
              <a:lnSpc>
                <a:spcPct val="90000"/>
              </a:lnSpc>
              <a:spcBef>
                <a:spcPts val="500"/>
              </a:spcBef>
              <a:spcAft>
                <a:spcPts val="0"/>
              </a:spcAft>
              <a:buClr>
                <a:schemeClr val="dk1"/>
              </a:buClr>
              <a:buSzPts val="1800"/>
              <a:buChar char="•"/>
              <a:defRPr>
                <a:uFillTx/>
              </a:defRPr>
            </a:lvl8pPr>
            <a:lvl9pPr marL="4114800" lvl="8" indent="-342900" algn="l">
              <a:lnSpc>
                <a:spcPct val="90000"/>
              </a:lnSpc>
              <a:spcBef>
                <a:spcPts val="500"/>
              </a:spcBef>
              <a:spcAft>
                <a:spcPts val="0"/>
              </a:spcAft>
              <a:buClr>
                <a:schemeClr val="dk1"/>
              </a:buClr>
              <a:buSzPts val="1800"/>
              <a:buChar char="•"/>
              <a:defRPr>
                <a:uFillTx/>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uFillTx/>
              </a:defRPr>
            </a:lvl1pPr>
            <a:lvl2pPr lvl="1" algn="l">
              <a:spcBef>
                <a:spcPts val="0"/>
              </a:spcBef>
              <a:spcAft>
                <a:spcPts val="0"/>
              </a:spcAft>
              <a:buSzPts val="1400"/>
              <a:buNone/>
              <a:defRPr>
                <a:uFillTx/>
              </a:defRPr>
            </a:lvl2pPr>
            <a:lvl3pPr lvl="2" algn="l">
              <a:spcBef>
                <a:spcPts val="0"/>
              </a:spcBef>
              <a:spcAft>
                <a:spcPts val="0"/>
              </a:spcAft>
              <a:buSzPts val="1400"/>
              <a:buNone/>
              <a:defRPr>
                <a:uFillTx/>
              </a:defRPr>
            </a:lvl3pPr>
            <a:lvl4pPr lvl="3" algn="l">
              <a:spcBef>
                <a:spcPts val="0"/>
              </a:spcBef>
              <a:spcAft>
                <a:spcPts val="0"/>
              </a:spcAft>
              <a:buSzPts val="1400"/>
              <a:buNone/>
              <a:defRPr>
                <a:uFillTx/>
              </a:defRPr>
            </a:lvl4pPr>
            <a:lvl5pPr lvl="4" algn="l">
              <a:spcBef>
                <a:spcPts val="0"/>
              </a:spcBef>
              <a:spcAft>
                <a:spcPts val="0"/>
              </a:spcAft>
              <a:buSzPts val="1400"/>
              <a:buNone/>
              <a:defRPr>
                <a:uFillTx/>
              </a:defRPr>
            </a:lvl5pPr>
            <a:lvl6pPr lvl="5" algn="l">
              <a:spcBef>
                <a:spcPts val="0"/>
              </a:spcBef>
              <a:spcAft>
                <a:spcPts val="0"/>
              </a:spcAft>
              <a:buSzPts val="1400"/>
              <a:buNone/>
              <a:defRPr>
                <a:uFillTx/>
              </a:defRPr>
            </a:lvl6pPr>
            <a:lvl7pPr lvl="6" algn="l">
              <a:spcBef>
                <a:spcPts val="0"/>
              </a:spcBef>
              <a:spcAft>
                <a:spcPts val="0"/>
              </a:spcAft>
              <a:buSzPts val="1400"/>
              <a:buNone/>
              <a:defRPr>
                <a:uFillTx/>
              </a:defRPr>
            </a:lvl7pPr>
            <a:lvl8pPr lvl="7" algn="l">
              <a:spcBef>
                <a:spcPts val="0"/>
              </a:spcBef>
              <a:spcAft>
                <a:spcPts val="0"/>
              </a:spcAft>
              <a:buSzPts val="1400"/>
              <a:buNone/>
              <a:defRPr>
                <a:uFillTx/>
              </a:defRPr>
            </a:lvl8pPr>
            <a:lvl9pPr lvl="8" algn="l">
              <a:spcBef>
                <a:spcPts val="0"/>
              </a:spcBef>
              <a:spcAft>
                <a:spcPts val="0"/>
              </a:spcAft>
              <a:buSzPts val="1400"/>
              <a:buNone/>
              <a:defRPr>
                <a:uFillTx/>
              </a:defRPr>
            </a:lvl9pPr>
          </a:lstStyle>
          <a:p>
            <a:r>
              <a:rPr lang="en-US"/>
              <a:t>©Hiroshi Komukai</a:t>
            </a:r>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uFillTx/>
              </a:defRPr>
            </a:lvl1pPr>
            <a:lvl2pPr marL="0" lvl="1" indent="0" algn="r">
              <a:spcBef>
                <a:spcPts val="0"/>
              </a:spcBef>
              <a:buNone/>
              <a:defRPr>
                <a:uFillTx/>
              </a:defRPr>
            </a:lvl2pPr>
            <a:lvl3pPr marL="0" lvl="2" indent="0" algn="r">
              <a:spcBef>
                <a:spcPts val="0"/>
              </a:spcBef>
              <a:buNone/>
              <a:defRPr>
                <a:uFillTx/>
              </a:defRPr>
            </a:lvl3pPr>
            <a:lvl4pPr marL="0" lvl="3" indent="0" algn="r">
              <a:spcBef>
                <a:spcPts val="0"/>
              </a:spcBef>
              <a:buNone/>
              <a:defRPr>
                <a:uFillTx/>
              </a:defRPr>
            </a:lvl4pPr>
            <a:lvl5pPr marL="0" lvl="4" indent="0" algn="r">
              <a:spcBef>
                <a:spcPts val="0"/>
              </a:spcBef>
              <a:buNone/>
              <a:defRPr>
                <a:uFillTx/>
              </a:defRPr>
            </a:lvl5pPr>
            <a:lvl6pPr marL="0" lvl="5" indent="0" algn="r">
              <a:spcBef>
                <a:spcPts val="0"/>
              </a:spcBef>
              <a:buNone/>
              <a:defRPr>
                <a:uFillTx/>
              </a:defRPr>
            </a:lvl6pPr>
            <a:lvl7pPr marL="0" lvl="6" indent="0" algn="r">
              <a:spcBef>
                <a:spcPts val="0"/>
              </a:spcBef>
              <a:buNone/>
              <a:defRPr>
                <a:uFillTx/>
              </a:defRPr>
            </a:lvl7pPr>
            <a:lvl8pPr marL="0" lvl="7" indent="0" algn="r">
              <a:spcBef>
                <a:spcPts val="0"/>
              </a:spcBef>
              <a:buNone/>
              <a:defRPr>
                <a:uFillTx/>
              </a:defRPr>
            </a:lvl8pPr>
            <a:lvl9pPr marL="0" lvl="8" indent="0" algn="r">
              <a:spcBef>
                <a:spcPts val="0"/>
              </a:spcBef>
              <a:buNone/>
              <a:defRPr>
                <a:uFillTx/>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233592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uFillTx/>
                <a:latin typeface="Arial"/>
                <a:ea typeface="Arial"/>
                <a:cs typeface="Arial"/>
                <a:sym typeface="Arial"/>
              </a:defRPr>
            </a:lvl1pPr>
            <a:lvl2pPr lvl="1">
              <a:spcBef>
                <a:spcPts val="0"/>
              </a:spcBef>
              <a:spcAft>
                <a:spcPts val="0"/>
              </a:spcAft>
              <a:buSzPts val="1400"/>
              <a:buNone/>
              <a:defRPr sz="1800">
                <a:uFillTx/>
              </a:defRPr>
            </a:lvl2pPr>
            <a:lvl3pPr lvl="2">
              <a:spcBef>
                <a:spcPts val="0"/>
              </a:spcBef>
              <a:spcAft>
                <a:spcPts val="0"/>
              </a:spcAft>
              <a:buSzPts val="1400"/>
              <a:buNone/>
              <a:defRPr sz="1800">
                <a:uFillTx/>
              </a:defRPr>
            </a:lvl3pPr>
            <a:lvl4pPr lvl="3">
              <a:spcBef>
                <a:spcPts val="0"/>
              </a:spcBef>
              <a:spcAft>
                <a:spcPts val="0"/>
              </a:spcAft>
              <a:buSzPts val="1400"/>
              <a:buNone/>
              <a:defRPr sz="1800">
                <a:uFillTx/>
              </a:defRPr>
            </a:lvl4pPr>
            <a:lvl5pPr lvl="4">
              <a:spcBef>
                <a:spcPts val="0"/>
              </a:spcBef>
              <a:spcAft>
                <a:spcPts val="0"/>
              </a:spcAft>
              <a:buSzPts val="1400"/>
              <a:buNone/>
              <a:defRPr sz="1800">
                <a:uFillTx/>
              </a:defRPr>
            </a:lvl5pPr>
            <a:lvl6pPr lvl="5">
              <a:spcBef>
                <a:spcPts val="0"/>
              </a:spcBef>
              <a:spcAft>
                <a:spcPts val="0"/>
              </a:spcAft>
              <a:buSzPts val="1400"/>
              <a:buNone/>
              <a:defRPr sz="1800">
                <a:uFillTx/>
              </a:defRPr>
            </a:lvl6pPr>
            <a:lvl7pPr lvl="6">
              <a:spcBef>
                <a:spcPts val="0"/>
              </a:spcBef>
              <a:spcAft>
                <a:spcPts val="0"/>
              </a:spcAft>
              <a:buSzPts val="1400"/>
              <a:buNone/>
              <a:defRPr sz="1800">
                <a:uFillTx/>
              </a:defRPr>
            </a:lvl7pPr>
            <a:lvl8pPr lvl="7">
              <a:spcBef>
                <a:spcPts val="0"/>
              </a:spcBef>
              <a:spcAft>
                <a:spcPts val="0"/>
              </a:spcAft>
              <a:buSzPts val="1400"/>
              <a:buNone/>
              <a:defRPr sz="1800">
                <a:uFillTx/>
              </a:defRPr>
            </a:lvl8pPr>
            <a:lvl9pPr lvl="8">
              <a:spcBef>
                <a:spcPts val="0"/>
              </a:spcBef>
              <a:spcAft>
                <a:spcPts val="0"/>
              </a:spcAft>
              <a:buSzPts val="1400"/>
              <a:buNone/>
              <a:defRPr sz="1800">
                <a:uFillTx/>
              </a:defRPr>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uFillTx/>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uFillTx/>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uFillTx/>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uFillTx/>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uFillTx/>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9pPr>
          </a:lstStyle>
          <a:p>
            <a:r>
              <a:rPr lang="en-US"/>
              <a:t>©Hiroshi Komukai</a:t>
            </a:r>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uFillTx/>
                <a:latin typeface="Arial"/>
                <a:ea typeface="Arial"/>
                <a:cs typeface="Arial"/>
                <a:sym typeface="Arial"/>
              </a:defRPr>
            </a:lvl1pPr>
            <a:lvl2pPr marL="0" marR="0" lvl="1" indent="0" algn="r" rtl="0">
              <a:spcBef>
                <a:spcPts val="0"/>
              </a:spcBef>
              <a:buNone/>
              <a:defRPr sz="1200" b="0" i="0" u="none" strike="noStrike" cap="none">
                <a:solidFill>
                  <a:srgbClr val="888888"/>
                </a:solidFill>
                <a:uFillTx/>
                <a:latin typeface="Arial"/>
                <a:ea typeface="Arial"/>
                <a:cs typeface="Arial"/>
                <a:sym typeface="Arial"/>
              </a:defRPr>
            </a:lvl2pPr>
            <a:lvl3pPr marL="0" marR="0" lvl="2" indent="0" algn="r" rtl="0">
              <a:spcBef>
                <a:spcPts val="0"/>
              </a:spcBef>
              <a:buNone/>
              <a:defRPr sz="1200" b="0" i="0" u="none" strike="noStrike" cap="none">
                <a:solidFill>
                  <a:srgbClr val="888888"/>
                </a:solidFill>
                <a:uFillTx/>
                <a:latin typeface="Arial"/>
                <a:ea typeface="Arial"/>
                <a:cs typeface="Arial"/>
                <a:sym typeface="Arial"/>
              </a:defRPr>
            </a:lvl3pPr>
            <a:lvl4pPr marL="0" marR="0" lvl="3" indent="0" algn="r" rtl="0">
              <a:spcBef>
                <a:spcPts val="0"/>
              </a:spcBef>
              <a:buNone/>
              <a:defRPr sz="1200" b="0" i="0" u="none" strike="noStrike" cap="none">
                <a:solidFill>
                  <a:srgbClr val="888888"/>
                </a:solidFill>
                <a:uFillTx/>
                <a:latin typeface="Arial"/>
                <a:ea typeface="Arial"/>
                <a:cs typeface="Arial"/>
                <a:sym typeface="Arial"/>
              </a:defRPr>
            </a:lvl4pPr>
            <a:lvl5pPr marL="0" marR="0" lvl="4" indent="0" algn="r" rtl="0">
              <a:spcBef>
                <a:spcPts val="0"/>
              </a:spcBef>
              <a:buNone/>
              <a:defRPr sz="1200" b="0" i="0" u="none" strike="noStrike" cap="none">
                <a:solidFill>
                  <a:srgbClr val="888888"/>
                </a:solidFill>
                <a:uFillTx/>
                <a:latin typeface="Arial"/>
                <a:ea typeface="Arial"/>
                <a:cs typeface="Arial"/>
                <a:sym typeface="Arial"/>
              </a:defRPr>
            </a:lvl5pPr>
            <a:lvl6pPr marL="0" marR="0" lvl="5" indent="0" algn="r" rtl="0">
              <a:spcBef>
                <a:spcPts val="0"/>
              </a:spcBef>
              <a:buNone/>
              <a:defRPr sz="1200" b="0" i="0" u="none" strike="noStrike" cap="none">
                <a:solidFill>
                  <a:srgbClr val="888888"/>
                </a:solidFill>
                <a:uFillTx/>
                <a:latin typeface="Arial"/>
                <a:ea typeface="Arial"/>
                <a:cs typeface="Arial"/>
                <a:sym typeface="Arial"/>
              </a:defRPr>
            </a:lvl6pPr>
            <a:lvl7pPr marL="0" marR="0" lvl="6" indent="0" algn="r" rtl="0">
              <a:spcBef>
                <a:spcPts val="0"/>
              </a:spcBef>
              <a:buNone/>
              <a:defRPr sz="1200" b="0" i="0" u="none" strike="noStrike" cap="none">
                <a:solidFill>
                  <a:srgbClr val="888888"/>
                </a:solidFill>
                <a:uFillTx/>
                <a:latin typeface="Arial"/>
                <a:ea typeface="Arial"/>
                <a:cs typeface="Arial"/>
                <a:sym typeface="Arial"/>
              </a:defRPr>
            </a:lvl7pPr>
            <a:lvl8pPr marL="0" marR="0" lvl="7" indent="0" algn="r" rtl="0">
              <a:spcBef>
                <a:spcPts val="0"/>
              </a:spcBef>
              <a:buNone/>
              <a:defRPr sz="1200" b="0" i="0" u="none" strike="noStrike" cap="none">
                <a:solidFill>
                  <a:srgbClr val="888888"/>
                </a:solidFill>
                <a:uFillTx/>
                <a:latin typeface="Arial"/>
                <a:ea typeface="Arial"/>
                <a:cs typeface="Arial"/>
                <a:sym typeface="Arial"/>
              </a:defRPr>
            </a:lvl8pPr>
            <a:lvl9pPr marL="0" marR="0" lvl="8" indent="0" algn="r" rtl="0">
              <a:spcBef>
                <a:spcPts val="0"/>
              </a:spcBef>
              <a:buNone/>
              <a:defRPr sz="1200" b="0" i="0" u="none" strike="noStrike" cap="none">
                <a:solidFill>
                  <a:srgbClr val="888888"/>
                </a:solidFill>
                <a:uFillTx/>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uFillTx/>
                <a:latin typeface="Arial"/>
                <a:ea typeface="Arial"/>
                <a:cs typeface="Arial"/>
                <a:sym typeface="Arial"/>
              </a:defRPr>
            </a:lvl1pPr>
            <a:lvl2pPr lvl="1">
              <a:spcBef>
                <a:spcPts val="0"/>
              </a:spcBef>
              <a:spcAft>
                <a:spcPts val="0"/>
              </a:spcAft>
              <a:buSzPts val="1400"/>
              <a:buNone/>
              <a:defRPr sz="1800">
                <a:uFillTx/>
              </a:defRPr>
            </a:lvl2pPr>
            <a:lvl3pPr lvl="2">
              <a:spcBef>
                <a:spcPts val="0"/>
              </a:spcBef>
              <a:spcAft>
                <a:spcPts val="0"/>
              </a:spcAft>
              <a:buSzPts val="1400"/>
              <a:buNone/>
              <a:defRPr sz="1800">
                <a:uFillTx/>
              </a:defRPr>
            </a:lvl3pPr>
            <a:lvl4pPr lvl="3">
              <a:spcBef>
                <a:spcPts val="0"/>
              </a:spcBef>
              <a:spcAft>
                <a:spcPts val="0"/>
              </a:spcAft>
              <a:buSzPts val="1400"/>
              <a:buNone/>
              <a:defRPr sz="1800">
                <a:uFillTx/>
              </a:defRPr>
            </a:lvl4pPr>
            <a:lvl5pPr lvl="4">
              <a:spcBef>
                <a:spcPts val="0"/>
              </a:spcBef>
              <a:spcAft>
                <a:spcPts val="0"/>
              </a:spcAft>
              <a:buSzPts val="1400"/>
              <a:buNone/>
              <a:defRPr sz="1800">
                <a:uFillTx/>
              </a:defRPr>
            </a:lvl5pPr>
            <a:lvl6pPr lvl="5">
              <a:spcBef>
                <a:spcPts val="0"/>
              </a:spcBef>
              <a:spcAft>
                <a:spcPts val="0"/>
              </a:spcAft>
              <a:buSzPts val="1400"/>
              <a:buNone/>
              <a:defRPr sz="1800">
                <a:uFillTx/>
              </a:defRPr>
            </a:lvl6pPr>
            <a:lvl7pPr lvl="6">
              <a:spcBef>
                <a:spcPts val="0"/>
              </a:spcBef>
              <a:spcAft>
                <a:spcPts val="0"/>
              </a:spcAft>
              <a:buSzPts val="1400"/>
              <a:buNone/>
              <a:defRPr sz="1800">
                <a:uFillTx/>
              </a:defRPr>
            </a:lvl7pPr>
            <a:lvl8pPr lvl="7">
              <a:spcBef>
                <a:spcPts val="0"/>
              </a:spcBef>
              <a:spcAft>
                <a:spcPts val="0"/>
              </a:spcAft>
              <a:buSzPts val="1400"/>
              <a:buNone/>
              <a:defRPr sz="1800">
                <a:uFillTx/>
              </a:defRPr>
            </a:lvl8pPr>
            <a:lvl9pPr lvl="8">
              <a:spcBef>
                <a:spcPts val="0"/>
              </a:spcBef>
              <a:spcAft>
                <a:spcPts val="0"/>
              </a:spcAft>
              <a:buSzPts val="1400"/>
              <a:buNone/>
              <a:defRPr sz="1800">
                <a:uFillTx/>
              </a:defRPr>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uFillTx/>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uFillTx/>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uFillTx/>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uFillTx/>
                <a:latin typeface="Arial"/>
                <a:ea typeface="Arial"/>
                <a:cs typeface="Arial"/>
                <a:sym typeface="Arial"/>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uFillTx/>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uFillTx/>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uFillTx/>
                <a:latin typeface="Arial"/>
                <a:ea typeface="Arial"/>
                <a:cs typeface="Arial"/>
                <a:sym typeface="Arial"/>
              </a:defRPr>
            </a:lvl9pPr>
          </a:lstStyle>
          <a:p>
            <a:r>
              <a:rPr lang="en-US"/>
              <a:t>©Hiroshi Komukai</a:t>
            </a:r>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uFillTx/>
                <a:latin typeface="Arial"/>
                <a:ea typeface="Arial"/>
                <a:cs typeface="Arial"/>
                <a:sym typeface="Arial"/>
              </a:defRPr>
            </a:lvl1pPr>
            <a:lvl2pPr marL="0" marR="0" lvl="1" indent="0" algn="r" rtl="0">
              <a:spcBef>
                <a:spcPts val="0"/>
              </a:spcBef>
              <a:buNone/>
              <a:defRPr sz="1200" b="0" i="0" u="none" strike="noStrike" cap="none">
                <a:solidFill>
                  <a:srgbClr val="888888"/>
                </a:solidFill>
                <a:uFillTx/>
                <a:latin typeface="Arial"/>
                <a:ea typeface="Arial"/>
                <a:cs typeface="Arial"/>
                <a:sym typeface="Arial"/>
              </a:defRPr>
            </a:lvl2pPr>
            <a:lvl3pPr marL="0" marR="0" lvl="2" indent="0" algn="r" rtl="0">
              <a:spcBef>
                <a:spcPts val="0"/>
              </a:spcBef>
              <a:buNone/>
              <a:defRPr sz="1200" b="0" i="0" u="none" strike="noStrike" cap="none">
                <a:solidFill>
                  <a:srgbClr val="888888"/>
                </a:solidFill>
                <a:uFillTx/>
                <a:latin typeface="Arial"/>
                <a:ea typeface="Arial"/>
                <a:cs typeface="Arial"/>
                <a:sym typeface="Arial"/>
              </a:defRPr>
            </a:lvl3pPr>
            <a:lvl4pPr marL="0" marR="0" lvl="3" indent="0" algn="r" rtl="0">
              <a:spcBef>
                <a:spcPts val="0"/>
              </a:spcBef>
              <a:buNone/>
              <a:defRPr sz="1200" b="0" i="0" u="none" strike="noStrike" cap="none">
                <a:solidFill>
                  <a:srgbClr val="888888"/>
                </a:solidFill>
                <a:uFillTx/>
                <a:latin typeface="Arial"/>
                <a:ea typeface="Arial"/>
                <a:cs typeface="Arial"/>
                <a:sym typeface="Arial"/>
              </a:defRPr>
            </a:lvl4pPr>
            <a:lvl5pPr marL="0" marR="0" lvl="4" indent="0" algn="r" rtl="0">
              <a:spcBef>
                <a:spcPts val="0"/>
              </a:spcBef>
              <a:buNone/>
              <a:defRPr sz="1200" b="0" i="0" u="none" strike="noStrike" cap="none">
                <a:solidFill>
                  <a:srgbClr val="888888"/>
                </a:solidFill>
                <a:uFillTx/>
                <a:latin typeface="Arial"/>
                <a:ea typeface="Arial"/>
                <a:cs typeface="Arial"/>
                <a:sym typeface="Arial"/>
              </a:defRPr>
            </a:lvl5pPr>
            <a:lvl6pPr marL="0" marR="0" lvl="5" indent="0" algn="r" rtl="0">
              <a:spcBef>
                <a:spcPts val="0"/>
              </a:spcBef>
              <a:buNone/>
              <a:defRPr sz="1200" b="0" i="0" u="none" strike="noStrike" cap="none">
                <a:solidFill>
                  <a:srgbClr val="888888"/>
                </a:solidFill>
                <a:uFillTx/>
                <a:latin typeface="Arial"/>
                <a:ea typeface="Arial"/>
                <a:cs typeface="Arial"/>
                <a:sym typeface="Arial"/>
              </a:defRPr>
            </a:lvl6pPr>
            <a:lvl7pPr marL="0" marR="0" lvl="6" indent="0" algn="r" rtl="0">
              <a:spcBef>
                <a:spcPts val="0"/>
              </a:spcBef>
              <a:buNone/>
              <a:defRPr sz="1200" b="0" i="0" u="none" strike="noStrike" cap="none">
                <a:solidFill>
                  <a:srgbClr val="888888"/>
                </a:solidFill>
                <a:uFillTx/>
                <a:latin typeface="Arial"/>
                <a:ea typeface="Arial"/>
                <a:cs typeface="Arial"/>
                <a:sym typeface="Arial"/>
              </a:defRPr>
            </a:lvl7pPr>
            <a:lvl8pPr marL="0" marR="0" lvl="7" indent="0" algn="r" rtl="0">
              <a:spcBef>
                <a:spcPts val="0"/>
              </a:spcBef>
              <a:buNone/>
              <a:defRPr sz="1200" b="0" i="0" u="none" strike="noStrike" cap="none">
                <a:solidFill>
                  <a:srgbClr val="888888"/>
                </a:solidFill>
                <a:uFillTx/>
                <a:latin typeface="Arial"/>
                <a:ea typeface="Arial"/>
                <a:cs typeface="Arial"/>
                <a:sym typeface="Arial"/>
              </a:defRPr>
            </a:lvl8pPr>
            <a:lvl9pPr marL="0" marR="0" lvl="8" indent="0" algn="r" rtl="0">
              <a:spcBef>
                <a:spcPts val="0"/>
              </a:spcBef>
              <a:buNone/>
              <a:defRPr sz="1200" b="0" i="0" u="none" strike="noStrike" cap="none">
                <a:solidFill>
                  <a:srgbClr val="888888"/>
                </a:solidFill>
                <a:uFillTx/>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uFillTx/>
              </a:rPr>
              <a:t>‹#›</a:t>
            </a:fld>
            <a:endParaRPr>
              <a:uFillTx/>
            </a:endParaRPr>
          </a:p>
        </p:txBody>
      </p:sp>
    </p:spTree>
    <p:extLst>
      <p:ext uri="{BB962C8B-B14F-4D97-AF65-F5344CB8AC3E}">
        <p14:creationId xmlns:p14="http://schemas.microsoft.com/office/powerpoint/2010/main" val="1386196049"/>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32.jpg"/></Relationships>
</file>

<file path=ppt/slides/_rels/slide5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ED5FF-0043-28AC-AFCD-877C31D5F7EC}"/>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4F9B81EC-57A8-C801-2A62-D41B1EFC9518}"/>
              </a:ext>
            </a:extLst>
          </p:cNvPr>
          <p:cNvSpPr>
            <a:spLocks noGrp="1"/>
          </p:cNvSpPr>
          <p:nvPr>
            <p:ph type="sldNum" sz="quarter" idx="12"/>
          </p:nvPr>
        </p:nvSpPr>
        <p:spPr/>
        <p:txBody>
          <a:bodyPr/>
          <a:lstStyle/>
          <a:p>
            <a:fld id="{7EB29901-185E-436F-B7EE-94CD3DCFCF3C}" type="slidenum">
              <a:rPr kumimoji="1" lang="ja-JP" altLang="en-US" smtClean="0">
                <a:solidFill>
                  <a:schemeClr val="bg1">
                    <a:lumMod val="50000"/>
                  </a:schemeClr>
                </a:solidFill>
              </a:rPr>
              <a:t>1</a:t>
            </a:fld>
            <a:endParaRPr kumimoji="1" lang="ja-JP" altLang="en-US" dirty="0">
              <a:solidFill>
                <a:schemeClr val="bg1">
                  <a:lumMod val="50000"/>
                </a:schemeClr>
              </a:solidFill>
            </a:endParaRPr>
          </a:p>
        </p:txBody>
      </p:sp>
      <p:pic>
        <p:nvPicPr>
          <p:cNvPr id="1028" name="Picture 4" descr="ロゴ">
            <a:extLst>
              <a:ext uri="{FF2B5EF4-FFF2-40B4-BE49-F238E27FC236}">
                <a16:creationId xmlns:a16="http://schemas.microsoft.com/office/drawing/2014/main" id="{9CEDF392-F1C7-6621-646B-F31F89367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525" y="210859"/>
            <a:ext cx="1200150" cy="400050"/>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25812B28-F146-E7EF-CAD4-773F034E07F2}"/>
              </a:ext>
            </a:extLst>
          </p:cNvPr>
          <p:cNvSpPr txBox="1"/>
          <p:nvPr/>
        </p:nvSpPr>
        <p:spPr>
          <a:xfrm>
            <a:off x="681223" y="4935866"/>
            <a:ext cx="10829554" cy="707886"/>
          </a:xfrm>
          <a:prstGeom prst="rect">
            <a:avLst/>
          </a:prstGeom>
          <a:noFill/>
        </p:spPr>
        <p:txBody>
          <a:bodyPr wrap="square" rtlCol="0" anchor="ctr">
            <a:spAutoFit/>
          </a:bodyPr>
          <a:lstStyle/>
          <a:p>
            <a:pPr algn="ctr"/>
            <a:r>
              <a:rPr lang="ja-JP" altLang="en-US" sz="2000" b="1">
                <a:latin typeface="Meiryo" panose="020B0604030504040204" pitchFamily="34" charset="-128"/>
                <a:ea typeface="Meiryo" panose="020B0604030504040204" pitchFamily="34" charset="-128"/>
              </a:rPr>
              <a:t>令和</a:t>
            </a:r>
            <a:r>
              <a:rPr lang="en-US" altLang="ja-JP" sz="2000" b="1" dirty="0">
                <a:latin typeface="Meiryo" panose="020B0604030504040204" pitchFamily="34" charset="-128"/>
                <a:ea typeface="Meiryo" panose="020B0604030504040204" pitchFamily="34" charset="-128"/>
              </a:rPr>
              <a:t>7</a:t>
            </a:r>
            <a:r>
              <a:rPr lang="ja-JP" altLang="en-US" sz="2000" b="1">
                <a:latin typeface="Meiryo" panose="020B0604030504040204" pitchFamily="34" charset="-128"/>
                <a:ea typeface="Meiryo" panose="020B0604030504040204" pitchFamily="34" charset="-128"/>
              </a:rPr>
              <a:t>年度「東北経済産業局における地域中小企業人材確保支援等調査・分析</a:t>
            </a:r>
            <a:endParaRPr lang="ja-JP" altLang="en-US" sz="1100">
              <a:latin typeface="Meiryo" panose="020B0604030504040204" pitchFamily="34" charset="-128"/>
              <a:ea typeface="Meiryo" panose="020B0604030504040204" pitchFamily="34" charset="-128"/>
            </a:endParaRPr>
          </a:p>
          <a:p>
            <a:pPr algn="ctr"/>
            <a:r>
              <a:rPr lang="en-US" altLang="ja-JP" sz="2000" b="1" dirty="0">
                <a:latin typeface="Meiryo" panose="020B0604030504040204" pitchFamily="34" charset="-128"/>
                <a:ea typeface="Meiryo" panose="020B0604030504040204" pitchFamily="34" charset="-128"/>
              </a:rPr>
              <a:t>(</a:t>
            </a:r>
            <a:r>
              <a:rPr lang="ja-JP" altLang="en-US" sz="2000" b="1">
                <a:latin typeface="Meiryo" panose="020B0604030504040204" pitchFamily="34" charset="-128"/>
                <a:ea typeface="Meiryo" panose="020B0604030504040204" pitchFamily="34" charset="-128"/>
              </a:rPr>
              <a:t>水産加工業等人材確保支援事業</a:t>
            </a:r>
            <a:r>
              <a:rPr lang="en-US" altLang="ja-JP" sz="2000" b="1" dirty="0">
                <a:latin typeface="Meiryo" panose="020B0604030504040204" pitchFamily="34" charset="-128"/>
                <a:ea typeface="Meiryo" panose="020B0604030504040204" pitchFamily="34" charset="-128"/>
              </a:rPr>
              <a:t>)</a:t>
            </a:r>
            <a:r>
              <a:rPr lang="ja-JP" altLang="en-US" sz="2000" b="1">
                <a:latin typeface="Meiryo" panose="020B0604030504040204" pitchFamily="34" charset="-128"/>
                <a:ea typeface="Meiryo" panose="020B0604030504040204" pitchFamily="34" charset="-128"/>
              </a:rPr>
              <a:t>」</a:t>
            </a:r>
            <a:endParaRPr lang="en-US" altLang="ja-JP" sz="1100" b="1" dirty="0">
              <a:latin typeface="Meiryo" panose="020B0604030504040204" pitchFamily="34" charset="-128"/>
              <a:ea typeface="Meiryo" panose="020B0604030504040204" pitchFamily="34" charset="-128"/>
              <a:cs typeface="メイリオ" panose="020B0604030504040204" pitchFamily="50" charset="-128"/>
            </a:endParaRPr>
          </a:p>
        </p:txBody>
      </p:sp>
      <p:sp>
        <p:nvSpPr>
          <p:cNvPr id="2" name="テキスト ボックス 1">
            <a:extLst>
              <a:ext uri="{FF2B5EF4-FFF2-40B4-BE49-F238E27FC236}">
                <a16:creationId xmlns:a16="http://schemas.microsoft.com/office/drawing/2014/main" id="{81ED87BD-97C3-AE0B-C88C-50A58655B84F}"/>
              </a:ext>
            </a:extLst>
          </p:cNvPr>
          <p:cNvSpPr txBox="1"/>
          <p:nvPr/>
        </p:nvSpPr>
        <p:spPr>
          <a:xfrm>
            <a:off x="625788" y="2761181"/>
            <a:ext cx="10829554" cy="1384995"/>
          </a:xfrm>
          <a:prstGeom prst="rect">
            <a:avLst/>
          </a:prstGeom>
          <a:noFill/>
        </p:spPr>
        <p:txBody>
          <a:bodyPr wrap="square" rtlCol="0" anchor="ctr">
            <a:spAutoFit/>
          </a:bodyPr>
          <a:lstStyle/>
          <a:p>
            <a:pPr algn="ctr"/>
            <a:r>
              <a:rPr lang="ja-JP" altLang="en-US" sz="4400" b="1" dirty="0">
                <a:latin typeface="メイリオ" panose="020B0604030504040204" pitchFamily="50" charset="-128"/>
                <a:ea typeface="メイリオ" panose="020B0604030504040204" pitchFamily="50" charset="-128"/>
                <a:cs typeface="メイリオ" panose="020B0604030504040204" pitchFamily="50" charset="-128"/>
              </a:rPr>
              <a:t>経営</a:t>
            </a:r>
            <a:r>
              <a:rPr lang="en-US" altLang="ja-JP" sz="4400" b="1"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4400" b="1" dirty="0">
                <a:latin typeface="メイリオ" panose="020B0604030504040204" pitchFamily="50" charset="-128"/>
                <a:ea typeface="メイリオ" panose="020B0604030504040204" pitchFamily="50" charset="-128"/>
                <a:cs typeface="メイリオ" panose="020B0604030504040204" pitchFamily="50" charset="-128"/>
              </a:rPr>
              <a:t>人材マネジメント研修</a:t>
            </a:r>
            <a:endParaRPr lang="en-US" altLang="ja-JP" sz="4400" b="1"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ー人を活かして、事業を伸ばすー</a:t>
            </a:r>
            <a:endParaRPr lang="en-US" altLang="ja-JP" sz="1600" b="1"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580390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2"/>
          </p:nvPr>
        </p:nvSpPr>
        <p:spPr/>
        <p:txBody>
          <a:bodyPr/>
          <a:lstStyle/>
          <a:p>
            <a:fld id="{7EB29901-185E-436F-B7EE-94CD3DCFCF3C}" type="slidenum">
              <a:rPr kumimoji="1" lang="ja-JP" altLang="en-US" smtClean="0">
                <a:solidFill>
                  <a:schemeClr val="bg1">
                    <a:lumMod val="50000"/>
                  </a:schemeClr>
                </a:solidFill>
              </a:rPr>
              <a:t>2</a:t>
            </a:fld>
            <a:endParaRPr kumimoji="1" lang="ja-JP" altLang="en-US" dirty="0">
              <a:solidFill>
                <a:schemeClr val="bg1">
                  <a:lumMod val="50000"/>
                </a:schemeClr>
              </a:solidFill>
            </a:endParaRPr>
          </a:p>
        </p:txBody>
      </p:sp>
      <p:sp>
        <p:nvSpPr>
          <p:cNvPr id="4" name="フッター プレースホルダー 3"/>
          <p:cNvSpPr>
            <a:spLocks noGrp="1"/>
          </p:cNvSpPr>
          <p:nvPr>
            <p:ph type="ftr" sz="quarter" idx="11"/>
          </p:nvPr>
        </p:nvSpPr>
        <p:spPr>
          <a:xfrm>
            <a:off x="4648200" y="6356351"/>
            <a:ext cx="3175992" cy="365125"/>
          </a:xfrm>
        </p:spPr>
        <p:txBody>
          <a:bodyPr/>
          <a:lstStyle/>
          <a:p>
            <a:r>
              <a:rPr kumimoji="1" lang="en-US" altLang="ja-JP">
                <a:solidFill>
                  <a:schemeClr val="bg1">
                    <a:lumMod val="50000"/>
                  </a:schemeClr>
                </a:solidFill>
              </a:rPr>
              <a:t>©Hiroshi Komukai</a:t>
            </a:r>
            <a:endParaRPr kumimoji="1" lang="ja-JP" altLang="en-US" dirty="0">
              <a:solidFill>
                <a:schemeClr val="bg1">
                  <a:lumMod val="50000"/>
                </a:schemeClr>
              </a:solidFill>
            </a:endParaRPr>
          </a:p>
        </p:txBody>
      </p:sp>
      <p:sp>
        <p:nvSpPr>
          <p:cNvPr id="14" name="テキスト ボックス 13"/>
          <p:cNvSpPr txBox="1"/>
          <p:nvPr/>
        </p:nvSpPr>
        <p:spPr>
          <a:xfrm>
            <a:off x="625788" y="2761181"/>
            <a:ext cx="10829554" cy="1384995"/>
          </a:xfrm>
          <a:prstGeom prst="rect">
            <a:avLst/>
          </a:prstGeom>
          <a:noFill/>
        </p:spPr>
        <p:txBody>
          <a:bodyPr wrap="square" rtlCol="0" anchor="ctr">
            <a:spAutoFit/>
          </a:bodyPr>
          <a:lstStyle/>
          <a:p>
            <a:pPr algn="ctr"/>
            <a:r>
              <a:rPr lang="ja-JP" altLang="en-US" sz="4400" b="1" dirty="0">
                <a:latin typeface="メイリオ" panose="020B0604030504040204" pitchFamily="50" charset="-128"/>
                <a:ea typeface="メイリオ" panose="020B0604030504040204" pitchFamily="50" charset="-128"/>
                <a:cs typeface="メイリオ" panose="020B0604030504040204" pitchFamily="50" charset="-128"/>
              </a:rPr>
              <a:t>経営</a:t>
            </a:r>
            <a:r>
              <a:rPr lang="en-US" altLang="ja-JP" sz="4400" b="1"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4400" b="1" dirty="0">
                <a:latin typeface="メイリオ" panose="020B0604030504040204" pitchFamily="50" charset="-128"/>
                <a:ea typeface="メイリオ" panose="020B0604030504040204" pitchFamily="50" charset="-128"/>
                <a:cs typeface="メイリオ" panose="020B0604030504040204" pitchFamily="50" charset="-128"/>
              </a:rPr>
              <a:t>人材マネジメント研修</a:t>
            </a:r>
            <a:endParaRPr lang="en-US" altLang="ja-JP" sz="4400" b="1"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第</a:t>
            </a:r>
            <a:r>
              <a:rPr lang="en-US" altLang="ja-JP" sz="4000" b="1" dirty="0">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回 組織を耕す手法と見立て</a:t>
            </a:r>
            <a:endParaRPr lang="en-US" altLang="ja-JP" sz="16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p:cNvSpPr/>
          <p:nvPr/>
        </p:nvSpPr>
        <p:spPr>
          <a:xfrm>
            <a:off x="197525" y="6433443"/>
            <a:ext cx="1080120" cy="28803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関係者限定</a:t>
            </a:r>
            <a:endParaRPr lang="ja-JP" altLang="en-US"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028" name="Picture 4" descr="ロゴ">
            <a:extLst>
              <a:ext uri="{FF2B5EF4-FFF2-40B4-BE49-F238E27FC236}">
                <a16:creationId xmlns:a16="http://schemas.microsoft.com/office/drawing/2014/main" id="{74F7C0AC-7BE0-A8DF-329C-0AA752CDF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525" y="210859"/>
            <a:ext cx="1200150" cy="400050"/>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8B53E88B-DB84-D16A-301B-43764FEE4CCE}"/>
              </a:ext>
            </a:extLst>
          </p:cNvPr>
          <p:cNvSpPr txBox="1"/>
          <p:nvPr/>
        </p:nvSpPr>
        <p:spPr>
          <a:xfrm>
            <a:off x="524246" y="5633537"/>
            <a:ext cx="10829554" cy="461665"/>
          </a:xfrm>
          <a:prstGeom prst="rect">
            <a:avLst/>
          </a:prstGeom>
          <a:noFill/>
        </p:spPr>
        <p:txBody>
          <a:bodyPr wrap="square" rtlCol="0" anchor="ctr">
            <a:spAutoFit/>
          </a:bodyPr>
          <a:lstStyle/>
          <a:p>
            <a:pPr algn="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小向　洋誌（こむかい　ひろし）</a:t>
            </a:r>
            <a:endParaRPr lang="en-US" altLang="ja-JP" sz="900" b="1"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916671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CB93907C-34CB-FA5F-BBD9-F3629449F43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0AEB8BF-96B5-C5BB-0991-BDC58D6025F1}"/>
              </a:ext>
            </a:extLst>
          </p:cNvPr>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チェックイン</a:t>
            </a:r>
          </a:p>
        </p:txBody>
      </p:sp>
      <p:cxnSp>
        <p:nvCxnSpPr>
          <p:cNvPr id="5" name="直線コネクタ 4">
            <a:extLst>
              <a:ext uri="{FF2B5EF4-FFF2-40B4-BE49-F238E27FC236}">
                <a16:creationId xmlns:a16="http://schemas.microsoft.com/office/drawing/2014/main" id="{8E1013D5-0B01-3062-5EBF-543CF056F101}"/>
              </a:ext>
            </a:extLst>
          </p:cNvPr>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a:extLst>
              <a:ext uri="{FF2B5EF4-FFF2-40B4-BE49-F238E27FC236}">
                <a16:creationId xmlns:a16="http://schemas.microsoft.com/office/drawing/2014/main" id="{A72E1D2C-1423-5ECF-B48C-6B8CA105ED8A}"/>
              </a:ext>
            </a:extLst>
          </p:cNvPr>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12" name="スライド番号プレースホルダー 211">
            <a:extLst>
              <a:ext uri="{FF2B5EF4-FFF2-40B4-BE49-F238E27FC236}">
                <a16:creationId xmlns:a16="http://schemas.microsoft.com/office/drawing/2014/main" id="{CE558B57-0003-EB99-850A-6114970A272C}"/>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200" b="0" i="0" u="none" strike="noStrike" kern="0" cap="none" spc="0" normalizeH="0" baseline="0" noProof="0" smtClean="0">
                <a:ln>
                  <a:noFill/>
                </a:ln>
                <a:solidFill>
                  <a:srgbClr val="888888"/>
                </a:solidFill>
                <a:effectLst/>
                <a:uLnTx/>
                <a:uFillTx/>
                <a:latin typeface="メイリオ" panose="020B0604030504040204" pitchFamily="50" charset="-128"/>
                <a:ea typeface="メイリオ" panose="020B0604030504040204" pitchFamily="50" charset="-128"/>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lang="ja-JP" altLang="en-US" sz="1200" b="0" i="0" u="none" strike="noStrike" kern="0" cap="none" spc="0" normalizeH="0" baseline="0" noProof="0">
              <a:ln>
                <a:noFill/>
              </a:ln>
              <a:solidFill>
                <a:srgbClr val="888888"/>
              </a:solidFill>
              <a:effectLst/>
              <a:uLnTx/>
              <a:uFillTx/>
              <a:latin typeface="メイリオ" panose="020B0604030504040204" pitchFamily="50" charset="-128"/>
              <a:ea typeface="メイリオ" panose="020B0604030504040204" pitchFamily="50" charset="-128"/>
              <a:sym typeface="Arial"/>
            </a:endParaRPr>
          </a:p>
        </p:txBody>
      </p:sp>
      <p:sp>
        <p:nvSpPr>
          <p:cNvPr id="229" name="フッター プレースホルダー 228">
            <a:extLst>
              <a:ext uri="{FF2B5EF4-FFF2-40B4-BE49-F238E27FC236}">
                <a16:creationId xmlns:a16="http://schemas.microsoft.com/office/drawing/2014/main" id="{06B96150-41A3-AEC4-4A03-6CDEE3CCB74E}"/>
              </a:ext>
            </a:extLst>
          </p:cNvPr>
          <p:cNvSpPr>
            <a:spLocks noGrp="1"/>
          </p:cNvSpPr>
          <p:nvPr>
            <p:ph type="ftr" idx="11"/>
          </p:nvPr>
        </p:nvSpPr>
        <p:spPr/>
        <p:txBody>
          <a:bodyPr/>
          <a:lstStyle/>
          <a:p>
            <a:r>
              <a:rPr lang="en-US"/>
              <a:t>©Hiroshi Komukai</a:t>
            </a:r>
          </a:p>
        </p:txBody>
      </p:sp>
      <p:sp>
        <p:nvSpPr>
          <p:cNvPr id="2" name="テキスト ボックス 1">
            <a:extLst>
              <a:ext uri="{FF2B5EF4-FFF2-40B4-BE49-F238E27FC236}">
                <a16:creationId xmlns:a16="http://schemas.microsoft.com/office/drawing/2014/main" id="{D12C59A7-7639-0C48-9196-1757F0E10CFE}"/>
              </a:ext>
            </a:extLst>
          </p:cNvPr>
          <p:cNvSpPr txBox="1"/>
          <p:nvPr/>
        </p:nvSpPr>
        <p:spPr>
          <a:xfrm>
            <a:off x="2142256" y="3167390"/>
            <a:ext cx="789888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4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どんな</a:t>
            </a:r>
            <a:r>
              <a:rPr kumimoji="0" lang="en-US" altLang="ja-JP" sz="44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1</a:t>
            </a:r>
            <a:r>
              <a:rPr kumimoji="0" lang="ja-JP" altLang="en-US" sz="44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週間でしたか？</a:t>
            </a:r>
          </a:p>
        </p:txBody>
      </p:sp>
    </p:spTree>
    <p:extLst>
      <p:ext uri="{BB962C8B-B14F-4D97-AF65-F5344CB8AC3E}">
        <p14:creationId xmlns:p14="http://schemas.microsoft.com/office/powerpoint/2010/main" val="3729208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79B366B0-306F-B5EC-273A-7B60B5E85F7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987A73A-91AF-526D-C7D0-9750CEA1F901}"/>
              </a:ext>
            </a:extLst>
          </p:cNvPr>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研修の全体像</a:t>
            </a:r>
          </a:p>
        </p:txBody>
      </p:sp>
      <p:cxnSp>
        <p:nvCxnSpPr>
          <p:cNvPr id="5" name="直線コネクタ 4">
            <a:extLst>
              <a:ext uri="{FF2B5EF4-FFF2-40B4-BE49-F238E27FC236}">
                <a16:creationId xmlns:a16="http://schemas.microsoft.com/office/drawing/2014/main" id="{2A6BBD93-7368-A568-804D-7CBEF3AB0828}"/>
              </a:ext>
            </a:extLst>
          </p:cNvPr>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a:extLst>
              <a:ext uri="{FF2B5EF4-FFF2-40B4-BE49-F238E27FC236}">
                <a16:creationId xmlns:a16="http://schemas.microsoft.com/office/drawing/2014/main" id="{9758DFBB-98AB-6BD8-F809-F05660AB37BC}"/>
              </a:ext>
            </a:extLst>
          </p:cNvPr>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12" name="スライド番号プレースホルダー 211">
            <a:extLst>
              <a:ext uri="{FF2B5EF4-FFF2-40B4-BE49-F238E27FC236}">
                <a16:creationId xmlns:a16="http://schemas.microsoft.com/office/drawing/2014/main" id="{93326E75-6380-07EC-AAB4-E9E3244022EE}"/>
              </a:ext>
            </a:extLst>
          </p:cNvPr>
          <p:cNvSpPr>
            <a:spLocks noGrp="1"/>
          </p:cNvSpPr>
          <p:nvPr>
            <p:ph type="sldNum" idx="12"/>
          </p:nvPr>
        </p:nvSpPr>
        <p:spPr>
          <a:xfrm>
            <a:off x="9318736" y="6245514"/>
            <a:ext cx="2743200" cy="365125"/>
          </a:xfrm>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smtClean="0">
                <a:ln>
                  <a:noFill/>
                </a:ln>
                <a:solidFill>
                  <a:srgbClr val="888888"/>
                </a:solidFill>
                <a:effectLst/>
                <a:uLnTx/>
                <a:uFillTx/>
                <a:latin typeface="メイリオ" panose="020B0604030504040204" pitchFamily="50" charset="-128"/>
                <a:ea typeface="メイリオ" panose="020B0604030504040204" pitchFamily="50" charset="-128"/>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lang="ja-JP" altLang="en-US" sz="1100" b="0" i="0" u="none" strike="noStrike" kern="0" cap="none" spc="0" normalizeH="0" baseline="0" noProof="0">
              <a:ln>
                <a:noFill/>
              </a:ln>
              <a:solidFill>
                <a:srgbClr val="888888"/>
              </a:solidFill>
              <a:effectLst/>
              <a:uLnTx/>
              <a:uFillTx/>
              <a:latin typeface="メイリオ" panose="020B0604030504040204" pitchFamily="50" charset="-128"/>
              <a:ea typeface="メイリオ" panose="020B0604030504040204" pitchFamily="50" charset="-128"/>
              <a:sym typeface="Arial"/>
            </a:endParaRPr>
          </a:p>
        </p:txBody>
      </p:sp>
      <p:sp>
        <p:nvSpPr>
          <p:cNvPr id="2" name="テキスト ボックス 1">
            <a:extLst>
              <a:ext uri="{FF2B5EF4-FFF2-40B4-BE49-F238E27FC236}">
                <a16:creationId xmlns:a16="http://schemas.microsoft.com/office/drawing/2014/main" id="{6C27288A-74E1-4DE5-5CC3-51BF3F5C6ABD}"/>
              </a:ext>
            </a:extLst>
          </p:cNvPr>
          <p:cNvSpPr txBox="1"/>
          <p:nvPr/>
        </p:nvSpPr>
        <p:spPr>
          <a:xfrm>
            <a:off x="1712477" y="932730"/>
            <a:ext cx="10784332" cy="954107"/>
          </a:xfrm>
          <a:prstGeom prst="rect">
            <a:avLst/>
          </a:prstGeom>
          <a:noFill/>
        </p:spPr>
        <p:txBody>
          <a:bodyPr wrap="square" rtlCol="0">
            <a:spAutoFit/>
          </a:bodyPr>
          <a:lstStyle/>
          <a:p>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第</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回</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経営と人材戦略の接続点を見つける</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2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経営と人材戦略のつながりを構造的にとらえる視点を持つ</a:t>
            </a:r>
            <a:endParaRPr lang="en-US" altLang="ja-JP"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E48ADDD6-69EC-5790-E535-3717DB8CCA73}"/>
              </a:ext>
            </a:extLst>
          </p:cNvPr>
          <p:cNvSpPr txBox="1"/>
          <p:nvPr/>
        </p:nvSpPr>
        <p:spPr>
          <a:xfrm>
            <a:off x="1682147" y="2125447"/>
            <a:ext cx="10784332" cy="954107"/>
          </a:xfrm>
          <a:prstGeom prst="rect">
            <a:avLst/>
          </a:prstGeom>
          <a:noFill/>
        </p:spPr>
        <p:txBody>
          <a:bodyPr wrap="square" rtlCol="0">
            <a:spAutoFit/>
          </a:bodyPr>
          <a:lstStyle/>
          <a:p>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第</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回</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リーダーシップと対話の再設計</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2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上意下達ではなく信頼が循環する関係づくりを学ぶ</a:t>
            </a:r>
            <a:endParaRPr lang="en-US" altLang="ja-JP"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C266BD53-DC4D-E102-EA1B-3D7C81A3DFE5}"/>
              </a:ext>
            </a:extLst>
          </p:cNvPr>
          <p:cNvSpPr txBox="1"/>
          <p:nvPr/>
        </p:nvSpPr>
        <p:spPr>
          <a:xfrm>
            <a:off x="1682147" y="3318164"/>
            <a:ext cx="10784332" cy="954107"/>
          </a:xfrm>
          <a:prstGeom prst="rect">
            <a:avLst/>
          </a:prstGeom>
          <a:noFill/>
        </p:spPr>
        <p:txBody>
          <a:bodyPr wrap="square" rtlCol="0">
            <a:spAutoFit/>
          </a:bodyPr>
          <a:lstStyle/>
          <a:p>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第</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3</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回</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 1on1</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の技術と哲学　人が育つ場を作る目的</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2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育成の手段としての</a:t>
            </a:r>
            <a:r>
              <a:rPr lang="en-US" altLang="ja-JP"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1on1</a:t>
            </a:r>
            <a:r>
              <a:rPr lang="ja-JP" altLang="en-US"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を信頼と自律を引き出す対話として深める</a:t>
            </a:r>
            <a:endParaRPr lang="en-US" altLang="ja-JP"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テキスト ボックス 7">
            <a:extLst>
              <a:ext uri="{FF2B5EF4-FFF2-40B4-BE49-F238E27FC236}">
                <a16:creationId xmlns:a16="http://schemas.microsoft.com/office/drawing/2014/main" id="{E02EF492-B89F-B0F0-72DD-2B071AAC658F}"/>
              </a:ext>
            </a:extLst>
          </p:cNvPr>
          <p:cNvSpPr txBox="1"/>
          <p:nvPr/>
        </p:nvSpPr>
        <p:spPr>
          <a:xfrm>
            <a:off x="1682147" y="4510881"/>
            <a:ext cx="10784332" cy="954107"/>
          </a:xfrm>
          <a:prstGeom prst="rect">
            <a:avLst/>
          </a:prstGeom>
          <a:noFill/>
        </p:spPr>
        <p:txBody>
          <a:bodyPr wrap="square" rtlCol="0">
            <a:spAutoFit/>
          </a:bodyPr>
          <a:lstStyle/>
          <a:p>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第</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回</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組織を耕す手法と見立て</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2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「組織開発的視点」で課題の構造やレバレッジポイントを見立てる</a:t>
            </a:r>
            <a:endParaRPr lang="en-US" altLang="ja-JP"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C6059749-2614-416E-C767-5929354698E0}"/>
              </a:ext>
            </a:extLst>
          </p:cNvPr>
          <p:cNvSpPr txBox="1"/>
          <p:nvPr/>
        </p:nvSpPr>
        <p:spPr>
          <a:xfrm>
            <a:off x="1682147" y="5703598"/>
            <a:ext cx="10784332" cy="892552"/>
          </a:xfrm>
          <a:prstGeom prst="rect">
            <a:avLst/>
          </a:prstGeom>
          <a:noFill/>
        </p:spPr>
        <p:txBody>
          <a:bodyPr wrap="square" rtlCol="0">
            <a:spAutoFit/>
          </a:bodyPr>
          <a:lstStyle/>
          <a:p>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第</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回</a:t>
            </a:r>
            <a:r>
              <a:rPr lang="en-US" altLang="ja-JP" sz="3200" b="1"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人材戦略アクションプラン発表と未来への一歩</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endParaRPr>
          </a:p>
          <a:p>
            <a:r>
              <a:rPr lang="en-US" altLang="ja-JP" sz="20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これからの組織と人材育成を自分の言葉で語り、</a:t>
            </a:r>
            <a:r>
              <a:rPr lang="en-US" altLang="ja-JP" sz="2000" dirty="0" err="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NextAction</a:t>
            </a:r>
            <a:r>
              <a:rPr lang="ja-JP" altLang="en-US"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を明確にする</a:t>
            </a:r>
            <a:endParaRPr lang="en-US" altLang="ja-JP" sz="2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12" name="グループ化 11">
            <a:extLst>
              <a:ext uri="{FF2B5EF4-FFF2-40B4-BE49-F238E27FC236}">
                <a16:creationId xmlns:a16="http://schemas.microsoft.com/office/drawing/2014/main" id="{2DA1FD3A-30C5-50F5-7472-152B0AAF9791}"/>
              </a:ext>
            </a:extLst>
          </p:cNvPr>
          <p:cNvGrpSpPr/>
          <p:nvPr/>
        </p:nvGrpSpPr>
        <p:grpSpPr>
          <a:xfrm>
            <a:off x="417087" y="1104293"/>
            <a:ext cx="1100392" cy="610980"/>
            <a:chOff x="417087" y="1104293"/>
            <a:chExt cx="1100392" cy="610980"/>
          </a:xfrm>
        </p:grpSpPr>
        <p:sp>
          <p:nvSpPr>
            <p:cNvPr id="10" name="楕円 9">
              <a:extLst>
                <a:ext uri="{FF2B5EF4-FFF2-40B4-BE49-F238E27FC236}">
                  <a16:creationId xmlns:a16="http://schemas.microsoft.com/office/drawing/2014/main" id="{BC888B56-F282-4676-C899-3CE5660EB890}"/>
                </a:ext>
              </a:extLst>
            </p:cNvPr>
            <p:cNvSpPr/>
            <p:nvPr/>
          </p:nvSpPr>
          <p:spPr>
            <a:xfrm>
              <a:off x="417087" y="1104293"/>
              <a:ext cx="1100392" cy="61098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B70C1B2A-9FD8-A971-7C14-3CEF5B15DA7E}"/>
                </a:ext>
              </a:extLst>
            </p:cNvPr>
            <p:cNvSpPr txBox="1"/>
            <p:nvPr/>
          </p:nvSpPr>
          <p:spPr>
            <a:xfrm>
              <a:off x="430942" y="1223583"/>
              <a:ext cx="1051337" cy="400110"/>
            </a:xfrm>
            <a:prstGeom prst="rect">
              <a:avLst/>
            </a:prstGeom>
            <a:noFill/>
          </p:spPr>
          <p:txBody>
            <a:bodyPr wrap="square" rtlCol="0">
              <a:spAutoFit/>
            </a:bodyPr>
            <a:lstStyle/>
            <a:p>
              <a:pPr algn="ctr"/>
              <a:r>
                <a:rPr kumimoji="1" lang="en-US" altLang="ja-JP" sz="2000" b="1" dirty="0">
                  <a:solidFill>
                    <a:schemeClr val="tx1">
                      <a:lumMod val="65000"/>
                      <a:lumOff val="35000"/>
                    </a:schemeClr>
                  </a:solidFill>
                  <a:latin typeface="メイリオ" panose="020B0604030504040204" pitchFamily="50" charset="-128"/>
                  <a:ea typeface="メイリオ" panose="020B0604030504040204" pitchFamily="50" charset="-128"/>
                </a:rPr>
                <a:t>10/18</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grpSp>
        <p:nvGrpSpPr>
          <p:cNvPr id="19" name="グループ化 18">
            <a:extLst>
              <a:ext uri="{FF2B5EF4-FFF2-40B4-BE49-F238E27FC236}">
                <a16:creationId xmlns:a16="http://schemas.microsoft.com/office/drawing/2014/main" id="{DEC30C5B-643D-BDF1-3E51-D67AEA61BF27}"/>
              </a:ext>
            </a:extLst>
          </p:cNvPr>
          <p:cNvGrpSpPr/>
          <p:nvPr/>
        </p:nvGrpSpPr>
        <p:grpSpPr>
          <a:xfrm>
            <a:off x="417087" y="2260907"/>
            <a:ext cx="1100392" cy="610980"/>
            <a:chOff x="417087" y="1104293"/>
            <a:chExt cx="1100392" cy="610980"/>
          </a:xfrm>
        </p:grpSpPr>
        <p:sp>
          <p:nvSpPr>
            <p:cNvPr id="20" name="楕円 19">
              <a:extLst>
                <a:ext uri="{FF2B5EF4-FFF2-40B4-BE49-F238E27FC236}">
                  <a16:creationId xmlns:a16="http://schemas.microsoft.com/office/drawing/2014/main" id="{5BF6597A-2007-970A-3873-4D48618944D4}"/>
                </a:ext>
              </a:extLst>
            </p:cNvPr>
            <p:cNvSpPr/>
            <p:nvPr/>
          </p:nvSpPr>
          <p:spPr>
            <a:xfrm>
              <a:off x="417087" y="1104293"/>
              <a:ext cx="1100392" cy="61098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D010F603-7CFE-9BC6-BFB7-F07A8D2DD27F}"/>
                </a:ext>
              </a:extLst>
            </p:cNvPr>
            <p:cNvSpPr txBox="1"/>
            <p:nvPr/>
          </p:nvSpPr>
          <p:spPr>
            <a:xfrm>
              <a:off x="430942" y="1223583"/>
              <a:ext cx="1051337" cy="400110"/>
            </a:xfrm>
            <a:prstGeom prst="rect">
              <a:avLst/>
            </a:prstGeom>
            <a:noFill/>
          </p:spPr>
          <p:txBody>
            <a:bodyPr wrap="square" rtlCol="0">
              <a:spAutoFit/>
            </a:bodyPr>
            <a:lstStyle/>
            <a:p>
              <a:pPr algn="ctr"/>
              <a:r>
                <a:rPr kumimoji="1" lang="en-US" altLang="ja-JP" sz="2000" b="1" dirty="0">
                  <a:solidFill>
                    <a:schemeClr val="tx1">
                      <a:lumMod val="65000"/>
                      <a:lumOff val="35000"/>
                    </a:schemeClr>
                  </a:solidFill>
                  <a:latin typeface="メイリオ" panose="020B0604030504040204" pitchFamily="50" charset="-128"/>
                  <a:ea typeface="メイリオ" panose="020B0604030504040204" pitchFamily="50" charset="-128"/>
                </a:rPr>
                <a:t>11/1</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grpSp>
        <p:nvGrpSpPr>
          <p:cNvPr id="24" name="グループ化 23">
            <a:extLst>
              <a:ext uri="{FF2B5EF4-FFF2-40B4-BE49-F238E27FC236}">
                <a16:creationId xmlns:a16="http://schemas.microsoft.com/office/drawing/2014/main" id="{D8D84993-E213-73B2-C06C-521B2DA660CC}"/>
              </a:ext>
            </a:extLst>
          </p:cNvPr>
          <p:cNvGrpSpPr/>
          <p:nvPr/>
        </p:nvGrpSpPr>
        <p:grpSpPr>
          <a:xfrm>
            <a:off x="430942" y="3489727"/>
            <a:ext cx="1100392" cy="610980"/>
            <a:chOff x="417087" y="1104293"/>
            <a:chExt cx="1100392" cy="610980"/>
          </a:xfrm>
        </p:grpSpPr>
        <p:sp>
          <p:nvSpPr>
            <p:cNvPr id="25" name="楕円 24">
              <a:extLst>
                <a:ext uri="{FF2B5EF4-FFF2-40B4-BE49-F238E27FC236}">
                  <a16:creationId xmlns:a16="http://schemas.microsoft.com/office/drawing/2014/main" id="{DC2A6BD4-3AE0-1A6B-1C67-93626C8626E2}"/>
                </a:ext>
              </a:extLst>
            </p:cNvPr>
            <p:cNvSpPr/>
            <p:nvPr/>
          </p:nvSpPr>
          <p:spPr>
            <a:xfrm>
              <a:off x="417087" y="1104293"/>
              <a:ext cx="1100392" cy="61098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23D87F18-0DB5-FBE5-06B1-86C40C1ABF13}"/>
                </a:ext>
              </a:extLst>
            </p:cNvPr>
            <p:cNvSpPr txBox="1"/>
            <p:nvPr/>
          </p:nvSpPr>
          <p:spPr>
            <a:xfrm>
              <a:off x="430942" y="1223583"/>
              <a:ext cx="1051337" cy="400110"/>
            </a:xfrm>
            <a:prstGeom prst="rect">
              <a:avLst/>
            </a:prstGeom>
            <a:noFill/>
          </p:spPr>
          <p:txBody>
            <a:bodyPr wrap="square" rtlCol="0">
              <a:spAutoFit/>
            </a:bodyPr>
            <a:lstStyle/>
            <a:p>
              <a:pPr algn="ctr"/>
              <a:r>
                <a:rPr kumimoji="1" lang="en-US" altLang="ja-JP" sz="2000" b="1" dirty="0">
                  <a:solidFill>
                    <a:schemeClr val="tx1">
                      <a:lumMod val="65000"/>
                      <a:lumOff val="35000"/>
                    </a:schemeClr>
                  </a:solidFill>
                  <a:latin typeface="メイリオ" panose="020B0604030504040204" pitchFamily="50" charset="-128"/>
                  <a:ea typeface="メイリオ" panose="020B0604030504040204" pitchFamily="50" charset="-128"/>
                </a:rPr>
                <a:t>11/22</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grpSp>
        <p:nvGrpSpPr>
          <p:cNvPr id="28" name="グループ化 27">
            <a:extLst>
              <a:ext uri="{FF2B5EF4-FFF2-40B4-BE49-F238E27FC236}">
                <a16:creationId xmlns:a16="http://schemas.microsoft.com/office/drawing/2014/main" id="{7F7D004F-0D2C-5590-9273-AC8249585EF3}"/>
              </a:ext>
            </a:extLst>
          </p:cNvPr>
          <p:cNvGrpSpPr/>
          <p:nvPr/>
        </p:nvGrpSpPr>
        <p:grpSpPr>
          <a:xfrm>
            <a:off x="439687" y="4646341"/>
            <a:ext cx="1100392" cy="610980"/>
            <a:chOff x="417087" y="1104293"/>
            <a:chExt cx="1100392" cy="610980"/>
          </a:xfrm>
        </p:grpSpPr>
        <p:sp>
          <p:nvSpPr>
            <p:cNvPr id="29" name="楕円 28">
              <a:extLst>
                <a:ext uri="{FF2B5EF4-FFF2-40B4-BE49-F238E27FC236}">
                  <a16:creationId xmlns:a16="http://schemas.microsoft.com/office/drawing/2014/main" id="{F3F7C5A2-486B-3938-B676-E7548C850233}"/>
                </a:ext>
              </a:extLst>
            </p:cNvPr>
            <p:cNvSpPr/>
            <p:nvPr/>
          </p:nvSpPr>
          <p:spPr>
            <a:xfrm>
              <a:off x="417087" y="1104293"/>
              <a:ext cx="1100392" cy="61098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C78A6C96-1CB1-CE6E-71E6-BCA08C7A2BBE}"/>
                </a:ext>
              </a:extLst>
            </p:cNvPr>
            <p:cNvSpPr txBox="1"/>
            <p:nvPr/>
          </p:nvSpPr>
          <p:spPr>
            <a:xfrm>
              <a:off x="430942" y="1223583"/>
              <a:ext cx="1051337" cy="400110"/>
            </a:xfrm>
            <a:prstGeom prst="rect">
              <a:avLst/>
            </a:prstGeom>
            <a:noFill/>
          </p:spPr>
          <p:txBody>
            <a:bodyPr wrap="square" rtlCol="0">
              <a:spAutoFit/>
            </a:bodyPr>
            <a:lstStyle/>
            <a:p>
              <a:pPr algn="ctr"/>
              <a:r>
                <a:rPr kumimoji="1" lang="en-US" altLang="ja-JP" sz="2000" b="1" dirty="0">
                  <a:solidFill>
                    <a:schemeClr val="tx1">
                      <a:lumMod val="65000"/>
                      <a:lumOff val="35000"/>
                    </a:schemeClr>
                  </a:solidFill>
                  <a:latin typeface="メイリオ" panose="020B0604030504040204" pitchFamily="50" charset="-128"/>
                  <a:ea typeface="メイリオ" panose="020B0604030504040204" pitchFamily="50" charset="-128"/>
                </a:rPr>
                <a:t>11/29</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grpSp>
        <p:nvGrpSpPr>
          <p:cNvPr id="31" name="グループ化 30">
            <a:extLst>
              <a:ext uri="{FF2B5EF4-FFF2-40B4-BE49-F238E27FC236}">
                <a16:creationId xmlns:a16="http://schemas.microsoft.com/office/drawing/2014/main" id="{9FBCFEE6-FCB6-0652-B503-95D5DBD31B37}"/>
              </a:ext>
            </a:extLst>
          </p:cNvPr>
          <p:cNvGrpSpPr/>
          <p:nvPr/>
        </p:nvGrpSpPr>
        <p:grpSpPr>
          <a:xfrm>
            <a:off x="447021" y="5875161"/>
            <a:ext cx="1100392" cy="610980"/>
            <a:chOff x="417087" y="1104293"/>
            <a:chExt cx="1100392" cy="610980"/>
          </a:xfrm>
        </p:grpSpPr>
        <p:sp>
          <p:nvSpPr>
            <p:cNvPr id="225" name="楕円 224">
              <a:extLst>
                <a:ext uri="{FF2B5EF4-FFF2-40B4-BE49-F238E27FC236}">
                  <a16:creationId xmlns:a16="http://schemas.microsoft.com/office/drawing/2014/main" id="{5224E46A-B913-54BE-B2FE-9857446F39EB}"/>
                </a:ext>
              </a:extLst>
            </p:cNvPr>
            <p:cNvSpPr/>
            <p:nvPr/>
          </p:nvSpPr>
          <p:spPr>
            <a:xfrm>
              <a:off x="417087" y="1104293"/>
              <a:ext cx="1100392" cy="61098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6" name="テキスト ボックス 225">
              <a:extLst>
                <a:ext uri="{FF2B5EF4-FFF2-40B4-BE49-F238E27FC236}">
                  <a16:creationId xmlns:a16="http://schemas.microsoft.com/office/drawing/2014/main" id="{459308DF-9655-DC96-456A-83E8062731F2}"/>
                </a:ext>
              </a:extLst>
            </p:cNvPr>
            <p:cNvSpPr txBox="1"/>
            <p:nvPr/>
          </p:nvSpPr>
          <p:spPr>
            <a:xfrm>
              <a:off x="430942" y="1223583"/>
              <a:ext cx="1051337" cy="400110"/>
            </a:xfrm>
            <a:prstGeom prst="rect">
              <a:avLst/>
            </a:prstGeom>
            <a:noFill/>
          </p:spPr>
          <p:txBody>
            <a:bodyPr wrap="square" rtlCol="0">
              <a:spAutoFit/>
            </a:bodyPr>
            <a:lstStyle/>
            <a:p>
              <a:pPr algn="ctr"/>
              <a:r>
                <a:rPr kumimoji="1" lang="en-US" altLang="ja-JP" sz="2000" b="1" dirty="0">
                  <a:solidFill>
                    <a:schemeClr val="tx1">
                      <a:lumMod val="65000"/>
                      <a:lumOff val="35000"/>
                    </a:schemeClr>
                  </a:solidFill>
                  <a:latin typeface="メイリオ" panose="020B0604030504040204" pitchFamily="50" charset="-128"/>
                  <a:ea typeface="メイリオ" panose="020B0604030504040204" pitchFamily="50" charset="-128"/>
                </a:rPr>
                <a:t>12/13</a:t>
              </a:r>
              <a:endParaRPr kumimoji="1" lang="ja-JP" altLang="en-US" sz="16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sp>
        <p:nvSpPr>
          <p:cNvPr id="230" name="フッター プレースホルダー 229">
            <a:extLst>
              <a:ext uri="{FF2B5EF4-FFF2-40B4-BE49-F238E27FC236}">
                <a16:creationId xmlns:a16="http://schemas.microsoft.com/office/drawing/2014/main" id="{0B4CB5EF-76A1-2661-E954-65E9A9D4E144}"/>
              </a:ext>
            </a:extLst>
          </p:cNvPr>
          <p:cNvSpPr>
            <a:spLocks noGrp="1"/>
          </p:cNvSpPr>
          <p:nvPr>
            <p:ph type="ftr" idx="11"/>
          </p:nvPr>
        </p:nvSpPr>
        <p:spPr/>
        <p:txBody>
          <a:bodyPr/>
          <a:lstStyle/>
          <a:p>
            <a:r>
              <a:rPr lang="en-US"/>
              <a:t>©Hiroshi Komukai</a:t>
            </a:r>
          </a:p>
        </p:txBody>
      </p:sp>
      <p:sp>
        <p:nvSpPr>
          <p:cNvPr id="13" name="正方形/長方形 12">
            <a:extLst>
              <a:ext uri="{FF2B5EF4-FFF2-40B4-BE49-F238E27FC236}">
                <a16:creationId xmlns:a16="http://schemas.microsoft.com/office/drawing/2014/main" id="{DAA197E0-098B-BCB1-77B8-DAFDCB0A151E}"/>
              </a:ext>
            </a:extLst>
          </p:cNvPr>
          <p:cNvSpPr/>
          <p:nvPr/>
        </p:nvSpPr>
        <p:spPr>
          <a:xfrm>
            <a:off x="87086" y="783771"/>
            <a:ext cx="11974850" cy="3601785"/>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F2499763-8766-7A22-23B0-076BC84629C1}"/>
              </a:ext>
            </a:extLst>
          </p:cNvPr>
          <p:cNvSpPr/>
          <p:nvPr/>
        </p:nvSpPr>
        <p:spPr>
          <a:xfrm>
            <a:off x="217150" y="5445436"/>
            <a:ext cx="11974850" cy="1040706"/>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50570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31605E18-D03F-BAD2-09AA-32A5818322F7}"/>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2F6B10B-0D1B-6B01-A008-927C7ED8BB99}"/>
              </a:ext>
            </a:extLst>
          </p:cNvPr>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研修全体のゴールの共有</a:t>
            </a:r>
          </a:p>
        </p:txBody>
      </p:sp>
      <p:cxnSp>
        <p:nvCxnSpPr>
          <p:cNvPr id="5" name="直線コネクタ 4">
            <a:extLst>
              <a:ext uri="{FF2B5EF4-FFF2-40B4-BE49-F238E27FC236}">
                <a16:creationId xmlns:a16="http://schemas.microsoft.com/office/drawing/2014/main" id="{652DF263-0159-029A-B513-68827BEE3079}"/>
              </a:ext>
            </a:extLst>
          </p:cNvPr>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a:extLst>
              <a:ext uri="{FF2B5EF4-FFF2-40B4-BE49-F238E27FC236}">
                <a16:creationId xmlns:a16="http://schemas.microsoft.com/office/drawing/2014/main" id="{10874C04-ADDC-0CFE-C8F5-9294270681C9}"/>
              </a:ext>
            </a:extLst>
          </p:cNvPr>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12" name="スライド番号プレースホルダー 211">
            <a:extLst>
              <a:ext uri="{FF2B5EF4-FFF2-40B4-BE49-F238E27FC236}">
                <a16:creationId xmlns:a16="http://schemas.microsoft.com/office/drawing/2014/main" id="{60274D8C-5BC3-571D-4770-323C81D98BC8}"/>
              </a:ext>
            </a:extLst>
          </p:cNvPr>
          <p:cNvSpPr>
            <a:spLocks noGrp="1"/>
          </p:cNvSpPr>
          <p:nvPr>
            <p:ph type="sldNum" idx="12"/>
          </p:nvPr>
        </p:nvSpPr>
        <p:spPr>
          <a:xfrm>
            <a:off x="9318736" y="6245514"/>
            <a:ext cx="2743200" cy="365125"/>
          </a:xfrm>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altLang="ja-JP" sz="1100" b="0" i="0" u="none" strike="noStrike" kern="0" cap="none" spc="0" normalizeH="0" baseline="0" noProof="0" smtClean="0">
                <a:ln>
                  <a:noFill/>
                </a:ln>
                <a:solidFill>
                  <a:srgbClr val="888888"/>
                </a:solidFill>
                <a:effectLst/>
                <a:uLnTx/>
                <a:uFillTx/>
                <a:latin typeface="メイリオ" panose="020B0604030504040204" pitchFamily="50" charset="-128"/>
                <a:ea typeface="メイリオ" panose="020B0604030504040204" pitchFamily="50" charset="-128"/>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lang="ja-JP" altLang="en-US" sz="1100" b="0" i="0" u="none" strike="noStrike" kern="0" cap="none" spc="0" normalizeH="0" baseline="0" noProof="0">
              <a:ln>
                <a:noFill/>
              </a:ln>
              <a:solidFill>
                <a:srgbClr val="888888"/>
              </a:solidFill>
              <a:effectLst/>
              <a:uLnTx/>
              <a:uFillTx/>
              <a:latin typeface="メイリオ" panose="020B0604030504040204" pitchFamily="50" charset="-128"/>
              <a:ea typeface="メイリオ" panose="020B0604030504040204" pitchFamily="50" charset="-128"/>
              <a:sym typeface="Arial"/>
            </a:endParaRPr>
          </a:p>
        </p:txBody>
      </p:sp>
      <p:sp>
        <p:nvSpPr>
          <p:cNvPr id="3" name="テキスト ボックス 2">
            <a:extLst>
              <a:ext uri="{FF2B5EF4-FFF2-40B4-BE49-F238E27FC236}">
                <a16:creationId xmlns:a16="http://schemas.microsoft.com/office/drawing/2014/main" id="{6AE58EC4-4884-E702-216D-770B33C3C4E0}"/>
              </a:ext>
            </a:extLst>
          </p:cNvPr>
          <p:cNvSpPr txBox="1"/>
          <p:nvPr/>
        </p:nvSpPr>
        <p:spPr>
          <a:xfrm>
            <a:off x="965515" y="1290397"/>
            <a:ext cx="10252363" cy="1938992"/>
          </a:xfrm>
          <a:prstGeom prst="rect">
            <a:avLst/>
          </a:prstGeom>
          <a:noFill/>
        </p:spPr>
        <p:txBody>
          <a:bodyPr wrap="square" rtlCol="0">
            <a:spAutoFit/>
          </a:bodyPr>
          <a:lstStyle/>
          <a:p>
            <a:pPr marL="342900" marR="0" lvl="0" indent="-34290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ja-JP" altLang="en-US" sz="2400" b="1" dirty="0">
                <a:latin typeface="メイリオ" panose="020B0604030504040204" pitchFamily="50" charset="-128"/>
                <a:ea typeface="メイリオ" panose="020B0604030504040204" pitchFamily="50" charset="-128"/>
                <a:cs typeface="Meiryo" charset="-128"/>
              </a:rPr>
              <a:t>中小企業や地域企業における「経営戦略と人材戦略の一体化」を出発点に、リーダーシップ・組織開発・</a:t>
            </a:r>
            <a:r>
              <a:rPr lang="en-US" altLang="ja-JP" sz="2400" b="1" dirty="0">
                <a:latin typeface="メイリオ" panose="020B0604030504040204" pitchFamily="50" charset="-128"/>
                <a:ea typeface="メイリオ" panose="020B0604030504040204" pitchFamily="50" charset="-128"/>
                <a:cs typeface="Meiryo" charset="-128"/>
              </a:rPr>
              <a:t>1on1</a:t>
            </a:r>
            <a:r>
              <a:rPr lang="ja-JP" altLang="en-US" sz="2400" b="1" dirty="0">
                <a:latin typeface="メイリオ" panose="020B0604030504040204" pitchFamily="50" charset="-128"/>
                <a:ea typeface="メイリオ" panose="020B0604030504040204" pitchFamily="50" charset="-128"/>
                <a:cs typeface="Meiryo" charset="-128"/>
              </a:rPr>
              <a:t>といった実践的な人材マネジメントを学び、現場で実行できる力を育てる。</a:t>
            </a:r>
            <a:endParaRPr lang="en-US" altLang="ja-JP" sz="2400" b="1" dirty="0">
              <a:latin typeface="メイリオ" panose="020B0604030504040204" pitchFamily="50" charset="-128"/>
              <a:ea typeface="メイリオ" panose="020B0604030504040204" pitchFamily="50" charset="-128"/>
              <a:cs typeface="Meiryo" charset="-128"/>
            </a:endParaRPr>
          </a:p>
          <a:p>
            <a:pPr marL="342900" marR="0" lvl="0" indent="-34290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ja-JP" altLang="en-US" sz="2400" b="1" dirty="0">
                <a:latin typeface="メイリオ" panose="020B0604030504040204" pitchFamily="50" charset="-128"/>
                <a:ea typeface="メイリオ" panose="020B0604030504040204" pitchFamily="50" charset="-128"/>
                <a:cs typeface="Meiryo" charset="-128"/>
              </a:rPr>
              <a:t>最終的には経営者や管理職自身の組織・現場において人を活かす経営の在り方を体現するためのアクションプランを構築する。</a:t>
            </a:r>
            <a:endParaRPr kumimoji="0" lang="ja-JP" altLang="en-US" sz="24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 name="二等辺三角形 1">
            <a:extLst>
              <a:ext uri="{FF2B5EF4-FFF2-40B4-BE49-F238E27FC236}">
                <a16:creationId xmlns:a16="http://schemas.microsoft.com/office/drawing/2014/main" id="{1FBDFBDD-B640-3AB0-3C7B-1F06D3DBFEE4}"/>
              </a:ext>
            </a:extLst>
          </p:cNvPr>
          <p:cNvSpPr/>
          <p:nvPr/>
        </p:nvSpPr>
        <p:spPr>
          <a:xfrm rot="10800000">
            <a:off x="5064308" y="3573927"/>
            <a:ext cx="2054775" cy="232039"/>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98DB6A94-F405-8C24-96E7-92F72D969F1D}"/>
              </a:ext>
            </a:extLst>
          </p:cNvPr>
          <p:cNvSpPr txBox="1"/>
          <p:nvPr/>
        </p:nvSpPr>
        <p:spPr>
          <a:xfrm>
            <a:off x="965515" y="4341157"/>
            <a:ext cx="10252363" cy="1754326"/>
          </a:xfrm>
          <a:prstGeom prst="rect">
            <a:avLst/>
          </a:prstGeom>
          <a:noFill/>
        </p:spPr>
        <p:txBody>
          <a:bodyPr wrap="square" rtlCol="0">
            <a:spAutoFit/>
          </a:bodyPr>
          <a:lstStyle/>
          <a:p>
            <a:pPr marR="0" lvl="0" algn="ctr" defTabSz="914400" rtl="0" eaLnBrk="1" fontAlgn="auto" latinLnBrk="0" hangingPunct="1">
              <a:lnSpc>
                <a:spcPct val="100000"/>
              </a:lnSpc>
              <a:spcBef>
                <a:spcPts val="0"/>
              </a:spcBef>
              <a:spcAft>
                <a:spcPts val="0"/>
              </a:spcAft>
              <a:buClr>
                <a:srgbClr val="000000"/>
              </a:buClr>
              <a:buSzTx/>
              <a:tabLst/>
              <a:defRPr/>
            </a:pPr>
            <a:r>
              <a:rPr lang="ja-JP" altLang="en-US" sz="2400" b="1" dirty="0">
                <a:latin typeface="メイリオ" panose="020B0604030504040204" pitchFamily="50" charset="-128"/>
                <a:ea typeface="メイリオ" panose="020B0604030504040204" pitchFamily="50" charset="-128"/>
                <a:cs typeface="Meiryo" charset="-128"/>
              </a:rPr>
              <a:t>一言でいうと。</a:t>
            </a:r>
            <a:endParaRPr lang="en-US" altLang="ja-JP" sz="2400" b="1" dirty="0">
              <a:latin typeface="メイリオ" panose="020B0604030504040204" pitchFamily="50" charset="-128"/>
              <a:ea typeface="メイリオ" panose="020B0604030504040204" pitchFamily="50" charset="-128"/>
              <a:cs typeface="Meiryo" charset="-128"/>
            </a:endParaRPr>
          </a:p>
          <a:p>
            <a:pPr marR="0" lvl="0" algn="ctr" defTabSz="914400" rtl="0" eaLnBrk="1" fontAlgn="auto" latinLnBrk="0" hangingPunct="1">
              <a:lnSpc>
                <a:spcPct val="100000"/>
              </a:lnSpc>
              <a:spcBef>
                <a:spcPts val="0"/>
              </a:spcBef>
              <a:spcAft>
                <a:spcPts val="0"/>
              </a:spcAft>
              <a:buClr>
                <a:srgbClr val="000000"/>
              </a:buClr>
              <a:buSzTx/>
              <a:tabLst/>
              <a:defRPr/>
            </a:pPr>
            <a:r>
              <a:rPr lang="ja-JP" altLang="en-US" sz="2400" b="1" dirty="0">
                <a:latin typeface="メイリオ" panose="020B0604030504040204" pitchFamily="50" charset="-128"/>
                <a:ea typeface="メイリオ" panose="020B0604030504040204" pitchFamily="50" charset="-128"/>
                <a:cs typeface="Meiryo" charset="-128"/>
              </a:rPr>
              <a:t>経営と人材戦略をつなぐための</a:t>
            </a:r>
            <a:endParaRPr lang="en-US" altLang="ja-JP" sz="2400" b="1" dirty="0">
              <a:latin typeface="メイリオ" panose="020B0604030504040204" pitchFamily="50" charset="-128"/>
              <a:ea typeface="メイリオ" panose="020B0604030504040204" pitchFamily="50" charset="-128"/>
              <a:cs typeface="Meiryo" charset="-128"/>
            </a:endParaRPr>
          </a:p>
          <a:p>
            <a:pPr marR="0" lvl="0" algn="ctr" defTabSz="914400" rtl="0" eaLnBrk="1" fontAlgn="auto" latinLnBrk="0" hangingPunct="1">
              <a:lnSpc>
                <a:spcPct val="100000"/>
              </a:lnSpc>
              <a:spcBef>
                <a:spcPts val="0"/>
              </a:spcBef>
              <a:spcAft>
                <a:spcPts val="0"/>
              </a:spcAft>
              <a:buClr>
                <a:srgbClr val="000000"/>
              </a:buClr>
              <a:buSzTx/>
              <a:tabLst/>
              <a:defRPr/>
            </a:pPr>
            <a:r>
              <a:rPr kumimoji="0" lang="ja-JP" altLang="en-US" sz="6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a:t>
            </a:r>
            <a:r>
              <a:rPr kumimoji="0" lang="ja-JP" altLang="en-US" sz="6000" b="1" i="0" u="none" strike="noStrike" kern="0" cap="none" spc="0" normalizeH="0" baseline="0" noProof="0" dirty="0">
                <a:ln>
                  <a:noFill/>
                </a:ln>
                <a:solidFill>
                  <a:schemeClr val="accent6">
                    <a:lumMod val="75000"/>
                  </a:schemeClr>
                </a:solidFill>
                <a:effectLst/>
                <a:uLnTx/>
                <a:uFillTx/>
                <a:latin typeface="メイリオ" panose="020B0604030504040204" pitchFamily="50" charset="-128"/>
                <a:ea typeface="メイリオ" panose="020B0604030504040204" pitchFamily="50" charset="-128"/>
                <a:cs typeface="Meiryo" charset="-128"/>
                <a:sym typeface="Arial"/>
              </a:rPr>
              <a:t>見立て力</a:t>
            </a:r>
            <a:r>
              <a:rPr kumimoji="0" lang="ja-JP" altLang="en-US" sz="6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」を養う</a:t>
            </a:r>
          </a:p>
        </p:txBody>
      </p:sp>
      <p:sp>
        <p:nvSpPr>
          <p:cNvPr id="8" name="フッター プレースホルダー 7">
            <a:extLst>
              <a:ext uri="{FF2B5EF4-FFF2-40B4-BE49-F238E27FC236}">
                <a16:creationId xmlns:a16="http://schemas.microsoft.com/office/drawing/2014/main" id="{2B5AC82A-8FD0-7D62-FF2D-B9E2A0014714}"/>
              </a:ext>
            </a:extLst>
          </p:cNvPr>
          <p:cNvSpPr>
            <a:spLocks noGrp="1"/>
          </p:cNvSpPr>
          <p:nvPr>
            <p:ph type="ftr" idx="11"/>
          </p:nvPr>
        </p:nvSpPr>
        <p:spPr/>
        <p:txBody>
          <a:bodyPr/>
          <a:lstStyle/>
          <a:p>
            <a:r>
              <a:rPr lang="en-US"/>
              <a:t>©Hiroshi Komukai</a:t>
            </a:r>
          </a:p>
        </p:txBody>
      </p:sp>
    </p:spTree>
    <p:extLst>
      <p:ext uri="{BB962C8B-B14F-4D97-AF65-F5344CB8AC3E}">
        <p14:creationId xmlns:p14="http://schemas.microsoft.com/office/powerpoint/2010/main" val="3387973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本日の過ごし方</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フッター プレースホルダー 2"/>
          <p:cNvSpPr>
            <a:spLocks noGrp="1"/>
          </p:cNvSpPr>
          <p:nvPr>
            <p:ph type="ftr" idx="11"/>
          </p:nvPr>
        </p:nvSpPr>
        <p:spPr/>
        <p:txBody>
          <a:bodyPr/>
          <a:lstStyle/>
          <a:p>
            <a:r>
              <a:rPr lang="en-US"/>
              <a:t>©2022 LINE</a:t>
            </a:r>
          </a:p>
        </p:txBody>
      </p:sp>
      <p:sp>
        <p:nvSpPr>
          <p:cNvPr id="7" name="スライド番号プレースホルダー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a:t>
            </a:fld>
            <a:endParaRPr lang="ja-JP" altLang="en-US">
              <a:uFillTx/>
            </a:endParaRPr>
          </a:p>
        </p:txBody>
      </p:sp>
      <p:sp>
        <p:nvSpPr>
          <p:cNvPr id="8" name="正方形/長方形 7">
            <a:extLst>
              <a:ext uri="{FF2B5EF4-FFF2-40B4-BE49-F238E27FC236}">
                <a16:creationId xmlns:a16="http://schemas.microsoft.com/office/drawing/2014/main" id="{202FA2B0-B568-CF67-2E75-E16156D7D53F}"/>
              </a:ext>
            </a:extLst>
          </p:cNvPr>
          <p:cNvSpPr/>
          <p:nvPr/>
        </p:nvSpPr>
        <p:spPr>
          <a:xfrm>
            <a:off x="747833" y="1174377"/>
            <a:ext cx="10094338" cy="523220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組織開発とはなにか？</a:t>
            </a:r>
            <a:endParaRPr kumimoji="0" lang="en-US" altLang="ja-JP"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組織開発の狙い</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組織開発の効果</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ja-JP" altLang="en-US" sz="2400" dirty="0">
                <a:latin typeface="メイリオ" panose="020B0604030504040204" pitchFamily="50" charset="-128"/>
                <a:ea typeface="メイリオ" panose="020B0604030504040204" pitchFamily="50" charset="-128"/>
              </a:rPr>
              <a:t>組織開発が求められる背景</a:t>
            </a:r>
            <a:endParaRPr lang="en-US" altLang="ja-JP" sz="2400" dirty="0">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altLang="ja-JP" sz="2400" dirty="0">
                <a:latin typeface="メイリオ" panose="020B0604030504040204" pitchFamily="50" charset="-128"/>
                <a:ea typeface="メイリオ" panose="020B0604030504040204" pitchFamily="50" charset="-128"/>
              </a:rPr>
              <a:t>1on1</a:t>
            </a:r>
            <a:r>
              <a:rPr lang="ja-JP" altLang="en-US" sz="2400" dirty="0">
                <a:latin typeface="メイリオ" panose="020B0604030504040204" pitchFamily="50" charset="-128"/>
                <a:ea typeface="メイリオ" panose="020B0604030504040204" pitchFamily="50" charset="-128"/>
              </a:rPr>
              <a:t>の次の武器、組織開発</a:t>
            </a:r>
            <a:endParaRPr lang="en-US" altLang="ja-JP" sz="2400" dirty="0">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代表的な考え方のフレームと事例</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組織開発の手法で課題を見立てる</a:t>
            </a:r>
            <a:endParaRPr kumimoji="0" lang="en-US" altLang="ja-JP"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組織開発への反応</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レバレッジポイントの合意</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レバレッジポイントを探しに行く</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組織課題の見立て（私の場合）</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14372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本日のゴール</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a:t>
            </a:fld>
            <a:endParaRPr lang="ja-JP" altLang="en-US">
              <a:uFillTx/>
            </a:endParaRPr>
          </a:p>
        </p:txBody>
      </p:sp>
      <p:sp>
        <p:nvSpPr>
          <p:cNvPr id="13" name="タイトル 1">
            <a:extLst>
              <a:ext uri="{FF2B5EF4-FFF2-40B4-BE49-F238E27FC236}">
                <a16:creationId xmlns:a16="http://schemas.microsoft.com/office/drawing/2014/main" id="{287FB5EF-59DB-084E-9F79-FAA820B6A5F9}"/>
              </a:ext>
            </a:extLst>
          </p:cNvPr>
          <p:cNvSpPr txBox="1">
            <a:spLocks/>
          </p:cNvSpPr>
          <p:nvPr/>
        </p:nvSpPr>
        <p:spPr>
          <a:xfrm>
            <a:off x="0" y="2181027"/>
            <a:ext cx="1219200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「組織開発」ってなに？</a:t>
            </a:r>
            <a:endParaRPr lang="en-US" altLang="ja-JP" sz="40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どんなことをやるの？</a:t>
            </a:r>
          </a:p>
        </p:txBody>
      </p:sp>
      <p:sp>
        <p:nvSpPr>
          <p:cNvPr id="14" name="タイトル 1">
            <a:extLst>
              <a:ext uri="{FF2B5EF4-FFF2-40B4-BE49-F238E27FC236}">
                <a16:creationId xmlns:a16="http://schemas.microsoft.com/office/drawing/2014/main" id="{76C243E9-5532-0D36-F0F9-910963DA6EA8}"/>
              </a:ext>
            </a:extLst>
          </p:cNvPr>
          <p:cNvSpPr txBox="1">
            <a:spLocks/>
          </p:cNvSpPr>
          <p:nvPr/>
        </p:nvSpPr>
        <p:spPr>
          <a:xfrm>
            <a:off x="0" y="4374562"/>
            <a:ext cx="1219200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自分なりの言葉で言語化する</a:t>
            </a:r>
          </a:p>
        </p:txBody>
      </p:sp>
      <p:sp>
        <p:nvSpPr>
          <p:cNvPr id="15" name="二等辺三角形 14">
            <a:extLst>
              <a:ext uri="{FF2B5EF4-FFF2-40B4-BE49-F238E27FC236}">
                <a16:creationId xmlns:a16="http://schemas.microsoft.com/office/drawing/2014/main" id="{1E76AB2E-71ED-F1C0-D800-58277C47E042}"/>
              </a:ext>
            </a:extLst>
          </p:cNvPr>
          <p:cNvSpPr/>
          <p:nvPr/>
        </p:nvSpPr>
        <p:spPr>
          <a:xfrm rot="10800000">
            <a:off x="5515970" y="3579756"/>
            <a:ext cx="1160060" cy="255896"/>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22659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本日の過ごし方</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フッター プレースホルダー 2"/>
          <p:cNvSpPr>
            <a:spLocks noGrp="1"/>
          </p:cNvSpPr>
          <p:nvPr>
            <p:ph type="ftr" idx="11"/>
          </p:nvPr>
        </p:nvSpPr>
        <p:spPr/>
        <p:txBody>
          <a:bodyPr/>
          <a:lstStyle/>
          <a:p>
            <a:r>
              <a:rPr lang="en-US"/>
              <a:t>©2022 LINE</a:t>
            </a:r>
          </a:p>
        </p:txBody>
      </p:sp>
      <p:sp>
        <p:nvSpPr>
          <p:cNvPr id="7" name="スライド番号プレースホルダー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8</a:t>
            </a:fld>
            <a:endParaRPr lang="ja-JP" altLang="en-US">
              <a:uFillTx/>
            </a:endParaRPr>
          </a:p>
        </p:txBody>
      </p:sp>
      <p:sp>
        <p:nvSpPr>
          <p:cNvPr id="8" name="正方形/長方形 7">
            <a:extLst>
              <a:ext uri="{FF2B5EF4-FFF2-40B4-BE49-F238E27FC236}">
                <a16:creationId xmlns:a16="http://schemas.microsoft.com/office/drawing/2014/main" id="{202FA2B0-B568-CF67-2E75-E16156D7D53F}"/>
              </a:ext>
            </a:extLst>
          </p:cNvPr>
          <p:cNvSpPr/>
          <p:nvPr/>
        </p:nvSpPr>
        <p:spPr>
          <a:xfrm>
            <a:off x="747833" y="1174377"/>
            <a:ext cx="10094338" cy="523220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組織開発とはなにか？</a:t>
            </a:r>
            <a:endParaRPr kumimoji="0" lang="en-US" altLang="ja-JP"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組織開発の狙い</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組織開発の効果</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ja-JP" altLang="en-US" sz="2400" dirty="0">
                <a:latin typeface="メイリオ" panose="020B0604030504040204" pitchFamily="50" charset="-128"/>
                <a:ea typeface="メイリオ" panose="020B0604030504040204" pitchFamily="50" charset="-128"/>
              </a:rPr>
              <a:t>組織開発が求められる背景</a:t>
            </a:r>
            <a:endParaRPr lang="en-US" altLang="ja-JP" sz="2400" dirty="0">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altLang="ja-JP" sz="2400" dirty="0">
                <a:latin typeface="メイリオ" panose="020B0604030504040204" pitchFamily="50" charset="-128"/>
                <a:ea typeface="メイリオ" panose="020B0604030504040204" pitchFamily="50" charset="-128"/>
              </a:rPr>
              <a:t>1on1</a:t>
            </a:r>
            <a:r>
              <a:rPr lang="ja-JP" altLang="en-US" sz="2400" dirty="0">
                <a:latin typeface="メイリオ" panose="020B0604030504040204" pitchFamily="50" charset="-128"/>
                <a:ea typeface="メイリオ" panose="020B0604030504040204" pitchFamily="50" charset="-128"/>
              </a:rPr>
              <a:t>の次の武器、組織開発</a:t>
            </a:r>
            <a:endParaRPr lang="en-US" altLang="ja-JP" sz="2400" dirty="0">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代表的な考え方のフレームと事例</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組織開発の手法で課題を見立てる</a:t>
            </a:r>
            <a:endParaRPr kumimoji="0" lang="en-US" altLang="ja-JP" sz="4000" b="1"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組織開発への反応</a:t>
            </a:r>
            <a:endParaRPr kumimoji="0" lang="en-US" altLang="ja-JP"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レバレッジポイントの合意</a:t>
            </a:r>
            <a:endParaRPr kumimoji="0" lang="en-US" altLang="ja-JP"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レバレッジポイントを探しに行く</a:t>
            </a:r>
            <a:endParaRPr kumimoji="0" lang="en-US" altLang="ja-JP"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組織課題の見立て（私の場合）</a:t>
            </a:r>
            <a:endParaRPr kumimoji="0" lang="en-US" altLang="ja-JP"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53709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9</a:t>
            </a:fld>
            <a:endParaRPr lang="ja-JP" altLang="en-US">
              <a:uFillTx/>
            </a:endParaRPr>
          </a:p>
        </p:txBody>
      </p:sp>
      <p:sp>
        <p:nvSpPr>
          <p:cNvPr id="9" name="タイトル 1"/>
          <p:cNvSpPr txBox="1">
            <a:spLocks/>
          </p:cNvSpPr>
          <p:nvPr/>
        </p:nvSpPr>
        <p:spPr>
          <a:xfrm>
            <a:off x="0" y="3013546"/>
            <a:ext cx="1219200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「組織開発」とはなにか？</a:t>
            </a:r>
          </a:p>
        </p:txBody>
      </p:sp>
    </p:spTree>
    <p:extLst>
      <p:ext uri="{BB962C8B-B14F-4D97-AF65-F5344CB8AC3E}">
        <p14:creationId xmlns:p14="http://schemas.microsoft.com/office/powerpoint/2010/main" val="1152721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組織とはなにか？ 組織開発とはなにか？</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10</a:t>
            </a:fld>
            <a:endParaRPr lang="ja-JP" altLang="en-US">
              <a:uFillTx/>
            </a:endParaRPr>
          </a:p>
        </p:txBody>
      </p:sp>
      <p:sp>
        <p:nvSpPr>
          <p:cNvPr id="8" name="タイトル 1"/>
          <p:cNvSpPr txBox="1">
            <a:spLocks/>
          </p:cNvSpPr>
          <p:nvPr/>
        </p:nvSpPr>
        <p:spPr>
          <a:xfrm>
            <a:off x="528151" y="1914092"/>
            <a:ext cx="8352928"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組織とは？</a:t>
            </a:r>
          </a:p>
        </p:txBody>
      </p:sp>
      <p:sp>
        <p:nvSpPr>
          <p:cNvPr id="9" name="タイトル 1"/>
          <p:cNvSpPr txBox="1">
            <a:spLocks/>
          </p:cNvSpPr>
          <p:nvPr/>
        </p:nvSpPr>
        <p:spPr>
          <a:xfrm>
            <a:off x="509265" y="3435747"/>
            <a:ext cx="894906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組織開発（</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Organization Development</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）とは？</a:t>
            </a:r>
          </a:p>
        </p:txBody>
      </p:sp>
      <p:sp>
        <p:nvSpPr>
          <p:cNvPr id="10" name="タイトル 1"/>
          <p:cNvSpPr txBox="1">
            <a:spLocks/>
          </p:cNvSpPr>
          <p:nvPr/>
        </p:nvSpPr>
        <p:spPr>
          <a:xfrm>
            <a:off x="1043608" y="2384812"/>
            <a:ext cx="756084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共通の目的（ミッション）を持った集団</a:t>
            </a:r>
          </a:p>
        </p:txBody>
      </p:sp>
      <p:sp>
        <p:nvSpPr>
          <p:cNvPr id="12" name="タイトル 1"/>
          <p:cNvSpPr txBox="1">
            <a:spLocks/>
          </p:cNvSpPr>
          <p:nvPr/>
        </p:nvSpPr>
        <p:spPr>
          <a:xfrm>
            <a:off x="1043607" y="4562872"/>
            <a:ext cx="10376868"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共通の目的を達成するため</a:t>
            </a: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に組織を効果的にしていくことやそのための支援をすること</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組織のハード面（戦略、制度、組織構造など）だけでなく、</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algn="l"/>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組織のソフト面（人材育成、関係性の質など）にアプローチするのが特徴的</a:t>
            </a:r>
            <a:endParaRPr lang="en-US" altLang="ja-JP" sz="2000" b="1" dirty="0">
              <a:latin typeface="メイリオ" panose="020B0604030504040204" pitchFamily="50" charset="-128"/>
              <a:ea typeface="メイリオ" panose="020B0604030504040204" pitchFamily="50" charset="-128"/>
              <a:cs typeface="メイリオ" panose="020B0604030504040204" pitchFamily="50" charset="-128"/>
            </a:endParaRPr>
          </a:p>
          <a:p>
            <a:pPr algn="l"/>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algn="l"/>
            <a:endParaRPr lang="ja-JP" altLang="en-US" sz="20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074" name="Picture 2" descr="チーム"/>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9905" y="1162424"/>
            <a:ext cx="2329399" cy="2329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160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11</a:t>
            </a:fld>
            <a:endParaRPr lang="ja-JP" altLang="en-US">
              <a:uFillTx/>
            </a:endParaRPr>
          </a:p>
        </p:txBody>
      </p:sp>
      <p:sp>
        <p:nvSpPr>
          <p:cNvPr id="9" name="タイトル 1"/>
          <p:cNvSpPr txBox="1">
            <a:spLocks/>
          </p:cNvSpPr>
          <p:nvPr/>
        </p:nvSpPr>
        <p:spPr>
          <a:xfrm>
            <a:off x="0" y="3013546"/>
            <a:ext cx="1219200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今日現在での私なりの解釈</a:t>
            </a:r>
          </a:p>
        </p:txBody>
      </p:sp>
      <p:sp>
        <p:nvSpPr>
          <p:cNvPr id="5" name="タイトル 1">
            <a:extLst>
              <a:ext uri="{FF2B5EF4-FFF2-40B4-BE49-F238E27FC236}">
                <a16:creationId xmlns:a16="http://schemas.microsoft.com/office/drawing/2014/main" id="{DFF6840F-D402-925A-F69B-E6F3C93A6C30}"/>
              </a:ext>
            </a:extLst>
          </p:cNvPr>
          <p:cNvSpPr txBox="1">
            <a:spLocks/>
          </p:cNvSpPr>
          <p:nvPr/>
        </p:nvSpPr>
        <p:spPr>
          <a:xfrm>
            <a:off x="2938502" y="2500121"/>
            <a:ext cx="510392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いきなりですが</a:t>
            </a:r>
            <a:endParaRPr lang="ja-JP" altLang="en-US" sz="40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タイトル 1">
            <a:extLst>
              <a:ext uri="{FF2B5EF4-FFF2-40B4-BE49-F238E27FC236}">
                <a16:creationId xmlns:a16="http://schemas.microsoft.com/office/drawing/2014/main" id="{BE1CFAD8-198C-E1B6-B5C8-863D2EBB9904}"/>
              </a:ext>
            </a:extLst>
          </p:cNvPr>
          <p:cNvSpPr txBox="1">
            <a:spLocks/>
          </p:cNvSpPr>
          <p:nvPr/>
        </p:nvSpPr>
        <p:spPr>
          <a:xfrm>
            <a:off x="4296786" y="3522469"/>
            <a:ext cx="510392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（持論を持つって大事！）</a:t>
            </a:r>
            <a:endParaRPr lang="ja-JP" altLang="en-US" sz="4000" b="1"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817006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65" name="図 64">
            <a:extLst>
              <a:ext uri="{FF2B5EF4-FFF2-40B4-BE49-F238E27FC236}">
                <a16:creationId xmlns:a16="http://schemas.microsoft.com/office/drawing/2014/main" id="{7401A569-5516-4122-A1EC-CE8F9906BB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19113" y="2774732"/>
            <a:ext cx="2472887" cy="1651982"/>
          </a:xfrm>
          <a:prstGeom prst="rect">
            <a:avLst/>
          </a:prstGeom>
        </p:spPr>
      </p:pic>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12</a:t>
            </a:fld>
            <a:endParaRPr lang="ja-JP" altLang="en-US">
              <a:uFillTx/>
            </a:endParaRPr>
          </a:p>
        </p:txBody>
      </p:sp>
      <p:sp>
        <p:nvSpPr>
          <p:cNvPr id="8" name="フッター プレースホルダー 7"/>
          <p:cNvSpPr>
            <a:spLocks noGrp="1"/>
          </p:cNvSpPr>
          <p:nvPr>
            <p:ph type="ftr" idx="11"/>
          </p:nvPr>
        </p:nvSpPr>
        <p:spPr/>
        <p:txBody>
          <a:bodyPr/>
          <a:lstStyle/>
          <a:p>
            <a:r>
              <a:rPr lang="en-US" altLang="zh-TW"/>
              <a:t>©2022 LINE</a:t>
            </a:r>
            <a:endParaRPr lang="zh-TW" altLang="en-US"/>
          </a:p>
        </p:txBody>
      </p:sp>
      <p:sp>
        <p:nvSpPr>
          <p:cNvPr id="61" name="フリーフォーム 60"/>
          <p:cNvSpPr/>
          <p:nvPr/>
        </p:nvSpPr>
        <p:spPr>
          <a:xfrm>
            <a:off x="1876091" y="3724003"/>
            <a:ext cx="6873765" cy="2440314"/>
          </a:xfrm>
          <a:custGeom>
            <a:avLst/>
            <a:gdLst>
              <a:gd name="connsiteX0" fmla="*/ 0 w 6873765"/>
              <a:gd name="connsiteY0" fmla="*/ 91252 h 2440314"/>
              <a:gd name="connsiteX1" fmla="*/ 2790496 w 6873765"/>
              <a:gd name="connsiteY1" fmla="*/ 28190 h 2440314"/>
              <a:gd name="connsiteX2" fmla="*/ 3894082 w 6873765"/>
              <a:gd name="connsiteY2" fmla="*/ 28190 h 2440314"/>
              <a:gd name="connsiteX3" fmla="*/ 5013434 w 6873765"/>
              <a:gd name="connsiteY3" fmla="*/ 375031 h 2440314"/>
              <a:gd name="connsiteX4" fmla="*/ 6038193 w 6873765"/>
              <a:gd name="connsiteY4" fmla="*/ 1052949 h 2440314"/>
              <a:gd name="connsiteX5" fmla="*/ 6653048 w 6873765"/>
              <a:gd name="connsiteY5" fmla="*/ 1636273 h 2440314"/>
              <a:gd name="connsiteX6" fmla="*/ 6873765 w 6873765"/>
              <a:gd name="connsiteY6" fmla="*/ 2440314 h 2440314"/>
              <a:gd name="connsiteX7" fmla="*/ 6873765 w 6873765"/>
              <a:gd name="connsiteY7" fmla="*/ 2440314 h 2440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73765" h="2440314">
                <a:moveTo>
                  <a:pt x="0" y="91252"/>
                </a:moveTo>
                <a:lnTo>
                  <a:pt x="2790496" y="28190"/>
                </a:lnTo>
                <a:cubicBezTo>
                  <a:pt x="3439510" y="17680"/>
                  <a:pt x="3523592" y="-29617"/>
                  <a:pt x="3894082" y="28190"/>
                </a:cubicBezTo>
                <a:cubicBezTo>
                  <a:pt x="4264572" y="85997"/>
                  <a:pt x="4656082" y="204238"/>
                  <a:pt x="5013434" y="375031"/>
                </a:cubicBezTo>
                <a:cubicBezTo>
                  <a:pt x="5370786" y="545824"/>
                  <a:pt x="5764924" y="842742"/>
                  <a:pt x="6038193" y="1052949"/>
                </a:cubicBezTo>
                <a:cubicBezTo>
                  <a:pt x="6311462" y="1263156"/>
                  <a:pt x="6513786" y="1405046"/>
                  <a:pt x="6653048" y="1636273"/>
                </a:cubicBezTo>
                <a:cubicBezTo>
                  <a:pt x="6792310" y="1867501"/>
                  <a:pt x="6873765" y="2440314"/>
                  <a:pt x="6873765" y="2440314"/>
                </a:cubicBezTo>
                <a:lnTo>
                  <a:pt x="6873765" y="2440314"/>
                </a:lnTo>
              </a:path>
            </a:pathLst>
          </a:custGeom>
          <a:noFill/>
          <a:ln w="254000">
            <a:solidFill>
              <a:schemeClr val="accent1">
                <a:lumMod val="40000"/>
                <a:lumOff val="60000"/>
              </a:schemeClr>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フリーフォーム 61"/>
          <p:cNvSpPr/>
          <p:nvPr/>
        </p:nvSpPr>
        <p:spPr>
          <a:xfrm>
            <a:off x="1907622" y="3294993"/>
            <a:ext cx="8191850" cy="488731"/>
          </a:xfrm>
          <a:custGeom>
            <a:avLst/>
            <a:gdLst>
              <a:gd name="connsiteX0" fmla="*/ 0 w 8191850"/>
              <a:gd name="connsiteY0" fmla="*/ 488731 h 488731"/>
              <a:gd name="connsiteX1" fmla="*/ 1986455 w 8191850"/>
              <a:gd name="connsiteY1" fmla="*/ 488731 h 488731"/>
              <a:gd name="connsiteX2" fmla="*/ 3484179 w 8191850"/>
              <a:gd name="connsiteY2" fmla="*/ 425669 h 488731"/>
              <a:gd name="connsiteX3" fmla="*/ 5880538 w 8191850"/>
              <a:gd name="connsiteY3" fmla="*/ 425669 h 488731"/>
              <a:gd name="connsiteX4" fmla="*/ 7866993 w 8191850"/>
              <a:gd name="connsiteY4" fmla="*/ 78828 h 488731"/>
              <a:gd name="connsiteX5" fmla="*/ 8166538 w 8191850"/>
              <a:gd name="connsiteY5" fmla="*/ 0 h 4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91850" h="488731">
                <a:moveTo>
                  <a:pt x="0" y="488731"/>
                </a:moveTo>
                <a:lnTo>
                  <a:pt x="1986455" y="488731"/>
                </a:lnTo>
                <a:cubicBezTo>
                  <a:pt x="2567151" y="478221"/>
                  <a:pt x="2835165" y="436179"/>
                  <a:pt x="3484179" y="425669"/>
                </a:cubicBezTo>
                <a:cubicBezTo>
                  <a:pt x="4133193" y="415159"/>
                  <a:pt x="5150069" y="483476"/>
                  <a:pt x="5880538" y="425669"/>
                </a:cubicBezTo>
                <a:cubicBezTo>
                  <a:pt x="6611007" y="367862"/>
                  <a:pt x="7485993" y="149773"/>
                  <a:pt x="7866993" y="78828"/>
                </a:cubicBezTo>
                <a:cubicBezTo>
                  <a:pt x="8247993" y="7883"/>
                  <a:pt x="8207265" y="3941"/>
                  <a:pt x="8166538" y="0"/>
                </a:cubicBezTo>
              </a:path>
            </a:pathLst>
          </a:custGeom>
          <a:noFill/>
          <a:ln w="2540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フリーフォーム 62"/>
          <p:cNvSpPr/>
          <p:nvPr/>
        </p:nvSpPr>
        <p:spPr>
          <a:xfrm>
            <a:off x="1907622" y="1040524"/>
            <a:ext cx="7882758" cy="2727435"/>
          </a:xfrm>
          <a:custGeom>
            <a:avLst/>
            <a:gdLst>
              <a:gd name="connsiteX0" fmla="*/ 0 w 7882758"/>
              <a:gd name="connsiteY0" fmla="*/ 2727435 h 2727435"/>
              <a:gd name="connsiteX1" fmla="*/ 3326524 w 7882758"/>
              <a:gd name="connsiteY1" fmla="*/ 2601310 h 2727435"/>
              <a:gd name="connsiteX2" fmla="*/ 5108027 w 7882758"/>
              <a:gd name="connsiteY2" fmla="*/ 2238704 h 2727435"/>
              <a:gd name="connsiteX3" fmla="*/ 6605751 w 7882758"/>
              <a:gd name="connsiteY3" fmla="*/ 1481959 h 2727435"/>
              <a:gd name="connsiteX4" fmla="*/ 7583214 w 7882758"/>
              <a:gd name="connsiteY4" fmla="*/ 646386 h 2727435"/>
              <a:gd name="connsiteX5" fmla="*/ 7882758 w 7882758"/>
              <a:gd name="connsiteY5" fmla="*/ 0 h 2727435"/>
              <a:gd name="connsiteX6" fmla="*/ 7882758 w 7882758"/>
              <a:gd name="connsiteY6" fmla="*/ 0 h 2727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82758" h="2727435">
                <a:moveTo>
                  <a:pt x="0" y="2727435"/>
                </a:moveTo>
                <a:cubicBezTo>
                  <a:pt x="1237593" y="2705100"/>
                  <a:pt x="2475186" y="2682765"/>
                  <a:pt x="3326524" y="2601310"/>
                </a:cubicBezTo>
                <a:cubicBezTo>
                  <a:pt x="4177862" y="2519855"/>
                  <a:pt x="4561489" y="2425262"/>
                  <a:pt x="5108027" y="2238704"/>
                </a:cubicBezTo>
                <a:cubicBezTo>
                  <a:pt x="5654565" y="2052145"/>
                  <a:pt x="6193220" y="1747345"/>
                  <a:pt x="6605751" y="1481959"/>
                </a:cubicBezTo>
                <a:cubicBezTo>
                  <a:pt x="7018282" y="1216573"/>
                  <a:pt x="7370380" y="893379"/>
                  <a:pt x="7583214" y="646386"/>
                </a:cubicBezTo>
                <a:cubicBezTo>
                  <a:pt x="7796048" y="399393"/>
                  <a:pt x="7882758" y="0"/>
                  <a:pt x="7882758" y="0"/>
                </a:cubicBezTo>
                <a:lnTo>
                  <a:pt x="7882758" y="0"/>
                </a:lnTo>
              </a:path>
            </a:pathLst>
          </a:custGeom>
          <a:noFill/>
          <a:ln w="254000">
            <a:solidFill>
              <a:srgbClr val="FF0000">
                <a:alpha val="52000"/>
              </a:srgbClr>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4" name="図 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459" y="2547510"/>
            <a:ext cx="2115686" cy="2115686"/>
          </a:xfrm>
          <a:prstGeom prst="rect">
            <a:avLst/>
          </a:prstGeom>
        </p:spPr>
      </p:pic>
      <p:pic>
        <p:nvPicPr>
          <p:cNvPr id="66" name="図 65">
            <a:extLst>
              <a:ext uri="{FF2B5EF4-FFF2-40B4-BE49-F238E27FC236}">
                <a16:creationId xmlns:a16="http://schemas.microsoft.com/office/drawing/2014/main" id="{0D8E033D-AA30-442A-960E-54CD914677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4199" y="4786641"/>
            <a:ext cx="2123142" cy="2123142"/>
          </a:xfrm>
          <a:prstGeom prst="rect">
            <a:avLst/>
          </a:prstGeom>
        </p:spPr>
      </p:pic>
      <p:pic>
        <p:nvPicPr>
          <p:cNvPr id="67" name="図 66">
            <a:extLst>
              <a:ext uri="{FF2B5EF4-FFF2-40B4-BE49-F238E27FC236}">
                <a16:creationId xmlns:a16="http://schemas.microsoft.com/office/drawing/2014/main" id="{E941F099-909E-4A67-B11E-8FDAF52ADDD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903574" y="718349"/>
            <a:ext cx="1761969" cy="1761969"/>
          </a:xfrm>
          <a:prstGeom prst="rect">
            <a:avLst/>
          </a:prstGeom>
        </p:spPr>
      </p:pic>
      <p:sp>
        <p:nvSpPr>
          <p:cNvPr id="68" name="テキスト ボックス 67"/>
          <p:cNvSpPr txBox="1"/>
          <p:nvPr/>
        </p:nvSpPr>
        <p:spPr>
          <a:xfrm>
            <a:off x="8965229" y="3998127"/>
            <a:ext cx="1628259" cy="461665"/>
          </a:xfrm>
          <a:prstGeom prst="rect">
            <a:avLst/>
          </a:prstGeom>
          <a:noFill/>
        </p:spPr>
        <p:txBody>
          <a:bodyPr wrap="square" rtlCol="0">
            <a:spAutoFit/>
          </a:bodyPr>
          <a:lstStyle/>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成り行き</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9" name="テキスト ボックス 68"/>
          <p:cNvSpPr txBox="1"/>
          <p:nvPr/>
        </p:nvSpPr>
        <p:spPr>
          <a:xfrm>
            <a:off x="9168070" y="2196206"/>
            <a:ext cx="1628259" cy="461665"/>
          </a:xfrm>
          <a:prstGeom prst="rect">
            <a:avLst/>
          </a:prstGeom>
          <a:noFill/>
        </p:spPr>
        <p:txBody>
          <a:bodyPr wrap="square" rtlCol="0">
            <a:spAutoFit/>
          </a:bodyPr>
          <a:lstStyle/>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創造的</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0" name="テキスト ボックス 69"/>
          <p:cNvSpPr txBox="1"/>
          <p:nvPr/>
        </p:nvSpPr>
        <p:spPr>
          <a:xfrm>
            <a:off x="8491867" y="6378720"/>
            <a:ext cx="1628259" cy="461665"/>
          </a:xfrm>
          <a:prstGeom prst="rect">
            <a:avLst/>
          </a:prstGeom>
          <a:noFill/>
        </p:spPr>
        <p:txBody>
          <a:bodyPr wrap="square" rtlCol="0">
            <a:spAutoFit/>
          </a:bodyPr>
          <a:lstStyle/>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最悪</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1" name="テキスト ボックス 70"/>
          <p:cNvSpPr txBox="1"/>
          <p:nvPr/>
        </p:nvSpPr>
        <p:spPr>
          <a:xfrm>
            <a:off x="545821" y="930157"/>
            <a:ext cx="8837876" cy="1200329"/>
          </a:xfrm>
          <a:prstGeom prst="rect">
            <a:avLst/>
          </a:prstGeom>
          <a:noFill/>
        </p:spPr>
        <p:txBody>
          <a:bodyPr wrap="square" rtlCol="0">
            <a:spAutoFit/>
          </a:bodyPr>
          <a:lstStyle/>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成り行きではない、創造的な未来をつくりたい</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昨日よりも今日、今日よりも明日を</a:t>
            </a:r>
            <a:r>
              <a:rPr lang="en-US" altLang="ja-JP" sz="2400" b="1"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ミリでも良くしたい</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そのために我々が超えるべきものは何か？</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2" name="テキスト ボックス 71"/>
          <p:cNvSpPr txBox="1"/>
          <p:nvPr/>
        </p:nvSpPr>
        <p:spPr>
          <a:xfrm>
            <a:off x="367679" y="4765865"/>
            <a:ext cx="1628259" cy="461665"/>
          </a:xfrm>
          <a:prstGeom prst="rect">
            <a:avLst/>
          </a:prstGeom>
          <a:noFill/>
        </p:spPr>
        <p:txBody>
          <a:bodyPr wrap="square" rtlCol="0">
            <a:spAutoFit/>
          </a:bodyPr>
          <a:lstStyle/>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イマココ</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3" name="テキスト ボックス 72"/>
          <p:cNvSpPr txBox="1"/>
          <p:nvPr/>
        </p:nvSpPr>
        <p:spPr>
          <a:xfrm>
            <a:off x="5400630" y="2427038"/>
            <a:ext cx="4063569" cy="1169551"/>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今まで通りやっていれば達成できるのか？</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何か越えなければならないことは無いのか？</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自分がやらなければならないことは何か？</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自分ができることは何か？</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4" name="テキスト ボックス 73"/>
          <p:cNvSpPr txBox="1"/>
          <p:nvPr/>
        </p:nvSpPr>
        <p:spPr>
          <a:xfrm>
            <a:off x="470367" y="156995"/>
            <a:ext cx="9108639"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組織開発は創造的な未来をつくるための一つの手法</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テキスト ボックス 19"/>
          <p:cNvSpPr txBox="1"/>
          <p:nvPr/>
        </p:nvSpPr>
        <p:spPr>
          <a:xfrm>
            <a:off x="4678974" y="4188306"/>
            <a:ext cx="4063569" cy="954107"/>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最悪のシナリオは？</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今後起きうることは何か？</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それを起こさないためには何をすればよいか？</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そのために自分ができることは何か？</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31101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0" presetClass="entr" presetSubtype="0" fill="hold" nodeType="withEffect">
                                  <p:stCondLst>
                                    <p:cond delay="0"/>
                                  </p:stCondLst>
                                  <p:childTnLst>
                                    <p:set>
                                      <p:cBhvr>
                                        <p:cTn id="9" dur="1" fill="hold">
                                          <p:stCondLst>
                                            <p:cond delay="0"/>
                                          </p:stCondLst>
                                        </p:cTn>
                                        <p:tgtEl>
                                          <p:spTgt spid="65"/>
                                        </p:tgtEl>
                                        <p:attrNameLst>
                                          <p:attrName>style.visibility</p:attrName>
                                        </p:attrNameLst>
                                      </p:cBhvr>
                                      <p:to>
                                        <p:strVal val="visible"/>
                                      </p:to>
                                    </p:set>
                                    <p:animEffect transition="in" filter="fade">
                                      <p:cBhvr>
                                        <p:cTn id="10" dur="500"/>
                                        <p:tgtEl>
                                          <p:spTgt spid="6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500"/>
                                        <p:tgtEl>
                                          <p:spTgt spid="6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fade">
                                      <p:cBhvr>
                                        <p:cTn id="18" dur="500"/>
                                        <p:tgtEl>
                                          <p:spTgt spid="6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0"/>
                                        </p:tgtEl>
                                        <p:attrNameLst>
                                          <p:attrName>style.visibility</p:attrName>
                                        </p:attrNameLst>
                                      </p:cBhvr>
                                      <p:to>
                                        <p:strVal val="visible"/>
                                      </p:to>
                                    </p:set>
                                    <p:animEffect transition="in" filter="fade">
                                      <p:cBhvr>
                                        <p:cTn id="21" dur="500"/>
                                        <p:tgtEl>
                                          <p:spTgt spid="70"/>
                                        </p:tgtEl>
                                      </p:cBhvr>
                                    </p:animEffect>
                                  </p:childTnLst>
                                </p:cTn>
                              </p:par>
                              <p:par>
                                <p:cTn id="22" presetID="10" presetClass="entr" presetSubtype="0" fill="hold"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fade">
                                      <p:cBhvr>
                                        <p:cTn id="24" dur="500"/>
                                        <p:tgtEl>
                                          <p:spTgt spid="6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fade">
                                      <p:cBhvr>
                                        <p:cTn id="29" dur="500"/>
                                        <p:tgtEl>
                                          <p:spTgt spid="6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childTnLst>
                                </p:cTn>
                              </p:par>
                              <p:par>
                                <p:cTn id="33" presetID="10" presetClass="entr" presetSubtype="0" fill="hold" nodeType="withEffect">
                                  <p:stCondLst>
                                    <p:cond delay="0"/>
                                  </p:stCondLst>
                                  <p:childTnLst>
                                    <p:set>
                                      <p:cBhvr>
                                        <p:cTn id="34" dur="1" fill="hold">
                                          <p:stCondLst>
                                            <p:cond delay="0"/>
                                          </p:stCondLst>
                                        </p:cTn>
                                        <p:tgtEl>
                                          <p:spTgt spid="67"/>
                                        </p:tgtEl>
                                        <p:attrNameLst>
                                          <p:attrName>style.visibility</p:attrName>
                                        </p:attrNameLst>
                                      </p:cBhvr>
                                      <p:to>
                                        <p:strVal val="visible"/>
                                      </p:to>
                                    </p:set>
                                    <p:animEffect transition="in" filter="fade">
                                      <p:cBhvr>
                                        <p:cTn id="35" dur="500"/>
                                        <p:tgtEl>
                                          <p:spTgt spid="6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3"/>
                                        </p:tgtEl>
                                        <p:attrNameLst>
                                          <p:attrName>style.visibility</p:attrName>
                                        </p:attrNameLst>
                                      </p:cBhvr>
                                      <p:to>
                                        <p:strVal val="visible"/>
                                      </p:to>
                                    </p:set>
                                    <p:animEffect transition="in" filter="fade">
                                      <p:cBhvr>
                                        <p:cTn id="40" dur="500"/>
                                        <p:tgtEl>
                                          <p:spTgt spid="7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 grpId="0" animBg="1"/>
      <p:bldP spid="68" grpId="0"/>
      <p:bldP spid="69" grpId="0"/>
      <p:bldP spid="70" grpId="0"/>
      <p:bldP spid="73"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193636" y="-311970"/>
            <a:ext cx="12500386" cy="721300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p:cNvSpPr>
            <a:spLocks noGrp="1"/>
          </p:cNvSpPr>
          <p:nvPr>
            <p:ph type="sldNum" sz="quarter" idx="12"/>
          </p:nvPr>
        </p:nvSpPr>
        <p:spPr/>
        <p:txBody>
          <a:bodyPr/>
          <a:lstStyle/>
          <a:p>
            <a:fld id="{7EB29901-185E-436F-B7EE-94CD3DCFCF3C}" type="slidenum">
              <a:rPr kumimoji="1" lang="ja-JP" altLang="en-US" smtClean="0">
                <a:solidFill>
                  <a:schemeClr val="bg1">
                    <a:lumMod val="50000"/>
                  </a:schemeClr>
                </a:solidFill>
              </a:rPr>
              <a:t>13</a:t>
            </a:fld>
            <a:endParaRPr kumimoji="1" lang="ja-JP" altLang="en-US" dirty="0">
              <a:solidFill>
                <a:schemeClr val="bg1">
                  <a:lumMod val="50000"/>
                </a:schemeClr>
              </a:solidFill>
            </a:endParaRPr>
          </a:p>
        </p:txBody>
      </p:sp>
      <p:sp>
        <p:nvSpPr>
          <p:cNvPr id="4" name="フッター プレースホルダー 3"/>
          <p:cNvSpPr>
            <a:spLocks noGrp="1"/>
          </p:cNvSpPr>
          <p:nvPr>
            <p:ph type="ftr" sz="quarter" idx="11"/>
          </p:nvPr>
        </p:nvSpPr>
        <p:spPr>
          <a:xfrm>
            <a:off x="4648200" y="6356351"/>
            <a:ext cx="3175992" cy="365125"/>
          </a:xfrm>
        </p:spPr>
        <p:txBody>
          <a:bodyPr/>
          <a:lstStyle/>
          <a:p>
            <a:r>
              <a:rPr kumimoji="1" lang="en-US" altLang="ja-JP">
                <a:solidFill>
                  <a:schemeClr val="bg1">
                    <a:lumMod val="50000"/>
                  </a:schemeClr>
                </a:solidFill>
              </a:rPr>
              <a:t>©2022 LINE</a:t>
            </a:r>
            <a:endParaRPr kumimoji="1" lang="ja-JP" altLang="en-US" dirty="0">
              <a:solidFill>
                <a:schemeClr val="bg1">
                  <a:lumMod val="50000"/>
                </a:schemeClr>
              </a:solidFill>
            </a:endParaRPr>
          </a:p>
        </p:txBody>
      </p:sp>
      <p:sp>
        <p:nvSpPr>
          <p:cNvPr id="14" name="テキスト ボックス 13"/>
          <p:cNvSpPr txBox="1"/>
          <p:nvPr/>
        </p:nvSpPr>
        <p:spPr>
          <a:xfrm>
            <a:off x="1124508" y="2687433"/>
            <a:ext cx="10302949" cy="1015663"/>
          </a:xfrm>
          <a:prstGeom prst="rect">
            <a:avLst/>
          </a:prstGeom>
          <a:noFill/>
        </p:spPr>
        <p:txBody>
          <a:bodyPr wrap="square" rtlCol="0" anchor="ctr">
            <a:spAutoFit/>
          </a:bodyPr>
          <a:lstStyle/>
          <a:p>
            <a:pPr algn="ctr"/>
            <a:r>
              <a:rPr lang="en-US" altLang="ja-JP" sz="6000" b="1" dirty="0">
                <a:solidFill>
                  <a:schemeClr val="bg1"/>
                </a:solidFill>
              </a:rPr>
              <a:t>The future is in our hands</a:t>
            </a:r>
            <a:endParaRPr lang="en-US" altLang="ja-JP" sz="88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p:cNvSpPr txBox="1"/>
          <p:nvPr/>
        </p:nvSpPr>
        <p:spPr>
          <a:xfrm>
            <a:off x="1124507" y="3619885"/>
            <a:ext cx="10302949" cy="707886"/>
          </a:xfrm>
          <a:prstGeom prst="rect">
            <a:avLst/>
          </a:prstGeom>
          <a:noFill/>
        </p:spPr>
        <p:txBody>
          <a:bodyPr wrap="square" rtlCol="0" anchor="ctr">
            <a:spAutoFit/>
          </a:bodyPr>
          <a:lstStyle/>
          <a:p>
            <a:pPr algn="ctr"/>
            <a:r>
              <a:rPr lang="ja-JP" altLang="en-US" sz="4000" b="1" dirty="0">
                <a:solidFill>
                  <a:schemeClr val="bg1"/>
                </a:solidFill>
                <a:latin typeface="メイリオ" panose="020B0604030504040204" pitchFamily="50" charset="-128"/>
                <a:ea typeface="メイリオ" panose="020B0604030504040204" pitchFamily="50" charset="-128"/>
              </a:rPr>
              <a:t>未来は僕らの手の中</a:t>
            </a:r>
            <a:endParaRPr lang="en-US" altLang="ja-JP" sz="6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028583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2050" name="Picture 2" descr="ブルーハーツ 87年ロック五輪「未来は僕らの手の中 Future I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37374"/>
            <a:ext cx="12283126" cy="9212347"/>
          </a:xfrm>
          <a:prstGeom prst="rect">
            <a:avLst/>
          </a:prstGeom>
          <a:noFill/>
          <a:extLst>
            <a:ext uri="{909E8E84-426E-40DD-AFC4-6F175D3DCCD1}">
              <a14:hiddenFill xmlns:a14="http://schemas.microsoft.com/office/drawing/2010/main">
                <a:solidFill>
                  <a:srgbClr val="FFFFFF"/>
                </a:solidFill>
              </a14:hiddenFill>
            </a:ext>
          </a:extLst>
        </p:spPr>
      </p:pic>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14</a:t>
            </a:fld>
            <a:endParaRPr lang="ja-JP" altLang="en-US">
              <a:uFillTx/>
            </a:endParaRPr>
          </a:p>
        </p:txBody>
      </p:sp>
      <p:sp>
        <p:nvSpPr>
          <p:cNvPr id="2" name="フッター プレースホルダー 1"/>
          <p:cNvSpPr>
            <a:spLocks noGrp="1"/>
          </p:cNvSpPr>
          <p:nvPr>
            <p:ph type="ftr" idx="11"/>
          </p:nvPr>
        </p:nvSpPr>
        <p:spPr/>
        <p:txBody>
          <a:bodyPr/>
          <a:lstStyle/>
          <a:p>
            <a:r>
              <a:rPr lang="en-US"/>
              <a:t>©2022 LINE</a:t>
            </a:r>
          </a:p>
        </p:txBody>
      </p:sp>
      <p:sp>
        <p:nvSpPr>
          <p:cNvPr id="5" name="テキスト ボックス 4">
            <a:extLst>
              <a:ext uri="{FF2B5EF4-FFF2-40B4-BE49-F238E27FC236}">
                <a16:creationId xmlns:a16="http://schemas.microsoft.com/office/drawing/2014/main" id="{9A2C89D6-397C-A746-6AA3-679E0228197E}"/>
              </a:ext>
            </a:extLst>
          </p:cNvPr>
          <p:cNvSpPr txBox="1"/>
          <p:nvPr/>
        </p:nvSpPr>
        <p:spPr>
          <a:xfrm>
            <a:off x="568172" y="591860"/>
            <a:ext cx="3872559" cy="707886"/>
          </a:xfrm>
          <a:prstGeom prst="rect">
            <a:avLst/>
          </a:prstGeom>
          <a:noFill/>
        </p:spPr>
        <p:txBody>
          <a:bodyPr wrap="square" rtlCol="0" anchor="ctr">
            <a:spAutoFit/>
          </a:bodyPr>
          <a:lstStyle/>
          <a:p>
            <a:r>
              <a:rPr lang="en-US" altLang="ja-JP" sz="2000" b="1" dirty="0">
                <a:solidFill>
                  <a:schemeClr val="bg1"/>
                </a:solidFill>
                <a:latin typeface="メイリオ" panose="020B0604030504040204" pitchFamily="50" charset="-128"/>
                <a:ea typeface="メイリオ" panose="020B0604030504040204" pitchFamily="50" charset="-128"/>
              </a:rPr>
              <a:t>The Blue Hearts</a:t>
            </a:r>
          </a:p>
          <a:p>
            <a:r>
              <a:rPr lang="ja-JP" altLang="en-US" sz="2000" b="1" dirty="0">
                <a:solidFill>
                  <a:schemeClr val="bg1"/>
                </a:solidFill>
                <a:latin typeface="メイリオ" panose="020B0604030504040204" pitchFamily="50" charset="-128"/>
                <a:ea typeface="メイリオ" panose="020B0604030504040204" pitchFamily="50" charset="-128"/>
              </a:rPr>
              <a:t>未来は僕らの手の中</a:t>
            </a:r>
            <a:endParaRPr lang="en-US" altLang="ja-JP" sz="36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948811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組織開発のねらい</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15</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「成功循環」のグッド・サイクルを回したい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楕円 6"/>
          <p:cNvSpPr/>
          <p:nvPr/>
        </p:nvSpPr>
        <p:spPr>
          <a:xfrm>
            <a:off x="5379920" y="2448423"/>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関係の質</a:t>
            </a:r>
          </a:p>
        </p:txBody>
      </p:sp>
      <p:sp>
        <p:nvSpPr>
          <p:cNvPr id="9" name="楕円 8"/>
          <p:cNvSpPr/>
          <p:nvPr/>
        </p:nvSpPr>
        <p:spPr>
          <a:xfrm>
            <a:off x="7282743" y="3834296"/>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思考の質</a:t>
            </a:r>
          </a:p>
        </p:txBody>
      </p:sp>
      <p:sp>
        <p:nvSpPr>
          <p:cNvPr id="10" name="楕円 9"/>
          <p:cNvSpPr/>
          <p:nvPr/>
        </p:nvSpPr>
        <p:spPr>
          <a:xfrm>
            <a:off x="5379920" y="5294284"/>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行動の質</a:t>
            </a:r>
          </a:p>
        </p:txBody>
      </p:sp>
      <p:sp>
        <p:nvSpPr>
          <p:cNvPr id="12" name="楕円 11"/>
          <p:cNvSpPr/>
          <p:nvPr/>
        </p:nvSpPr>
        <p:spPr>
          <a:xfrm>
            <a:off x="3543655" y="3834296"/>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結果の質</a:t>
            </a:r>
          </a:p>
        </p:txBody>
      </p:sp>
      <p:sp>
        <p:nvSpPr>
          <p:cNvPr id="14" name="テキスト ボックス 13"/>
          <p:cNvSpPr txBox="1"/>
          <p:nvPr/>
        </p:nvSpPr>
        <p:spPr>
          <a:xfrm>
            <a:off x="1048048" y="1731042"/>
            <a:ext cx="8934152" cy="338554"/>
          </a:xfrm>
          <a:prstGeom prst="rect">
            <a:avLst/>
          </a:prstGeom>
          <a:noFill/>
        </p:spPr>
        <p:txBody>
          <a:bodyPr wrap="square" rtlCol="0">
            <a:spAutoFit/>
          </a:body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組織の成功循環モデル（ダニエル・キム）</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5" name="曲線コネクタ 14"/>
          <p:cNvCxnSpPr>
            <a:stCxn id="12" idx="0"/>
            <a:endCxn id="7" idx="2"/>
          </p:cNvCxnSpPr>
          <p:nvPr/>
        </p:nvCxnSpPr>
        <p:spPr>
          <a:xfrm rot="5400000" flipH="1" flipV="1">
            <a:off x="4350742" y="2805119"/>
            <a:ext cx="933868" cy="1124487"/>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8" name="曲線コネクタ 17"/>
          <p:cNvCxnSpPr>
            <a:stCxn id="7" idx="6"/>
            <a:endCxn id="9" idx="0"/>
          </p:cNvCxnSpPr>
          <p:nvPr/>
        </p:nvCxnSpPr>
        <p:spPr>
          <a:xfrm>
            <a:off x="6803475" y="2900428"/>
            <a:ext cx="1191046" cy="933868"/>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1" name="曲線コネクタ 20"/>
          <p:cNvCxnSpPr>
            <a:stCxn id="9" idx="4"/>
            <a:endCxn id="10" idx="6"/>
          </p:cNvCxnSpPr>
          <p:nvPr/>
        </p:nvCxnSpPr>
        <p:spPr>
          <a:xfrm rot="5400000">
            <a:off x="6895006" y="4646774"/>
            <a:ext cx="1007984" cy="1191046"/>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4" name="曲線コネクタ 23"/>
          <p:cNvCxnSpPr>
            <a:stCxn id="10" idx="2"/>
            <a:endCxn id="12" idx="4"/>
          </p:cNvCxnSpPr>
          <p:nvPr/>
        </p:nvCxnSpPr>
        <p:spPr>
          <a:xfrm rot="10800000">
            <a:off x="4255434" y="4738305"/>
            <a:ext cx="1124487" cy="1007984"/>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sp>
        <p:nvSpPr>
          <p:cNvPr id="31" name="テキスト ボックス 30"/>
          <p:cNvSpPr txBox="1"/>
          <p:nvPr/>
        </p:nvSpPr>
        <p:spPr>
          <a:xfrm>
            <a:off x="4403407" y="4163328"/>
            <a:ext cx="3538861"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グッド・サイクル</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テキスト ボックス 32"/>
          <p:cNvSpPr txBox="1"/>
          <p:nvPr/>
        </p:nvSpPr>
        <p:spPr>
          <a:xfrm>
            <a:off x="6933783" y="2363914"/>
            <a:ext cx="1988359" cy="523220"/>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①互いに尊重し一緒に</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　考えることができる</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4" name="テキスト ボックス 33"/>
          <p:cNvSpPr txBox="1"/>
          <p:nvPr/>
        </p:nvSpPr>
        <p:spPr>
          <a:xfrm>
            <a:off x="8706298" y="4050412"/>
            <a:ext cx="1988359" cy="523220"/>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②互いに気付きがある</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　面白いと感じる</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テキスト ボックス 34"/>
          <p:cNvSpPr txBox="1"/>
          <p:nvPr/>
        </p:nvSpPr>
        <p:spPr>
          <a:xfrm>
            <a:off x="7000340" y="5880184"/>
            <a:ext cx="1988359" cy="523220"/>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③自分で考え、</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　自発的に行動する</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1223687" y="4081190"/>
            <a:ext cx="2325808" cy="523220"/>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④成果が得られ、</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　さらに信頼関係が高まる</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4098" name="Picture 2" descr="成績アップ！"/>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2420" y="1487246"/>
            <a:ext cx="1753335" cy="1753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741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組織開発のねらい</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16</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バッド・サイクルは嫌だ・・・</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13"/>
          <p:cNvSpPr txBox="1"/>
          <p:nvPr/>
        </p:nvSpPr>
        <p:spPr>
          <a:xfrm>
            <a:off x="1048048" y="1731042"/>
            <a:ext cx="8934152" cy="338554"/>
          </a:xfrm>
          <a:prstGeom prst="rect">
            <a:avLst/>
          </a:prstGeom>
          <a:noFill/>
        </p:spPr>
        <p:txBody>
          <a:bodyPr wrap="square" rtlCol="0">
            <a:spAutoFit/>
          </a:body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組織の成功循環モデル（ダニエル・キム）</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楕円 36"/>
          <p:cNvSpPr/>
          <p:nvPr/>
        </p:nvSpPr>
        <p:spPr>
          <a:xfrm>
            <a:off x="5379920" y="2448423"/>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関係の質</a:t>
            </a:r>
          </a:p>
        </p:txBody>
      </p:sp>
      <p:sp>
        <p:nvSpPr>
          <p:cNvPr id="38" name="楕円 37"/>
          <p:cNvSpPr/>
          <p:nvPr/>
        </p:nvSpPr>
        <p:spPr>
          <a:xfrm>
            <a:off x="7282743" y="3834296"/>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思考の質</a:t>
            </a:r>
          </a:p>
        </p:txBody>
      </p:sp>
      <p:sp>
        <p:nvSpPr>
          <p:cNvPr id="39" name="楕円 38"/>
          <p:cNvSpPr/>
          <p:nvPr/>
        </p:nvSpPr>
        <p:spPr>
          <a:xfrm>
            <a:off x="5379920" y="5294284"/>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行動の質</a:t>
            </a:r>
          </a:p>
        </p:txBody>
      </p:sp>
      <p:sp>
        <p:nvSpPr>
          <p:cNvPr id="40" name="楕円 39"/>
          <p:cNvSpPr/>
          <p:nvPr/>
        </p:nvSpPr>
        <p:spPr>
          <a:xfrm>
            <a:off x="3543655" y="3834296"/>
            <a:ext cx="1423555" cy="90400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メイリオ" panose="020B0604030504040204" pitchFamily="50" charset="-128"/>
                <a:ea typeface="メイリオ" panose="020B0604030504040204" pitchFamily="50" charset="-128"/>
              </a:rPr>
              <a:t>結果の質</a:t>
            </a:r>
          </a:p>
        </p:txBody>
      </p:sp>
      <p:cxnSp>
        <p:nvCxnSpPr>
          <p:cNvPr id="41" name="曲線コネクタ 40"/>
          <p:cNvCxnSpPr>
            <a:stCxn id="40" idx="0"/>
            <a:endCxn id="37" idx="2"/>
          </p:cNvCxnSpPr>
          <p:nvPr/>
        </p:nvCxnSpPr>
        <p:spPr>
          <a:xfrm rot="5400000" flipH="1" flipV="1">
            <a:off x="4350742" y="2805119"/>
            <a:ext cx="933868" cy="1124487"/>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2" name="曲線コネクタ 41"/>
          <p:cNvCxnSpPr>
            <a:stCxn id="37" idx="6"/>
            <a:endCxn id="38" idx="0"/>
          </p:cNvCxnSpPr>
          <p:nvPr/>
        </p:nvCxnSpPr>
        <p:spPr>
          <a:xfrm>
            <a:off x="6803475" y="2900428"/>
            <a:ext cx="1191046" cy="933868"/>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3" name="曲線コネクタ 42"/>
          <p:cNvCxnSpPr>
            <a:stCxn id="38" idx="4"/>
            <a:endCxn id="39" idx="6"/>
          </p:cNvCxnSpPr>
          <p:nvPr/>
        </p:nvCxnSpPr>
        <p:spPr>
          <a:xfrm rot="5400000">
            <a:off x="6895006" y="4646774"/>
            <a:ext cx="1007984" cy="1191046"/>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4" name="曲線コネクタ 43"/>
          <p:cNvCxnSpPr>
            <a:stCxn id="39" idx="2"/>
            <a:endCxn id="40" idx="4"/>
          </p:cNvCxnSpPr>
          <p:nvPr/>
        </p:nvCxnSpPr>
        <p:spPr>
          <a:xfrm rot="10800000">
            <a:off x="4255434" y="4738305"/>
            <a:ext cx="1124487" cy="1007984"/>
          </a:xfrm>
          <a:prstGeom prst="curvedConnector2">
            <a:avLst/>
          </a:prstGeom>
          <a:ln>
            <a:solidFill>
              <a:schemeClr val="bg1">
                <a:lumMod val="50000"/>
              </a:schemeClr>
            </a:solidFill>
            <a:tailEnd type="arrow" w="lg" len="lg"/>
          </a:ln>
        </p:spPr>
        <p:style>
          <a:lnRef idx="1">
            <a:schemeClr val="accent1"/>
          </a:lnRef>
          <a:fillRef idx="0">
            <a:schemeClr val="accent1"/>
          </a:fillRef>
          <a:effectRef idx="0">
            <a:schemeClr val="accent1"/>
          </a:effectRef>
          <a:fontRef idx="minor">
            <a:schemeClr val="tx1"/>
          </a:fontRef>
        </p:style>
      </p:cxnSp>
      <p:sp>
        <p:nvSpPr>
          <p:cNvPr id="45" name="テキスト ボックス 44"/>
          <p:cNvSpPr txBox="1"/>
          <p:nvPr/>
        </p:nvSpPr>
        <p:spPr>
          <a:xfrm>
            <a:off x="4403407" y="4163328"/>
            <a:ext cx="3538861"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バッド・サイクル</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テキスト ボックス 45"/>
          <p:cNvSpPr txBox="1"/>
          <p:nvPr/>
        </p:nvSpPr>
        <p:spPr>
          <a:xfrm>
            <a:off x="6907657" y="2363914"/>
            <a:ext cx="2500503" cy="307777"/>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②対立、押し付け、命令</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テキスト ボックス 46"/>
          <p:cNvSpPr txBox="1"/>
          <p:nvPr/>
        </p:nvSpPr>
        <p:spPr>
          <a:xfrm>
            <a:off x="8706298" y="4050412"/>
            <a:ext cx="1988359" cy="523220"/>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③受け身で聞くだけ</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　面白くない</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8" name="テキスト ボックス 47"/>
          <p:cNvSpPr txBox="1"/>
          <p:nvPr/>
        </p:nvSpPr>
        <p:spPr>
          <a:xfrm>
            <a:off x="7000340" y="5880184"/>
            <a:ext cx="1988359" cy="307777"/>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④自発的に動かない</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テキスト ボックス 48"/>
          <p:cNvSpPr txBox="1"/>
          <p:nvPr/>
        </p:nvSpPr>
        <p:spPr>
          <a:xfrm>
            <a:off x="2077599" y="4178716"/>
            <a:ext cx="2325808" cy="307777"/>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①成果が出ない</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5122" name="Picture 2" descr="株価暴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1830" y="1415238"/>
            <a:ext cx="1897351" cy="1897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637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組織開発の効果</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17</a:t>
            </a:fld>
            <a:endParaRPr lang="ja-JP" altLang="en-US">
              <a:uFillTx/>
            </a:endParaRPr>
          </a:p>
        </p:txBody>
      </p:sp>
      <p:sp>
        <p:nvSpPr>
          <p:cNvPr id="11" name="テキスト ボックス 10"/>
          <p:cNvSpPr txBox="1"/>
          <p:nvPr/>
        </p:nvSpPr>
        <p:spPr>
          <a:xfrm>
            <a:off x="500134" y="980728"/>
            <a:ext cx="10648512"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組織が機能することで「＋」を生み出すことと、</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「－」をできるだけ小さくすることを狙う</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テキスト ボックス 7"/>
          <p:cNvSpPr txBox="1"/>
          <p:nvPr/>
        </p:nvSpPr>
        <p:spPr>
          <a:xfrm>
            <a:off x="1759494" y="2443567"/>
            <a:ext cx="2904826" cy="830997"/>
          </a:xfrm>
          <a:prstGeom prst="rect">
            <a:avLst/>
          </a:prstGeom>
          <a:noFill/>
        </p:spPr>
        <p:txBody>
          <a:bodyPr wrap="square" rtlCol="0">
            <a:spAutoFit/>
          </a:bodyPr>
          <a:lstStyle/>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プロセス・ゲイン「＋」</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テキスト ボックス 11"/>
          <p:cNvSpPr txBox="1"/>
          <p:nvPr/>
        </p:nvSpPr>
        <p:spPr>
          <a:xfrm>
            <a:off x="7158187" y="2443567"/>
            <a:ext cx="2904826" cy="830997"/>
          </a:xfrm>
          <a:prstGeom prst="rect">
            <a:avLst/>
          </a:prstGeom>
          <a:noFill/>
        </p:spPr>
        <p:txBody>
          <a:bodyPr wrap="square" rtlCol="0">
            <a:spAutoFit/>
          </a:bodyPr>
          <a:lstStyle/>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プロセス・ロス</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p:cNvSpPr txBox="1"/>
          <p:nvPr/>
        </p:nvSpPr>
        <p:spPr>
          <a:xfrm>
            <a:off x="6210887" y="3668538"/>
            <a:ext cx="4937759" cy="1323439"/>
          </a:xfrm>
          <a:prstGeom prst="rect">
            <a:avLst/>
          </a:prstGeom>
          <a:noFill/>
        </p:spPr>
        <p:txBody>
          <a:bodyPr wrap="square" rtlCol="0">
            <a:spAutoFit/>
          </a:bodyPr>
          <a:lstStyle/>
          <a:p>
            <a:pPr marL="342900" indent="-342900">
              <a:buFont typeface="Wingdings" panose="05000000000000000000" pitchFamily="2" charset="2"/>
              <a:buChar char="ü"/>
            </a:pP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複数人が集まる組織において生じる「損失」のこと</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marL="342900" indent="-342900">
              <a:buFont typeface="Wingdings" panose="05000000000000000000" pitchFamily="2" charset="2"/>
              <a:buChar char="ü"/>
            </a:pP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社会的手抜き</a:t>
            </a: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」が発生する</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marL="342900" indent="-342900">
              <a:buFont typeface="Wingdings" panose="05000000000000000000" pitchFamily="2" charset="2"/>
              <a:buChar char="ü"/>
            </a:pP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協調できない、したくない人</a:t>
            </a: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もいる</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12"/>
          <p:cNvSpPr txBox="1"/>
          <p:nvPr/>
        </p:nvSpPr>
        <p:spPr>
          <a:xfrm>
            <a:off x="987608" y="3668538"/>
            <a:ext cx="4604300" cy="1015663"/>
          </a:xfrm>
          <a:prstGeom prst="rect">
            <a:avLst/>
          </a:prstGeom>
          <a:noFill/>
        </p:spPr>
        <p:txBody>
          <a:bodyPr wrap="square" rtlCol="0">
            <a:spAutoFit/>
          </a:bodyPr>
          <a:lstStyle/>
          <a:p>
            <a:pPr marL="342900" indent="-342900">
              <a:buFont typeface="Wingdings" panose="05000000000000000000" pitchFamily="2" charset="2"/>
              <a:buChar char="ü"/>
            </a:pP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複数人が集まる組織において生じる「利益」のこと</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marL="342900" indent="-342900">
              <a:buFont typeface="Wingdings" panose="05000000000000000000" pitchFamily="2" charset="2"/>
              <a:buChar char="ü"/>
            </a:pP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相互支援や相乗効果</a:t>
            </a:r>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が発生する</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87025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社会的手抜き</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18</a:t>
            </a:fld>
            <a:endParaRPr lang="ja-JP" altLang="en-US">
              <a:uFillTx/>
            </a:endParaRPr>
          </a:p>
        </p:txBody>
      </p:sp>
      <p:sp>
        <p:nvSpPr>
          <p:cNvPr id="11" name="テキスト ボックス 10"/>
          <p:cNvSpPr txBox="1"/>
          <p:nvPr/>
        </p:nvSpPr>
        <p:spPr>
          <a:xfrm>
            <a:off x="500133" y="980728"/>
            <a:ext cx="10948155"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実際の生産性　＝　潜在的生産性　</a:t>
            </a:r>
            <a:r>
              <a:rPr lang="ja-JP" altLang="en-US" sz="2400" dirty="0" err="1">
                <a:latin typeface="メイリオ" panose="020B0604030504040204" pitchFamily="50" charset="-128"/>
                <a:ea typeface="メイリオ" panose="020B0604030504040204" pitchFamily="50" charset="-128"/>
                <a:cs typeface="メイリオ" panose="020B0604030504040204" pitchFamily="50" charset="-128"/>
              </a:rPr>
              <a:t>ー</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　欠損プロセスに起因するロス（損失）</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026" name="Picture 2" descr="フリー写真 綱引きをしている外国人の男性たち"/>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060" y="1802351"/>
            <a:ext cx="5121275" cy="3402803"/>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p:cNvSpPr txBox="1"/>
          <p:nvPr/>
        </p:nvSpPr>
        <p:spPr>
          <a:xfrm>
            <a:off x="647700" y="5565112"/>
            <a:ext cx="10972799"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綱を引くタイミングや方向の違い、さぼりたい気持ちなどによるロスが生じる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719547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組織開発が求められる背景</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19</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より加速する仕事の</a:t>
            </a: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「個業化」</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テキスト ボックス 7"/>
          <p:cNvSpPr txBox="1"/>
          <p:nvPr/>
        </p:nvSpPr>
        <p:spPr>
          <a:xfrm>
            <a:off x="1457624" y="1904652"/>
            <a:ext cx="1790402" cy="461665"/>
          </a:xfrm>
          <a:prstGeom prst="rect">
            <a:avLst/>
          </a:prstGeom>
          <a:noFill/>
        </p:spPr>
        <p:txBody>
          <a:bodyPr wrap="square" rtlCol="0">
            <a:spAutoFit/>
          </a:bodyPr>
          <a:lstStyle/>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成果主義</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p:nvPr/>
        </p:nvSpPr>
        <p:spPr>
          <a:xfrm>
            <a:off x="4967210" y="1904652"/>
            <a:ext cx="2243449" cy="461665"/>
          </a:xfrm>
          <a:prstGeom prst="rect">
            <a:avLst/>
          </a:prstGeom>
          <a:noFill/>
        </p:spPr>
        <p:txBody>
          <a:bodyPr wrap="square" rtlCol="0">
            <a:spAutoFit/>
          </a:bodyPr>
          <a:lstStyle/>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進む</a:t>
            </a:r>
            <a:r>
              <a:rPr lang="en-US" altLang="ja-JP" sz="2400" b="1" dirty="0">
                <a:latin typeface="メイリオ" panose="020B0604030504040204" pitchFamily="50" charset="-128"/>
                <a:ea typeface="メイリオ" panose="020B0604030504040204" pitchFamily="50" charset="-128"/>
                <a:cs typeface="メイリオ" panose="020B0604030504040204" pitchFamily="50" charset="-128"/>
              </a:rPr>
              <a:t>IT</a:t>
            </a: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化</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p:cNvSpPr txBox="1"/>
          <p:nvPr/>
        </p:nvSpPr>
        <p:spPr>
          <a:xfrm>
            <a:off x="8592311" y="1904652"/>
            <a:ext cx="2390775" cy="461665"/>
          </a:xfrm>
          <a:prstGeom prst="rect">
            <a:avLst/>
          </a:prstGeom>
          <a:noFill/>
        </p:spPr>
        <p:txBody>
          <a:bodyPr wrap="square" rtlCol="0">
            <a:spAutoFit/>
          </a:bodyPr>
          <a:lstStyle/>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多様な勤務形態</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テキスト ボックス 11"/>
          <p:cNvSpPr txBox="1"/>
          <p:nvPr/>
        </p:nvSpPr>
        <p:spPr>
          <a:xfrm>
            <a:off x="583250" y="2488089"/>
            <a:ext cx="3539150" cy="646331"/>
          </a:xfrm>
          <a:prstGeom prst="rect">
            <a:avLst/>
          </a:prstGeom>
          <a:noFill/>
        </p:spPr>
        <p:txBody>
          <a:bodyPr wrap="square" rtlCol="0">
            <a:spAutoFit/>
          </a:bodyPr>
          <a:lstStyle/>
          <a:p>
            <a:r>
              <a:rPr lang="ja-JP" altLang="en-US" sz="1800" dirty="0">
                <a:latin typeface="メイリオ" panose="020B0604030504040204" pitchFamily="50" charset="-128"/>
                <a:ea typeface="メイリオ" panose="020B0604030504040204" pitchFamily="50" charset="-128"/>
                <a:cs typeface="メイリオ" panose="020B0604030504040204" pitchFamily="50" charset="-128"/>
              </a:rPr>
              <a:t>「個」の成果が求められ、他者とは</a:t>
            </a:r>
            <a:r>
              <a:rPr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競争関係</a:t>
            </a:r>
            <a:r>
              <a:rPr lang="ja-JP" altLang="en-US" sz="1800" dirty="0">
                <a:latin typeface="メイリオ" panose="020B0604030504040204" pitchFamily="50" charset="-128"/>
                <a:ea typeface="メイリオ" panose="020B0604030504040204" pitchFamily="50" charset="-128"/>
                <a:cs typeface="メイリオ" panose="020B0604030504040204" pitchFamily="50" charset="-128"/>
              </a:rPr>
              <a:t>になりがち</a:t>
            </a:r>
            <a:endParaRPr lang="en-US" altLang="ja-JP" sz="1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12"/>
          <p:cNvSpPr txBox="1"/>
          <p:nvPr/>
        </p:nvSpPr>
        <p:spPr>
          <a:xfrm>
            <a:off x="4319359" y="2488089"/>
            <a:ext cx="3539150" cy="923330"/>
          </a:xfrm>
          <a:prstGeom prst="rect">
            <a:avLst/>
          </a:prstGeom>
          <a:noFill/>
        </p:spPr>
        <p:txBody>
          <a:bodyPr wrap="square" rtlCol="0">
            <a:spAutoFit/>
          </a:bodyPr>
          <a:lstStyle/>
          <a:p>
            <a:r>
              <a:rPr lang="ja-JP" altLang="en-US" sz="1800" dirty="0">
                <a:latin typeface="メイリオ" panose="020B0604030504040204" pitchFamily="50" charset="-128"/>
                <a:ea typeface="メイリオ" panose="020B0604030504040204" pitchFamily="50" charset="-128"/>
                <a:cs typeface="メイリオ" panose="020B0604030504040204" pitchFamily="50" charset="-128"/>
              </a:rPr>
              <a:t>実際の仕事はパソコンに向かっていることが多く、</a:t>
            </a:r>
            <a:r>
              <a:rPr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「個」での作業</a:t>
            </a:r>
            <a:r>
              <a:rPr lang="ja-JP" altLang="en-US" sz="1800" dirty="0">
                <a:latin typeface="メイリオ" panose="020B0604030504040204" pitchFamily="50" charset="-128"/>
                <a:ea typeface="メイリオ" panose="020B0604030504040204" pitchFamily="50" charset="-128"/>
                <a:cs typeface="メイリオ" panose="020B0604030504040204" pitchFamily="50" charset="-128"/>
              </a:rPr>
              <a:t>が大半を占める</a:t>
            </a:r>
            <a:endParaRPr lang="en-US" altLang="ja-JP" sz="1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13"/>
          <p:cNvSpPr txBox="1"/>
          <p:nvPr/>
        </p:nvSpPr>
        <p:spPr>
          <a:xfrm>
            <a:off x="8018123" y="2488089"/>
            <a:ext cx="3539150" cy="1200329"/>
          </a:xfrm>
          <a:prstGeom prst="rect">
            <a:avLst/>
          </a:prstGeom>
          <a:noFill/>
        </p:spPr>
        <p:txBody>
          <a:bodyPr wrap="square" rtlCol="0">
            <a:spAutoFit/>
          </a:bodyPr>
          <a:lstStyle/>
          <a:p>
            <a:r>
              <a:rPr lang="ja-JP" altLang="en-US" sz="1800" dirty="0">
                <a:latin typeface="メイリオ" panose="020B0604030504040204" pitchFamily="50" charset="-128"/>
                <a:ea typeface="メイリオ" panose="020B0604030504040204" pitchFamily="50" charset="-128"/>
                <a:cs typeface="メイリオ" panose="020B0604030504040204" pitchFamily="50" charset="-128"/>
              </a:rPr>
              <a:t>在宅勤務などの多様な働き方が認められ「個」の時間が増えた一方、他者との</a:t>
            </a:r>
            <a:r>
              <a:rPr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協業の在り方は変化が追いついていない</a:t>
            </a:r>
            <a:endParaRPr lang="en-US" altLang="ja-JP" sz="1800" b="1"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050" name="Picture 2" descr="ダッシュする人のピクトグラム"/>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750" y="3411419"/>
            <a:ext cx="2998150" cy="2998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ノマドワーク"/>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3014" y="3442833"/>
            <a:ext cx="2935321" cy="293532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デスクワーク"/>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1435" y="3508313"/>
            <a:ext cx="2827152" cy="2827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802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組織課題は論理的に解決できることばかりではない</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20</a:t>
            </a:fld>
            <a:endParaRPr lang="ja-JP" altLang="en-US">
              <a:uFillTx/>
            </a:endParaRPr>
          </a:p>
        </p:txBody>
      </p:sp>
      <p:sp>
        <p:nvSpPr>
          <p:cNvPr id="8" name="テキスト ボックス 7"/>
          <p:cNvSpPr txBox="1"/>
          <p:nvPr/>
        </p:nvSpPr>
        <p:spPr>
          <a:xfrm rot="21166244">
            <a:off x="5292383" y="1119227"/>
            <a:ext cx="1786679" cy="646331"/>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ミッションが</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示されていない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p:nvPr/>
        </p:nvSpPr>
        <p:spPr>
          <a:xfrm rot="20468118">
            <a:off x="9518516" y="2676494"/>
            <a:ext cx="1609947" cy="369332"/>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スキルが低い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p:cNvSpPr txBox="1"/>
          <p:nvPr/>
        </p:nvSpPr>
        <p:spPr>
          <a:xfrm rot="20468118">
            <a:off x="8568599" y="1428917"/>
            <a:ext cx="3224103"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ビジョン</a:t>
            </a: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が見えない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テキスト ボックス 11"/>
          <p:cNvSpPr txBox="1"/>
          <p:nvPr/>
        </p:nvSpPr>
        <p:spPr>
          <a:xfrm rot="462254">
            <a:off x="2334308" y="1721696"/>
            <a:ext cx="3244227" cy="646331"/>
          </a:xfrm>
          <a:prstGeom prst="rect">
            <a:avLst/>
          </a:prstGeom>
          <a:noFill/>
        </p:spPr>
        <p:txBody>
          <a:bodyPr wrap="square" rtlCol="0">
            <a:spAutoFit/>
          </a:bodyPr>
          <a:lstStyle/>
          <a:p>
            <a:pPr algn="ct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社員に</a:t>
            </a:r>
            <a:r>
              <a:rPr lang="ja-JP" altLang="en-US" sz="3600" b="1" dirty="0">
                <a:latin typeface="メイリオ" panose="020B0604030504040204" pitchFamily="50" charset="-128"/>
                <a:ea typeface="メイリオ" panose="020B0604030504040204" pitchFamily="50" charset="-128"/>
                <a:cs typeface="メイリオ" panose="020B0604030504040204" pitchFamily="50" charset="-128"/>
              </a:rPr>
              <a:t>主体性</a:t>
            </a: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がない</a:t>
            </a:r>
            <a:endParaRPr lang="en-US" altLang="ja-JP" sz="20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12"/>
          <p:cNvSpPr txBox="1"/>
          <p:nvPr/>
        </p:nvSpPr>
        <p:spPr>
          <a:xfrm rot="462254">
            <a:off x="1201158" y="4846637"/>
            <a:ext cx="4328713" cy="523220"/>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この組織ならではの</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カルチャー</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がない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13"/>
          <p:cNvSpPr txBox="1"/>
          <p:nvPr/>
        </p:nvSpPr>
        <p:spPr>
          <a:xfrm rot="301726">
            <a:off x="446241" y="2349075"/>
            <a:ext cx="5128446" cy="584775"/>
          </a:xfrm>
          <a:prstGeom prst="rect">
            <a:avLst/>
          </a:prstGeom>
          <a:noFill/>
        </p:spPr>
        <p:txBody>
          <a:bodyPr wrap="square" rtlCol="0">
            <a:spAutoFit/>
          </a:bodyPr>
          <a:lstStyle/>
          <a:p>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情報共有</a:t>
            </a: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がされていない</a:t>
            </a:r>
            <a:endParaRPr lang="en-US" altLang="ja-JP" sz="20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5" name="テキスト ボックス 14"/>
          <p:cNvSpPr txBox="1"/>
          <p:nvPr/>
        </p:nvSpPr>
        <p:spPr>
          <a:xfrm rot="462254">
            <a:off x="8839568" y="5089078"/>
            <a:ext cx="2967843"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なんとなく暗い</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5"/>
          <p:cNvSpPr txBox="1"/>
          <p:nvPr/>
        </p:nvSpPr>
        <p:spPr>
          <a:xfrm rot="20453582">
            <a:off x="5893759" y="4433497"/>
            <a:ext cx="2868700" cy="307777"/>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互いに理解しようとしていない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テキスト ボックス 16"/>
          <p:cNvSpPr txBox="1"/>
          <p:nvPr/>
        </p:nvSpPr>
        <p:spPr>
          <a:xfrm rot="521428">
            <a:off x="5413497" y="5664175"/>
            <a:ext cx="1634259" cy="646331"/>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人を育てる仕組みがない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テキスト ボックス 17"/>
          <p:cNvSpPr txBox="1"/>
          <p:nvPr/>
        </p:nvSpPr>
        <p:spPr>
          <a:xfrm rot="462254">
            <a:off x="448199" y="5653251"/>
            <a:ext cx="5884554" cy="523220"/>
          </a:xfrm>
          <a:prstGeom prst="rect">
            <a:avLst/>
          </a:prstGeom>
          <a:noFill/>
        </p:spPr>
        <p:txBody>
          <a:bodyPr wrap="square" rtlCol="0">
            <a:spAutoFit/>
          </a:bodyPr>
          <a:lstStyle/>
          <a:p>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個人の</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価値観</a:t>
            </a: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が大切にされない！</a:t>
            </a:r>
            <a:endParaRPr lang="en-US" altLang="ja-JP" sz="20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9" name="テキスト ボックス 18"/>
          <p:cNvSpPr txBox="1"/>
          <p:nvPr/>
        </p:nvSpPr>
        <p:spPr>
          <a:xfrm rot="397385">
            <a:off x="5794222" y="2273185"/>
            <a:ext cx="2636810" cy="800219"/>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そもそもミッションに対する</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納得感</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がうすい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テキスト ボックス 19"/>
          <p:cNvSpPr txBox="1"/>
          <p:nvPr/>
        </p:nvSpPr>
        <p:spPr>
          <a:xfrm>
            <a:off x="2815892" y="3710050"/>
            <a:ext cx="4680283" cy="830997"/>
          </a:xfrm>
          <a:prstGeom prst="rect">
            <a:avLst/>
          </a:prstGeom>
          <a:noFill/>
        </p:spPr>
        <p:txBody>
          <a:bodyPr wrap="square" rtlCol="0">
            <a:spAutoFit/>
          </a:bodyPr>
          <a:lstStyle/>
          <a:p>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組織が</a:t>
            </a:r>
            <a:r>
              <a:rPr lang="ja-JP" altLang="en-US" sz="4800" b="1" dirty="0">
                <a:latin typeface="メイリオ" panose="020B0604030504040204" pitchFamily="50" charset="-128"/>
                <a:ea typeface="メイリオ" panose="020B0604030504040204" pitchFamily="50" charset="-128"/>
                <a:cs typeface="メイリオ" panose="020B0604030504040204" pitchFamily="50" charset="-128"/>
              </a:rPr>
              <a:t>蛸壺化</a:t>
            </a: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している</a:t>
            </a:r>
            <a:endParaRPr lang="en-US" altLang="ja-JP" sz="20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1" name="テキスト ボックス 20"/>
          <p:cNvSpPr txBox="1"/>
          <p:nvPr/>
        </p:nvSpPr>
        <p:spPr>
          <a:xfrm rot="462254">
            <a:off x="211160" y="3295514"/>
            <a:ext cx="3235040"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モチベーション</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が低い</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2" name="テキスト ボックス 21"/>
          <p:cNvSpPr txBox="1"/>
          <p:nvPr/>
        </p:nvSpPr>
        <p:spPr>
          <a:xfrm>
            <a:off x="7374734" y="5579087"/>
            <a:ext cx="2147545" cy="646331"/>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人がどんどん</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辞めていく・・・</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テキスト ボックス 22"/>
          <p:cNvSpPr txBox="1"/>
          <p:nvPr/>
        </p:nvSpPr>
        <p:spPr>
          <a:xfrm rot="299187">
            <a:off x="8167429" y="3559053"/>
            <a:ext cx="3486436" cy="584775"/>
          </a:xfrm>
          <a:prstGeom prst="rect">
            <a:avLst/>
          </a:prstGeom>
          <a:noFill/>
        </p:spPr>
        <p:txBody>
          <a:bodyPr wrap="square" rtlCol="0">
            <a:spAutoFit/>
          </a:bodyPr>
          <a:lstStyle/>
          <a:p>
            <a:r>
              <a:rPr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戦略に</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rPr>
              <a:t>腹落ち</a:t>
            </a:r>
            <a:r>
              <a:rPr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できない</a:t>
            </a:r>
            <a:endParaRPr lang="en-US" altLang="ja-JP" sz="1800" b="1"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739484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en-US" altLang="ja-JP" sz="2800" b="1" dirty="0">
                <a:latin typeface="Meiryo" charset="-128"/>
                <a:ea typeface="Meiryo" charset="-128"/>
                <a:cs typeface="Meiryo" charset="-128"/>
              </a:rPr>
              <a:t>1on1</a:t>
            </a:r>
            <a:r>
              <a:rPr lang="ja-JP" altLang="en-US" sz="2800" b="1" dirty="0">
                <a:latin typeface="Meiryo" charset="-128"/>
                <a:ea typeface="Meiryo" charset="-128"/>
                <a:cs typeface="Meiryo" charset="-128"/>
              </a:rPr>
              <a:t>の次の武器、組織開発</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21</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1on1</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は万能ではない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円形吹き出し 25"/>
          <p:cNvSpPr/>
          <p:nvPr/>
        </p:nvSpPr>
        <p:spPr>
          <a:xfrm>
            <a:off x="486577" y="2409765"/>
            <a:ext cx="2480632" cy="1248975"/>
          </a:xfrm>
          <a:prstGeom prst="wedgeEllipseCallout">
            <a:avLst>
              <a:gd name="adj1" fmla="val 62982"/>
              <a:gd name="adj2" fmla="val 25077"/>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えっ</a:t>
            </a:r>
            <a:r>
              <a:rPr kumimoji="1" lang="ja-JP" altLang="en-US" sz="2000" b="1" dirty="0" err="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30</a:t>
            </a:r>
            <a:r>
              <a:rPr lang="ja-JP" altLang="en-US"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人と</a:t>
            </a:r>
            <a:r>
              <a:rPr lang="en-US" altLang="ja-JP"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1on1</a:t>
            </a:r>
          </a:p>
          <a:p>
            <a:pPr algn="ctr"/>
            <a:r>
              <a:rPr lang="ja-JP" altLang="en-US"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するの！？</a:t>
            </a:r>
            <a:endParaRPr kumimoji="1" lang="ja-JP" altLang="en-US" sz="2000"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7" name="図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3995" y="2823409"/>
            <a:ext cx="2465243" cy="2465243"/>
          </a:xfrm>
          <a:prstGeom prst="rect">
            <a:avLst/>
          </a:prstGeom>
        </p:spPr>
      </p:pic>
      <p:pic>
        <p:nvPicPr>
          <p:cNvPr id="7170"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0569" y="1544604"/>
            <a:ext cx="604698" cy="60469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69264" y="1247231"/>
            <a:ext cx="594746" cy="594746"/>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8007" y="1611807"/>
            <a:ext cx="628297" cy="62829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3875" y="3916149"/>
            <a:ext cx="590523" cy="59052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4642" y="2616679"/>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6114" y="3393742"/>
            <a:ext cx="613568" cy="61356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6261" y="2896676"/>
            <a:ext cx="590523" cy="59052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6114" y="2362795"/>
            <a:ext cx="604698" cy="60469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3734" y="2029015"/>
            <a:ext cx="604698" cy="6046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0285" y="3627672"/>
            <a:ext cx="628297" cy="62829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3875" y="4847187"/>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1052" y="4311587"/>
            <a:ext cx="613568" cy="61356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0569" y="4589255"/>
            <a:ext cx="590523" cy="59052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5369" y="5110038"/>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4985" y="5472006"/>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668" y="5756819"/>
            <a:ext cx="613568" cy="61356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9149" y="1471750"/>
            <a:ext cx="604698" cy="60469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67844" y="1174377"/>
            <a:ext cx="594746" cy="594746"/>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6587" y="1538953"/>
            <a:ext cx="628297" cy="62829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2455" y="3843295"/>
            <a:ext cx="590523" cy="59052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93222" y="2543825"/>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44694" y="3320888"/>
            <a:ext cx="613568" cy="613568"/>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4841" y="2823822"/>
            <a:ext cx="590523" cy="59052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4694" y="2289941"/>
            <a:ext cx="604698" cy="60469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2314" y="1956161"/>
            <a:ext cx="604698" cy="60469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78865" y="3554818"/>
            <a:ext cx="628297" cy="62829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2455" y="4774333"/>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09632" y="4238733"/>
            <a:ext cx="613568" cy="61356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議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9149" y="4516401"/>
            <a:ext cx="590523" cy="59052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3949" y="5037184"/>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議論"/>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63565" y="5399152"/>
            <a:ext cx="580803" cy="58080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6" descr="議論"/>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55248" y="5683965"/>
            <a:ext cx="613568" cy="61356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コネクタ 7"/>
          <p:cNvCxnSpPr/>
          <p:nvPr/>
        </p:nvCxnSpPr>
        <p:spPr>
          <a:xfrm flipV="1">
            <a:off x="4311216" y="2067451"/>
            <a:ext cx="1158796" cy="79173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線コネクタ 54"/>
          <p:cNvCxnSpPr/>
          <p:nvPr/>
        </p:nvCxnSpPr>
        <p:spPr>
          <a:xfrm>
            <a:off x="4367080" y="3554819"/>
            <a:ext cx="983499" cy="125684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3232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en-US" altLang="ja-JP" sz="2800" b="1" dirty="0">
                <a:latin typeface="Meiryo" charset="-128"/>
                <a:ea typeface="Meiryo" charset="-128"/>
                <a:cs typeface="Meiryo" charset="-128"/>
              </a:rPr>
              <a:t>1on1</a:t>
            </a:r>
            <a:r>
              <a:rPr lang="ja-JP" altLang="en-US" sz="2800" b="1" dirty="0">
                <a:latin typeface="Meiryo" charset="-128"/>
                <a:ea typeface="Meiryo" charset="-128"/>
                <a:cs typeface="Meiryo" charset="-128"/>
              </a:rPr>
              <a:t>の次の武器、組織開発</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22</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1on1</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で個の力を伸ばす（人材開発）</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6" name="図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17" name="図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18" name="図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19" name="図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20" name="図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28" name="図 2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29" name="図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30" name="図 2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31" name="図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32" name="直線コネクタ 31"/>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a:stCxn id="17"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a:stCxn id="17"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a:stCxn id="17" idx="2"/>
            <a:endCxn id="30"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a:stCxn id="18" idx="2"/>
            <a:endCxn id="20"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a:stCxn id="18"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a:stCxn id="18" idx="2"/>
            <a:endCxn id="31"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53" name="テキスト ボックス 52"/>
          <p:cNvSpPr txBox="1"/>
          <p:nvPr/>
        </p:nvSpPr>
        <p:spPr>
          <a:xfrm>
            <a:off x="1350361" y="3284478"/>
            <a:ext cx="3801103" cy="584775"/>
          </a:xfrm>
          <a:prstGeom prst="rect">
            <a:avLst/>
          </a:prstGeom>
          <a:noFill/>
        </p:spPr>
        <p:txBody>
          <a:bodyPr wrap="square" rtlCol="0">
            <a:spAutoFit/>
          </a:bodyPr>
          <a:lstStyle/>
          <a:p>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上司</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部下間での</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情報伝達・報告が行われる</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76485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en-US" altLang="ja-JP" sz="2800" b="1" dirty="0">
                <a:latin typeface="Meiryo" charset="-128"/>
                <a:ea typeface="Meiryo" charset="-128"/>
                <a:cs typeface="Meiryo" charset="-128"/>
              </a:rPr>
              <a:t>1on1</a:t>
            </a:r>
            <a:r>
              <a:rPr lang="ja-JP" altLang="en-US" sz="2800" b="1" dirty="0">
                <a:latin typeface="Meiryo" charset="-128"/>
                <a:ea typeface="Meiryo" charset="-128"/>
                <a:cs typeface="Meiryo" charset="-128"/>
              </a:rPr>
              <a:t>の次の武器、組織開発</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23</a:t>
            </a:fld>
            <a:endParaRPr lang="ja-JP" altLang="en-US">
              <a:uFillTx/>
            </a:endParaRPr>
          </a:p>
        </p:txBody>
      </p:sp>
      <p:sp>
        <p:nvSpPr>
          <p:cNvPr id="11" name="テキスト ボックス 10"/>
          <p:cNvSpPr txBox="1"/>
          <p:nvPr/>
        </p:nvSpPr>
        <p:spPr>
          <a:xfrm>
            <a:off x="500134" y="980728"/>
            <a:ext cx="9710666"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マネージャー間、メンバー間、ナナメでコミュニケーションを作る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6" name="図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17" name="図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18" name="図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19" name="図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20" name="図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28" name="図 2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29" name="図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30" name="図 2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31" name="図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32" name="直線コネクタ 31"/>
          <p:cNvCxnSpPr/>
          <p:nvPr/>
        </p:nvCxnSpPr>
        <p:spPr>
          <a:xfrm flipH="1">
            <a:off x="5553997" y="2877048"/>
            <a:ext cx="206890" cy="373992"/>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a:stCxn id="17" idx="2"/>
          </p:cNvCxnSpPr>
          <p:nvPr/>
        </p:nvCxnSpPr>
        <p:spPr>
          <a:xfrm flipH="1">
            <a:off x="4144583" y="4467542"/>
            <a:ext cx="966115" cy="305359"/>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a:stCxn id="17" idx="2"/>
          </p:cNvCxnSpPr>
          <p:nvPr/>
        </p:nvCxnSpPr>
        <p:spPr>
          <a:xfrm flipH="1">
            <a:off x="4925491" y="4467542"/>
            <a:ext cx="185207" cy="360195"/>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a:stCxn id="17" idx="2"/>
            <a:endCxn id="30" idx="0"/>
          </p:cNvCxnSpPr>
          <p:nvPr/>
        </p:nvCxnSpPr>
        <p:spPr>
          <a:xfrm>
            <a:off x="5110698" y="4467542"/>
            <a:ext cx="547572" cy="325437"/>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6470877" y="2772803"/>
            <a:ext cx="336771" cy="52788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a:stCxn id="18" idx="2"/>
            <a:endCxn id="20" idx="0"/>
          </p:cNvCxnSpPr>
          <p:nvPr/>
        </p:nvCxnSpPr>
        <p:spPr>
          <a:xfrm>
            <a:off x="7162997" y="4582293"/>
            <a:ext cx="1371933" cy="183408"/>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a:stCxn id="18" idx="2"/>
          </p:cNvCxnSpPr>
          <p:nvPr/>
        </p:nvCxnSpPr>
        <p:spPr>
          <a:xfrm>
            <a:off x="7162997" y="4582293"/>
            <a:ext cx="141643" cy="17137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a:stCxn id="18" idx="2"/>
            <a:endCxn id="31" idx="0"/>
          </p:cNvCxnSpPr>
          <p:nvPr/>
        </p:nvCxnSpPr>
        <p:spPr>
          <a:xfrm flipH="1">
            <a:off x="6744579" y="4582293"/>
            <a:ext cx="418418" cy="215672"/>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1224887" y="3064044"/>
            <a:ext cx="2772239" cy="584775"/>
          </a:xfrm>
          <a:prstGeom prst="rect">
            <a:avLst/>
          </a:prstGeom>
          <a:noFill/>
        </p:spPr>
        <p:txBody>
          <a:bodyPr wrap="square" rtlCol="0">
            <a:spAutoFit/>
          </a:bodyPr>
          <a:lstStyle/>
          <a:p>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メンバー間で情報共有・</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サポート・相談がされる</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テキスト ボックス 40"/>
          <p:cNvSpPr txBox="1"/>
          <p:nvPr/>
        </p:nvSpPr>
        <p:spPr>
          <a:xfrm>
            <a:off x="1224887" y="3708965"/>
            <a:ext cx="2772239" cy="584775"/>
          </a:xfrm>
          <a:prstGeom prst="rect">
            <a:avLst/>
          </a:prstGeom>
          <a:noFill/>
        </p:spPr>
        <p:txBody>
          <a:bodyPr wrap="square" rtlCol="0">
            <a:spAutoFit/>
          </a:bodyPr>
          <a:lstStyle/>
          <a:p>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仕事の負担が偏った場合に互いに補完するようになる</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8414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en-US" altLang="ja-JP" sz="2800" b="1" dirty="0">
                <a:latin typeface="Meiryo" charset="-128"/>
                <a:ea typeface="Meiryo" charset="-128"/>
                <a:cs typeface="Meiryo" charset="-128"/>
              </a:rPr>
              <a:t>1on1</a:t>
            </a:r>
            <a:r>
              <a:rPr lang="ja-JP" altLang="en-US" sz="2800" b="1" dirty="0">
                <a:latin typeface="Meiryo" charset="-128"/>
                <a:ea typeface="Meiryo" charset="-128"/>
                <a:cs typeface="Meiryo" charset="-128"/>
              </a:rPr>
              <a:t>の次の武器、組織開発</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24</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組織開発により組織が成果を出す力を最大化したい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6" name="図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17" name="図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18" name="図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19" name="図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20" name="図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28" name="図 2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29" name="図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30" name="図 2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31" name="図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32" name="直線コネクタ 31"/>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a:stCxn id="17"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a:stCxn id="17"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a:stCxn id="17" idx="2"/>
            <a:endCxn id="30"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a:stCxn id="18" idx="2"/>
            <a:endCxn id="20"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a:stCxn id="18"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a:stCxn id="18" idx="2"/>
            <a:endCxn id="31"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 name="楕円 6"/>
          <p:cNvSpPr/>
          <p:nvPr/>
        </p:nvSpPr>
        <p:spPr>
          <a:xfrm>
            <a:off x="2728041" y="1811725"/>
            <a:ext cx="6991350" cy="462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p:cNvSpPr txBox="1"/>
          <p:nvPr/>
        </p:nvSpPr>
        <p:spPr>
          <a:xfrm>
            <a:off x="2550046" y="1514966"/>
            <a:ext cx="3108224" cy="338554"/>
          </a:xfrm>
          <a:prstGeom prst="rect">
            <a:avLst/>
          </a:prstGeom>
          <a:noFill/>
        </p:spPr>
        <p:txBody>
          <a:bodyPr wrap="square" rtlCol="0">
            <a:spAutoFit/>
          </a:body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グループの成果の最大化</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908220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en-US" altLang="ja-JP" sz="2800" b="1" dirty="0">
                <a:latin typeface="Meiryo" charset="-128"/>
                <a:ea typeface="Meiryo" charset="-128"/>
                <a:cs typeface="Meiryo" charset="-128"/>
              </a:rPr>
              <a:t>1on1</a:t>
            </a:r>
            <a:r>
              <a:rPr lang="ja-JP" altLang="en-US" sz="2800" b="1" dirty="0">
                <a:latin typeface="Meiryo" charset="-128"/>
                <a:ea typeface="Meiryo" charset="-128"/>
                <a:cs typeface="Meiryo" charset="-128"/>
              </a:rPr>
              <a:t>の次の武器、組織開発</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25</a:t>
            </a:fld>
            <a:endParaRPr lang="ja-JP" altLang="en-US">
              <a:uFillTx/>
            </a:endParaRPr>
          </a:p>
        </p:txBody>
      </p:sp>
      <p:grpSp>
        <p:nvGrpSpPr>
          <p:cNvPr id="8" name="グループ化 7"/>
          <p:cNvGrpSpPr/>
          <p:nvPr/>
        </p:nvGrpSpPr>
        <p:grpSpPr>
          <a:xfrm>
            <a:off x="661116" y="2219325"/>
            <a:ext cx="5130084" cy="3562350"/>
            <a:chOff x="2728041" y="1684243"/>
            <a:chExt cx="6991350" cy="4754657"/>
          </a:xfrm>
        </p:grpSpPr>
        <p:pic>
          <p:nvPicPr>
            <p:cNvPr id="16" name="図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17" name="図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18" name="図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19" name="図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20" name="図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28" name="図 2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29" name="図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30" name="図 2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31" name="図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32" name="直線コネクタ 31"/>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a:stCxn id="17"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a:stCxn id="17"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a:stCxn id="17" idx="2"/>
              <a:endCxn id="30"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a:stCxn id="18" idx="2"/>
              <a:endCxn id="20"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a:stCxn id="18"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a:stCxn id="18" idx="2"/>
              <a:endCxn id="31"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 name="楕円 6"/>
            <p:cNvSpPr/>
            <p:nvPr/>
          </p:nvSpPr>
          <p:spPr>
            <a:xfrm>
              <a:off x="2728041" y="1811725"/>
              <a:ext cx="6991350" cy="462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0" name="グループ化 39"/>
          <p:cNvGrpSpPr/>
          <p:nvPr/>
        </p:nvGrpSpPr>
        <p:grpSpPr>
          <a:xfrm>
            <a:off x="6613612" y="2219325"/>
            <a:ext cx="5130084" cy="3562350"/>
            <a:chOff x="2728041" y="1684243"/>
            <a:chExt cx="6991350" cy="4754657"/>
          </a:xfrm>
        </p:grpSpPr>
        <p:pic>
          <p:nvPicPr>
            <p:cNvPr id="41" name="図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42" name="図 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43" name="図 4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44" name="図 4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45" name="図 4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53" name="図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54" name="図 5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55" name="図 5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56" name="図 5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57" name="直線コネクタ 56"/>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a:stCxn id="42"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a:stCxn id="42"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p:cNvCxnSpPr>
              <a:stCxn id="42" idx="2"/>
              <a:endCxn id="55"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a:stCxn id="43" idx="2"/>
              <a:endCxn id="45"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p:cNvCxnSpPr>
              <a:stCxn id="43"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a:stCxn id="43" idx="2"/>
              <a:endCxn id="56"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線コネクタ 64"/>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66" name="直線コネクタ 65"/>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2" name="楕円 71"/>
            <p:cNvSpPr/>
            <p:nvPr/>
          </p:nvSpPr>
          <p:spPr>
            <a:xfrm>
              <a:off x="2728041" y="1811725"/>
              <a:ext cx="6991350" cy="462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左右矢印 8"/>
          <p:cNvSpPr/>
          <p:nvPr/>
        </p:nvSpPr>
        <p:spPr>
          <a:xfrm>
            <a:off x="5949993" y="3933980"/>
            <a:ext cx="504825" cy="300115"/>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さらに言えば、グループ間の成果を最大化したい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342473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en-US" altLang="ja-JP" sz="2800" b="1" dirty="0">
                <a:latin typeface="Meiryo" charset="-128"/>
                <a:ea typeface="Meiryo" charset="-128"/>
                <a:cs typeface="Meiryo" charset="-128"/>
              </a:rPr>
              <a:t>1on1</a:t>
            </a:r>
            <a:r>
              <a:rPr lang="ja-JP" altLang="en-US" sz="2800" b="1" dirty="0">
                <a:latin typeface="Meiryo" charset="-128"/>
                <a:ea typeface="Meiryo" charset="-128"/>
                <a:cs typeface="Meiryo" charset="-128"/>
              </a:rPr>
              <a:t>の次の武器、組織開発</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26</a:t>
            </a:fld>
            <a:endParaRPr lang="ja-JP" altLang="en-US">
              <a:uFillTx/>
            </a:endParaRPr>
          </a:p>
        </p:txBody>
      </p:sp>
      <p:sp>
        <p:nvSpPr>
          <p:cNvPr id="11" name="テキスト ボックス 10"/>
          <p:cNvSpPr txBox="1"/>
          <p:nvPr/>
        </p:nvSpPr>
        <p:spPr>
          <a:xfrm>
            <a:off x="500134" y="980728"/>
            <a:ext cx="9716528"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もっと、さらに言えば、組織（会社）全体の成果を最大化したい！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左右矢印 8"/>
          <p:cNvSpPr/>
          <p:nvPr/>
        </p:nvSpPr>
        <p:spPr>
          <a:xfrm>
            <a:off x="5923894" y="2923318"/>
            <a:ext cx="504825" cy="300115"/>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 name="左右矢印 176"/>
          <p:cNvSpPr/>
          <p:nvPr/>
        </p:nvSpPr>
        <p:spPr>
          <a:xfrm>
            <a:off x="5878596" y="5265515"/>
            <a:ext cx="504825" cy="300115"/>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8" name="左右矢印 177"/>
          <p:cNvSpPr/>
          <p:nvPr/>
        </p:nvSpPr>
        <p:spPr>
          <a:xfrm rot="5400000">
            <a:off x="3601970" y="4113183"/>
            <a:ext cx="504825" cy="300115"/>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9" name="左右矢印 178"/>
          <p:cNvSpPr/>
          <p:nvPr/>
        </p:nvSpPr>
        <p:spPr>
          <a:xfrm rot="5400000">
            <a:off x="8124794" y="4095701"/>
            <a:ext cx="504825" cy="300115"/>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左右矢印 179"/>
          <p:cNvSpPr/>
          <p:nvPr/>
        </p:nvSpPr>
        <p:spPr>
          <a:xfrm rot="2126816">
            <a:off x="5380716" y="4145656"/>
            <a:ext cx="1280993" cy="300115"/>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左右矢印 180"/>
          <p:cNvSpPr/>
          <p:nvPr/>
        </p:nvSpPr>
        <p:spPr>
          <a:xfrm rot="8708869">
            <a:off x="5409989" y="4145655"/>
            <a:ext cx="1280993" cy="300115"/>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p:cNvSpPr/>
          <p:nvPr/>
        </p:nvSpPr>
        <p:spPr>
          <a:xfrm>
            <a:off x="1980543" y="1811725"/>
            <a:ext cx="8391525" cy="4731950"/>
          </a:xfrm>
          <a:prstGeom prst="roundRect">
            <a:avLst>
              <a:gd name="adj" fmla="val 640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2" name="グループ化 181"/>
          <p:cNvGrpSpPr/>
          <p:nvPr/>
        </p:nvGrpSpPr>
        <p:grpSpPr>
          <a:xfrm>
            <a:off x="2267469" y="1921446"/>
            <a:ext cx="3212706" cy="1979662"/>
            <a:chOff x="2728041" y="1684243"/>
            <a:chExt cx="6991350" cy="4754657"/>
          </a:xfrm>
        </p:grpSpPr>
        <p:pic>
          <p:nvPicPr>
            <p:cNvPr id="183" name="図 1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184" name="図 18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185" name="図 18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186" name="図 18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187" name="図 18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188" name="図 18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189" name="図 18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190" name="図 18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191" name="図 19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192" name="直線コネクタ 191"/>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3" name="直線コネクタ 192"/>
            <p:cNvCxnSpPr>
              <a:stCxn id="184"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4" name="直線コネクタ 193"/>
            <p:cNvCxnSpPr>
              <a:stCxn id="184"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5" name="直線コネクタ 194"/>
            <p:cNvCxnSpPr>
              <a:stCxn id="184" idx="2"/>
              <a:endCxn id="190"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6" name="直線コネクタ 195"/>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直線コネクタ 196"/>
            <p:cNvCxnSpPr>
              <a:stCxn id="185" idx="2"/>
              <a:endCxn id="187"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8" name="直線コネクタ 197"/>
            <p:cNvCxnSpPr>
              <a:stCxn id="185"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a:stCxn id="185" idx="2"/>
              <a:endCxn id="191"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1" name="直線コネクタ 200"/>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2" name="直線コネクタ 201"/>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06" name="直線コネクタ 205"/>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07" name="楕円 206"/>
            <p:cNvSpPr/>
            <p:nvPr/>
          </p:nvSpPr>
          <p:spPr>
            <a:xfrm>
              <a:off x="2728041" y="1811725"/>
              <a:ext cx="6991350" cy="462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8" name="グループ化 207"/>
          <p:cNvGrpSpPr/>
          <p:nvPr/>
        </p:nvGrpSpPr>
        <p:grpSpPr>
          <a:xfrm>
            <a:off x="6804605" y="1921446"/>
            <a:ext cx="3212706" cy="1979662"/>
            <a:chOff x="2728041" y="1684243"/>
            <a:chExt cx="6991350" cy="4754657"/>
          </a:xfrm>
        </p:grpSpPr>
        <p:pic>
          <p:nvPicPr>
            <p:cNvPr id="209" name="図 20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210" name="図 20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211" name="図 2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212" name="図 2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213" name="図 2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214" name="図 2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215" name="図 2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216" name="図 2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217" name="図 2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218" name="直線コネクタ 217"/>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9" name="直線コネクタ 218"/>
            <p:cNvCxnSpPr>
              <a:stCxn id="210"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直線コネクタ 219"/>
            <p:cNvCxnSpPr>
              <a:stCxn id="210"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1" name="直線コネクタ 220"/>
            <p:cNvCxnSpPr>
              <a:stCxn id="210" idx="2"/>
              <a:endCxn id="216"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2" name="直線コネクタ 221"/>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3" name="直線コネクタ 222"/>
            <p:cNvCxnSpPr>
              <a:stCxn id="211" idx="2"/>
              <a:endCxn id="213"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4" name="直線コネクタ 223"/>
            <p:cNvCxnSpPr>
              <a:stCxn id="211"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p:cNvCxnSpPr>
              <a:stCxn id="211" idx="2"/>
              <a:endCxn id="217"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6" name="直線コネクタ 225"/>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27" name="直線コネクタ 226"/>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28" name="直線コネクタ 227"/>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29" name="直線コネクタ 228"/>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30" name="直線コネクタ 229"/>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31" name="直線コネクタ 230"/>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32" name="直線コネクタ 231"/>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33" name="楕円 232"/>
            <p:cNvSpPr/>
            <p:nvPr/>
          </p:nvSpPr>
          <p:spPr>
            <a:xfrm>
              <a:off x="2728041" y="1811725"/>
              <a:ext cx="6991350" cy="462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4" name="グループ化 233"/>
          <p:cNvGrpSpPr/>
          <p:nvPr/>
        </p:nvGrpSpPr>
        <p:grpSpPr>
          <a:xfrm>
            <a:off x="2267469" y="4481335"/>
            <a:ext cx="3212706" cy="1979662"/>
            <a:chOff x="2728041" y="1684243"/>
            <a:chExt cx="6991350" cy="4754657"/>
          </a:xfrm>
        </p:grpSpPr>
        <p:pic>
          <p:nvPicPr>
            <p:cNvPr id="235" name="図 2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236" name="図 2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237" name="図 23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238" name="図 23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239" name="図 23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240" name="図 23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241" name="図 24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242" name="図 24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243" name="図 24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244" name="直線コネクタ 243"/>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直線コネクタ 244"/>
            <p:cNvCxnSpPr>
              <a:stCxn id="236"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6" name="直線コネクタ 245"/>
            <p:cNvCxnSpPr>
              <a:stCxn id="236"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7" name="直線コネクタ 246"/>
            <p:cNvCxnSpPr>
              <a:stCxn id="236" idx="2"/>
              <a:endCxn id="242"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8" name="直線コネクタ 247"/>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9" name="直線コネクタ 248"/>
            <p:cNvCxnSpPr>
              <a:stCxn id="237" idx="2"/>
              <a:endCxn id="239"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0" name="直線コネクタ 249"/>
            <p:cNvCxnSpPr>
              <a:stCxn id="237"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1" name="直線コネクタ 250"/>
            <p:cNvCxnSpPr>
              <a:stCxn id="237" idx="2"/>
              <a:endCxn id="243"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2" name="直線コネクタ 251"/>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3" name="直線コネクタ 252"/>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4" name="直線コネクタ 253"/>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5" name="直線コネクタ 254"/>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6" name="直線コネクタ 255"/>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7" name="直線コネクタ 256"/>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58" name="直線コネクタ 257"/>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59" name="楕円 258"/>
            <p:cNvSpPr/>
            <p:nvPr/>
          </p:nvSpPr>
          <p:spPr>
            <a:xfrm>
              <a:off x="2728041" y="1811725"/>
              <a:ext cx="6991350" cy="462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0" name="グループ化 259"/>
          <p:cNvGrpSpPr/>
          <p:nvPr/>
        </p:nvGrpSpPr>
        <p:grpSpPr>
          <a:xfrm>
            <a:off x="6804605" y="4481335"/>
            <a:ext cx="3212706" cy="1979662"/>
            <a:chOff x="2728041" y="1684243"/>
            <a:chExt cx="6991350" cy="4754657"/>
          </a:xfrm>
        </p:grpSpPr>
        <p:pic>
          <p:nvPicPr>
            <p:cNvPr id="261" name="図 2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0494" y="1684243"/>
              <a:ext cx="1584176" cy="1584176"/>
            </a:xfrm>
            <a:prstGeom prst="rect">
              <a:avLst/>
            </a:prstGeom>
          </p:spPr>
        </p:pic>
        <p:pic>
          <p:nvPicPr>
            <p:cNvPr id="262" name="図 26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2121" y="2950388"/>
              <a:ext cx="1517154" cy="1517154"/>
            </a:xfrm>
            <a:prstGeom prst="rect">
              <a:avLst/>
            </a:prstGeom>
          </p:spPr>
        </p:pic>
        <p:pic>
          <p:nvPicPr>
            <p:cNvPr id="263" name="図 26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4905" y="2926109"/>
              <a:ext cx="1656184" cy="1656184"/>
            </a:xfrm>
            <a:prstGeom prst="rect">
              <a:avLst/>
            </a:prstGeom>
          </p:spPr>
        </p:pic>
        <p:pic>
          <p:nvPicPr>
            <p:cNvPr id="264" name="図 26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0739" y="4760715"/>
              <a:ext cx="1589162" cy="1589162"/>
            </a:xfrm>
            <a:prstGeom prst="rect">
              <a:avLst/>
            </a:prstGeom>
          </p:spPr>
        </p:pic>
        <p:pic>
          <p:nvPicPr>
            <p:cNvPr id="265" name="図 26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0349" y="4765701"/>
              <a:ext cx="1589162" cy="1589162"/>
            </a:xfrm>
            <a:prstGeom prst="rect">
              <a:avLst/>
            </a:prstGeom>
          </p:spPr>
        </p:pic>
        <p:pic>
          <p:nvPicPr>
            <p:cNvPr id="266" name="図 26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835" y="4758222"/>
              <a:ext cx="1589162" cy="1589162"/>
            </a:xfrm>
            <a:prstGeom prst="rect">
              <a:avLst/>
            </a:prstGeom>
          </p:spPr>
        </p:pic>
        <p:pic>
          <p:nvPicPr>
            <p:cNvPr id="267" name="図 26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76253" y="4763208"/>
              <a:ext cx="1589162" cy="1589162"/>
            </a:xfrm>
            <a:prstGeom prst="rect">
              <a:avLst/>
            </a:prstGeom>
          </p:spPr>
        </p:pic>
        <p:pic>
          <p:nvPicPr>
            <p:cNvPr id="268" name="図 26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98446" y="4792979"/>
              <a:ext cx="1519647" cy="1519647"/>
            </a:xfrm>
            <a:prstGeom prst="rect">
              <a:avLst/>
            </a:prstGeom>
          </p:spPr>
        </p:pic>
        <p:pic>
          <p:nvPicPr>
            <p:cNvPr id="269" name="図 26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4755" y="4797965"/>
              <a:ext cx="1519647" cy="1519647"/>
            </a:xfrm>
            <a:prstGeom prst="rect">
              <a:avLst/>
            </a:prstGeom>
          </p:spPr>
        </p:pic>
        <p:cxnSp>
          <p:nvCxnSpPr>
            <p:cNvPr id="270" name="直線コネクタ 269"/>
            <p:cNvCxnSpPr/>
            <p:nvPr/>
          </p:nvCxnSpPr>
          <p:spPr>
            <a:xfrm flipH="1">
              <a:off x="5553997" y="2877048"/>
              <a:ext cx="206890" cy="37399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1" name="直線コネクタ 270"/>
            <p:cNvCxnSpPr>
              <a:stCxn id="262" idx="2"/>
            </p:cNvCxnSpPr>
            <p:nvPr/>
          </p:nvCxnSpPr>
          <p:spPr>
            <a:xfrm flipH="1">
              <a:off x="4144583" y="4467542"/>
              <a:ext cx="966115" cy="30535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2" name="直線コネクタ 271"/>
            <p:cNvCxnSpPr>
              <a:stCxn id="262" idx="2"/>
            </p:cNvCxnSpPr>
            <p:nvPr/>
          </p:nvCxnSpPr>
          <p:spPr>
            <a:xfrm flipH="1">
              <a:off x="4925491" y="4467542"/>
              <a:ext cx="185207" cy="36019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3" name="直線コネクタ 272"/>
            <p:cNvCxnSpPr>
              <a:stCxn id="262" idx="2"/>
              <a:endCxn id="268" idx="0"/>
            </p:cNvCxnSpPr>
            <p:nvPr/>
          </p:nvCxnSpPr>
          <p:spPr>
            <a:xfrm>
              <a:off x="5110698" y="4467542"/>
              <a:ext cx="547572" cy="325437"/>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直線コネクタ 273"/>
            <p:cNvCxnSpPr/>
            <p:nvPr/>
          </p:nvCxnSpPr>
          <p:spPr>
            <a:xfrm>
              <a:off x="6470877" y="2772803"/>
              <a:ext cx="336771" cy="52788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コネクタ 274"/>
            <p:cNvCxnSpPr>
              <a:stCxn id="263" idx="2"/>
              <a:endCxn id="265" idx="0"/>
            </p:cNvCxnSpPr>
            <p:nvPr/>
          </p:nvCxnSpPr>
          <p:spPr>
            <a:xfrm>
              <a:off x="7162997" y="4582293"/>
              <a:ext cx="1371933" cy="18340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6" name="直線コネクタ 275"/>
            <p:cNvCxnSpPr>
              <a:stCxn id="263" idx="2"/>
            </p:cNvCxnSpPr>
            <p:nvPr/>
          </p:nvCxnSpPr>
          <p:spPr>
            <a:xfrm>
              <a:off x="7162997" y="4582293"/>
              <a:ext cx="141643" cy="171374"/>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直線コネクタ 276"/>
            <p:cNvCxnSpPr>
              <a:stCxn id="263" idx="2"/>
              <a:endCxn id="269" idx="0"/>
            </p:cNvCxnSpPr>
            <p:nvPr/>
          </p:nvCxnSpPr>
          <p:spPr>
            <a:xfrm flipH="1">
              <a:off x="6744579" y="4582293"/>
              <a:ext cx="418418" cy="215672"/>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8" name="直線コネクタ 277"/>
            <p:cNvCxnSpPr/>
            <p:nvPr/>
          </p:nvCxnSpPr>
          <p:spPr>
            <a:xfrm flipV="1">
              <a:off x="5678789" y="3824264"/>
              <a:ext cx="1062750" cy="15936"/>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79" name="直線コネクタ 278"/>
            <p:cNvCxnSpPr/>
            <p:nvPr/>
          </p:nvCxnSpPr>
          <p:spPr>
            <a:xfrm>
              <a:off x="4219605" y="551942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80" name="直線コネクタ 279"/>
            <p:cNvCxnSpPr/>
            <p:nvPr/>
          </p:nvCxnSpPr>
          <p:spPr>
            <a:xfrm>
              <a:off x="5120659"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81" name="直線コネクタ 280"/>
            <p:cNvCxnSpPr/>
            <p:nvPr/>
          </p:nvCxnSpPr>
          <p:spPr>
            <a:xfrm>
              <a:off x="7153455" y="5518847"/>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82" name="直線コネクタ 281"/>
            <p:cNvCxnSpPr/>
            <p:nvPr/>
          </p:nvCxnSpPr>
          <p:spPr>
            <a:xfrm>
              <a:off x="7965795" y="5516645"/>
              <a:ext cx="271460" cy="79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83" name="直線コネクタ 282"/>
            <p:cNvCxnSpPr/>
            <p:nvPr/>
          </p:nvCxnSpPr>
          <p:spPr>
            <a:xfrm>
              <a:off x="5684068" y="3838943"/>
              <a:ext cx="1057471" cy="770251"/>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84" name="直線コネクタ 283"/>
            <p:cNvCxnSpPr/>
            <p:nvPr/>
          </p:nvCxnSpPr>
          <p:spPr>
            <a:xfrm flipH="1">
              <a:off x="5687526" y="3823506"/>
              <a:ext cx="1072381" cy="768328"/>
            </a:xfrm>
            <a:prstGeom prst="line">
              <a:avLst/>
            </a:prstGeom>
            <a:ln w="317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85" name="楕円 284"/>
            <p:cNvSpPr/>
            <p:nvPr/>
          </p:nvSpPr>
          <p:spPr>
            <a:xfrm>
              <a:off x="2728041" y="1811725"/>
              <a:ext cx="6991350" cy="462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57119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組織開発の考え方のフレーム</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27</a:t>
            </a:fld>
            <a:endParaRPr lang="ja-JP" altLang="en-US">
              <a:uFillTx/>
            </a:endParaRPr>
          </a:p>
        </p:txBody>
      </p:sp>
      <p:grpSp>
        <p:nvGrpSpPr>
          <p:cNvPr id="14" name="グループ化 13"/>
          <p:cNvGrpSpPr/>
          <p:nvPr/>
        </p:nvGrpSpPr>
        <p:grpSpPr>
          <a:xfrm>
            <a:off x="2014100" y="2780928"/>
            <a:ext cx="1296144" cy="1080120"/>
            <a:chOff x="1259632" y="1412776"/>
            <a:chExt cx="1296144" cy="1080120"/>
          </a:xfrm>
        </p:grpSpPr>
        <p:sp>
          <p:nvSpPr>
            <p:cNvPr id="15" name="二等辺三角形 14"/>
            <p:cNvSpPr/>
            <p:nvPr/>
          </p:nvSpPr>
          <p:spPr>
            <a:xfrm>
              <a:off x="1259632" y="1412776"/>
              <a:ext cx="1296144" cy="10801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16" name="直線矢印コネクタ 15"/>
            <p:cNvCxnSpPr/>
            <p:nvPr/>
          </p:nvCxnSpPr>
          <p:spPr>
            <a:xfrm>
              <a:off x="1907704" y="1700808"/>
              <a:ext cx="0" cy="6480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グループ化 16"/>
          <p:cNvGrpSpPr/>
          <p:nvPr/>
        </p:nvGrpSpPr>
        <p:grpSpPr>
          <a:xfrm>
            <a:off x="4246348" y="2780928"/>
            <a:ext cx="1234379" cy="1080120"/>
            <a:chOff x="3059832" y="1412776"/>
            <a:chExt cx="1234379" cy="1080120"/>
          </a:xfrm>
        </p:grpSpPr>
        <p:sp>
          <p:nvSpPr>
            <p:cNvPr id="18" name="ホームベース 17"/>
            <p:cNvSpPr/>
            <p:nvPr/>
          </p:nvSpPr>
          <p:spPr>
            <a:xfrm>
              <a:off x="3059832" y="1412776"/>
              <a:ext cx="360040" cy="1080120"/>
            </a:xfrm>
            <a:prstGeom prst="homePlate">
              <a:avLst>
                <a:gd name="adj" fmla="val 3236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9" name="山形 18"/>
            <p:cNvSpPr/>
            <p:nvPr/>
          </p:nvSpPr>
          <p:spPr>
            <a:xfrm>
              <a:off x="3347864"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0" name="山形 19"/>
            <p:cNvSpPr/>
            <p:nvPr/>
          </p:nvSpPr>
          <p:spPr>
            <a:xfrm>
              <a:off x="3635896"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1" name="山形 20"/>
            <p:cNvSpPr/>
            <p:nvPr/>
          </p:nvSpPr>
          <p:spPr>
            <a:xfrm>
              <a:off x="3934171"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grpSp>
      <p:grpSp>
        <p:nvGrpSpPr>
          <p:cNvPr id="22" name="グループ化 21"/>
          <p:cNvGrpSpPr/>
          <p:nvPr/>
        </p:nvGrpSpPr>
        <p:grpSpPr>
          <a:xfrm>
            <a:off x="6523457" y="2780928"/>
            <a:ext cx="1252331" cy="1080120"/>
            <a:chOff x="4644008" y="1412776"/>
            <a:chExt cx="1252331" cy="1080120"/>
          </a:xfrm>
        </p:grpSpPr>
        <p:sp>
          <p:nvSpPr>
            <p:cNvPr id="23" name="フリーフォーム 22"/>
            <p:cNvSpPr/>
            <p:nvPr/>
          </p:nvSpPr>
          <p:spPr>
            <a:xfrm>
              <a:off x="4644008" y="1412776"/>
              <a:ext cx="1252331" cy="1080120"/>
            </a:xfrm>
            <a:custGeom>
              <a:avLst/>
              <a:gdLst>
                <a:gd name="connsiteX0" fmla="*/ 0 w 1252331"/>
                <a:gd name="connsiteY0" fmla="*/ 1059966 h 1059966"/>
                <a:gd name="connsiteX1" fmla="*/ 154057 w 1252331"/>
                <a:gd name="connsiteY1" fmla="*/ 920818 h 1059966"/>
                <a:gd name="connsiteX2" fmla="*/ 238539 w 1252331"/>
                <a:gd name="connsiteY2" fmla="*/ 632584 h 1059966"/>
                <a:gd name="connsiteX3" fmla="*/ 238539 w 1252331"/>
                <a:gd name="connsiteY3" fmla="*/ 632584 h 1059966"/>
                <a:gd name="connsiteX4" fmla="*/ 288235 w 1252331"/>
                <a:gd name="connsiteY4" fmla="*/ 413923 h 1059966"/>
                <a:gd name="connsiteX5" fmla="*/ 382657 w 1252331"/>
                <a:gd name="connsiteY5" fmla="*/ 359257 h 1059966"/>
                <a:gd name="connsiteX6" fmla="*/ 382657 w 1252331"/>
                <a:gd name="connsiteY6" fmla="*/ 359257 h 1059966"/>
                <a:gd name="connsiteX7" fmla="*/ 382657 w 1252331"/>
                <a:gd name="connsiteY7" fmla="*/ 359257 h 1059966"/>
                <a:gd name="connsiteX8" fmla="*/ 536713 w 1252331"/>
                <a:gd name="connsiteY8" fmla="*/ 190292 h 1059966"/>
                <a:gd name="connsiteX9" fmla="*/ 536713 w 1252331"/>
                <a:gd name="connsiteY9" fmla="*/ 100840 h 1059966"/>
                <a:gd name="connsiteX10" fmla="*/ 660953 w 1252331"/>
                <a:gd name="connsiteY10" fmla="*/ 1449 h 1059966"/>
                <a:gd name="connsiteX11" fmla="*/ 795131 w 1252331"/>
                <a:gd name="connsiteY11" fmla="*/ 180353 h 1059966"/>
                <a:gd name="connsiteX12" fmla="*/ 889553 w 1252331"/>
                <a:gd name="connsiteY12" fmla="*/ 423862 h 1059966"/>
                <a:gd name="connsiteX13" fmla="*/ 1033670 w 1252331"/>
                <a:gd name="connsiteY13" fmla="*/ 652462 h 1059966"/>
                <a:gd name="connsiteX14" fmla="*/ 1013792 w 1252331"/>
                <a:gd name="connsiteY14" fmla="*/ 801549 h 1059966"/>
                <a:gd name="connsiteX15" fmla="*/ 1147970 w 1252331"/>
                <a:gd name="connsiteY15" fmla="*/ 935727 h 1059966"/>
                <a:gd name="connsiteX16" fmla="*/ 1252331 w 1252331"/>
                <a:gd name="connsiteY16" fmla="*/ 1059966 h 1059966"/>
                <a:gd name="connsiteX17" fmla="*/ 1252331 w 1252331"/>
                <a:gd name="connsiteY17" fmla="*/ 1059966 h 105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2331" h="1059966">
                  <a:moveTo>
                    <a:pt x="0" y="1059966"/>
                  </a:moveTo>
                  <a:cubicBezTo>
                    <a:pt x="57150" y="1026007"/>
                    <a:pt x="114301" y="992048"/>
                    <a:pt x="154057" y="920818"/>
                  </a:cubicBezTo>
                  <a:cubicBezTo>
                    <a:pt x="193813" y="849588"/>
                    <a:pt x="238539" y="632584"/>
                    <a:pt x="238539" y="632584"/>
                  </a:cubicBezTo>
                  <a:lnTo>
                    <a:pt x="238539" y="632584"/>
                  </a:lnTo>
                  <a:cubicBezTo>
                    <a:pt x="246822" y="596141"/>
                    <a:pt x="264215" y="459478"/>
                    <a:pt x="288235" y="413923"/>
                  </a:cubicBezTo>
                  <a:cubicBezTo>
                    <a:pt x="312255" y="368368"/>
                    <a:pt x="382657" y="359257"/>
                    <a:pt x="382657" y="359257"/>
                  </a:cubicBezTo>
                  <a:lnTo>
                    <a:pt x="382657" y="359257"/>
                  </a:lnTo>
                  <a:lnTo>
                    <a:pt x="382657" y="359257"/>
                  </a:lnTo>
                  <a:cubicBezTo>
                    <a:pt x="408333" y="331096"/>
                    <a:pt x="511037" y="233362"/>
                    <a:pt x="536713" y="190292"/>
                  </a:cubicBezTo>
                  <a:cubicBezTo>
                    <a:pt x="562389" y="147222"/>
                    <a:pt x="516006" y="132314"/>
                    <a:pt x="536713" y="100840"/>
                  </a:cubicBezTo>
                  <a:cubicBezTo>
                    <a:pt x="557420" y="69366"/>
                    <a:pt x="617883" y="-11803"/>
                    <a:pt x="660953" y="1449"/>
                  </a:cubicBezTo>
                  <a:cubicBezTo>
                    <a:pt x="704023" y="14701"/>
                    <a:pt x="757031" y="109951"/>
                    <a:pt x="795131" y="180353"/>
                  </a:cubicBezTo>
                  <a:cubicBezTo>
                    <a:pt x="833231" y="250755"/>
                    <a:pt x="849797" y="345177"/>
                    <a:pt x="889553" y="423862"/>
                  </a:cubicBezTo>
                  <a:cubicBezTo>
                    <a:pt x="929309" y="502547"/>
                    <a:pt x="1012964" y="589514"/>
                    <a:pt x="1033670" y="652462"/>
                  </a:cubicBezTo>
                  <a:cubicBezTo>
                    <a:pt x="1054376" y="715410"/>
                    <a:pt x="994742" y="754338"/>
                    <a:pt x="1013792" y="801549"/>
                  </a:cubicBezTo>
                  <a:cubicBezTo>
                    <a:pt x="1032842" y="848760"/>
                    <a:pt x="1108214" y="892658"/>
                    <a:pt x="1147970" y="935727"/>
                  </a:cubicBezTo>
                  <a:cubicBezTo>
                    <a:pt x="1187726" y="978796"/>
                    <a:pt x="1252331" y="1059966"/>
                    <a:pt x="1252331" y="1059966"/>
                  </a:cubicBezTo>
                  <a:lnTo>
                    <a:pt x="1252331" y="1059966"/>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p:cNvCxnSpPr/>
            <p:nvPr/>
          </p:nvCxnSpPr>
          <p:spPr>
            <a:xfrm>
              <a:off x="4788024" y="1628800"/>
              <a:ext cx="108012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25" name="テキスト ボックス 24"/>
          <p:cNvSpPr txBox="1"/>
          <p:nvPr/>
        </p:nvSpPr>
        <p:spPr>
          <a:xfrm>
            <a:off x="4426368" y="4161569"/>
            <a:ext cx="794252"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矢羽根</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テキスト ボックス 25"/>
          <p:cNvSpPr txBox="1"/>
          <p:nvPr/>
        </p:nvSpPr>
        <p:spPr>
          <a:xfrm>
            <a:off x="2102673"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ピラミッド</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テキスト ボックス 26"/>
          <p:cNvSpPr txBox="1"/>
          <p:nvPr/>
        </p:nvSpPr>
        <p:spPr>
          <a:xfrm>
            <a:off x="6595465"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氷山の一角</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フリーフォーム 32"/>
          <p:cNvSpPr/>
          <p:nvPr/>
        </p:nvSpPr>
        <p:spPr>
          <a:xfrm>
            <a:off x="8835434" y="2797629"/>
            <a:ext cx="1073854" cy="1126131"/>
          </a:xfrm>
          <a:custGeom>
            <a:avLst/>
            <a:gdLst>
              <a:gd name="connsiteX0" fmla="*/ 25546 w 1073854"/>
              <a:gd name="connsiteY0" fmla="*/ 0 h 1126131"/>
              <a:gd name="connsiteX1" fmla="*/ 58204 w 1073854"/>
              <a:gd name="connsiteY1" fmla="*/ 805542 h 1126131"/>
              <a:gd name="connsiteX2" fmla="*/ 537175 w 1073854"/>
              <a:gd name="connsiteY2" fmla="*/ 1121228 h 1126131"/>
              <a:gd name="connsiteX3" fmla="*/ 994375 w 1073854"/>
              <a:gd name="connsiteY3" fmla="*/ 925285 h 1126131"/>
              <a:gd name="connsiteX4" fmla="*/ 1070575 w 1073854"/>
              <a:gd name="connsiteY4" fmla="*/ 43542 h 1126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3854" h="1126131">
                <a:moveTo>
                  <a:pt x="25546" y="0"/>
                </a:moveTo>
                <a:cubicBezTo>
                  <a:pt x="-761" y="309335"/>
                  <a:pt x="-27067" y="618671"/>
                  <a:pt x="58204" y="805542"/>
                </a:cubicBezTo>
                <a:cubicBezTo>
                  <a:pt x="143475" y="992413"/>
                  <a:pt x="381146" y="1101271"/>
                  <a:pt x="537175" y="1121228"/>
                </a:cubicBezTo>
                <a:cubicBezTo>
                  <a:pt x="693204" y="1141185"/>
                  <a:pt x="905475" y="1104899"/>
                  <a:pt x="994375" y="925285"/>
                </a:cubicBezTo>
                <a:cubicBezTo>
                  <a:pt x="1083275" y="745671"/>
                  <a:pt x="1076925" y="394606"/>
                  <a:pt x="1070575" y="43542"/>
                </a:cubicBezTo>
              </a:path>
            </a:pathLst>
          </a:custGeom>
          <a:noFill/>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p:cNvSpPr txBox="1"/>
          <p:nvPr/>
        </p:nvSpPr>
        <p:spPr>
          <a:xfrm>
            <a:off x="8835434" y="4138015"/>
            <a:ext cx="1224136" cy="338554"/>
          </a:xfrm>
          <a:prstGeom prst="rect">
            <a:avLst/>
          </a:prstGeom>
          <a:noFill/>
        </p:spPr>
        <p:txBody>
          <a:bodyPr wrap="square" rtlCol="0">
            <a:spAutoFit/>
          </a:bodyPr>
          <a:lstStyle/>
          <a:p>
            <a:pPr algn="ctr"/>
            <a:r>
              <a:rPr kumimoji="1" lang="en-US" altLang="ja-JP" sz="1600" dirty="0">
                <a:latin typeface="メイリオ" panose="020B0604030504040204" pitchFamily="50" charset="-128"/>
                <a:ea typeface="メイリオ" panose="020B0604030504040204" pitchFamily="50" charset="-128"/>
                <a:cs typeface="メイリオ" panose="020B0604030504040204" pitchFamily="50" charset="-128"/>
              </a:rPr>
              <a:t>U</a:t>
            </a:r>
            <a:r>
              <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rPr>
              <a:t>字</a:t>
            </a:r>
          </a:p>
        </p:txBody>
      </p:sp>
      <p:sp>
        <p:nvSpPr>
          <p:cNvPr id="7" name="正方形/長方形 6"/>
          <p:cNvSpPr/>
          <p:nvPr/>
        </p:nvSpPr>
        <p:spPr>
          <a:xfrm>
            <a:off x="3491345" y="1662545"/>
            <a:ext cx="7862455" cy="349134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98848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ピラミッド</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28</a:t>
            </a:fld>
            <a:endParaRPr lang="ja-JP" altLang="en-US">
              <a:uFillTx/>
            </a:endParaRPr>
          </a:p>
        </p:txBody>
      </p:sp>
      <p:sp>
        <p:nvSpPr>
          <p:cNvPr id="12" name="テキスト ボックス 11"/>
          <p:cNvSpPr txBox="1"/>
          <p:nvPr/>
        </p:nvSpPr>
        <p:spPr>
          <a:xfrm>
            <a:off x="1952873" y="1174377"/>
            <a:ext cx="7704856" cy="400110"/>
          </a:xfrm>
          <a:prstGeom prst="rect">
            <a:avLst/>
          </a:prstGeom>
          <a:noFill/>
        </p:spPr>
        <p:txBody>
          <a:bodyPr wrap="square" rtlCol="0">
            <a:spAutoFit/>
          </a:bodyPr>
          <a:lstStyle/>
          <a:p>
            <a:r>
              <a:rPr lang="ja-JP" altLang="en-US" sz="2000" b="1" u="sng" dirty="0">
                <a:latin typeface="メイリオ" panose="020B0604030504040204" pitchFamily="50" charset="-128"/>
                <a:ea typeface="メイリオ" panose="020B0604030504040204" pitchFamily="50" charset="-128"/>
                <a:cs typeface="メイリオ" panose="020B0604030504040204" pitchFamily="50" charset="-128"/>
              </a:rPr>
              <a:t>組織の押さえどころ（</a:t>
            </a:r>
            <a:r>
              <a:rPr lang="en-US" altLang="ja-JP" sz="2000" b="1" u="sng" dirty="0">
                <a:latin typeface="メイリオ" panose="020B0604030504040204" pitchFamily="50" charset="-128"/>
                <a:ea typeface="メイリオ" panose="020B0604030504040204" pitchFamily="50" charset="-128"/>
                <a:cs typeface="メイリオ" panose="020B0604030504040204" pitchFamily="50" charset="-128"/>
              </a:rPr>
              <a:t>GRPI</a:t>
            </a:r>
            <a:r>
              <a:rPr lang="ja-JP" altLang="en-US" sz="2000" b="1" u="sng" dirty="0">
                <a:latin typeface="メイリオ" panose="020B0604030504040204" pitchFamily="50" charset="-128"/>
                <a:ea typeface="メイリオ" panose="020B0604030504040204" pitchFamily="50" charset="-128"/>
                <a:cs typeface="メイリオ" panose="020B0604030504040204" pitchFamily="50" charset="-128"/>
              </a:rPr>
              <a:t>モデル</a:t>
            </a:r>
            <a:r>
              <a:rPr lang="en-US" altLang="ja-JP" sz="2000" b="1" u="sng"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2000" b="1" u="sng" dirty="0" err="1">
                <a:latin typeface="メイリオ" panose="020B0604030504040204" pitchFamily="50" charset="-128"/>
                <a:ea typeface="メイリオ" panose="020B0604030504040204" pitchFamily="50" charset="-128"/>
                <a:cs typeface="メイリオ" panose="020B0604030504040204" pitchFamily="50" charset="-128"/>
              </a:rPr>
              <a:t>Beckhard</a:t>
            </a:r>
            <a:r>
              <a:rPr lang="ja-JP" altLang="en-US" sz="2000" b="1" u="sng"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000" b="1"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二等辺三角形 12"/>
          <p:cNvSpPr/>
          <p:nvPr/>
        </p:nvSpPr>
        <p:spPr>
          <a:xfrm>
            <a:off x="5737113" y="2445576"/>
            <a:ext cx="3680048" cy="329332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14" name="直線コネクタ 13"/>
          <p:cNvCxnSpPr>
            <a:stCxn id="13" idx="1"/>
            <a:endCxn id="13" idx="5"/>
          </p:cNvCxnSpPr>
          <p:nvPr/>
        </p:nvCxnSpPr>
        <p:spPr>
          <a:xfrm>
            <a:off x="6657125" y="4092240"/>
            <a:ext cx="1840024"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6200189" y="4893848"/>
            <a:ext cx="2739144"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7041724" y="3381680"/>
            <a:ext cx="1044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a:off x="6932885" y="2873373"/>
            <a:ext cx="1288504" cy="338554"/>
          </a:xfrm>
          <a:prstGeom prst="rect">
            <a:avLst/>
          </a:prstGeom>
          <a:noFill/>
        </p:spPr>
        <p:txBody>
          <a:bodyPr wrap="square" rtlCol="0">
            <a:spAutoFit/>
          </a:bodyPr>
          <a:lstStyle/>
          <a:p>
            <a:pPr algn="ct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Goal</a:t>
            </a:r>
            <a:endParaRPr kumimoji="1" lang="ja-JP" altLang="en-US" sz="1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テキスト ボックス 17"/>
          <p:cNvSpPr txBox="1"/>
          <p:nvPr/>
        </p:nvSpPr>
        <p:spPr>
          <a:xfrm>
            <a:off x="6925509" y="3592564"/>
            <a:ext cx="1288504" cy="338554"/>
          </a:xfrm>
          <a:prstGeom prst="rect">
            <a:avLst/>
          </a:prstGeom>
          <a:noFill/>
        </p:spPr>
        <p:txBody>
          <a:bodyPr wrap="square" rtlCol="0">
            <a:spAutoFit/>
          </a:bodyPr>
          <a:lstStyle/>
          <a:p>
            <a:pPr algn="ct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Role</a:t>
            </a:r>
            <a:endParaRPr kumimoji="1" lang="ja-JP" altLang="en-US" sz="1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テキスト ボックス 18"/>
          <p:cNvSpPr txBox="1"/>
          <p:nvPr/>
        </p:nvSpPr>
        <p:spPr>
          <a:xfrm>
            <a:off x="6932885" y="4355012"/>
            <a:ext cx="1288504" cy="338554"/>
          </a:xfrm>
          <a:prstGeom prst="rect">
            <a:avLst/>
          </a:prstGeom>
          <a:noFill/>
        </p:spPr>
        <p:txBody>
          <a:bodyPr wrap="square" rtlCol="0">
            <a:spAutoFit/>
          </a:bodyPr>
          <a:lstStyle/>
          <a:p>
            <a:pPr algn="ct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Process</a:t>
            </a:r>
            <a:endParaRPr kumimoji="1" lang="ja-JP" altLang="en-US" sz="16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テキスト ボックス 19"/>
          <p:cNvSpPr txBox="1"/>
          <p:nvPr/>
        </p:nvSpPr>
        <p:spPr>
          <a:xfrm>
            <a:off x="6196133" y="5033508"/>
            <a:ext cx="2743200" cy="584775"/>
          </a:xfrm>
          <a:prstGeom prst="rect">
            <a:avLst/>
          </a:prstGeom>
          <a:noFill/>
        </p:spPr>
        <p:txBody>
          <a:bodyPr wrap="square" rtlCol="0">
            <a:spAutoFit/>
          </a:bodyPr>
          <a:lstStyle/>
          <a:p>
            <a:pPr algn="ctr"/>
            <a:r>
              <a:rPr kumimoji="1" lang="en-US" altLang="ja-JP" sz="1600" dirty="0" err="1">
                <a:latin typeface="Meiryo UI" panose="020B0604030504040204" pitchFamily="50" charset="-128"/>
                <a:ea typeface="Meiryo UI" panose="020B0604030504040204" pitchFamily="50" charset="-128"/>
                <a:cs typeface="Meiryo UI" panose="020B0604030504040204" pitchFamily="50" charset="-128"/>
              </a:rPr>
              <a:t>InterPersonal</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600" dirty="0">
                <a:latin typeface="Meiryo UI" panose="020B0604030504040204" pitchFamily="50" charset="-128"/>
                <a:ea typeface="Meiryo UI" panose="020B0604030504040204" pitchFamily="50" charset="-128"/>
                <a:cs typeface="Meiryo UI" panose="020B0604030504040204" pitchFamily="50" charset="-128"/>
              </a:rPr>
              <a:t>Relationships</a:t>
            </a:r>
            <a:endParaRPr kumimoji="1" lang="ja-JP" altLang="en-US" sz="16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1" name="直線矢印コネクタ 20"/>
          <p:cNvCxnSpPr/>
          <p:nvPr/>
        </p:nvCxnSpPr>
        <p:spPr>
          <a:xfrm>
            <a:off x="9562004" y="2873373"/>
            <a:ext cx="0" cy="2452523"/>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2256535" y="1541410"/>
            <a:ext cx="7704856" cy="707886"/>
          </a:xfrm>
          <a:prstGeom prst="rect">
            <a:avLst/>
          </a:prstGeom>
          <a:noFill/>
        </p:spPr>
        <p:txBody>
          <a:bodyPr wrap="square" rtlCol="0">
            <a:spAutoFit/>
          </a:bodyPr>
          <a:lstStyle/>
          <a:p>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ミッションに資する活動になっているかがポイント</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トップダウン、ボトムアップを柔軟に使い分けることが肝要</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サブタイトル 2"/>
          <p:cNvSpPr txBox="1">
            <a:spLocks/>
          </p:cNvSpPr>
          <p:nvPr/>
        </p:nvSpPr>
        <p:spPr>
          <a:xfrm>
            <a:off x="2367195" y="2687595"/>
            <a:ext cx="9334046" cy="6270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2000" b="1" dirty="0">
                <a:latin typeface="Meiryo UI" panose="020B0604030504040204" pitchFamily="50" charset="-128"/>
                <a:ea typeface="Meiryo UI" panose="020B0604030504040204" pitchFamily="50" charset="-128"/>
                <a:cs typeface="Meiryo UI" panose="020B0604030504040204" pitchFamily="50" charset="-128"/>
              </a:rPr>
              <a:t>G</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oal:</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ミッション、ビジョン、戦略</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pPr algn="l"/>
            <a:endParaRPr lang="ja-JP" altLang="en-US" sz="4000" dirty="0">
              <a:latin typeface="HG教科書体" panose="02020609000000000000" pitchFamily="17" charset="-128"/>
              <a:ea typeface="HG教科書体" panose="02020609000000000000" pitchFamily="17" charset="-128"/>
            </a:endParaRPr>
          </a:p>
        </p:txBody>
      </p:sp>
      <p:sp>
        <p:nvSpPr>
          <p:cNvPr id="24" name="サブタイトル 2"/>
          <p:cNvSpPr txBox="1">
            <a:spLocks/>
          </p:cNvSpPr>
          <p:nvPr/>
        </p:nvSpPr>
        <p:spPr>
          <a:xfrm>
            <a:off x="2367195" y="4202864"/>
            <a:ext cx="9334046" cy="6270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2000" b="1" dirty="0">
                <a:latin typeface="Meiryo UI" panose="020B0604030504040204" pitchFamily="50" charset="-128"/>
                <a:ea typeface="Meiryo UI" panose="020B0604030504040204" pitchFamily="50" charset="-128"/>
                <a:cs typeface="Meiryo UI" panose="020B0604030504040204" pitchFamily="50" charset="-128"/>
              </a:rPr>
              <a:t>P</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rocess:</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仕組み、仕掛け</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サブタイトル 2"/>
          <p:cNvSpPr txBox="1">
            <a:spLocks/>
          </p:cNvSpPr>
          <p:nvPr/>
        </p:nvSpPr>
        <p:spPr>
          <a:xfrm>
            <a:off x="2367195" y="3420691"/>
            <a:ext cx="9334046" cy="6270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2000" b="1" dirty="0">
                <a:latin typeface="Meiryo UI" panose="020B0604030504040204" pitchFamily="50" charset="-128"/>
                <a:ea typeface="Meiryo UI" panose="020B0604030504040204" pitchFamily="50" charset="-128"/>
                <a:cs typeface="Meiryo UI" panose="020B0604030504040204" pitchFamily="50" charset="-128"/>
              </a:rPr>
              <a:t>R</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ole:</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役割、責任範囲</a:t>
            </a:r>
            <a:endParaRPr lang="ja-JP" altLang="en-US" sz="4000" dirty="0">
              <a:latin typeface="HG教科書体" panose="02020609000000000000" pitchFamily="17" charset="-128"/>
              <a:ea typeface="HG教科書体" panose="02020609000000000000" pitchFamily="17" charset="-128"/>
            </a:endParaRPr>
          </a:p>
        </p:txBody>
      </p:sp>
      <p:sp>
        <p:nvSpPr>
          <p:cNvPr id="26" name="サブタイトル 2"/>
          <p:cNvSpPr txBox="1">
            <a:spLocks/>
          </p:cNvSpPr>
          <p:nvPr/>
        </p:nvSpPr>
        <p:spPr>
          <a:xfrm>
            <a:off x="2367195" y="4998772"/>
            <a:ext cx="9334046" cy="6270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2000" b="1" dirty="0" err="1">
                <a:latin typeface="Meiryo UI" panose="020B0604030504040204" pitchFamily="50" charset="-128"/>
                <a:ea typeface="Meiryo UI" panose="020B0604030504040204" pitchFamily="50" charset="-128"/>
                <a:cs typeface="Meiryo UI" panose="020B0604030504040204" pitchFamily="50" charset="-128"/>
              </a:rPr>
              <a:t>I</a:t>
            </a:r>
            <a:r>
              <a:rPr lang="en-US" altLang="ja-JP" sz="2000" dirty="0" err="1">
                <a:latin typeface="Meiryo UI" panose="020B0604030504040204" pitchFamily="50" charset="-128"/>
                <a:ea typeface="Meiryo UI" panose="020B0604030504040204" pitchFamily="50" charset="-128"/>
                <a:cs typeface="Meiryo UI" panose="020B0604030504040204" pitchFamily="50" charset="-128"/>
              </a:rPr>
              <a:t>nterPersonal</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pPr algn="l"/>
            <a:r>
              <a:rPr lang="en-US" altLang="ja-JP" sz="2000" dirty="0">
                <a:latin typeface="Meiryo UI" panose="020B0604030504040204" pitchFamily="50" charset="-128"/>
                <a:ea typeface="Meiryo UI" panose="020B0604030504040204" pitchFamily="50" charset="-128"/>
                <a:cs typeface="Meiryo UI" panose="020B0604030504040204" pitchFamily="50" charset="-128"/>
              </a:rPr>
              <a:t>Relationships:</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関係性</a:t>
            </a:r>
            <a:endParaRPr lang="en-US" altLang="ja-JP" sz="2000" dirty="0">
              <a:latin typeface="Meiryo UI" panose="020B0604030504040204" pitchFamily="50" charset="-128"/>
              <a:ea typeface="Meiryo UI" panose="020B0604030504040204" pitchFamily="50" charset="-128"/>
              <a:cs typeface="Meiryo UI" panose="020B0604030504040204" pitchFamily="50" charset="-128"/>
            </a:endParaRPr>
          </a:p>
          <a:p>
            <a:pPr algn="l"/>
            <a:endParaRPr lang="ja-JP" altLang="en-US" sz="4000" dirty="0">
              <a:latin typeface="HG教科書体" panose="02020609000000000000" pitchFamily="17" charset="-128"/>
              <a:ea typeface="HG教科書体" panose="02020609000000000000" pitchFamily="17" charset="-128"/>
            </a:endParaRPr>
          </a:p>
        </p:txBody>
      </p:sp>
    </p:spTree>
    <p:extLst>
      <p:ext uri="{BB962C8B-B14F-4D97-AF65-F5344CB8AC3E}">
        <p14:creationId xmlns:p14="http://schemas.microsoft.com/office/powerpoint/2010/main" val="2719553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組織開発の考え方のフレーム</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29</a:t>
            </a:fld>
            <a:endParaRPr lang="ja-JP" altLang="en-US">
              <a:uFillTx/>
            </a:endParaRPr>
          </a:p>
        </p:txBody>
      </p:sp>
      <p:grpSp>
        <p:nvGrpSpPr>
          <p:cNvPr id="14" name="グループ化 13"/>
          <p:cNvGrpSpPr/>
          <p:nvPr/>
        </p:nvGrpSpPr>
        <p:grpSpPr>
          <a:xfrm>
            <a:off x="2014100" y="2780928"/>
            <a:ext cx="1296144" cy="1080120"/>
            <a:chOff x="1259632" y="1412776"/>
            <a:chExt cx="1296144" cy="1080120"/>
          </a:xfrm>
        </p:grpSpPr>
        <p:sp>
          <p:nvSpPr>
            <p:cNvPr id="15" name="二等辺三角形 14"/>
            <p:cNvSpPr/>
            <p:nvPr/>
          </p:nvSpPr>
          <p:spPr>
            <a:xfrm>
              <a:off x="1259632" y="1412776"/>
              <a:ext cx="1296144" cy="10801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16" name="直線矢印コネクタ 15"/>
            <p:cNvCxnSpPr/>
            <p:nvPr/>
          </p:nvCxnSpPr>
          <p:spPr>
            <a:xfrm>
              <a:off x="1907704" y="1700808"/>
              <a:ext cx="0" cy="6480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グループ化 16"/>
          <p:cNvGrpSpPr/>
          <p:nvPr/>
        </p:nvGrpSpPr>
        <p:grpSpPr>
          <a:xfrm>
            <a:off x="4246348" y="2780928"/>
            <a:ext cx="1234379" cy="1080120"/>
            <a:chOff x="3059832" y="1412776"/>
            <a:chExt cx="1234379" cy="1080120"/>
          </a:xfrm>
        </p:grpSpPr>
        <p:sp>
          <p:nvSpPr>
            <p:cNvPr id="18" name="ホームベース 17"/>
            <p:cNvSpPr/>
            <p:nvPr/>
          </p:nvSpPr>
          <p:spPr>
            <a:xfrm>
              <a:off x="3059832" y="1412776"/>
              <a:ext cx="360040" cy="1080120"/>
            </a:xfrm>
            <a:prstGeom prst="homePlate">
              <a:avLst>
                <a:gd name="adj" fmla="val 3236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9" name="山形 18"/>
            <p:cNvSpPr/>
            <p:nvPr/>
          </p:nvSpPr>
          <p:spPr>
            <a:xfrm>
              <a:off x="3347864"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0" name="山形 19"/>
            <p:cNvSpPr/>
            <p:nvPr/>
          </p:nvSpPr>
          <p:spPr>
            <a:xfrm>
              <a:off x="3635896"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1" name="山形 20"/>
            <p:cNvSpPr/>
            <p:nvPr/>
          </p:nvSpPr>
          <p:spPr>
            <a:xfrm>
              <a:off x="3934171"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grpSp>
      <p:grpSp>
        <p:nvGrpSpPr>
          <p:cNvPr id="22" name="グループ化 21"/>
          <p:cNvGrpSpPr/>
          <p:nvPr/>
        </p:nvGrpSpPr>
        <p:grpSpPr>
          <a:xfrm>
            <a:off x="6523457" y="2780928"/>
            <a:ext cx="1252331" cy="1080120"/>
            <a:chOff x="4644008" y="1412776"/>
            <a:chExt cx="1252331" cy="1080120"/>
          </a:xfrm>
        </p:grpSpPr>
        <p:sp>
          <p:nvSpPr>
            <p:cNvPr id="23" name="フリーフォーム 22"/>
            <p:cNvSpPr/>
            <p:nvPr/>
          </p:nvSpPr>
          <p:spPr>
            <a:xfrm>
              <a:off x="4644008" y="1412776"/>
              <a:ext cx="1252331" cy="1080120"/>
            </a:xfrm>
            <a:custGeom>
              <a:avLst/>
              <a:gdLst>
                <a:gd name="connsiteX0" fmla="*/ 0 w 1252331"/>
                <a:gd name="connsiteY0" fmla="*/ 1059966 h 1059966"/>
                <a:gd name="connsiteX1" fmla="*/ 154057 w 1252331"/>
                <a:gd name="connsiteY1" fmla="*/ 920818 h 1059966"/>
                <a:gd name="connsiteX2" fmla="*/ 238539 w 1252331"/>
                <a:gd name="connsiteY2" fmla="*/ 632584 h 1059966"/>
                <a:gd name="connsiteX3" fmla="*/ 238539 w 1252331"/>
                <a:gd name="connsiteY3" fmla="*/ 632584 h 1059966"/>
                <a:gd name="connsiteX4" fmla="*/ 288235 w 1252331"/>
                <a:gd name="connsiteY4" fmla="*/ 413923 h 1059966"/>
                <a:gd name="connsiteX5" fmla="*/ 382657 w 1252331"/>
                <a:gd name="connsiteY5" fmla="*/ 359257 h 1059966"/>
                <a:gd name="connsiteX6" fmla="*/ 382657 w 1252331"/>
                <a:gd name="connsiteY6" fmla="*/ 359257 h 1059966"/>
                <a:gd name="connsiteX7" fmla="*/ 382657 w 1252331"/>
                <a:gd name="connsiteY7" fmla="*/ 359257 h 1059966"/>
                <a:gd name="connsiteX8" fmla="*/ 536713 w 1252331"/>
                <a:gd name="connsiteY8" fmla="*/ 190292 h 1059966"/>
                <a:gd name="connsiteX9" fmla="*/ 536713 w 1252331"/>
                <a:gd name="connsiteY9" fmla="*/ 100840 h 1059966"/>
                <a:gd name="connsiteX10" fmla="*/ 660953 w 1252331"/>
                <a:gd name="connsiteY10" fmla="*/ 1449 h 1059966"/>
                <a:gd name="connsiteX11" fmla="*/ 795131 w 1252331"/>
                <a:gd name="connsiteY11" fmla="*/ 180353 h 1059966"/>
                <a:gd name="connsiteX12" fmla="*/ 889553 w 1252331"/>
                <a:gd name="connsiteY12" fmla="*/ 423862 h 1059966"/>
                <a:gd name="connsiteX13" fmla="*/ 1033670 w 1252331"/>
                <a:gd name="connsiteY13" fmla="*/ 652462 h 1059966"/>
                <a:gd name="connsiteX14" fmla="*/ 1013792 w 1252331"/>
                <a:gd name="connsiteY14" fmla="*/ 801549 h 1059966"/>
                <a:gd name="connsiteX15" fmla="*/ 1147970 w 1252331"/>
                <a:gd name="connsiteY15" fmla="*/ 935727 h 1059966"/>
                <a:gd name="connsiteX16" fmla="*/ 1252331 w 1252331"/>
                <a:gd name="connsiteY16" fmla="*/ 1059966 h 1059966"/>
                <a:gd name="connsiteX17" fmla="*/ 1252331 w 1252331"/>
                <a:gd name="connsiteY17" fmla="*/ 1059966 h 105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2331" h="1059966">
                  <a:moveTo>
                    <a:pt x="0" y="1059966"/>
                  </a:moveTo>
                  <a:cubicBezTo>
                    <a:pt x="57150" y="1026007"/>
                    <a:pt x="114301" y="992048"/>
                    <a:pt x="154057" y="920818"/>
                  </a:cubicBezTo>
                  <a:cubicBezTo>
                    <a:pt x="193813" y="849588"/>
                    <a:pt x="238539" y="632584"/>
                    <a:pt x="238539" y="632584"/>
                  </a:cubicBezTo>
                  <a:lnTo>
                    <a:pt x="238539" y="632584"/>
                  </a:lnTo>
                  <a:cubicBezTo>
                    <a:pt x="246822" y="596141"/>
                    <a:pt x="264215" y="459478"/>
                    <a:pt x="288235" y="413923"/>
                  </a:cubicBezTo>
                  <a:cubicBezTo>
                    <a:pt x="312255" y="368368"/>
                    <a:pt x="382657" y="359257"/>
                    <a:pt x="382657" y="359257"/>
                  </a:cubicBezTo>
                  <a:lnTo>
                    <a:pt x="382657" y="359257"/>
                  </a:lnTo>
                  <a:lnTo>
                    <a:pt x="382657" y="359257"/>
                  </a:lnTo>
                  <a:cubicBezTo>
                    <a:pt x="408333" y="331096"/>
                    <a:pt x="511037" y="233362"/>
                    <a:pt x="536713" y="190292"/>
                  </a:cubicBezTo>
                  <a:cubicBezTo>
                    <a:pt x="562389" y="147222"/>
                    <a:pt x="516006" y="132314"/>
                    <a:pt x="536713" y="100840"/>
                  </a:cubicBezTo>
                  <a:cubicBezTo>
                    <a:pt x="557420" y="69366"/>
                    <a:pt x="617883" y="-11803"/>
                    <a:pt x="660953" y="1449"/>
                  </a:cubicBezTo>
                  <a:cubicBezTo>
                    <a:pt x="704023" y="14701"/>
                    <a:pt x="757031" y="109951"/>
                    <a:pt x="795131" y="180353"/>
                  </a:cubicBezTo>
                  <a:cubicBezTo>
                    <a:pt x="833231" y="250755"/>
                    <a:pt x="849797" y="345177"/>
                    <a:pt x="889553" y="423862"/>
                  </a:cubicBezTo>
                  <a:cubicBezTo>
                    <a:pt x="929309" y="502547"/>
                    <a:pt x="1012964" y="589514"/>
                    <a:pt x="1033670" y="652462"/>
                  </a:cubicBezTo>
                  <a:cubicBezTo>
                    <a:pt x="1054376" y="715410"/>
                    <a:pt x="994742" y="754338"/>
                    <a:pt x="1013792" y="801549"/>
                  </a:cubicBezTo>
                  <a:cubicBezTo>
                    <a:pt x="1032842" y="848760"/>
                    <a:pt x="1108214" y="892658"/>
                    <a:pt x="1147970" y="935727"/>
                  </a:cubicBezTo>
                  <a:cubicBezTo>
                    <a:pt x="1187726" y="978796"/>
                    <a:pt x="1252331" y="1059966"/>
                    <a:pt x="1252331" y="1059966"/>
                  </a:cubicBezTo>
                  <a:lnTo>
                    <a:pt x="1252331" y="1059966"/>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p:cNvCxnSpPr/>
            <p:nvPr/>
          </p:nvCxnSpPr>
          <p:spPr>
            <a:xfrm>
              <a:off x="4788024" y="1628800"/>
              <a:ext cx="108012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25" name="テキスト ボックス 24"/>
          <p:cNvSpPr txBox="1"/>
          <p:nvPr/>
        </p:nvSpPr>
        <p:spPr>
          <a:xfrm>
            <a:off x="4426368" y="4161569"/>
            <a:ext cx="794252"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矢羽根</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テキスト ボックス 25"/>
          <p:cNvSpPr txBox="1"/>
          <p:nvPr/>
        </p:nvSpPr>
        <p:spPr>
          <a:xfrm>
            <a:off x="2102673"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ピラミッド</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テキスト ボックス 26"/>
          <p:cNvSpPr txBox="1"/>
          <p:nvPr/>
        </p:nvSpPr>
        <p:spPr>
          <a:xfrm>
            <a:off x="6595465"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氷山の一角</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フリーフォーム 32"/>
          <p:cNvSpPr/>
          <p:nvPr/>
        </p:nvSpPr>
        <p:spPr>
          <a:xfrm>
            <a:off x="8835434" y="2797629"/>
            <a:ext cx="1073854" cy="1126131"/>
          </a:xfrm>
          <a:custGeom>
            <a:avLst/>
            <a:gdLst>
              <a:gd name="connsiteX0" fmla="*/ 25546 w 1073854"/>
              <a:gd name="connsiteY0" fmla="*/ 0 h 1126131"/>
              <a:gd name="connsiteX1" fmla="*/ 58204 w 1073854"/>
              <a:gd name="connsiteY1" fmla="*/ 805542 h 1126131"/>
              <a:gd name="connsiteX2" fmla="*/ 537175 w 1073854"/>
              <a:gd name="connsiteY2" fmla="*/ 1121228 h 1126131"/>
              <a:gd name="connsiteX3" fmla="*/ 994375 w 1073854"/>
              <a:gd name="connsiteY3" fmla="*/ 925285 h 1126131"/>
              <a:gd name="connsiteX4" fmla="*/ 1070575 w 1073854"/>
              <a:gd name="connsiteY4" fmla="*/ 43542 h 1126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3854" h="1126131">
                <a:moveTo>
                  <a:pt x="25546" y="0"/>
                </a:moveTo>
                <a:cubicBezTo>
                  <a:pt x="-761" y="309335"/>
                  <a:pt x="-27067" y="618671"/>
                  <a:pt x="58204" y="805542"/>
                </a:cubicBezTo>
                <a:cubicBezTo>
                  <a:pt x="143475" y="992413"/>
                  <a:pt x="381146" y="1101271"/>
                  <a:pt x="537175" y="1121228"/>
                </a:cubicBezTo>
                <a:cubicBezTo>
                  <a:pt x="693204" y="1141185"/>
                  <a:pt x="905475" y="1104899"/>
                  <a:pt x="994375" y="925285"/>
                </a:cubicBezTo>
                <a:cubicBezTo>
                  <a:pt x="1083275" y="745671"/>
                  <a:pt x="1076925" y="394606"/>
                  <a:pt x="1070575" y="43542"/>
                </a:cubicBezTo>
              </a:path>
            </a:pathLst>
          </a:custGeom>
          <a:noFill/>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p:cNvSpPr txBox="1"/>
          <p:nvPr/>
        </p:nvSpPr>
        <p:spPr>
          <a:xfrm>
            <a:off x="8835434" y="4138015"/>
            <a:ext cx="1224136" cy="338554"/>
          </a:xfrm>
          <a:prstGeom prst="rect">
            <a:avLst/>
          </a:prstGeom>
          <a:noFill/>
        </p:spPr>
        <p:txBody>
          <a:bodyPr wrap="square" rtlCol="0">
            <a:spAutoFit/>
          </a:bodyPr>
          <a:lstStyle/>
          <a:p>
            <a:pPr algn="ctr"/>
            <a:r>
              <a:rPr kumimoji="1" lang="en-US" altLang="ja-JP" sz="1600" dirty="0">
                <a:latin typeface="メイリオ" panose="020B0604030504040204" pitchFamily="50" charset="-128"/>
                <a:ea typeface="メイリオ" panose="020B0604030504040204" pitchFamily="50" charset="-128"/>
                <a:cs typeface="メイリオ" panose="020B0604030504040204" pitchFamily="50" charset="-128"/>
              </a:rPr>
              <a:t>U</a:t>
            </a:r>
            <a:r>
              <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rPr>
              <a:t>字</a:t>
            </a:r>
          </a:p>
        </p:txBody>
      </p:sp>
      <p:sp>
        <p:nvSpPr>
          <p:cNvPr id="28" name="正方形/長方形 27"/>
          <p:cNvSpPr/>
          <p:nvPr/>
        </p:nvSpPr>
        <p:spPr>
          <a:xfrm>
            <a:off x="6320179" y="1662545"/>
            <a:ext cx="5033621" cy="349134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p:nvSpPr>
        <p:spPr>
          <a:xfrm>
            <a:off x="1424202" y="1662545"/>
            <a:ext cx="2523872" cy="349134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8570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矢羽根</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30</a:t>
            </a:fld>
            <a:endParaRPr lang="ja-JP" altLang="en-US">
              <a:uFillTx/>
            </a:endParaRPr>
          </a:p>
        </p:txBody>
      </p:sp>
      <p:sp>
        <p:nvSpPr>
          <p:cNvPr id="12" name="テキスト ボックス 11"/>
          <p:cNvSpPr txBox="1"/>
          <p:nvPr/>
        </p:nvSpPr>
        <p:spPr>
          <a:xfrm>
            <a:off x="2075617" y="848511"/>
            <a:ext cx="8064896" cy="400110"/>
          </a:xfrm>
          <a:prstGeom prst="rect">
            <a:avLst/>
          </a:prstGeom>
          <a:noFill/>
        </p:spPr>
        <p:txBody>
          <a:bodyPr wrap="square" rtlCol="0">
            <a:spAutoFit/>
          </a:bodyPr>
          <a:lstStyle/>
          <a:p>
            <a:r>
              <a:rPr lang="ja-JP" altLang="en-US" sz="2000" b="1" u="sng" dirty="0">
                <a:latin typeface="メイリオ" panose="020B0604030504040204" pitchFamily="50" charset="-128"/>
                <a:ea typeface="メイリオ" panose="020B0604030504040204" pitchFamily="50" charset="-128"/>
                <a:cs typeface="メイリオ" panose="020B0604030504040204" pitchFamily="50" charset="-128"/>
              </a:rPr>
              <a:t>組織の成長モデル（タックマンモデル：</a:t>
            </a:r>
            <a:r>
              <a:rPr lang="en-US" altLang="ja-JP" sz="2000" b="1" u="sng" dirty="0">
                <a:latin typeface="メイリオ" panose="020B0604030504040204" pitchFamily="50" charset="-128"/>
                <a:ea typeface="メイリオ" panose="020B0604030504040204" pitchFamily="50" charset="-128"/>
                <a:cs typeface="メイリオ" panose="020B0604030504040204" pitchFamily="50" charset="-128"/>
              </a:rPr>
              <a:t>B.W. Tuckman</a:t>
            </a:r>
            <a:r>
              <a:rPr lang="ja-JP" altLang="en-US" sz="2000" b="1" u="sng"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000" b="1"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ホームベース 12"/>
          <p:cNvSpPr/>
          <p:nvPr/>
        </p:nvSpPr>
        <p:spPr>
          <a:xfrm>
            <a:off x="2557409" y="2223841"/>
            <a:ext cx="2149642" cy="2885539"/>
          </a:xfrm>
          <a:prstGeom prst="homePlate">
            <a:avLst>
              <a:gd name="adj" fmla="val 2545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kumimoji="1"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山形 13"/>
          <p:cNvSpPr/>
          <p:nvPr/>
        </p:nvSpPr>
        <p:spPr>
          <a:xfrm>
            <a:off x="4235857" y="2223841"/>
            <a:ext cx="2124749" cy="2885539"/>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山形 14"/>
          <p:cNvSpPr/>
          <p:nvPr/>
        </p:nvSpPr>
        <p:spPr>
          <a:xfrm>
            <a:off x="5892041" y="2223841"/>
            <a:ext cx="2124749" cy="2885679"/>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山形 15"/>
          <p:cNvSpPr/>
          <p:nvPr/>
        </p:nvSpPr>
        <p:spPr>
          <a:xfrm>
            <a:off x="7548225" y="2223841"/>
            <a:ext cx="2124749" cy="2885539"/>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a:p>
            <a:pPr algn="ctr"/>
            <a:endParaRPr lang="en-US" altLang="ja-JP" sz="1400"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テキスト ボックス 16"/>
          <p:cNvSpPr txBox="1"/>
          <p:nvPr/>
        </p:nvSpPr>
        <p:spPr>
          <a:xfrm>
            <a:off x="2464152" y="5476210"/>
            <a:ext cx="1771438" cy="1107996"/>
          </a:xfrm>
          <a:prstGeom prst="rect">
            <a:avLst/>
          </a:prstGeom>
          <a:noFill/>
        </p:spPr>
        <p:txBody>
          <a:bodyPr wrap="square" rtlCol="0">
            <a:spAutoFit/>
          </a:bodyPr>
          <a:lstStyle/>
          <a:p>
            <a:r>
              <a:rPr lang="ja-JP" altLang="en-US" sz="1100" dirty="0">
                <a:latin typeface="Meiryo UI" panose="020B0604030504040204" pitchFamily="50" charset="-128"/>
                <a:ea typeface="Meiryo UI" panose="020B0604030504040204" pitchFamily="50" charset="-128"/>
                <a:cs typeface="Meiryo UI" panose="020B0604030504040204" pitchFamily="50" charset="-128"/>
              </a:rPr>
              <a:t>互いのことをよくわからないので本音は言わず、居心地がよい場合は</a:t>
            </a:r>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仲良しクラブ</a:t>
            </a:r>
            <a:r>
              <a:rPr lang="ja-JP" altLang="en-US" sz="1100" dirty="0">
                <a:latin typeface="Meiryo UI" panose="020B0604030504040204" pitchFamily="50" charset="-128"/>
                <a:ea typeface="Meiryo UI" panose="020B0604030504040204" pitchFamily="50" charset="-128"/>
                <a:cs typeface="Meiryo UI" panose="020B0604030504040204" pitchFamily="50" charset="-128"/>
              </a:rPr>
              <a:t>、悪い場合は</a:t>
            </a:r>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冷ややかな組織</a:t>
            </a:r>
            <a:r>
              <a:rPr lang="ja-JP" altLang="en-US" sz="1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パフォーマンスは低い。事なかれ主義</a:t>
            </a:r>
            <a:endParaRPr kumimoji="1"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二等辺三角形 17"/>
          <p:cNvSpPr/>
          <p:nvPr/>
        </p:nvSpPr>
        <p:spPr>
          <a:xfrm rot="10800000">
            <a:off x="3072914" y="5268102"/>
            <a:ext cx="575430" cy="10227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2557409" y="1700621"/>
            <a:ext cx="1606440" cy="523220"/>
          </a:xfrm>
          <a:prstGeom prst="rect">
            <a:avLst/>
          </a:prstGeom>
          <a:noFill/>
        </p:spPr>
        <p:txBody>
          <a:bodyPr wrap="square" rtlCol="0">
            <a:spAutoFit/>
          </a:bodyPr>
          <a:lstStyle/>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形成期</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1200" dirty="0">
                <a:latin typeface="Meiryo UI" panose="020B0604030504040204" pitchFamily="50" charset="-128"/>
                <a:ea typeface="Meiryo UI" panose="020B0604030504040204" pitchFamily="50" charset="-128"/>
                <a:cs typeface="Meiryo UI" panose="020B0604030504040204" pitchFamily="50" charset="-128"/>
              </a:rPr>
              <a:t>Forming</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テキスト ボックス 19"/>
          <p:cNvSpPr txBox="1"/>
          <p:nvPr/>
        </p:nvSpPr>
        <p:spPr>
          <a:xfrm>
            <a:off x="4235857" y="1696340"/>
            <a:ext cx="1606440" cy="523220"/>
          </a:xfrm>
          <a:prstGeom prst="rect">
            <a:avLst/>
          </a:prstGeom>
          <a:noFill/>
        </p:spPr>
        <p:txBody>
          <a:bodyPr wrap="square" rtlCol="0">
            <a:spAutoFit/>
          </a:bodyPr>
          <a:lstStyle/>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混乱期</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Storming</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テキスト ボックス 20"/>
          <p:cNvSpPr txBox="1"/>
          <p:nvPr/>
        </p:nvSpPr>
        <p:spPr>
          <a:xfrm>
            <a:off x="5892041" y="1696340"/>
            <a:ext cx="1606440" cy="523220"/>
          </a:xfrm>
          <a:prstGeom prst="rect">
            <a:avLst/>
          </a:prstGeom>
          <a:noFill/>
        </p:spPr>
        <p:txBody>
          <a:bodyPr wrap="square" rtlCol="0">
            <a:spAutoFit/>
          </a:bodyPr>
          <a:lstStyle/>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統一期</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1200" dirty="0">
                <a:latin typeface="Meiryo UI" panose="020B0604030504040204" pitchFamily="50" charset="-128"/>
                <a:ea typeface="Meiryo UI" panose="020B0604030504040204" pitchFamily="50" charset="-128"/>
                <a:cs typeface="Meiryo UI" panose="020B0604030504040204" pitchFamily="50" charset="-128"/>
              </a:rPr>
              <a:t>Norming</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テキスト ボックス 21"/>
          <p:cNvSpPr txBox="1"/>
          <p:nvPr/>
        </p:nvSpPr>
        <p:spPr>
          <a:xfrm>
            <a:off x="8977993" y="3891888"/>
            <a:ext cx="1606440" cy="261610"/>
          </a:xfrm>
          <a:prstGeom prst="rect">
            <a:avLst/>
          </a:prstGeom>
          <a:noFill/>
        </p:spPr>
        <p:txBody>
          <a:bodyPr wrap="square" rtlCol="0">
            <a:spAutoFit/>
          </a:bodyPr>
          <a:lstStyle/>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成り行きの未来</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二等辺三角形 22"/>
          <p:cNvSpPr/>
          <p:nvPr/>
        </p:nvSpPr>
        <p:spPr>
          <a:xfrm rot="10800000">
            <a:off x="4740547" y="5274288"/>
            <a:ext cx="575430" cy="10227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二等辺三角形 23"/>
          <p:cNvSpPr/>
          <p:nvPr/>
        </p:nvSpPr>
        <p:spPr>
          <a:xfrm rot="10800000">
            <a:off x="6396098" y="5279437"/>
            <a:ext cx="575430" cy="10227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p:cNvSpPr/>
          <p:nvPr/>
        </p:nvSpPr>
        <p:spPr>
          <a:xfrm rot="10800000">
            <a:off x="8052282" y="5274288"/>
            <a:ext cx="575430" cy="10227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フリーフォーム 25"/>
          <p:cNvSpPr/>
          <p:nvPr/>
        </p:nvSpPr>
        <p:spPr>
          <a:xfrm>
            <a:off x="2563219" y="4026600"/>
            <a:ext cx="6674339" cy="1078523"/>
          </a:xfrm>
          <a:custGeom>
            <a:avLst/>
            <a:gdLst>
              <a:gd name="connsiteX0" fmla="*/ 0 w 6674339"/>
              <a:gd name="connsiteY0" fmla="*/ 1078523 h 1078523"/>
              <a:gd name="connsiteX1" fmla="*/ 820616 w 6674339"/>
              <a:gd name="connsiteY1" fmla="*/ 773723 h 1078523"/>
              <a:gd name="connsiteX2" fmla="*/ 2719754 w 6674339"/>
              <a:gd name="connsiteY2" fmla="*/ 547077 h 1078523"/>
              <a:gd name="connsiteX3" fmla="*/ 3602893 w 6674339"/>
              <a:gd name="connsiteY3" fmla="*/ 492369 h 1078523"/>
              <a:gd name="connsiteX4" fmla="*/ 4525108 w 6674339"/>
              <a:gd name="connsiteY4" fmla="*/ 140677 h 1078523"/>
              <a:gd name="connsiteX5" fmla="*/ 6674339 w 6674339"/>
              <a:gd name="connsiteY5" fmla="*/ 0 h 107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74339" h="1078523">
                <a:moveTo>
                  <a:pt x="0" y="1078523"/>
                </a:moveTo>
                <a:cubicBezTo>
                  <a:pt x="183662" y="970410"/>
                  <a:pt x="367324" y="862297"/>
                  <a:pt x="820616" y="773723"/>
                </a:cubicBezTo>
                <a:cubicBezTo>
                  <a:pt x="1273908" y="685149"/>
                  <a:pt x="2256041" y="593969"/>
                  <a:pt x="2719754" y="547077"/>
                </a:cubicBezTo>
                <a:cubicBezTo>
                  <a:pt x="3183467" y="500185"/>
                  <a:pt x="3302001" y="560102"/>
                  <a:pt x="3602893" y="492369"/>
                </a:cubicBezTo>
                <a:cubicBezTo>
                  <a:pt x="3903785" y="424636"/>
                  <a:pt x="4013200" y="222738"/>
                  <a:pt x="4525108" y="140677"/>
                </a:cubicBezTo>
                <a:cubicBezTo>
                  <a:pt x="5037016" y="58615"/>
                  <a:pt x="5855677" y="29307"/>
                  <a:pt x="6674339" y="0"/>
                </a:cubicBezTo>
              </a:path>
            </a:pathLst>
          </a:custGeom>
          <a:noFill/>
          <a:ln w="12700">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フリーフォーム 26"/>
          <p:cNvSpPr/>
          <p:nvPr/>
        </p:nvSpPr>
        <p:spPr>
          <a:xfrm>
            <a:off x="2563219" y="2455707"/>
            <a:ext cx="6525847" cy="2657231"/>
          </a:xfrm>
          <a:custGeom>
            <a:avLst/>
            <a:gdLst>
              <a:gd name="connsiteX0" fmla="*/ 0 w 6525847"/>
              <a:gd name="connsiteY0" fmla="*/ 2657231 h 2657231"/>
              <a:gd name="connsiteX1" fmla="*/ 773724 w 6525847"/>
              <a:gd name="connsiteY1" fmla="*/ 2102339 h 2657231"/>
              <a:gd name="connsiteX2" fmla="*/ 2203939 w 6525847"/>
              <a:gd name="connsiteY2" fmla="*/ 1860062 h 2657231"/>
              <a:gd name="connsiteX3" fmla="*/ 2930770 w 6525847"/>
              <a:gd name="connsiteY3" fmla="*/ 1047262 h 2657231"/>
              <a:gd name="connsiteX4" fmla="*/ 3852985 w 6525847"/>
              <a:gd name="connsiteY4" fmla="*/ 750277 h 2657231"/>
              <a:gd name="connsiteX5" fmla="*/ 4462585 w 6525847"/>
              <a:gd name="connsiteY5" fmla="*/ 203200 h 2657231"/>
              <a:gd name="connsiteX6" fmla="*/ 6385170 w 6525847"/>
              <a:gd name="connsiteY6" fmla="*/ 7816 h 2657231"/>
              <a:gd name="connsiteX7" fmla="*/ 6385170 w 6525847"/>
              <a:gd name="connsiteY7" fmla="*/ 7816 h 2657231"/>
              <a:gd name="connsiteX8" fmla="*/ 6525847 w 6525847"/>
              <a:gd name="connsiteY8" fmla="*/ 0 h 265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25847" h="2657231">
                <a:moveTo>
                  <a:pt x="0" y="2657231"/>
                </a:moveTo>
                <a:cubicBezTo>
                  <a:pt x="203200" y="2446215"/>
                  <a:pt x="406401" y="2235200"/>
                  <a:pt x="773724" y="2102339"/>
                </a:cubicBezTo>
                <a:cubicBezTo>
                  <a:pt x="1141047" y="1969478"/>
                  <a:pt x="1844431" y="2035908"/>
                  <a:pt x="2203939" y="1860062"/>
                </a:cubicBezTo>
                <a:cubicBezTo>
                  <a:pt x="2563447" y="1684216"/>
                  <a:pt x="2655929" y="1232226"/>
                  <a:pt x="2930770" y="1047262"/>
                </a:cubicBezTo>
                <a:cubicBezTo>
                  <a:pt x="3205611" y="862298"/>
                  <a:pt x="3597683" y="890954"/>
                  <a:pt x="3852985" y="750277"/>
                </a:cubicBezTo>
                <a:cubicBezTo>
                  <a:pt x="4108287" y="609600"/>
                  <a:pt x="4040554" y="326943"/>
                  <a:pt x="4462585" y="203200"/>
                </a:cubicBezTo>
                <a:cubicBezTo>
                  <a:pt x="4884616" y="79456"/>
                  <a:pt x="6385170" y="7816"/>
                  <a:pt x="6385170" y="7816"/>
                </a:cubicBezTo>
                <a:lnTo>
                  <a:pt x="6385170" y="7816"/>
                </a:lnTo>
                <a:lnTo>
                  <a:pt x="6525847" y="0"/>
                </a:lnTo>
              </a:path>
            </a:pathLst>
          </a:custGeom>
          <a:noFill/>
          <a:ln w="19050">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矢印コネクタ 27"/>
          <p:cNvCxnSpPr>
            <a:stCxn id="27" idx="0"/>
          </p:cNvCxnSpPr>
          <p:nvPr/>
        </p:nvCxnSpPr>
        <p:spPr>
          <a:xfrm flipH="1" flipV="1">
            <a:off x="2552733" y="1777579"/>
            <a:ext cx="10486" cy="33353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a:off x="2556228" y="5112938"/>
            <a:ext cx="70802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2198790" y="2219560"/>
            <a:ext cx="353943" cy="2885563"/>
          </a:xfrm>
          <a:prstGeom prst="rect">
            <a:avLst/>
          </a:prstGeom>
          <a:noFill/>
        </p:spPr>
        <p:txBody>
          <a:bodyPr vert="eaVert" wrap="square" rtlCol="0">
            <a:spAutoFit/>
          </a:bodyPr>
          <a:lstStyle/>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組織のパフォーマンス</a:t>
            </a:r>
          </a:p>
        </p:txBody>
      </p:sp>
      <p:sp>
        <p:nvSpPr>
          <p:cNvPr id="31" name="テキスト ボックス 30"/>
          <p:cNvSpPr txBox="1"/>
          <p:nvPr/>
        </p:nvSpPr>
        <p:spPr>
          <a:xfrm>
            <a:off x="4160337" y="5464201"/>
            <a:ext cx="1771438" cy="1107996"/>
          </a:xfrm>
          <a:prstGeom prst="rect">
            <a:avLst/>
          </a:prstGeom>
          <a:noFill/>
        </p:spPr>
        <p:txBody>
          <a:bodyPr wrap="square" rtlCol="0">
            <a:spAutoFit/>
          </a:bodyPr>
          <a:lstStyle/>
          <a:p>
            <a:r>
              <a:rPr lang="ja-JP" altLang="en-US" sz="1100" dirty="0">
                <a:latin typeface="Meiryo UI" panose="020B0604030504040204" pitchFamily="50" charset="-128"/>
                <a:ea typeface="Meiryo UI" panose="020B0604030504040204" pitchFamily="50" charset="-128"/>
                <a:cs typeface="Meiryo UI" panose="020B0604030504040204" pitchFamily="50" charset="-128"/>
              </a:rPr>
              <a:t>課題の解決に向けて</a:t>
            </a:r>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互いの意見の相違</a:t>
            </a:r>
            <a:r>
              <a:rPr lang="ja-JP" altLang="en-US" sz="1100" dirty="0">
                <a:latin typeface="Meiryo UI" panose="020B0604030504040204" pitchFamily="50" charset="-128"/>
                <a:ea typeface="Meiryo UI" panose="020B0604030504040204" pitchFamily="50" charset="-128"/>
                <a:cs typeface="Meiryo UI" panose="020B0604030504040204" pitchFamily="50" charset="-128"/>
              </a:rPr>
              <a:t>が表面化する。「私はこう思う」「あなたは間違っている」と時には衝突する。</a:t>
            </a:r>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自己優先で、協業意識が低い</a:t>
            </a:r>
            <a:endParaRPr kumimoji="1"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テキスト ボックス 31"/>
          <p:cNvSpPr txBox="1"/>
          <p:nvPr/>
        </p:nvSpPr>
        <p:spPr>
          <a:xfrm>
            <a:off x="5820033" y="5464201"/>
            <a:ext cx="1771438" cy="938719"/>
          </a:xfrm>
          <a:prstGeom prst="rect">
            <a:avLst/>
          </a:prstGeom>
          <a:noFill/>
        </p:spPr>
        <p:txBody>
          <a:bodyPr wrap="square" rtlCol="0">
            <a:spAutoFit/>
          </a:bodyPr>
          <a:lstStyle/>
          <a:p>
            <a:r>
              <a:rPr kumimoji="1"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目的が共有され、それぞれの役割が決まり</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、何をすべきかを理解している。組織内で規律ができ、</a:t>
            </a:r>
            <a:r>
              <a:rPr kumimoji="1"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協力関係</a:t>
            </a: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が芽生える</a:t>
            </a:r>
          </a:p>
        </p:txBody>
      </p:sp>
      <p:sp>
        <p:nvSpPr>
          <p:cNvPr id="33" name="テキスト ボックス 32"/>
          <p:cNvSpPr txBox="1"/>
          <p:nvPr/>
        </p:nvSpPr>
        <p:spPr>
          <a:xfrm>
            <a:off x="7504979" y="5464201"/>
            <a:ext cx="1771438" cy="1107996"/>
          </a:xfrm>
          <a:prstGeom prst="rect">
            <a:avLst/>
          </a:prstGeom>
          <a:noFill/>
        </p:spPr>
        <p:txBody>
          <a:bodyPr wrap="square" rtlCol="0">
            <a:spAutoFit/>
          </a:bodyPr>
          <a:lstStyle/>
          <a:p>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成功体験を共有</a:t>
            </a:r>
            <a:r>
              <a:rPr lang="ja-JP" altLang="en-US" sz="1100" dirty="0">
                <a:latin typeface="Meiryo UI" panose="020B0604030504040204" pitchFamily="50" charset="-128"/>
                <a:ea typeface="Meiryo UI" panose="020B0604030504040204" pitchFamily="50" charset="-128"/>
                <a:cs typeface="Meiryo UI" panose="020B0604030504040204" pitchFamily="50" charset="-128"/>
              </a:rPr>
              <a:t>し、組織に対しての</a:t>
            </a:r>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帰属意識</a:t>
            </a:r>
            <a:r>
              <a:rPr lang="ja-JP" altLang="en-US" sz="1100" dirty="0">
                <a:latin typeface="Meiryo UI" panose="020B0604030504040204" pitchFamily="50" charset="-128"/>
                <a:ea typeface="Meiryo UI" panose="020B0604030504040204" pitchFamily="50" charset="-128"/>
                <a:cs typeface="Meiryo UI" panose="020B0604030504040204" pitchFamily="50" charset="-128"/>
              </a:rPr>
              <a:t>が生まれる。ビジョンや制度はメンバーの共同意思によって成立する。互いの</a:t>
            </a:r>
            <a:r>
              <a:rPr lang="ja-JP" altLang="en-US" sz="11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信頼関係</a:t>
            </a:r>
            <a:r>
              <a:rPr lang="ja-JP" altLang="en-US" sz="1100" dirty="0">
                <a:latin typeface="Meiryo UI" panose="020B0604030504040204" pitchFamily="50" charset="-128"/>
                <a:ea typeface="Meiryo UI" panose="020B0604030504040204" pitchFamily="50" charset="-128"/>
                <a:cs typeface="Meiryo UI" panose="020B0604030504040204" pitchFamily="50" charset="-128"/>
              </a:rPr>
              <a:t>が構築される</a:t>
            </a:r>
            <a:endParaRPr kumimoji="1" lang="ja-JP" altLang="en-US" sz="1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テキスト ボックス 33"/>
          <p:cNvSpPr txBox="1"/>
          <p:nvPr/>
        </p:nvSpPr>
        <p:spPr>
          <a:xfrm>
            <a:off x="9182145" y="5012989"/>
            <a:ext cx="1606440" cy="261610"/>
          </a:xfrm>
          <a:prstGeom prst="rect">
            <a:avLst/>
          </a:prstGeom>
          <a:noFill/>
        </p:spPr>
        <p:txBody>
          <a:bodyPr wrap="square" rtlCol="0">
            <a:spAutoFit/>
          </a:bodyPr>
          <a:lstStyle/>
          <a:p>
            <a:pPr algn="ctr"/>
            <a:r>
              <a:rPr kumimoji="1" lang="ja-JP" altLang="en-US" sz="1100"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時間</a:t>
            </a:r>
          </a:p>
        </p:txBody>
      </p:sp>
      <p:sp>
        <p:nvSpPr>
          <p:cNvPr id="35" name="上カーブ矢印 34"/>
          <p:cNvSpPr/>
          <p:nvPr/>
        </p:nvSpPr>
        <p:spPr>
          <a:xfrm rot="17006421">
            <a:off x="6182490" y="3527926"/>
            <a:ext cx="1049939" cy="360040"/>
          </a:xfrm>
          <a:prstGeom prst="curvedUp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6" name="テキスト ボックス 35"/>
          <p:cNvSpPr txBox="1"/>
          <p:nvPr/>
        </p:nvSpPr>
        <p:spPr>
          <a:xfrm>
            <a:off x="7587478" y="1702871"/>
            <a:ext cx="1606440" cy="523220"/>
          </a:xfrm>
          <a:prstGeom prst="rect">
            <a:avLst/>
          </a:prstGeom>
          <a:noFill/>
        </p:spPr>
        <p:txBody>
          <a:bodyPr wrap="square" rtlCol="0">
            <a:spAutoFit/>
          </a:bodyPr>
          <a:lstStyle/>
          <a:p>
            <a:pPr algn="ct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機能期</a:t>
            </a:r>
            <a:endParaRPr kumimoji="1" lang="en-US" altLang="ja-JP" sz="16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200" dirty="0">
                <a:latin typeface="Meiryo UI" panose="020B0604030504040204" pitchFamily="50" charset="-128"/>
                <a:ea typeface="Meiryo UI" panose="020B0604030504040204" pitchFamily="50" charset="-128"/>
                <a:cs typeface="Meiryo UI" panose="020B0604030504040204" pitchFamily="50" charset="-128"/>
              </a:rPr>
              <a:t>Performing</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テキスト ボックス 36"/>
          <p:cNvSpPr txBox="1"/>
          <p:nvPr/>
        </p:nvSpPr>
        <p:spPr>
          <a:xfrm>
            <a:off x="8867466" y="2335956"/>
            <a:ext cx="1606440" cy="261610"/>
          </a:xfrm>
          <a:prstGeom prst="rect">
            <a:avLst/>
          </a:prstGeom>
          <a:noFill/>
        </p:spPr>
        <p:txBody>
          <a:bodyPr wrap="square" rtlCol="0">
            <a:spAutoFit/>
          </a:bodyPr>
          <a:lstStyle/>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創造的な未来</a:t>
            </a: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テキスト ボックス 38"/>
          <p:cNvSpPr txBox="1"/>
          <p:nvPr/>
        </p:nvSpPr>
        <p:spPr>
          <a:xfrm>
            <a:off x="2379279" y="1232478"/>
            <a:ext cx="7704856" cy="400110"/>
          </a:xfrm>
          <a:prstGeom prst="rect">
            <a:avLst/>
          </a:prstGeom>
          <a:noFill/>
        </p:spPr>
        <p:txBody>
          <a:bodyPr wrap="square" rtlCol="0">
            <a:spAutoFit/>
          </a:bodyPr>
          <a:lstStyle/>
          <a:p>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「成り行きの未来」と「創造的な未来」の分かれ目</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6072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矢羽根</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31</a:t>
            </a:fld>
            <a:endParaRPr lang="ja-JP" altLang="en-US">
              <a:uFillTx/>
            </a:endParaRPr>
          </a:p>
        </p:txBody>
      </p:sp>
      <p:sp>
        <p:nvSpPr>
          <p:cNvPr id="40" name="ホームベース 39"/>
          <p:cNvSpPr/>
          <p:nvPr/>
        </p:nvSpPr>
        <p:spPr>
          <a:xfrm>
            <a:off x="2642667" y="2301560"/>
            <a:ext cx="2149642" cy="1764632"/>
          </a:xfrm>
          <a:prstGeom prst="homePlate">
            <a:avLst>
              <a:gd name="adj" fmla="val 2545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dirty="0">
                <a:solidFill>
                  <a:schemeClr val="tx1"/>
                </a:solidFill>
                <a:latin typeface="Meiryo" charset="-128"/>
                <a:ea typeface="Meiryo" charset="-128"/>
                <a:cs typeface="Meiryo" charset="-128"/>
              </a:rPr>
              <a:t>事実</a:t>
            </a:r>
            <a:endParaRPr kumimoji="1" lang="en-US" altLang="ja-JP" sz="2800" b="1" dirty="0">
              <a:solidFill>
                <a:schemeClr val="tx1"/>
              </a:solidFill>
              <a:latin typeface="Meiryo" charset="-128"/>
              <a:ea typeface="Meiryo" charset="-128"/>
              <a:cs typeface="Meiryo" charset="-128"/>
            </a:endParaRPr>
          </a:p>
        </p:txBody>
      </p:sp>
      <p:sp>
        <p:nvSpPr>
          <p:cNvPr id="41" name="山形 40"/>
          <p:cNvSpPr/>
          <p:nvPr/>
        </p:nvSpPr>
        <p:spPr>
          <a:xfrm>
            <a:off x="4413936" y="2301560"/>
            <a:ext cx="2124749" cy="1764632"/>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dirty="0">
                <a:solidFill>
                  <a:schemeClr val="tx1"/>
                </a:solidFill>
                <a:latin typeface="Meiryo" charset="-128"/>
                <a:ea typeface="Meiryo" charset="-128"/>
                <a:cs typeface="Meiryo" charset="-128"/>
              </a:rPr>
              <a:t>課題</a:t>
            </a:r>
            <a:endParaRPr lang="en-US" altLang="ja-JP" sz="2800" b="1" dirty="0">
              <a:solidFill>
                <a:schemeClr val="tx1"/>
              </a:solidFill>
              <a:latin typeface="Meiryo" charset="-128"/>
              <a:ea typeface="Meiryo" charset="-128"/>
              <a:cs typeface="Meiryo" charset="-128"/>
            </a:endParaRPr>
          </a:p>
        </p:txBody>
      </p:sp>
      <p:sp>
        <p:nvSpPr>
          <p:cNvPr id="42" name="山形 41"/>
          <p:cNvSpPr/>
          <p:nvPr/>
        </p:nvSpPr>
        <p:spPr>
          <a:xfrm>
            <a:off x="6163910" y="2301700"/>
            <a:ext cx="2124749" cy="1764632"/>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dirty="0">
                <a:solidFill>
                  <a:schemeClr val="tx1"/>
                </a:solidFill>
                <a:latin typeface="Meiryo" charset="-128"/>
                <a:ea typeface="Meiryo" charset="-128"/>
                <a:cs typeface="Meiryo" charset="-128"/>
              </a:rPr>
              <a:t>解決</a:t>
            </a:r>
            <a:endParaRPr lang="en-US" altLang="ja-JP" sz="2800" b="1" dirty="0">
              <a:solidFill>
                <a:schemeClr val="tx1"/>
              </a:solidFill>
              <a:latin typeface="Meiryo" charset="-128"/>
              <a:ea typeface="Meiryo" charset="-128"/>
              <a:cs typeface="Meiryo" charset="-128"/>
            </a:endParaRPr>
          </a:p>
        </p:txBody>
      </p:sp>
      <p:sp>
        <p:nvSpPr>
          <p:cNvPr id="43" name="山形 42"/>
          <p:cNvSpPr/>
          <p:nvPr/>
        </p:nvSpPr>
        <p:spPr>
          <a:xfrm>
            <a:off x="7910286" y="2301560"/>
            <a:ext cx="2124749" cy="1764632"/>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dirty="0">
                <a:solidFill>
                  <a:schemeClr val="tx1"/>
                </a:solidFill>
                <a:latin typeface="Meiryo" charset="-128"/>
                <a:ea typeface="Meiryo" charset="-128"/>
                <a:cs typeface="Meiryo" charset="-128"/>
              </a:rPr>
              <a:t>評価</a:t>
            </a:r>
            <a:endParaRPr lang="en-US" altLang="ja-JP" sz="2800" b="1" dirty="0">
              <a:solidFill>
                <a:schemeClr val="tx1"/>
              </a:solidFill>
              <a:latin typeface="Meiryo" charset="-128"/>
              <a:ea typeface="Meiryo" charset="-128"/>
              <a:cs typeface="Meiryo" charset="-128"/>
            </a:endParaRPr>
          </a:p>
        </p:txBody>
      </p:sp>
      <p:sp>
        <p:nvSpPr>
          <p:cNvPr id="44" name="テキスト ボックス 43"/>
          <p:cNvSpPr txBox="1"/>
          <p:nvPr/>
        </p:nvSpPr>
        <p:spPr>
          <a:xfrm>
            <a:off x="2642667" y="4893848"/>
            <a:ext cx="1771438" cy="738664"/>
          </a:xfrm>
          <a:prstGeom prst="rect">
            <a:avLst/>
          </a:prstGeom>
          <a:noFill/>
        </p:spPr>
        <p:txBody>
          <a:bodyPr wrap="square" rtlCol="0">
            <a:spAutoFit/>
          </a:bodyPr>
          <a:lstStyle/>
          <a:p>
            <a:r>
              <a:rPr lang="ja-JP" altLang="en-US" sz="1400" dirty="0">
                <a:latin typeface="Meiryo" charset="-128"/>
                <a:ea typeface="Meiryo" charset="-128"/>
                <a:cs typeface="Meiryo" charset="-128"/>
              </a:rPr>
              <a:t>自分の思い込みだけでなく、定量・定性情報を集める</a:t>
            </a:r>
            <a:endParaRPr kumimoji="1" lang="ja-JP" altLang="en-US" sz="1400" dirty="0">
              <a:latin typeface="Meiryo" charset="-128"/>
              <a:ea typeface="Meiryo" charset="-128"/>
              <a:cs typeface="Meiryo" charset="-128"/>
            </a:endParaRPr>
          </a:p>
        </p:txBody>
      </p:sp>
      <p:sp>
        <p:nvSpPr>
          <p:cNvPr id="45" name="テキスト ボックス 44"/>
          <p:cNvSpPr txBox="1"/>
          <p:nvPr/>
        </p:nvSpPr>
        <p:spPr>
          <a:xfrm>
            <a:off x="4442867" y="4893848"/>
            <a:ext cx="1824438" cy="738664"/>
          </a:xfrm>
          <a:prstGeom prst="rect">
            <a:avLst/>
          </a:prstGeom>
          <a:noFill/>
        </p:spPr>
        <p:txBody>
          <a:bodyPr wrap="square" rtlCol="0">
            <a:spAutoFit/>
          </a:bodyPr>
          <a:lstStyle/>
          <a:p>
            <a:r>
              <a:rPr kumimoji="1" lang="ja-JP" altLang="en-US" sz="1400" dirty="0">
                <a:latin typeface="Meiryo" charset="-128"/>
                <a:ea typeface="Meiryo" charset="-128"/>
                <a:cs typeface="Meiryo" charset="-128"/>
              </a:rPr>
              <a:t>組織のミッションを達成するための組織課題を設定する</a:t>
            </a:r>
          </a:p>
        </p:txBody>
      </p:sp>
      <p:sp>
        <p:nvSpPr>
          <p:cNvPr id="46" name="テキスト ボックス 45"/>
          <p:cNvSpPr txBox="1"/>
          <p:nvPr/>
        </p:nvSpPr>
        <p:spPr>
          <a:xfrm>
            <a:off x="6291543" y="4893848"/>
            <a:ext cx="1895740" cy="738664"/>
          </a:xfrm>
          <a:prstGeom prst="rect">
            <a:avLst/>
          </a:prstGeom>
          <a:noFill/>
        </p:spPr>
        <p:txBody>
          <a:bodyPr wrap="square" rtlCol="0">
            <a:spAutoFit/>
          </a:bodyPr>
          <a:lstStyle/>
          <a:p>
            <a:r>
              <a:rPr lang="ja-JP" altLang="en-US" sz="1400" dirty="0">
                <a:latin typeface="Meiryo" charset="-128"/>
                <a:ea typeface="Meiryo" charset="-128"/>
                <a:cs typeface="Meiryo" charset="-128"/>
              </a:rPr>
              <a:t>豊富な知識の中から解決策を設定・実行する</a:t>
            </a:r>
            <a:endParaRPr kumimoji="1" lang="ja-JP" altLang="en-US" sz="1400" dirty="0">
              <a:latin typeface="Meiryo" charset="-128"/>
              <a:ea typeface="Meiryo" charset="-128"/>
              <a:cs typeface="Meiryo" charset="-128"/>
            </a:endParaRPr>
          </a:p>
        </p:txBody>
      </p:sp>
      <p:sp>
        <p:nvSpPr>
          <p:cNvPr id="47" name="テキスト ボックス 46"/>
          <p:cNvSpPr txBox="1"/>
          <p:nvPr/>
        </p:nvSpPr>
        <p:spPr>
          <a:xfrm>
            <a:off x="8216596" y="4893848"/>
            <a:ext cx="1852494" cy="523220"/>
          </a:xfrm>
          <a:prstGeom prst="rect">
            <a:avLst/>
          </a:prstGeom>
          <a:noFill/>
        </p:spPr>
        <p:txBody>
          <a:bodyPr wrap="square" rtlCol="0">
            <a:spAutoFit/>
          </a:bodyPr>
          <a:lstStyle/>
          <a:p>
            <a:r>
              <a:rPr lang="ja-JP" altLang="en-US" sz="1400" dirty="0">
                <a:latin typeface="Meiryo" charset="-128"/>
                <a:ea typeface="Meiryo" charset="-128"/>
                <a:cs typeface="Meiryo" charset="-128"/>
              </a:rPr>
              <a:t>成果を可視化して、解決の実感を与える</a:t>
            </a:r>
            <a:endParaRPr kumimoji="1" lang="ja-JP" altLang="en-US" sz="1400" dirty="0">
              <a:latin typeface="Meiryo" charset="-128"/>
              <a:ea typeface="Meiryo" charset="-128"/>
              <a:cs typeface="Meiryo" charset="-128"/>
            </a:endParaRPr>
          </a:p>
        </p:txBody>
      </p:sp>
      <p:sp>
        <p:nvSpPr>
          <p:cNvPr id="48" name="二等辺三角形 47"/>
          <p:cNvSpPr/>
          <p:nvPr/>
        </p:nvSpPr>
        <p:spPr>
          <a:xfrm rot="10800000">
            <a:off x="3290739" y="4461800"/>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49" name="二等辺三角形 48"/>
          <p:cNvSpPr/>
          <p:nvPr/>
        </p:nvSpPr>
        <p:spPr>
          <a:xfrm rot="10800000">
            <a:off x="5225098" y="4469758"/>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50" name="二等辺三角形 49"/>
          <p:cNvSpPr/>
          <p:nvPr/>
        </p:nvSpPr>
        <p:spPr>
          <a:xfrm rot="10800000">
            <a:off x="6953290" y="4479485"/>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51" name="二等辺三角形 50"/>
          <p:cNvSpPr/>
          <p:nvPr/>
        </p:nvSpPr>
        <p:spPr>
          <a:xfrm rot="10800000">
            <a:off x="8700938" y="4489935"/>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52" name="テキスト ボックス 51"/>
          <p:cNvSpPr txBox="1"/>
          <p:nvPr/>
        </p:nvSpPr>
        <p:spPr>
          <a:xfrm>
            <a:off x="2138611" y="1174377"/>
            <a:ext cx="8064896" cy="400110"/>
          </a:xfrm>
          <a:prstGeom prst="rect">
            <a:avLst/>
          </a:prstGeom>
          <a:noFill/>
        </p:spPr>
        <p:txBody>
          <a:bodyPr wrap="square" rtlCol="0">
            <a:spAutoFit/>
          </a:bodyPr>
          <a:lstStyle/>
          <a:p>
            <a:r>
              <a:rPr lang="ja-JP" altLang="en-US" sz="2000" b="1" u="sng" dirty="0">
                <a:latin typeface="メイリオ" panose="020B0604030504040204" pitchFamily="50" charset="-128"/>
                <a:ea typeface="メイリオ" panose="020B0604030504040204" pitchFamily="50" charset="-128"/>
                <a:cs typeface="メイリオ" panose="020B0604030504040204" pitchFamily="50" charset="-128"/>
              </a:rPr>
              <a:t>組織開発の</a:t>
            </a:r>
            <a:r>
              <a:rPr lang="en-US" altLang="ja-JP" sz="2000" b="1" u="sng" dirty="0">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2000" b="1" u="sng" dirty="0">
                <a:latin typeface="メイリオ" panose="020B0604030504040204" pitchFamily="50" charset="-128"/>
                <a:ea typeface="メイリオ" panose="020B0604030504040204" pitchFamily="50" charset="-128"/>
                <a:cs typeface="メイリオ" panose="020B0604030504040204" pitchFamily="50" charset="-128"/>
              </a:rPr>
              <a:t>ステップ</a:t>
            </a:r>
            <a:endParaRPr lang="en-US" altLang="ja-JP" sz="2000" b="1"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3" name="テキスト ボックス 52"/>
          <p:cNvSpPr txBox="1"/>
          <p:nvPr/>
        </p:nvSpPr>
        <p:spPr>
          <a:xfrm>
            <a:off x="2442273" y="1558344"/>
            <a:ext cx="7704856" cy="400110"/>
          </a:xfrm>
          <a:prstGeom prst="rect">
            <a:avLst/>
          </a:prstGeom>
          <a:noFill/>
        </p:spPr>
        <p:txBody>
          <a:bodyPr wrap="square" rtlCol="0">
            <a:spAutoFit/>
          </a:bodyPr>
          <a:lstStyle/>
          <a:p>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問題解決の基本的な手法と同じ。課題設定無くして解決できない</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2605130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事実を集めるという事</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32</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目の見えないお坊さんたちが一つのものを触っています</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テキスト ボックス 11"/>
          <p:cNvSpPr txBox="1"/>
          <p:nvPr/>
        </p:nvSpPr>
        <p:spPr>
          <a:xfrm>
            <a:off x="6360367" y="5061130"/>
            <a:ext cx="800219" cy="184666"/>
          </a:xfrm>
          <a:prstGeom prst="rect">
            <a:avLst/>
          </a:prstGeom>
          <a:noFill/>
        </p:spPr>
        <p:txBody>
          <a:bodyPr wrap="none" rtlCol="0">
            <a:spAutoFit/>
          </a:bodyPr>
          <a:lstStyle/>
          <a:p>
            <a:r>
              <a:rPr kumimoji="1" lang="ja-JP" altLang="en-US" sz="600">
                <a:latin typeface="Meiryo" charset="-128"/>
                <a:ea typeface="Meiryo" charset="-128"/>
                <a:cs typeface="Meiryo" charset="-128"/>
              </a:rPr>
              <a:t>イラスト：アフロ</a:t>
            </a:r>
            <a:endParaRPr kumimoji="1" lang="ja-JP" altLang="en-US" sz="600" dirty="0">
              <a:latin typeface="Meiryo" charset="-128"/>
              <a:ea typeface="Meiryo" charset="-128"/>
              <a:cs typeface="Meiryo" charset="-128"/>
            </a:endParaRPr>
          </a:p>
        </p:txBody>
      </p:sp>
      <p:sp>
        <p:nvSpPr>
          <p:cNvPr id="14" name="動作設定ボタン: ヘルプ 13">
            <a:hlinkClick r:id="" action="ppaction://noaction" highlightClick="1"/>
          </p:cNvPr>
          <p:cNvSpPr/>
          <p:nvPr/>
        </p:nvSpPr>
        <p:spPr>
          <a:xfrm>
            <a:off x="2669979" y="1668032"/>
            <a:ext cx="6843438" cy="4462679"/>
          </a:xfrm>
          <a:prstGeom prst="actionButtonHelp">
            <a:avLst/>
          </a:prstGeom>
          <a:solidFill>
            <a:srgbClr val="AEB1B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endPar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endParaRPr>
          </a:p>
        </p:txBody>
      </p:sp>
      <p:sp>
        <p:nvSpPr>
          <p:cNvPr id="20" name="角丸四角形吹き出し 19"/>
          <p:cNvSpPr/>
          <p:nvPr/>
        </p:nvSpPr>
        <p:spPr>
          <a:xfrm>
            <a:off x="1898462" y="2058667"/>
            <a:ext cx="1414131" cy="823220"/>
          </a:xfrm>
          <a:prstGeom prst="wedgeRoundRectCallout">
            <a:avLst>
              <a:gd name="adj1" fmla="val 76246"/>
              <a:gd name="adj2" fmla="val 24878"/>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羽みたいな</a:t>
            </a:r>
            <a:endParaRPr kumimoji="0" lang="en-US" altLang="ja-JP" sz="1500" b="0" i="0" u="none" strike="noStrike" kern="0" cap="none" spc="0" normalizeH="0" baseline="0" noProof="0" dirty="0">
              <a:ln>
                <a:noFill/>
              </a:ln>
              <a:solidFill>
                <a:srgbClr val="000000"/>
              </a:solidFill>
              <a:effectLst/>
              <a:uLnTx/>
              <a:uFillTx/>
              <a:latin typeface="Meiryo" charset="-128"/>
              <a:ea typeface="Meiryo" charset="-128"/>
              <a:cs typeface="Meiryo" charset="-128"/>
            </a:endParaRPr>
          </a:p>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ものだ！</a:t>
            </a:r>
          </a:p>
        </p:txBody>
      </p:sp>
      <p:sp>
        <p:nvSpPr>
          <p:cNvPr id="21" name="角丸四角形吹き出し 20"/>
          <p:cNvSpPr/>
          <p:nvPr/>
        </p:nvSpPr>
        <p:spPr>
          <a:xfrm>
            <a:off x="1898462" y="3914976"/>
            <a:ext cx="1656184" cy="657267"/>
          </a:xfrm>
          <a:prstGeom prst="wedgeRoundRectCallout">
            <a:avLst>
              <a:gd name="adj1" fmla="val 34378"/>
              <a:gd name="adj2" fmla="val -68573"/>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長い</a:t>
            </a:r>
            <a:r>
              <a:rPr lang="ja-JP" altLang="en-US" sz="1500" dirty="0">
                <a:latin typeface="Meiryo" charset="-128"/>
                <a:ea typeface="Meiryo" charset="-128"/>
                <a:cs typeface="Meiryo" charset="-128"/>
              </a:rPr>
              <a:t>ヤリ</a:t>
            </a: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だ！</a:t>
            </a:r>
          </a:p>
        </p:txBody>
      </p:sp>
      <p:sp>
        <p:nvSpPr>
          <p:cNvPr id="22" name="角丸四角形吹き出し 21"/>
          <p:cNvSpPr/>
          <p:nvPr/>
        </p:nvSpPr>
        <p:spPr>
          <a:xfrm>
            <a:off x="6566987" y="1602403"/>
            <a:ext cx="2467080" cy="657267"/>
          </a:xfrm>
          <a:prstGeom prst="wedgeRoundRectCallout">
            <a:avLst>
              <a:gd name="adj1" fmla="val -39998"/>
              <a:gd name="adj2" fmla="val 101566"/>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大きな壁だ！</a:t>
            </a:r>
          </a:p>
        </p:txBody>
      </p:sp>
      <p:sp>
        <p:nvSpPr>
          <p:cNvPr id="23" name="角丸四角形吹き出し 22"/>
          <p:cNvSpPr/>
          <p:nvPr/>
        </p:nvSpPr>
        <p:spPr>
          <a:xfrm>
            <a:off x="8496794" y="2979967"/>
            <a:ext cx="1832363" cy="657267"/>
          </a:xfrm>
          <a:prstGeom prst="wedgeRoundRectCallout">
            <a:avLst>
              <a:gd name="adj1" fmla="val -57248"/>
              <a:gd name="adj2" fmla="val 96035"/>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ロープだ！</a:t>
            </a:r>
          </a:p>
        </p:txBody>
      </p:sp>
      <p:sp>
        <p:nvSpPr>
          <p:cNvPr id="24" name="角丸四角形吹き出し 23"/>
          <p:cNvSpPr/>
          <p:nvPr/>
        </p:nvSpPr>
        <p:spPr>
          <a:xfrm>
            <a:off x="7800527" y="4917114"/>
            <a:ext cx="2467080" cy="657267"/>
          </a:xfrm>
          <a:prstGeom prst="wedgeRoundRectCallout">
            <a:avLst>
              <a:gd name="adj1" fmla="val -37987"/>
              <a:gd name="adj2" fmla="val -72023"/>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丸太のようなものだ！</a:t>
            </a:r>
          </a:p>
        </p:txBody>
      </p:sp>
    </p:spTree>
    <p:extLst>
      <p:ext uri="{BB962C8B-B14F-4D97-AF65-F5344CB8AC3E}">
        <p14:creationId xmlns:p14="http://schemas.microsoft.com/office/powerpoint/2010/main" val="1957203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事実を集めるという事</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33</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群盲象を評す（ぐんもうぞうをひょうす）</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9" name="グループ化 8"/>
          <p:cNvGrpSpPr/>
          <p:nvPr/>
        </p:nvGrpSpPr>
        <p:grpSpPr>
          <a:xfrm>
            <a:off x="3047999" y="1657663"/>
            <a:ext cx="5457825" cy="4329349"/>
            <a:chOff x="3810000" y="1738076"/>
            <a:chExt cx="4477056" cy="3500674"/>
          </a:xfrm>
        </p:grpSpPr>
        <p:pic>
          <p:nvPicPr>
            <p:cNvPr id="7" name="図 6"/>
            <p:cNvPicPr>
              <a:picLocks noChangeAspect="1"/>
            </p:cNvPicPr>
            <p:nvPr/>
          </p:nvPicPr>
          <p:blipFill>
            <a:blip r:embed="rId3"/>
            <a:stretch>
              <a:fillRect/>
            </a:stretch>
          </p:blipFill>
          <p:spPr>
            <a:xfrm>
              <a:off x="3904944" y="1738076"/>
              <a:ext cx="4382112" cy="3381847"/>
            </a:xfrm>
            <a:prstGeom prst="rect">
              <a:avLst/>
            </a:prstGeom>
          </p:spPr>
        </p:pic>
        <p:sp>
          <p:nvSpPr>
            <p:cNvPr id="8" name="正方形/長方形 7"/>
            <p:cNvSpPr/>
            <p:nvPr/>
          </p:nvSpPr>
          <p:spPr>
            <a:xfrm>
              <a:off x="3810000" y="3829050"/>
              <a:ext cx="22860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角丸四角形吹き出し 14"/>
          <p:cNvSpPr/>
          <p:nvPr/>
        </p:nvSpPr>
        <p:spPr>
          <a:xfrm>
            <a:off x="1898462" y="2058667"/>
            <a:ext cx="1414131" cy="823220"/>
          </a:xfrm>
          <a:prstGeom prst="wedgeRoundRectCallout">
            <a:avLst>
              <a:gd name="adj1" fmla="val 76246"/>
              <a:gd name="adj2" fmla="val 24878"/>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羽みたいな</a:t>
            </a:r>
            <a:endParaRPr kumimoji="0" lang="en-US" altLang="ja-JP" sz="1500" b="0" i="0" u="none" strike="noStrike" kern="0" cap="none" spc="0" normalizeH="0" baseline="0" noProof="0" dirty="0">
              <a:ln>
                <a:noFill/>
              </a:ln>
              <a:solidFill>
                <a:srgbClr val="000000"/>
              </a:solidFill>
              <a:effectLst/>
              <a:uLnTx/>
              <a:uFillTx/>
              <a:latin typeface="Meiryo" charset="-128"/>
              <a:ea typeface="Meiryo" charset="-128"/>
              <a:cs typeface="Meiryo" charset="-128"/>
            </a:endParaRPr>
          </a:p>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ものだ！</a:t>
            </a:r>
          </a:p>
        </p:txBody>
      </p:sp>
      <p:sp>
        <p:nvSpPr>
          <p:cNvPr id="16" name="角丸四角形吹き出し 15"/>
          <p:cNvSpPr/>
          <p:nvPr/>
        </p:nvSpPr>
        <p:spPr>
          <a:xfrm>
            <a:off x="1898462" y="3914976"/>
            <a:ext cx="1656184" cy="657267"/>
          </a:xfrm>
          <a:prstGeom prst="wedgeRoundRectCallout">
            <a:avLst>
              <a:gd name="adj1" fmla="val 34378"/>
              <a:gd name="adj2" fmla="val -68573"/>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長い</a:t>
            </a:r>
            <a:r>
              <a:rPr lang="ja-JP" altLang="en-US" sz="1500" dirty="0">
                <a:latin typeface="Meiryo" charset="-128"/>
                <a:ea typeface="Meiryo" charset="-128"/>
                <a:cs typeface="Meiryo" charset="-128"/>
              </a:rPr>
              <a:t>ヤリ</a:t>
            </a: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だ！</a:t>
            </a:r>
          </a:p>
        </p:txBody>
      </p:sp>
      <p:sp>
        <p:nvSpPr>
          <p:cNvPr id="17" name="角丸四角形吹き出し 16"/>
          <p:cNvSpPr/>
          <p:nvPr/>
        </p:nvSpPr>
        <p:spPr>
          <a:xfrm>
            <a:off x="6566987" y="1602403"/>
            <a:ext cx="2467080" cy="657267"/>
          </a:xfrm>
          <a:prstGeom prst="wedgeRoundRectCallout">
            <a:avLst>
              <a:gd name="adj1" fmla="val -39998"/>
              <a:gd name="adj2" fmla="val 101566"/>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大きな壁だ！</a:t>
            </a:r>
          </a:p>
        </p:txBody>
      </p:sp>
      <p:sp>
        <p:nvSpPr>
          <p:cNvPr id="18" name="角丸四角形吹き出し 17"/>
          <p:cNvSpPr/>
          <p:nvPr/>
        </p:nvSpPr>
        <p:spPr>
          <a:xfrm>
            <a:off x="8496794" y="2979967"/>
            <a:ext cx="1832363" cy="657267"/>
          </a:xfrm>
          <a:prstGeom prst="wedgeRoundRectCallout">
            <a:avLst>
              <a:gd name="adj1" fmla="val -57248"/>
              <a:gd name="adj2" fmla="val 96035"/>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ロープだ！</a:t>
            </a:r>
          </a:p>
        </p:txBody>
      </p:sp>
      <p:sp>
        <p:nvSpPr>
          <p:cNvPr id="19" name="角丸四角形吹き出し 18"/>
          <p:cNvSpPr/>
          <p:nvPr/>
        </p:nvSpPr>
        <p:spPr>
          <a:xfrm>
            <a:off x="7800527" y="4917114"/>
            <a:ext cx="2467080" cy="657267"/>
          </a:xfrm>
          <a:prstGeom prst="wedgeRoundRectCallout">
            <a:avLst>
              <a:gd name="adj1" fmla="val -37987"/>
              <a:gd name="adj2" fmla="val -72023"/>
              <a:gd name="adj3" fmla="val 16667"/>
            </a:avLst>
          </a:prstGeom>
          <a:solidFill>
            <a:srgbClr val="FFFFFF"/>
          </a:solidFill>
          <a:ln w="9525" cap="flat" cmpd="sng" algn="ctr">
            <a:solidFill>
              <a:srgbClr val="AEB1B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79252"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dirty="0">
                <a:ln>
                  <a:noFill/>
                </a:ln>
                <a:solidFill>
                  <a:srgbClr val="000000"/>
                </a:solidFill>
                <a:effectLst/>
                <a:uLnTx/>
                <a:uFillTx/>
                <a:latin typeface="Meiryo" charset="-128"/>
                <a:ea typeface="Meiryo" charset="-128"/>
                <a:cs typeface="Meiryo" charset="-128"/>
              </a:rPr>
              <a:t>丸太のようなものだ！</a:t>
            </a:r>
          </a:p>
        </p:txBody>
      </p:sp>
      <p:sp>
        <p:nvSpPr>
          <p:cNvPr id="20" name="テキスト ボックス 19"/>
          <p:cNvSpPr txBox="1"/>
          <p:nvPr/>
        </p:nvSpPr>
        <p:spPr>
          <a:xfrm>
            <a:off x="1624622" y="5982799"/>
            <a:ext cx="8934152" cy="461665"/>
          </a:xfrm>
          <a:prstGeom prst="rect">
            <a:avLst/>
          </a:prstGeom>
          <a:noFill/>
        </p:spPr>
        <p:txBody>
          <a:bodyPr wrap="square" rtlCol="0">
            <a:spAutoFit/>
          </a:bodyPr>
          <a:lstStyle/>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あなたが見ているのはあなたにとっての事実でしかない</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424868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組織開発の考え方のフレーム</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34</a:t>
            </a:fld>
            <a:endParaRPr lang="ja-JP" altLang="en-US">
              <a:uFillTx/>
            </a:endParaRPr>
          </a:p>
        </p:txBody>
      </p:sp>
      <p:grpSp>
        <p:nvGrpSpPr>
          <p:cNvPr id="14" name="グループ化 13"/>
          <p:cNvGrpSpPr/>
          <p:nvPr/>
        </p:nvGrpSpPr>
        <p:grpSpPr>
          <a:xfrm>
            <a:off x="2014100" y="2780928"/>
            <a:ext cx="1296144" cy="1080120"/>
            <a:chOff x="1259632" y="1412776"/>
            <a:chExt cx="1296144" cy="1080120"/>
          </a:xfrm>
        </p:grpSpPr>
        <p:sp>
          <p:nvSpPr>
            <p:cNvPr id="15" name="二等辺三角形 14"/>
            <p:cNvSpPr/>
            <p:nvPr/>
          </p:nvSpPr>
          <p:spPr>
            <a:xfrm>
              <a:off x="1259632" y="1412776"/>
              <a:ext cx="1296144" cy="10801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16" name="直線矢印コネクタ 15"/>
            <p:cNvCxnSpPr/>
            <p:nvPr/>
          </p:nvCxnSpPr>
          <p:spPr>
            <a:xfrm>
              <a:off x="1907704" y="1700808"/>
              <a:ext cx="0" cy="6480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グループ化 16"/>
          <p:cNvGrpSpPr/>
          <p:nvPr/>
        </p:nvGrpSpPr>
        <p:grpSpPr>
          <a:xfrm>
            <a:off x="4246348" y="2780928"/>
            <a:ext cx="1234379" cy="1080120"/>
            <a:chOff x="3059832" y="1412776"/>
            <a:chExt cx="1234379" cy="1080120"/>
          </a:xfrm>
        </p:grpSpPr>
        <p:sp>
          <p:nvSpPr>
            <p:cNvPr id="18" name="ホームベース 17"/>
            <p:cNvSpPr/>
            <p:nvPr/>
          </p:nvSpPr>
          <p:spPr>
            <a:xfrm>
              <a:off x="3059832" y="1412776"/>
              <a:ext cx="360040" cy="1080120"/>
            </a:xfrm>
            <a:prstGeom prst="homePlate">
              <a:avLst>
                <a:gd name="adj" fmla="val 3236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9" name="山形 18"/>
            <p:cNvSpPr/>
            <p:nvPr/>
          </p:nvSpPr>
          <p:spPr>
            <a:xfrm>
              <a:off x="3347864"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0" name="山形 19"/>
            <p:cNvSpPr/>
            <p:nvPr/>
          </p:nvSpPr>
          <p:spPr>
            <a:xfrm>
              <a:off x="3635896"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1" name="山形 20"/>
            <p:cNvSpPr/>
            <p:nvPr/>
          </p:nvSpPr>
          <p:spPr>
            <a:xfrm>
              <a:off x="3934171"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grpSp>
      <p:grpSp>
        <p:nvGrpSpPr>
          <p:cNvPr id="22" name="グループ化 21"/>
          <p:cNvGrpSpPr/>
          <p:nvPr/>
        </p:nvGrpSpPr>
        <p:grpSpPr>
          <a:xfrm>
            <a:off x="6523457" y="2780928"/>
            <a:ext cx="1252331" cy="1080120"/>
            <a:chOff x="4644008" y="1412776"/>
            <a:chExt cx="1252331" cy="1080120"/>
          </a:xfrm>
        </p:grpSpPr>
        <p:sp>
          <p:nvSpPr>
            <p:cNvPr id="23" name="フリーフォーム 22"/>
            <p:cNvSpPr/>
            <p:nvPr/>
          </p:nvSpPr>
          <p:spPr>
            <a:xfrm>
              <a:off x="4644008" y="1412776"/>
              <a:ext cx="1252331" cy="1080120"/>
            </a:xfrm>
            <a:custGeom>
              <a:avLst/>
              <a:gdLst>
                <a:gd name="connsiteX0" fmla="*/ 0 w 1252331"/>
                <a:gd name="connsiteY0" fmla="*/ 1059966 h 1059966"/>
                <a:gd name="connsiteX1" fmla="*/ 154057 w 1252331"/>
                <a:gd name="connsiteY1" fmla="*/ 920818 h 1059966"/>
                <a:gd name="connsiteX2" fmla="*/ 238539 w 1252331"/>
                <a:gd name="connsiteY2" fmla="*/ 632584 h 1059966"/>
                <a:gd name="connsiteX3" fmla="*/ 238539 w 1252331"/>
                <a:gd name="connsiteY3" fmla="*/ 632584 h 1059966"/>
                <a:gd name="connsiteX4" fmla="*/ 288235 w 1252331"/>
                <a:gd name="connsiteY4" fmla="*/ 413923 h 1059966"/>
                <a:gd name="connsiteX5" fmla="*/ 382657 w 1252331"/>
                <a:gd name="connsiteY5" fmla="*/ 359257 h 1059966"/>
                <a:gd name="connsiteX6" fmla="*/ 382657 w 1252331"/>
                <a:gd name="connsiteY6" fmla="*/ 359257 h 1059966"/>
                <a:gd name="connsiteX7" fmla="*/ 382657 w 1252331"/>
                <a:gd name="connsiteY7" fmla="*/ 359257 h 1059966"/>
                <a:gd name="connsiteX8" fmla="*/ 536713 w 1252331"/>
                <a:gd name="connsiteY8" fmla="*/ 190292 h 1059966"/>
                <a:gd name="connsiteX9" fmla="*/ 536713 w 1252331"/>
                <a:gd name="connsiteY9" fmla="*/ 100840 h 1059966"/>
                <a:gd name="connsiteX10" fmla="*/ 660953 w 1252331"/>
                <a:gd name="connsiteY10" fmla="*/ 1449 h 1059966"/>
                <a:gd name="connsiteX11" fmla="*/ 795131 w 1252331"/>
                <a:gd name="connsiteY11" fmla="*/ 180353 h 1059966"/>
                <a:gd name="connsiteX12" fmla="*/ 889553 w 1252331"/>
                <a:gd name="connsiteY12" fmla="*/ 423862 h 1059966"/>
                <a:gd name="connsiteX13" fmla="*/ 1033670 w 1252331"/>
                <a:gd name="connsiteY13" fmla="*/ 652462 h 1059966"/>
                <a:gd name="connsiteX14" fmla="*/ 1013792 w 1252331"/>
                <a:gd name="connsiteY14" fmla="*/ 801549 h 1059966"/>
                <a:gd name="connsiteX15" fmla="*/ 1147970 w 1252331"/>
                <a:gd name="connsiteY15" fmla="*/ 935727 h 1059966"/>
                <a:gd name="connsiteX16" fmla="*/ 1252331 w 1252331"/>
                <a:gd name="connsiteY16" fmla="*/ 1059966 h 1059966"/>
                <a:gd name="connsiteX17" fmla="*/ 1252331 w 1252331"/>
                <a:gd name="connsiteY17" fmla="*/ 1059966 h 105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2331" h="1059966">
                  <a:moveTo>
                    <a:pt x="0" y="1059966"/>
                  </a:moveTo>
                  <a:cubicBezTo>
                    <a:pt x="57150" y="1026007"/>
                    <a:pt x="114301" y="992048"/>
                    <a:pt x="154057" y="920818"/>
                  </a:cubicBezTo>
                  <a:cubicBezTo>
                    <a:pt x="193813" y="849588"/>
                    <a:pt x="238539" y="632584"/>
                    <a:pt x="238539" y="632584"/>
                  </a:cubicBezTo>
                  <a:lnTo>
                    <a:pt x="238539" y="632584"/>
                  </a:lnTo>
                  <a:cubicBezTo>
                    <a:pt x="246822" y="596141"/>
                    <a:pt x="264215" y="459478"/>
                    <a:pt x="288235" y="413923"/>
                  </a:cubicBezTo>
                  <a:cubicBezTo>
                    <a:pt x="312255" y="368368"/>
                    <a:pt x="382657" y="359257"/>
                    <a:pt x="382657" y="359257"/>
                  </a:cubicBezTo>
                  <a:lnTo>
                    <a:pt x="382657" y="359257"/>
                  </a:lnTo>
                  <a:lnTo>
                    <a:pt x="382657" y="359257"/>
                  </a:lnTo>
                  <a:cubicBezTo>
                    <a:pt x="408333" y="331096"/>
                    <a:pt x="511037" y="233362"/>
                    <a:pt x="536713" y="190292"/>
                  </a:cubicBezTo>
                  <a:cubicBezTo>
                    <a:pt x="562389" y="147222"/>
                    <a:pt x="516006" y="132314"/>
                    <a:pt x="536713" y="100840"/>
                  </a:cubicBezTo>
                  <a:cubicBezTo>
                    <a:pt x="557420" y="69366"/>
                    <a:pt x="617883" y="-11803"/>
                    <a:pt x="660953" y="1449"/>
                  </a:cubicBezTo>
                  <a:cubicBezTo>
                    <a:pt x="704023" y="14701"/>
                    <a:pt x="757031" y="109951"/>
                    <a:pt x="795131" y="180353"/>
                  </a:cubicBezTo>
                  <a:cubicBezTo>
                    <a:pt x="833231" y="250755"/>
                    <a:pt x="849797" y="345177"/>
                    <a:pt x="889553" y="423862"/>
                  </a:cubicBezTo>
                  <a:cubicBezTo>
                    <a:pt x="929309" y="502547"/>
                    <a:pt x="1012964" y="589514"/>
                    <a:pt x="1033670" y="652462"/>
                  </a:cubicBezTo>
                  <a:cubicBezTo>
                    <a:pt x="1054376" y="715410"/>
                    <a:pt x="994742" y="754338"/>
                    <a:pt x="1013792" y="801549"/>
                  </a:cubicBezTo>
                  <a:cubicBezTo>
                    <a:pt x="1032842" y="848760"/>
                    <a:pt x="1108214" y="892658"/>
                    <a:pt x="1147970" y="935727"/>
                  </a:cubicBezTo>
                  <a:cubicBezTo>
                    <a:pt x="1187726" y="978796"/>
                    <a:pt x="1252331" y="1059966"/>
                    <a:pt x="1252331" y="1059966"/>
                  </a:cubicBezTo>
                  <a:lnTo>
                    <a:pt x="1252331" y="1059966"/>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p:cNvCxnSpPr/>
            <p:nvPr/>
          </p:nvCxnSpPr>
          <p:spPr>
            <a:xfrm>
              <a:off x="4788024" y="1628800"/>
              <a:ext cx="108012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25" name="テキスト ボックス 24"/>
          <p:cNvSpPr txBox="1"/>
          <p:nvPr/>
        </p:nvSpPr>
        <p:spPr>
          <a:xfrm>
            <a:off x="4426368" y="4161569"/>
            <a:ext cx="794252"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矢羽根</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テキスト ボックス 25"/>
          <p:cNvSpPr txBox="1"/>
          <p:nvPr/>
        </p:nvSpPr>
        <p:spPr>
          <a:xfrm>
            <a:off x="2102673"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ピラミッド</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テキスト ボックス 26"/>
          <p:cNvSpPr txBox="1"/>
          <p:nvPr/>
        </p:nvSpPr>
        <p:spPr>
          <a:xfrm>
            <a:off x="6595465"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氷山の一角</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フリーフォーム 32"/>
          <p:cNvSpPr/>
          <p:nvPr/>
        </p:nvSpPr>
        <p:spPr>
          <a:xfrm>
            <a:off x="8835434" y="2797629"/>
            <a:ext cx="1073854" cy="1126131"/>
          </a:xfrm>
          <a:custGeom>
            <a:avLst/>
            <a:gdLst>
              <a:gd name="connsiteX0" fmla="*/ 25546 w 1073854"/>
              <a:gd name="connsiteY0" fmla="*/ 0 h 1126131"/>
              <a:gd name="connsiteX1" fmla="*/ 58204 w 1073854"/>
              <a:gd name="connsiteY1" fmla="*/ 805542 h 1126131"/>
              <a:gd name="connsiteX2" fmla="*/ 537175 w 1073854"/>
              <a:gd name="connsiteY2" fmla="*/ 1121228 h 1126131"/>
              <a:gd name="connsiteX3" fmla="*/ 994375 w 1073854"/>
              <a:gd name="connsiteY3" fmla="*/ 925285 h 1126131"/>
              <a:gd name="connsiteX4" fmla="*/ 1070575 w 1073854"/>
              <a:gd name="connsiteY4" fmla="*/ 43542 h 1126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3854" h="1126131">
                <a:moveTo>
                  <a:pt x="25546" y="0"/>
                </a:moveTo>
                <a:cubicBezTo>
                  <a:pt x="-761" y="309335"/>
                  <a:pt x="-27067" y="618671"/>
                  <a:pt x="58204" y="805542"/>
                </a:cubicBezTo>
                <a:cubicBezTo>
                  <a:pt x="143475" y="992413"/>
                  <a:pt x="381146" y="1101271"/>
                  <a:pt x="537175" y="1121228"/>
                </a:cubicBezTo>
                <a:cubicBezTo>
                  <a:pt x="693204" y="1141185"/>
                  <a:pt x="905475" y="1104899"/>
                  <a:pt x="994375" y="925285"/>
                </a:cubicBezTo>
                <a:cubicBezTo>
                  <a:pt x="1083275" y="745671"/>
                  <a:pt x="1076925" y="394606"/>
                  <a:pt x="1070575" y="43542"/>
                </a:cubicBezTo>
              </a:path>
            </a:pathLst>
          </a:custGeom>
          <a:noFill/>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p:cNvSpPr txBox="1"/>
          <p:nvPr/>
        </p:nvSpPr>
        <p:spPr>
          <a:xfrm>
            <a:off x="8835434" y="4138015"/>
            <a:ext cx="1224136" cy="338554"/>
          </a:xfrm>
          <a:prstGeom prst="rect">
            <a:avLst/>
          </a:prstGeom>
          <a:noFill/>
        </p:spPr>
        <p:txBody>
          <a:bodyPr wrap="square" rtlCol="0">
            <a:spAutoFit/>
          </a:bodyPr>
          <a:lstStyle/>
          <a:p>
            <a:pPr algn="ctr"/>
            <a:r>
              <a:rPr kumimoji="1" lang="en-US" altLang="ja-JP" sz="1600" dirty="0">
                <a:latin typeface="メイリオ" panose="020B0604030504040204" pitchFamily="50" charset="-128"/>
                <a:ea typeface="メイリオ" panose="020B0604030504040204" pitchFamily="50" charset="-128"/>
                <a:cs typeface="メイリオ" panose="020B0604030504040204" pitchFamily="50" charset="-128"/>
              </a:rPr>
              <a:t>U</a:t>
            </a:r>
            <a:r>
              <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rPr>
              <a:t>字</a:t>
            </a:r>
          </a:p>
        </p:txBody>
      </p:sp>
      <p:sp>
        <p:nvSpPr>
          <p:cNvPr id="28" name="正方形/長方形 27"/>
          <p:cNvSpPr/>
          <p:nvPr/>
        </p:nvSpPr>
        <p:spPr>
          <a:xfrm>
            <a:off x="8437418" y="1662545"/>
            <a:ext cx="2916382" cy="349134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p:nvSpPr>
        <p:spPr>
          <a:xfrm>
            <a:off x="1370450" y="1758080"/>
            <a:ext cx="4607198" cy="349134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22977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氷山の一角</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35</a:t>
            </a:fld>
            <a:endParaRPr lang="ja-JP" altLang="en-US">
              <a:uFillTx/>
            </a:endParaRPr>
          </a:p>
        </p:txBody>
      </p:sp>
      <p:sp>
        <p:nvSpPr>
          <p:cNvPr id="17" name="フリーフォーム 16"/>
          <p:cNvSpPr/>
          <p:nvPr/>
        </p:nvSpPr>
        <p:spPr>
          <a:xfrm>
            <a:off x="2643808" y="1218872"/>
            <a:ext cx="6984776" cy="5137478"/>
          </a:xfrm>
          <a:custGeom>
            <a:avLst/>
            <a:gdLst>
              <a:gd name="connsiteX0" fmla="*/ 0 w 1252331"/>
              <a:gd name="connsiteY0" fmla="*/ 1059966 h 1059966"/>
              <a:gd name="connsiteX1" fmla="*/ 154057 w 1252331"/>
              <a:gd name="connsiteY1" fmla="*/ 920818 h 1059966"/>
              <a:gd name="connsiteX2" fmla="*/ 238539 w 1252331"/>
              <a:gd name="connsiteY2" fmla="*/ 632584 h 1059966"/>
              <a:gd name="connsiteX3" fmla="*/ 238539 w 1252331"/>
              <a:gd name="connsiteY3" fmla="*/ 632584 h 1059966"/>
              <a:gd name="connsiteX4" fmla="*/ 288235 w 1252331"/>
              <a:gd name="connsiteY4" fmla="*/ 413923 h 1059966"/>
              <a:gd name="connsiteX5" fmla="*/ 382657 w 1252331"/>
              <a:gd name="connsiteY5" fmla="*/ 359257 h 1059966"/>
              <a:gd name="connsiteX6" fmla="*/ 382657 w 1252331"/>
              <a:gd name="connsiteY6" fmla="*/ 359257 h 1059966"/>
              <a:gd name="connsiteX7" fmla="*/ 382657 w 1252331"/>
              <a:gd name="connsiteY7" fmla="*/ 359257 h 1059966"/>
              <a:gd name="connsiteX8" fmla="*/ 536713 w 1252331"/>
              <a:gd name="connsiteY8" fmla="*/ 190292 h 1059966"/>
              <a:gd name="connsiteX9" fmla="*/ 536713 w 1252331"/>
              <a:gd name="connsiteY9" fmla="*/ 100840 h 1059966"/>
              <a:gd name="connsiteX10" fmla="*/ 660953 w 1252331"/>
              <a:gd name="connsiteY10" fmla="*/ 1449 h 1059966"/>
              <a:gd name="connsiteX11" fmla="*/ 795131 w 1252331"/>
              <a:gd name="connsiteY11" fmla="*/ 180353 h 1059966"/>
              <a:gd name="connsiteX12" fmla="*/ 889553 w 1252331"/>
              <a:gd name="connsiteY12" fmla="*/ 423862 h 1059966"/>
              <a:gd name="connsiteX13" fmla="*/ 1033670 w 1252331"/>
              <a:gd name="connsiteY13" fmla="*/ 652462 h 1059966"/>
              <a:gd name="connsiteX14" fmla="*/ 1013792 w 1252331"/>
              <a:gd name="connsiteY14" fmla="*/ 801549 h 1059966"/>
              <a:gd name="connsiteX15" fmla="*/ 1147970 w 1252331"/>
              <a:gd name="connsiteY15" fmla="*/ 935727 h 1059966"/>
              <a:gd name="connsiteX16" fmla="*/ 1252331 w 1252331"/>
              <a:gd name="connsiteY16" fmla="*/ 1059966 h 1059966"/>
              <a:gd name="connsiteX17" fmla="*/ 1252331 w 1252331"/>
              <a:gd name="connsiteY17" fmla="*/ 1059966 h 105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2331" h="1059966">
                <a:moveTo>
                  <a:pt x="0" y="1059966"/>
                </a:moveTo>
                <a:cubicBezTo>
                  <a:pt x="57150" y="1026007"/>
                  <a:pt x="114301" y="992048"/>
                  <a:pt x="154057" y="920818"/>
                </a:cubicBezTo>
                <a:cubicBezTo>
                  <a:pt x="193813" y="849588"/>
                  <a:pt x="238539" y="632584"/>
                  <a:pt x="238539" y="632584"/>
                </a:cubicBezTo>
                <a:lnTo>
                  <a:pt x="238539" y="632584"/>
                </a:lnTo>
                <a:cubicBezTo>
                  <a:pt x="246822" y="596141"/>
                  <a:pt x="264215" y="459478"/>
                  <a:pt x="288235" y="413923"/>
                </a:cubicBezTo>
                <a:cubicBezTo>
                  <a:pt x="312255" y="368368"/>
                  <a:pt x="382657" y="359257"/>
                  <a:pt x="382657" y="359257"/>
                </a:cubicBezTo>
                <a:lnTo>
                  <a:pt x="382657" y="359257"/>
                </a:lnTo>
                <a:lnTo>
                  <a:pt x="382657" y="359257"/>
                </a:lnTo>
                <a:cubicBezTo>
                  <a:pt x="408333" y="331096"/>
                  <a:pt x="511037" y="233362"/>
                  <a:pt x="536713" y="190292"/>
                </a:cubicBezTo>
                <a:cubicBezTo>
                  <a:pt x="562389" y="147222"/>
                  <a:pt x="516006" y="132314"/>
                  <a:pt x="536713" y="100840"/>
                </a:cubicBezTo>
                <a:cubicBezTo>
                  <a:pt x="557420" y="69366"/>
                  <a:pt x="617883" y="-11803"/>
                  <a:pt x="660953" y="1449"/>
                </a:cubicBezTo>
                <a:cubicBezTo>
                  <a:pt x="704023" y="14701"/>
                  <a:pt x="757031" y="109951"/>
                  <a:pt x="795131" y="180353"/>
                </a:cubicBezTo>
                <a:cubicBezTo>
                  <a:pt x="833231" y="250755"/>
                  <a:pt x="849797" y="345177"/>
                  <a:pt x="889553" y="423862"/>
                </a:cubicBezTo>
                <a:cubicBezTo>
                  <a:pt x="929309" y="502547"/>
                  <a:pt x="1012964" y="589514"/>
                  <a:pt x="1033670" y="652462"/>
                </a:cubicBezTo>
                <a:cubicBezTo>
                  <a:pt x="1054376" y="715410"/>
                  <a:pt x="994742" y="754338"/>
                  <a:pt x="1013792" y="801549"/>
                </a:cubicBezTo>
                <a:cubicBezTo>
                  <a:pt x="1032842" y="848760"/>
                  <a:pt x="1108214" y="892658"/>
                  <a:pt x="1147970" y="935727"/>
                </a:cubicBezTo>
                <a:cubicBezTo>
                  <a:pt x="1187726" y="978796"/>
                  <a:pt x="1252331" y="1059966"/>
                  <a:pt x="1252331" y="1059966"/>
                </a:cubicBezTo>
                <a:lnTo>
                  <a:pt x="1252331" y="1059966"/>
                </a:lnTo>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p:cNvCxnSpPr/>
          <p:nvPr/>
        </p:nvCxnSpPr>
        <p:spPr>
          <a:xfrm>
            <a:off x="3447046" y="2246368"/>
            <a:ext cx="6024283" cy="0"/>
          </a:xfrm>
          <a:prstGeom prst="line">
            <a:avLst/>
          </a:prstGeom>
          <a:ln w="254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5380112" y="1552710"/>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メンバーに</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主体性が無い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0" name="直線コネクタ 19"/>
          <p:cNvCxnSpPr/>
          <p:nvPr/>
        </p:nvCxnSpPr>
        <p:spPr>
          <a:xfrm>
            <a:off x="3447045" y="4315216"/>
            <a:ext cx="6024283" cy="0"/>
          </a:xfrm>
          <a:prstGeom prst="line">
            <a:avLst/>
          </a:prstGeom>
          <a:ln w="254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1" name="テキスト ボックス 30"/>
          <p:cNvSpPr txBox="1"/>
          <p:nvPr/>
        </p:nvSpPr>
        <p:spPr>
          <a:xfrm>
            <a:off x="4459119" y="2677632"/>
            <a:ext cx="1872208" cy="523220"/>
          </a:xfrm>
          <a:prstGeom prst="rect">
            <a:avLst/>
          </a:prstGeom>
          <a:noFill/>
        </p:spPr>
        <p:txBody>
          <a:bodyPr wrap="square" rtlCol="0">
            <a:spAutoFit/>
          </a:bodyPr>
          <a:lstStyle/>
          <a:p>
            <a:pPr algn="ct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スキルが</a:t>
            </a:r>
            <a:endPar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不足している</a:t>
            </a:r>
          </a:p>
        </p:txBody>
      </p:sp>
      <p:sp>
        <p:nvSpPr>
          <p:cNvPr id="32" name="テキスト ボックス 31"/>
          <p:cNvSpPr txBox="1"/>
          <p:nvPr/>
        </p:nvSpPr>
        <p:spPr>
          <a:xfrm>
            <a:off x="6136196" y="2603836"/>
            <a:ext cx="1872208" cy="523220"/>
          </a:xfrm>
          <a:prstGeom prst="rect">
            <a:avLst/>
          </a:prstGeom>
          <a:noFill/>
        </p:spPr>
        <p:txBody>
          <a:bodyPr wrap="square" rtlCol="0">
            <a:spAutoFit/>
          </a:bodyPr>
          <a:lstStyle/>
          <a:p>
            <a:pPr algn="ct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やるべきことが</a:t>
            </a:r>
            <a:endPar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わかっていない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テキスト ボックス 32"/>
          <p:cNvSpPr txBox="1"/>
          <p:nvPr/>
        </p:nvSpPr>
        <p:spPr>
          <a:xfrm>
            <a:off x="5317119" y="3517859"/>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必要な能力を</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可視化できていない</a:t>
            </a:r>
          </a:p>
        </p:txBody>
      </p:sp>
      <p:sp>
        <p:nvSpPr>
          <p:cNvPr id="34" name="テキスト ボックス 33"/>
          <p:cNvSpPr txBox="1"/>
          <p:nvPr/>
        </p:nvSpPr>
        <p:spPr>
          <a:xfrm>
            <a:off x="3447045" y="3548713"/>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スキル向上の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機会がない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テキスト ボックス 34"/>
          <p:cNvSpPr txBox="1"/>
          <p:nvPr/>
        </p:nvSpPr>
        <p:spPr>
          <a:xfrm>
            <a:off x="7187193" y="3517859"/>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マネジメントが</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機能していない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2859832" y="4591230"/>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成長</a:t>
            </a: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を評価する</a:t>
            </a:r>
            <a:endParaRPr kumimoji="1"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仕組みがない</a:t>
            </a:r>
          </a:p>
        </p:txBody>
      </p:sp>
      <p:sp>
        <p:nvSpPr>
          <p:cNvPr id="37" name="テキスト ボックス 36"/>
          <p:cNvSpPr txBox="1"/>
          <p:nvPr/>
        </p:nvSpPr>
        <p:spPr>
          <a:xfrm>
            <a:off x="4948064" y="4708073"/>
            <a:ext cx="1872208" cy="307777"/>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戦略が具体的でない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p:cNvSpPr txBox="1"/>
          <p:nvPr/>
        </p:nvSpPr>
        <p:spPr>
          <a:xfrm>
            <a:off x="6892280" y="4588367"/>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マネージャーの仕事が定義されていない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テキスト ボックス 38"/>
          <p:cNvSpPr txBox="1"/>
          <p:nvPr/>
        </p:nvSpPr>
        <p:spPr>
          <a:xfrm>
            <a:off x="2580601" y="5439721"/>
            <a:ext cx="1872208" cy="523220"/>
          </a:xfrm>
          <a:prstGeom prst="rect">
            <a:avLst/>
          </a:prstGeom>
          <a:noFill/>
        </p:spPr>
        <p:txBody>
          <a:bodyPr wrap="square" rtlCol="0">
            <a:spAutoFit/>
          </a:bodyPr>
          <a:lstStyle/>
          <a:p>
            <a:pPr algn="ctr"/>
            <a:r>
              <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rPr>
              <a:t>評価・報酬の仕組みに納得感が無い</a:t>
            </a:r>
          </a:p>
        </p:txBody>
      </p:sp>
      <p:sp>
        <p:nvSpPr>
          <p:cNvPr id="40" name="テキスト ボックス 39"/>
          <p:cNvSpPr txBox="1"/>
          <p:nvPr/>
        </p:nvSpPr>
        <p:spPr>
          <a:xfrm>
            <a:off x="4586978" y="5437035"/>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戦略が</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伝わっていない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テキスト ボックス 40"/>
          <p:cNvSpPr txBox="1"/>
          <p:nvPr/>
        </p:nvSpPr>
        <p:spPr>
          <a:xfrm>
            <a:off x="8836496" y="4581455"/>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マネージャーと部下の信頼関係が希薄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テキスト ボックス 41"/>
          <p:cNvSpPr txBox="1"/>
          <p:nvPr/>
        </p:nvSpPr>
        <p:spPr>
          <a:xfrm>
            <a:off x="6365100" y="5424490"/>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そもそも</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ビジョンがない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テキスト ボックス 42"/>
          <p:cNvSpPr txBox="1"/>
          <p:nvPr/>
        </p:nvSpPr>
        <p:spPr>
          <a:xfrm>
            <a:off x="8308270" y="5431500"/>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マネージャーの仕事が多すぎる</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4" name="直線矢印コネクタ 43"/>
          <p:cNvCxnSpPr>
            <a:stCxn id="19" idx="2"/>
            <a:endCxn id="31" idx="0"/>
          </p:cNvCxnSpPr>
          <p:nvPr/>
        </p:nvCxnSpPr>
        <p:spPr>
          <a:xfrm flipH="1">
            <a:off x="5395223" y="2075930"/>
            <a:ext cx="920993" cy="60170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線矢印コネクタ 44"/>
          <p:cNvCxnSpPr>
            <a:stCxn id="19" idx="2"/>
            <a:endCxn id="32" idx="0"/>
          </p:cNvCxnSpPr>
          <p:nvPr/>
        </p:nvCxnSpPr>
        <p:spPr>
          <a:xfrm>
            <a:off x="6316216" y="2075930"/>
            <a:ext cx="756084" cy="52790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a:stCxn id="31" idx="2"/>
            <a:endCxn id="34" idx="0"/>
          </p:cNvCxnSpPr>
          <p:nvPr/>
        </p:nvCxnSpPr>
        <p:spPr>
          <a:xfrm flipH="1">
            <a:off x="4383149" y="3200852"/>
            <a:ext cx="1012074" cy="34786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線矢印コネクタ 46"/>
          <p:cNvCxnSpPr>
            <a:stCxn id="31" idx="2"/>
            <a:endCxn id="33" idx="0"/>
          </p:cNvCxnSpPr>
          <p:nvPr/>
        </p:nvCxnSpPr>
        <p:spPr>
          <a:xfrm>
            <a:off x="5395223" y="3200852"/>
            <a:ext cx="858000" cy="31700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a:stCxn id="32" idx="2"/>
            <a:endCxn id="33" idx="0"/>
          </p:cNvCxnSpPr>
          <p:nvPr/>
        </p:nvCxnSpPr>
        <p:spPr>
          <a:xfrm flipH="1">
            <a:off x="6253223" y="3127056"/>
            <a:ext cx="819077" cy="39080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a:stCxn id="32" idx="2"/>
            <a:endCxn id="35" idx="0"/>
          </p:cNvCxnSpPr>
          <p:nvPr/>
        </p:nvCxnSpPr>
        <p:spPr>
          <a:xfrm>
            <a:off x="7072300" y="3127056"/>
            <a:ext cx="1050997" cy="39080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線矢印コネクタ 49"/>
          <p:cNvCxnSpPr>
            <a:stCxn id="34" idx="2"/>
            <a:endCxn id="36" idx="0"/>
          </p:cNvCxnSpPr>
          <p:nvPr/>
        </p:nvCxnSpPr>
        <p:spPr>
          <a:xfrm flipH="1">
            <a:off x="3795936" y="4071933"/>
            <a:ext cx="587213" cy="51929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直線矢印コネクタ 50"/>
          <p:cNvCxnSpPr>
            <a:stCxn id="33" idx="2"/>
            <a:endCxn id="37" idx="0"/>
          </p:cNvCxnSpPr>
          <p:nvPr/>
        </p:nvCxnSpPr>
        <p:spPr>
          <a:xfrm flipH="1">
            <a:off x="5884168" y="4041079"/>
            <a:ext cx="369055" cy="66699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線矢印コネクタ 51"/>
          <p:cNvCxnSpPr>
            <a:stCxn id="33" idx="2"/>
            <a:endCxn id="38" idx="0"/>
          </p:cNvCxnSpPr>
          <p:nvPr/>
        </p:nvCxnSpPr>
        <p:spPr>
          <a:xfrm>
            <a:off x="6253223" y="4041079"/>
            <a:ext cx="1575161" cy="5472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a:stCxn id="35" idx="2"/>
            <a:endCxn id="38" idx="0"/>
          </p:cNvCxnSpPr>
          <p:nvPr/>
        </p:nvCxnSpPr>
        <p:spPr>
          <a:xfrm flipH="1">
            <a:off x="7828384" y="4041079"/>
            <a:ext cx="294913" cy="5472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a:stCxn id="35" idx="2"/>
            <a:endCxn id="41" idx="0"/>
          </p:cNvCxnSpPr>
          <p:nvPr/>
        </p:nvCxnSpPr>
        <p:spPr>
          <a:xfrm>
            <a:off x="8123297" y="4041079"/>
            <a:ext cx="1649303" cy="54037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直線矢印コネクタ 54"/>
          <p:cNvCxnSpPr>
            <a:stCxn id="36" idx="2"/>
            <a:endCxn id="39" idx="0"/>
          </p:cNvCxnSpPr>
          <p:nvPr/>
        </p:nvCxnSpPr>
        <p:spPr>
          <a:xfrm flipH="1">
            <a:off x="3516705" y="5114450"/>
            <a:ext cx="279231" cy="32527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a:stCxn id="37" idx="2"/>
            <a:endCxn id="40" idx="0"/>
          </p:cNvCxnSpPr>
          <p:nvPr/>
        </p:nvCxnSpPr>
        <p:spPr>
          <a:xfrm flipH="1">
            <a:off x="5523082" y="5015850"/>
            <a:ext cx="361086" cy="42118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直線矢印コネクタ 56"/>
          <p:cNvCxnSpPr>
            <a:stCxn id="37" idx="2"/>
            <a:endCxn id="42" idx="0"/>
          </p:cNvCxnSpPr>
          <p:nvPr/>
        </p:nvCxnSpPr>
        <p:spPr>
          <a:xfrm>
            <a:off x="5884168" y="5015850"/>
            <a:ext cx="1417036" cy="40864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直線矢印コネクタ 57"/>
          <p:cNvCxnSpPr>
            <a:stCxn id="38" idx="2"/>
            <a:endCxn id="42" idx="0"/>
          </p:cNvCxnSpPr>
          <p:nvPr/>
        </p:nvCxnSpPr>
        <p:spPr>
          <a:xfrm flipH="1">
            <a:off x="7301204" y="5111587"/>
            <a:ext cx="527180" cy="31290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p:cNvCxnSpPr>
            <a:stCxn id="41" idx="2"/>
            <a:endCxn id="43" idx="0"/>
          </p:cNvCxnSpPr>
          <p:nvPr/>
        </p:nvCxnSpPr>
        <p:spPr>
          <a:xfrm flipH="1">
            <a:off x="9244374" y="5104675"/>
            <a:ext cx="528226" cy="32682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直線矢印コネクタ 59"/>
          <p:cNvCxnSpPr>
            <a:stCxn id="38" idx="2"/>
            <a:endCxn id="43" idx="0"/>
          </p:cNvCxnSpPr>
          <p:nvPr/>
        </p:nvCxnSpPr>
        <p:spPr>
          <a:xfrm>
            <a:off x="7828384" y="5111587"/>
            <a:ext cx="1415990" cy="31991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a:off x="6202614" y="5701331"/>
            <a:ext cx="402396" cy="0"/>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2" name="曲線コネクタ 61"/>
          <p:cNvCxnSpPr>
            <a:stCxn id="39" idx="2"/>
            <a:endCxn id="43" idx="2"/>
          </p:cNvCxnSpPr>
          <p:nvPr/>
        </p:nvCxnSpPr>
        <p:spPr>
          <a:xfrm rot="5400000" flipH="1" flipV="1">
            <a:off x="6376428" y="3094996"/>
            <a:ext cx="8221" cy="5727669"/>
          </a:xfrm>
          <a:prstGeom prst="curvedConnector3">
            <a:avLst>
              <a:gd name="adj1" fmla="val -5561367"/>
            </a:avLst>
          </a:prstGeom>
          <a:ln w="12700">
            <a:solidFill>
              <a:schemeClr val="tx1"/>
            </a:solidFill>
            <a:headEnd type="arrow"/>
          </a:ln>
        </p:spPr>
        <p:style>
          <a:lnRef idx="1">
            <a:schemeClr val="accent1"/>
          </a:lnRef>
          <a:fillRef idx="0">
            <a:schemeClr val="accent1"/>
          </a:fillRef>
          <a:effectRef idx="0">
            <a:schemeClr val="accent1"/>
          </a:effectRef>
          <a:fontRef idx="minor">
            <a:schemeClr val="tx1"/>
          </a:fontRef>
        </p:style>
      </p:cxnSp>
      <p:sp>
        <p:nvSpPr>
          <p:cNvPr id="63" name="正方形/長方形 62"/>
          <p:cNvSpPr/>
          <p:nvPr/>
        </p:nvSpPr>
        <p:spPr>
          <a:xfrm>
            <a:off x="1810972" y="1526288"/>
            <a:ext cx="126488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メイリオ" panose="020B0604030504040204" pitchFamily="50" charset="-128"/>
                <a:ea typeface="メイリオ" panose="020B0604030504040204" pitchFamily="50" charset="-128"/>
              </a:rPr>
              <a:t>見えて</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dirty="0">
                <a:solidFill>
                  <a:schemeClr val="tx1"/>
                </a:solidFill>
                <a:latin typeface="メイリオ" panose="020B0604030504040204" pitchFamily="50" charset="-128"/>
                <a:ea typeface="メイリオ" panose="020B0604030504040204" pitchFamily="50" charset="-128"/>
              </a:rPr>
              <a:t>いること</a:t>
            </a:r>
          </a:p>
        </p:txBody>
      </p:sp>
      <p:sp>
        <p:nvSpPr>
          <p:cNvPr id="64" name="正方形/長方形 63"/>
          <p:cNvSpPr/>
          <p:nvPr/>
        </p:nvSpPr>
        <p:spPr>
          <a:xfrm>
            <a:off x="1810972" y="2969146"/>
            <a:ext cx="126488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メイリオ" panose="020B0604030504040204" pitchFamily="50" charset="-128"/>
                <a:ea typeface="メイリオ" panose="020B0604030504040204" pitchFamily="50" charset="-128"/>
              </a:rPr>
              <a:t>直接的</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dirty="0">
                <a:solidFill>
                  <a:schemeClr val="tx1"/>
                </a:solidFill>
                <a:latin typeface="メイリオ" panose="020B0604030504040204" pitchFamily="50" charset="-128"/>
                <a:ea typeface="メイリオ" panose="020B0604030504040204" pitchFamily="50" charset="-128"/>
              </a:rPr>
              <a:t>要因</a:t>
            </a:r>
          </a:p>
        </p:txBody>
      </p:sp>
      <p:sp>
        <p:nvSpPr>
          <p:cNvPr id="65" name="正方形/長方形 64"/>
          <p:cNvSpPr/>
          <p:nvPr/>
        </p:nvSpPr>
        <p:spPr>
          <a:xfrm>
            <a:off x="1811395" y="4708073"/>
            <a:ext cx="126488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メイリオ" panose="020B0604030504040204" pitchFamily="50" charset="-128"/>
                <a:ea typeface="メイリオ" panose="020B0604030504040204" pitchFamily="50" charset="-128"/>
              </a:rPr>
              <a:t>構造的</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dirty="0">
                <a:solidFill>
                  <a:schemeClr val="tx1"/>
                </a:solidFill>
                <a:latin typeface="メイリオ" panose="020B0604030504040204" pitchFamily="50" charset="-128"/>
                <a:ea typeface="メイリオ" panose="020B0604030504040204" pitchFamily="50" charset="-128"/>
              </a:rPr>
              <a:t>要因</a:t>
            </a:r>
          </a:p>
        </p:txBody>
      </p:sp>
      <p:sp>
        <p:nvSpPr>
          <p:cNvPr id="66" name="テキスト ボックス 65">
            <a:extLst>
              <a:ext uri="{FF2B5EF4-FFF2-40B4-BE49-F238E27FC236}">
                <a16:creationId xmlns:a16="http://schemas.microsoft.com/office/drawing/2014/main" id="{E9C9EE81-9A25-49CE-98E3-9DA737F591CE}"/>
              </a:ext>
            </a:extLst>
          </p:cNvPr>
          <p:cNvSpPr txBox="1"/>
          <p:nvPr/>
        </p:nvSpPr>
        <p:spPr>
          <a:xfrm>
            <a:off x="3447045" y="3548910"/>
            <a:ext cx="1872208" cy="523220"/>
          </a:xfrm>
          <a:prstGeom prst="rect">
            <a:avLst/>
          </a:prstGeom>
          <a:noFill/>
        </p:spPr>
        <p:txBody>
          <a:bodyPr wrap="square" rtlCol="0">
            <a:spAutoFit/>
          </a:bodyPr>
          <a:lstStyle/>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スキル向上の</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機会がない</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67" name="直線矢印コネクタ 66">
            <a:extLst>
              <a:ext uri="{FF2B5EF4-FFF2-40B4-BE49-F238E27FC236}">
                <a16:creationId xmlns:a16="http://schemas.microsoft.com/office/drawing/2014/main" id="{9C69E258-B9C8-4B03-99DA-BE2FD9D305B6}"/>
              </a:ext>
            </a:extLst>
          </p:cNvPr>
          <p:cNvCxnSpPr>
            <a:endCxn id="66" idx="0"/>
          </p:cNvCxnSpPr>
          <p:nvPr/>
        </p:nvCxnSpPr>
        <p:spPr>
          <a:xfrm flipH="1">
            <a:off x="4383149" y="3201049"/>
            <a:ext cx="1012074" cy="34786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41113B64-D11D-4CD3-BD95-DC5068C142D0}"/>
              </a:ext>
            </a:extLst>
          </p:cNvPr>
          <p:cNvCxnSpPr/>
          <p:nvPr/>
        </p:nvCxnSpPr>
        <p:spPr>
          <a:xfrm>
            <a:off x="5395223" y="3201049"/>
            <a:ext cx="858000" cy="31700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0434771-8DA4-428C-AF11-EAD40889B518}"/>
              </a:ext>
            </a:extLst>
          </p:cNvPr>
          <p:cNvCxnSpPr/>
          <p:nvPr/>
        </p:nvCxnSpPr>
        <p:spPr>
          <a:xfrm flipH="1">
            <a:off x="6253223" y="3127253"/>
            <a:ext cx="819077" cy="39080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72D1E246-7DF8-4FD1-9DCB-980E76BF0A1A}"/>
              </a:ext>
            </a:extLst>
          </p:cNvPr>
          <p:cNvCxnSpPr/>
          <p:nvPr/>
        </p:nvCxnSpPr>
        <p:spPr>
          <a:xfrm>
            <a:off x="7072300" y="3127253"/>
            <a:ext cx="1050997" cy="39080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946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組織開発の考え方のフレーム</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36</a:t>
            </a:fld>
            <a:endParaRPr lang="ja-JP" altLang="en-US">
              <a:uFillTx/>
            </a:endParaRPr>
          </a:p>
        </p:txBody>
      </p:sp>
      <p:grpSp>
        <p:nvGrpSpPr>
          <p:cNvPr id="14" name="グループ化 13"/>
          <p:cNvGrpSpPr/>
          <p:nvPr/>
        </p:nvGrpSpPr>
        <p:grpSpPr>
          <a:xfrm>
            <a:off x="2014100" y="2780928"/>
            <a:ext cx="1296144" cy="1080120"/>
            <a:chOff x="1259632" y="1412776"/>
            <a:chExt cx="1296144" cy="1080120"/>
          </a:xfrm>
        </p:grpSpPr>
        <p:sp>
          <p:nvSpPr>
            <p:cNvPr id="15" name="二等辺三角形 14"/>
            <p:cNvSpPr/>
            <p:nvPr/>
          </p:nvSpPr>
          <p:spPr>
            <a:xfrm>
              <a:off x="1259632" y="1412776"/>
              <a:ext cx="1296144" cy="10801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16" name="直線矢印コネクタ 15"/>
            <p:cNvCxnSpPr/>
            <p:nvPr/>
          </p:nvCxnSpPr>
          <p:spPr>
            <a:xfrm>
              <a:off x="1907704" y="1700808"/>
              <a:ext cx="0" cy="6480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グループ化 16"/>
          <p:cNvGrpSpPr/>
          <p:nvPr/>
        </p:nvGrpSpPr>
        <p:grpSpPr>
          <a:xfrm>
            <a:off x="4246348" y="2780928"/>
            <a:ext cx="1234379" cy="1080120"/>
            <a:chOff x="3059832" y="1412776"/>
            <a:chExt cx="1234379" cy="1080120"/>
          </a:xfrm>
        </p:grpSpPr>
        <p:sp>
          <p:nvSpPr>
            <p:cNvPr id="18" name="ホームベース 17"/>
            <p:cNvSpPr/>
            <p:nvPr/>
          </p:nvSpPr>
          <p:spPr>
            <a:xfrm>
              <a:off x="3059832" y="1412776"/>
              <a:ext cx="360040" cy="1080120"/>
            </a:xfrm>
            <a:prstGeom prst="homePlate">
              <a:avLst>
                <a:gd name="adj" fmla="val 3236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9" name="山形 18"/>
            <p:cNvSpPr/>
            <p:nvPr/>
          </p:nvSpPr>
          <p:spPr>
            <a:xfrm>
              <a:off x="3347864"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0" name="山形 19"/>
            <p:cNvSpPr/>
            <p:nvPr/>
          </p:nvSpPr>
          <p:spPr>
            <a:xfrm>
              <a:off x="3635896"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21" name="山形 20"/>
            <p:cNvSpPr/>
            <p:nvPr/>
          </p:nvSpPr>
          <p:spPr>
            <a:xfrm>
              <a:off x="3934171" y="1412776"/>
              <a:ext cx="360040" cy="1080120"/>
            </a:xfrm>
            <a:prstGeom prst="chevron">
              <a:avLst>
                <a:gd name="adj" fmla="val 336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grpSp>
      <p:grpSp>
        <p:nvGrpSpPr>
          <p:cNvPr id="22" name="グループ化 21"/>
          <p:cNvGrpSpPr/>
          <p:nvPr/>
        </p:nvGrpSpPr>
        <p:grpSpPr>
          <a:xfrm>
            <a:off x="6523457" y="2780928"/>
            <a:ext cx="1252331" cy="1080120"/>
            <a:chOff x="4644008" y="1412776"/>
            <a:chExt cx="1252331" cy="1080120"/>
          </a:xfrm>
        </p:grpSpPr>
        <p:sp>
          <p:nvSpPr>
            <p:cNvPr id="23" name="フリーフォーム 22"/>
            <p:cNvSpPr/>
            <p:nvPr/>
          </p:nvSpPr>
          <p:spPr>
            <a:xfrm>
              <a:off x="4644008" y="1412776"/>
              <a:ext cx="1252331" cy="1080120"/>
            </a:xfrm>
            <a:custGeom>
              <a:avLst/>
              <a:gdLst>
                <a:gd name="connsiteX0" fmla="*/ 0 w 1252331"/>
                <a:gd name="connsiteY0" fmla="*/ 1059966 h 1059966"/>
                <a:gd name="connsiteX1" fmla="*/ 154057 w 1252331"/>
                <a:gd name="connsiteY1" fmla="*/ 920818 h 1059966"/>
                <a:gd name="connsiteX2" fmla="*/ 238539 w 1252331"/>
                <a:gd name="connsiteY2" fmla="*/ 632584 h 1059966"/>
                <a:gd name="connsiteX3" fmla="*/ 238539 w 1252331"/>
                <a:gd name="connsiteY3" fmla="*/ 632584 h 1059966"/>
                <a:gd name="connsiteX4" fmla="*/ 288235 w 1252331"/>
                <a:gd name="connsiteY4" fmla="*/ 413923 h 1059966"/>
                <a:gd name="connsiteX5" fmla="*/ 382657 w 1252331"/>
                <a:gd name="connsiteY5" fmla="*/ 359257 h 1059966"/>
                <a:gd name="connsiteX6" fmla="*/ 382657 w 1252331"/>
                <a:gd name="connsiteY6" fmla="*/ 359257 h 1059966"/>
                <a:gd name="connsiteX7" fmla="*/ 382657 w 1252331"/>
                <a:gd name="connsiteY7" fmla="*/ 359257 h 1059966"/>
                <a:gd name="connsiteX8" fmla="*/ 536713 w 1252331"/>
                <a:gd name="connsiteY8" fmla="*/ 190292 h 1059966"/>
                <a:gd name="connsiteX9" fmla="*/ 536713 w 1252331"/>
                <a:gd name="connsiteY9" fmla="*/ 100840 h 1059966"/>
                <a:gd name="connsiteX10" fmla="*/ 660953 w 1252331"/>
                <a:gd name="connsiteY10" fmla="*/ 1449 h 1059966"/>
                <a:gd name="connsiteX11" fmla="*/ 795131 w 1252331"/>
                <a:gd name="connsiteY11" fmla="*/ 180353 h 1059966"/>
                <a:gd name="connsiteX12" fmla="*/ 889553 w 1252331"/>
                <a:gd name="connsiteY12" fmla="*/ 423862 h 1059966"/>
                <a:gd name="connsiteX13" fmla="*/ 1033670 w 1252331"/>
                <a:gd name="connsiteY13" fmla="*/ 652462 h 1059966"/>
                <a:gd name="connsiteX14" fmla="*/ 1013792 w 1252331"/>
                <a:gd name="connsiteY14" fmla="*/ 801549 h 1059966"/>
                <a:gd name="connsiteX15" fmla="*/ 1147970 w 1252331"/>
                <a:gd name="connsiteY15" fmla="*/ 935727 h 1059966"/>
                <a:gd name="connsiteX16" fmla="*/ 1252331 w 1252331"/>
                <a:gd name="connsiteY16" fmla="*/ 1059966 h 1059966"/>
                <a:gd name="connsiteX17" fmla="*/ 1252331 w 1252331"/>
                <a:gd name="connsiteY17" fmla="*/ 1059966 h 105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2331" h="1059966">
                  <a:moveTo>
                    <a:pt x="0" y="1059966"/>
                  </a:moveTo>
                  <a:cubicBezTo>
                    <a:pt x="57150" y="1026007"/>
                    <a:pt x="114301" y="992048"/>
                    <a:pt x="154057" y="920818"/>
                  </a:cubicBezTo>
                  <a:cubicBezTo>
                    <a:pt x="193813" y="849588"/>
                    <a:pt x="238539" y="632584"/>
                    <a:pt x="238539" y="632584"/>
                  </a:cubicBezTo>
                  <a:lnTo>
                    <a:pt x="238539" y="632584"/>
                  </a:lnTo>
                  <a:cubicBezTo>
                    <a:pt x="246822" y="596141"/>
                    <a:pt x="264215" y="459478"/>
                    <a:pt x="288235" y="413923"/>
                  </a:cubicBezTo>
                  <a:cubicBezTo>
                    <a:pt x="312255" y="368368"/>
                    <a:pt x="382657" y="359257"/>
                    <a:pt x="382657" y="359257"/>
                  </a:cubicBezTo>
                  <a:lnTo>
                    <a:pt x="382657" y="359257"/>
                  </a:lnTo>
                  <a:lnTo>
                    <a:pt x="382657" y="359257"/>
                  </a:lnTo>
                  <a:cubicBezTo>
                    <a:pt x="408333" y="331096"/>
                    <a:pt x="511037" y="233362"/>
                    <a:pt x="536713" y="190292"/>
                  </a:cubicBezTo>
                  <a:cubicBezTo>
                    <a:pt x="562389" y="147222"/>
                    <a:pt x="516006" y="132314"/>
                    <a:pt x="536713" y="100840"/>
                  </a:cubicBezTo>
                  <a:cubicBezTo>
                    <a:pt x="557420" y="69366"/>
                    <a:pt x="617883" y="-11803"/>
                    <a:pt x="660953" y="1449"/>
                  </a:cubicBezTo>
                  <a:cubicBezTo>
                    <a:pt x="704023" y="14701"/>
                    <a:pt x="757031" y="109951"/>
                    <a:pt x="795131" y="180353"/>
                  </a:cubicBezTo>
                  <a:cubicBezTo>
                    <a:pt x="833231" y="250755"/>
                    <a:pt x="849797" y="345177"/>
                    <a:pt x="889553" y="423862"/>
                  </a:cubicBezTo>
                  <a:cubicBezTo>
                    <a:pt x="929309" y="502547"/>
                    <a:pt x="1012964" y="589514"/>
                    <a:pt x="1033670" y="652462"/>
                  </a:cubicBezTo>
                  <a:cubicBezTo>
                    <a:pt x="1054376" y="715410"/>
                    <a:pt x="994742" y="754338"/>
                    <a:pt x="1013792" y="801549"/>
                  </a:cubicBezTo>
                  <a:cubicBezTo>
                    <a:pt x="1032842" y="848760"/>
                    <a:pt x="1108214" y="892658"/>
                    <a:pt x="1147970" y="935727"/>
                  </a:cubicBezTo>
                  <a:cubicBezTo>
                    <a:pt x="1187726" y="978796"/>
                    <a:pt x="1252331" y="1059966"/>
                    <a:pt x="1252331" y="1059966"/>
                  </a:cubicBezTo>
                  <a:lnTo>
                    <a:pt x="1252331" y="1059966"/>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p:cNvCxnSpPr/>
            <p:nvPr/>
          </p:nvCxnSpPr>
          <p:spPr>
            <a:xfrm>
              <a:off x="4788024" y="1628800"/>
              <a:ext cx="108012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25" name="テキスト ボックス 24"/>
          <p:cNvSpPr txBox="1"/>
          <p:nvPr/>
        </p:nvSpPr>
        <p:spPr>
          <a:xfrm>
            <a:off x="4426368" y="4161569"/>
            <a:ext cx="794252"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矢羽根</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テキスト ボックス 25"/>
          <p:cNvSpPr txBox="1"/>
          <p:nvPr/>
        </p:nvSpPr>
        <p:spPr>
          <a:xfrm>
            <a:off x="2102673"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ピラミッド</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テキスト ボックス 26"/>
          <p:cNvSpPr txBox="1"/>
          <p:nvPr/>
        </p:nvSpPr>
        <p:spPr>
          <a:xfrm>
            <a:off x="6595465" y="4161569"/>
            <a:ext cx="1224136" cy="338554"/>
          </a:xfrm>
          <a:prstGeom prst="rect">
            <a:avLst/>
          </a:prstGeom>
          <a:noFill/>
        </p:spPr>
        <p:txBody>
          <a:bodyPr wrap="square" rtlCol="0">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氷山の一角</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フリーフォーム 32"/>
          <p:cNvSpPr/>
          <p:nvPr/>
        </p:nvSpPr>
        <p:spPr>
          <a:xfrm>
            <a:off x="8835434" y="2797629"/>
            <a:ext cx="1073854" cy="1126131"/>
          </a:xfrm>
          <a:custGeom>
            <a:avLst/>
            <a:gdLst>
              <a:gd name="connsiteX0" fmla="*/ 25546 w 1073854"/>
              <a:gd name="connsiteY0" fmla="*/ 0 h 1126131"/>
              <a:gd name="connsiteX1" fmla="*/ 58204 w 1073854"/>
              <a:gd name="connsiteY1" fmla="*/ 805542 h 1126131"/>
              <a:gd name="connsiteX2" fmla="*/ 537175 w 1073854"/>
              <a:gd name="connsiteY2" fmla="*/ 1121228 h 1126131"/>
              <a:gd name="connsiteX3" fmla="*/ 994375 w 1073854"/>
              <a:gd name="connsiteY3" fmla="*/ 925285 h 1126131"/>
              <a:gd name="connsiteX4" fmla="*/ 1070575 w 1073854"/>
              <a:gd name="connsiteY4" fmla="*/ 43542 h 1126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3854" h="1126131">
                <a:moveTo>
                  <a:pt x="25546" y="0"/>
                </a:moveTo>
                <a:cubicBezTo>
                  <a:pt x="-761" y="309335"/>
                  <a:pt x="-27067" y="618671"/>
                  <a:pt x="58204" y="805542"/>
                </a:cubicBezTo>
                <a:cubicBezTo>
                  <a:pt x="143475" y="992413"/>
                  <a:pt x="381146" y="1101271"/>
                  <a:pt x="537175" y="1121228"/>
                </a:cubicBezTo>
                <a:cubicBezTo>
                  <a:pt x="693204" y="1141185"/>
                  <a:pt x="905475" y="1104899"/>
                  <a:pt x="994375" y="925285"/>
                </a:cubicBezTo>
                <a:cubicBezTo>
                  <a:pt x="1083275" y="745671"/>
                  <a:pt x="1076925" y="394606"/>
                  <a:pt x="1070575" y="43542"/>
                </a:cubicBezTo>
              </a:path>
            </a:pathLst>
          </a:custGeom>
          <a:noFill/>
          <a:ln>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p:cNvSpPr txBox="1"/>
          <p:nvPr/>
        </p:nvSpPr>
        <p:spPr>
          <a:xfrm>
            <a:off x="8835434" y="4138015"/>
            <a:ext cx="1224136" cy="338554"/>
          </a:xfrm>
          <a:prstGeom prst="rect">
            <a:avLst/>
          </a:prstGeom>
          <a:noFill/>
        </p:spPr>
        <p:txBody>
          <a:bodyPr wrap="square" rtlCol="0">
            <a:spAutoFit/>
          </a:bodyPr>
          <a:lstStyle/>
          <a:p>
            <a:pPr algn="ctr"/>
            <a:r>
              <a:rPr kumimoji="1" lang="en-US" altLang="ja-JP" sz="1600" dirty="0">
                <a:latin typeface="メイリオ" panose="020B0604030504040204" pitchFamily="50" charset="-128"/>
                <a:ea typeface="メイリオ" panose="020B0604030504040204" pitchFamily="50" charset="-128"/>
                <a:cs typeface="メイリオ" panose="020B0604030504040204" pitchFamily="50" charset="-128"/>
              </a:rPr>
              <a:t>U</a:t>
            </a:r>
            <a:r>
              <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rPr>
              <a:t>字</a:t>
            </a:r>
          </a:p>
        </p:txBody>
      </p:sp>
      <p:sp>
        <p:nvSpPr>
          <p:cNvPr id="28" name="正方形/長方形 27"/>
          <p:cNvSpPr/>
          <p:nvPr/>
        </p:nvSpPr>
        <p:spPr>
          <a:xfrm>
            <a:off x="1343891" y="1758080"/>
            <a:ext cx="7203511" cy="349134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506147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組織変革のステップ</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37</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組織が変わるには時間がかかる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フリーフォーム 7"/>
          <p:cNvSpPr/>
          <p:nvPr/>
        </p:nvSpPr>
        <p:spPr>
          <a:xfrm>
            <a:off x="3629980" y="1877217"/>
            <a:ext cx="4597410" cy="4059591"/>
          </a:xfrm>
          <a:custGeom>
            <a:avLst/>
            <a:gdLst>
              <a:gd name="connsiteX0" fmla="*/ 117908 w 4597410"/>
              <a:gd name="connsiteY0" fmla="*/ 34290 h 4059591"/>
              <a:gd name="connsiteX1" fmla="*/ 220778 w 4597410"/>
              <a:gd name="connsiteY1" fmla="*/ 2491740 h 4059591"/>
              <a:gd name="connsiteX2" fmla="*/ 2129588 w 4597410"/>
              <a:gd name="connsiteY2" fmla="*/ 4023360 h 4059591"/>
              <a:gd name="connsiteX3" fmla="*/ 3958388 w 4597410"/>
              <a:gd name="connsiteY3" fmla="*/ 3360420 h 4059591"/>
              <a:gd name="connsiteX4" fmla="*/ 4541318 w 4597410"/>
              <a:gd name="connsiteY4" fmla="*/ 994410 h 4059591"/>
              <a:gd name="connsiteX5" fmla="*/ 4541318 w 4597410"/>
              <a:gd name="connsiteY5" fmla="*/ 0 h 4059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7410" h="4059591">
                <a:moveTo>
                  <a:pt x="117908" y="34290"/>
                </a:moveTo>
                <a:cubicBezTo>
                  <a:pt x="1703" y="930592"/>
                  <a:pt x="-114502" y="1826895"/>
                  <a:pt x="220778" y="2491740"/>
                </a:cubicBezTo>
                <a:cubicBezTo>
                  <a:pt x="556058" y="3156585"/>
                  <a:pt x="1506653" y="3878580"/>
                  <a:pt x="2129588" y="4023360"/>
                </a:cubicBezTo>
                <a:cubicBezTo>
                  <a:pt x="2752523" y="4168140"/>
                  <a:pt x="3556433" y="3865245"/>
                  <a:pt x="3958388" y="3360420"/>
                </a:cubicBezTo>
                <a:cubicBezTo>
                  <a:pt x="4360343" y="2855595"/>
                  <a:pt x="4444163" y="1554480"/>
                  <a:pt x="4541318" y="994410"/>
                </a:cubicBezTo>
                <a:cubicBezTo>
                  <a:pt x="4638473" y="434340"/>
                  <a:pt x="4589895" y="217170"/>
                  <a:pt x="4541318" y="0"/>
                </a:cubicBezTo>
              </a:path>
            </a:pathLst>
          </a:custGeom>
          <a:noFill/>
          <a:ln w="317500">
            <a:solidFill>
              <a:schemeClr val="accent1">
                <a:lumMod val="40000"/>
                <a:lumOff val="60000"/>
              </a:schemeClr>
            </a:solidFill>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b="1">
              <a:solidFill>
                <a:schemeClr val="tx1"/>
              </a:solidFill>
            </a:endParaRPr>
          </a:p>
        </p:txBody>
      </p:sp>
      <p:sp>
        <p:nvSpPr>
          <p:cNvPr id="9" name="テキスト ボックス 48"/>
          <p:cNvSpPr txBox="1"/>
          <p:nvPr/>
        </p:nvSpPr>
        <p:spPr>
          <a:xfrm>
            <a:off x="7014356" y="4845514"/>
            <a:ext cx="3312368" cy="46166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我々が描く最高の未来はどんな映像か？</a:t>
            </a:r>
            <a:endParaRPr kumimoji="1"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どんな場面か？</a:t>
            </a:r>
          </a:p>
        </p:txBody>
      </p:sp>
      <p:sp>
        <p:nvSpPr>
          <p:cNvPr id="10" name="テキスト ボックス 49"/>
          <p:cNvSpPr txBox="1"/>
          <p:nvPr/>
        </p:nvSpPr>
        <p:spPr>
          <a:xfrm>
            <a:off x="7014356" y="3760458"/>
            <a:ext cx="3347864"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それを実現するためには何をすればよいか？</a:t>
            </a:r>
          </a:p>
        </p:txBody>
      </p:sp>
      <p:sp>
        <p:nvSpPr>
          <p:cNvPr id="12" name="テキスト ボックス 50"/>
          <p:cNvSpPr txBox="1"/>
          <p:nvPr/>
        </p:nvSpPr>
        <p:spPr>
          <a:xfrm>
            <a:off x="7252337" y="2752346"/>
            <a:ext cx="2786355"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明日からまず何をすればよいか？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51"/>
          <p:cNvSpPr txBox="1"/>
          <p:nvPr/>
        </p:nvSpPr>
        <p:spPr>
          <a:xfrm>
            <a:off x="4134036" y="5538394"/>
            <a:ext cx="2506141"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自分たちはどこに向かいたいか？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54"/>
          <p:cNvSpPr txBox="1"/>
          <p:nvPr/>
        </p:nvSpPr>
        <p:spPr>
          <a:xfrm>
            <a:off x="2832373" y="3466619"/>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相手はどんな人か？</a:t>
            </a:r>
          </a:p>
        </p:txBody>
      </p:sp>
      <p:sp>
        <p:nvSpPr>
          <p:cNvPr id="15" name="テキスト ボックス 55"/>
          <p:cNvSpPr txBox="1"/>
          <p:nvPr/>
        </p:nvSpPr>
        <p:spPr>
          <a:xfrm>
            <a:off x="2681171" y="2576834"/>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自分はどんな人か？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3"/>
          <p:cNvSpPr txBox="1"/>
          <p:nvPr/>
        </p:nvSpPr>
        <p:spPr>
          <a:xfrm>
            <a:off x="5142148" y="2597297"/>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Mind</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（思考）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テキスト ボックス 14"/>
          <p:cNvSpPr txBox="1"/>
          <p:nvPr/>
        </p:nvSpPr>
        <p:spPr>
          <a:xfrm>
            <a:off x="5115002" y="3533401"/>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Heart</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テキスト ボックス 15"/>
          <p:cNvSpPr txBox="1"/>
          <p:nvPr/>
        </p:nvSpPr>
        <p:spPr>
          <a:xfrm>
            <a:off x="5120376" y="4499702"/>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Will</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（意志）</a:t>
            </a:r>
            <a:endParaRPr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9" name="テキスト ボックス 16"/>
          <p:cNvSpPr txBox="1"/>
          <p:nvPr/>
        </p:nvSpPr>
        <p:spPr>
          <a:xfrm>
            <a:off x="2189820" y="4363191"/>
            <a:ext cx="2402362"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自分たちはどんな集まりか？</a:t>
            </a:r>
          </a:p>
        </p:txBody>
      </p:sp>
      <p:sp>
        <p:nvSpPr>
          <p:cNvPr id="20" name="テキスト ボックス 21"/>
          <p:cNvSpPr txBox="1"/>
          <p:nvPr/>
        </p:nvSpPr>
        <p:spPr>
          <a:xfrm>
            <a:off x="1804754" y="1529816"/>
            <a:ext cx="6840760"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組織変革のステップ（</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理論：</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C Otto </a:t>
            </a:r>
            <a:r>
              <a:rPr lang="en-US" altLang="ja-JP" sz="1600" u="sng" dirty="0" err="1">
                <a:latin typeface="メイリオ" panose="020B0604030504040204" pitchFamily="50" charset="-128"/>
                <a:ea typeface="メイリオ" panose="020B0604030504040204" pitchFamily="50" charset="-128"/>
                <a:cs typeface="メイリオ" panose="020B0604030504040204" pitchFamily="50" charset="-128"/>
              </a:rPr>
              <a:t>Schamer</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1" name="Picture 2" descr="議論"/>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576" y="4093361"/>
            <a:ext cx="1366679" cy="136667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首をかしげる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808" y="2076045"/>
            <a:ext cx="1459227" cy="145922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ひじを付いて考える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7459" y="1301262"/>
            <a:ext cx="1552571" cy="155257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ここに注目その２．"/>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18383" y="4870786"/>
            <a:ext cx="1553153" cy="155315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2" descr="社長、部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9665" y="5460040"/>
            <a:ext cx="1344333" cy="134433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ひらめく人"/>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6650" y="5268905"/>
            <a:ext cx="1417385" cy="141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7464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組織変革のステップ</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38</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日々は</a:t>
            </a: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具体的なこと</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（タスク）で盛りだくさん</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フリーフォーム 7"/>
          <p:cNvSpPr/>
          <p:nvPr/>
        </p:nvSpPr>
        <p:spPr>
          <a:xfrm>
            <a:off x="3629980" y="1877217"/>
            <a:ext cx="4597410" cy="4059591"/>
          </a:xfrm>
          <a:custGeom>
            <a:avLst/>
            <a:gdLst>
              <a:gd name="connsiteX0" fmla="*/ 117908 w 4597410"/>
              <a:gd name="connsiteY0" fmla="*/ 34290 h 4059591"/>
              <a:gd name="connsiteX1" fmla="*/ 220778 w 4597410"/>
              <a:gd name="connsiteY1" fmla="*/ 2491740 h 4059591"/>
              <a:gd name="connsiteX2" fmla="*/ 2129588 w 4597410"/>
              <a:gd name="connsiteY2" fmla="*/ 4023360 h 4059591"/>
              <a:gd name="connsiteX3" fmla="*/ 3958388 w 4597410"/>
              <a:gd name="connsiteY3" fmla="*/ 3360420 h 4059591"/>
              <a:gd name="connsiteX4" fmla="*/ 4541318 w 4597410"/>
              <a:gd name="connsiteY4" fmla="*/ 994410 h 4059591"/>
              <a:gd name="connsiteX5" fmla="*/ 4541318 w 4597410"/>
              <a:gd name="connsiteY5" fmla="*/ 0 h 4059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7410" h="4059591">
                <a:moveTo>
                  <a:pt x="117908" y="34290"/>
                </a:moveTo>
                <a:cubicBezTo>
                  <a:pt x="1703" y="930592"/>
                  <a:pt x="-114502" y="1826895"/>
                  <a:pt x="220778" y="2491740"/>
                </a:cubicBezTo>
                <a:cubicBezTo>
                  <a:pt x="556058" y="3156585"/>
                  <a:pt x="1506653" y="3878580"/>
                  <a:pt x="2129588" y="4023360"/>
                </a:cubicBezTo>
                <a:cubicBezTo>
                  <a:pt x="2752523" y="4168140"/>
                  <a:pt x="3556433" y="3865245"/>
                  <a:pt x="3958388" y="3360420"/>
                </a:cubicBezTo>
                <a:cubicBezTo>
                  <a:pt x="4360343" y="2855595"/>
                  <a:pt x="4444163" y="1554480"/>
                  <a:pt x="4541318" y="994410"/>
                </a:cubicBezTo>
                <a:cubicBezTo>
                  <a:pt x="4638473" y="434340"/>
                  <a:pt x="4589895" y="217170"/>
                  <a:pt x="4541318" y="0"/>
                </a:cubicBezTo>
              </a:path>
            </a:pathLst>
          </a:custGeom>
          <a:noFill/>
          <a:ln w="317500">
            <a:solidFill>
              <a:schemeClr val="accent1">
                <a:lumMod val="40000"/>
                <a:lumOff val="60000"/>
              </a:schemeClr>
            </a:solidFill>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b="1">
              <a:solidFill>
                <a:schemeClr val="tx1"/>
              </a:solidFill>
            </a:endParaRPr>
          </a:p>
        </p:txBody>
      </p:sp>
      <p:sp>
        <p:nvSpPr>
          <p:cNvPr id="9" name="テキスト ボックス 48"/>
          <p:cNvSpPr txBox="1"/>
          <p:nvPr/>
        </p:nvSpPr>
        <p:spPr>
          <a:xfrm>
            <a:off x="7014356" y="4845514"/>
            <a:ext cx="3312368" cy="46166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我々が描く最高の未来はどんな映像か？</a:t>
            </a:r>
            <a:endParaRPr kumimoji="1"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どんな場面か？</a:t>
            </a:r>
          </a:p>
        </p:txBody>
      </p:sp>
      <p:sp>
        <p:nvSpPr>
          <p:cNvPr id="10" name="テキスト ボックス 49"/>
          <p:cNvSpPr txBox="1"/>
          <p:nvPr/>
        </p:nvSpPr>
        <p:spPr>
          <a:xfrm>
            <a:off x="7014356" y="3760458"/>
            <a:ext cx="3347864"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それを実現するためには何をすればよいか？</a:t>
            </a:r>
          </a:p>
        </p:txBody>
      </p:sp>
      <p:sp>
        <p:nvSpPr>
          <p:cNvPr id="12" name="テキスト ボックス 50"/>
          <p:cNvSpPr txBox="1"/>
          <p:nvPr/>
        </p:nvSpPr>
        <p:spPr>
          <a:xfrm>
            <a:off x="7252337" y="2752346"/>
            <a:ext cx="2786355"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明日からまず何をすればよいか？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51"/>
          <p:cNvSpPr txBox="1"/>
          <p:nvPr/>
        </p:nvSpPr>
        <p:spPr>
          <a:xfrm>
            <a:off x="4134036" y="5538394"/>
            <a:ext cx="2506141"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自分たちはどこに向かいたいか？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54"/>
          <p:cNvSpPr txBox="1"/>
          <p:nvPr/>
        </p:nvSpPr>
        <p:spPr>
          <a:xfrm>
            <a:off x="2832373" y="3466619"/>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相手はどんな人か？</a:t>
            </a:r>
          </a:p>
        </p:txBody>
      </p:sp>
      <p:sp>
        <p:nvSpPr>
          <p:cNvPr id="15" name="テキスト ボックス 55"/>
          <p:cNvSpPr txBox="1"/>
          <p:nvPr/>
        </p:nvSpPr>
        <p:spPr>
          <a:xfrm>
            <a:off x="2681171" y="2576834"/>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自分はどんな人か？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3"/>
          <p:cNvSpPr txBox="1"/>
          <p:nvPr/>
        </p:nvSpPr>
        <p:spPr>
          <a:xfrm>
            <a:off x="5142148" y="2597297"/>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Mind</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（思考）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テキスト ボックス 14"/>
          <p:cNvSpPr txBox="1"/>
          <p:nvPr/>
        </p:nvSpPr>
        <p:spPr>
          <a:xfrm>
            <a:off x="5115002" y="3533401"/>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Heart</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テキスト ボックス 15"/>
          <p:cNvSpPr txBox="1"/>
          <p:nvPr/>
        </p:nvSpPr>
        <p:spPr>
          <a:xfrm>
            <a:off x="5120376" y="4499702"/>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Will</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（意志）</a:t>
            </a:r>
            <a:endParaRPr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9" name="テキスト ボックス 16"/>
          <p:cNvSpPr txBox="1"/>
          <p:nvPr/>
        </p:nvSpPr>
        <p:spPr>
          <a:xfrm>
            <a:off x="2189820" y="4363191"/>
            <a:ext cx="2402362"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自分たちはどんな集まりか？</a:t>
            </a:r>
          </a:p>
        </p:txBody>
      </p:sp>
      <p:sp>
        <p:nvSpPr>
          <p:cNvPr id="20" name="テキスト ボックス 21"/>
          <p:cNvSpPr txBox="1"/>
          <p:nvPr/>
        </p:nvSpPr>
        <p:spPr>
          <a:xfrm>
            <a:off x="1804754" y="1529816"/>
            <a:ext cx="6840760"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組織変革のステップ（</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理論：</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C Otto </a:t>
            </a:r>
            <a:r>
              <a:rPr lang="en-US" altLang="ja-JP" sz="1600" u="sng" dirty="0" err="1">
                <a:latin typeface="メイリオ" panose="020B0604030504040204" pitchFamily="50" charset="-128"/>
                <a:ea typeface="メイリオ" panose="020B0604030504040204" pitchFamily="50" charset="-128"/>
                <a:cs typeface="メイリオ" panose="020B0604030504040204" pitchFamily="50" charset="-128"/>
              </a:rPr>
              <a:t>Schamer</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楕円 6"/>
          <p:cNvSpPr/>
          <p:nvPr/>
        </p:nvSpPr>
        <p:spPr>
          <a:xfrm rot="441733">
            <a:off x="7380034" y="2077424"/>
            <a:ext cx="1432380" cy="2712770"/>
          </a:xfrm>
          <a:prstGeom prst="ellipse">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p:cNvSpPr txBox="1"/>
          <p:nvPr/>
        </p:nvSpPr>
        <p:spPr>
          <a:xfrm>
            <a:off x="9024997" y="3065010"/>
            <a:ext cx="1433386" cy="584775"/>
          </a:xfrm>
          <a:prstGeom prst="rect">
            <a:avLst/>
          </a:prstGeom>
          <a:noFill/>
        </p:spPr>
        <p:txBody>
          <a:bodyPr wrap="square" rtlCol="0">
            <a:spAutoFit/>
          </a:bodyPr>
          <a:lstStyle/>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日々の仕事で</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語られること</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6146" name="Picture 2" descr="議論"/>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576" y="4093361"/>
            <a:ext cx="1366679" cy="136667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首をかしげる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808" y="2076045"/>
            <a:ext cx="1459227" cy="1459227"/>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ひじを付いて考える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7459" y="1301262"/>
            <a:ext cx="1552571" cy="155257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ここに注目その２．"/>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18383" y="4870786"/>
            <a:ext cx="1553153" cy="1553153"/>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ひらめく人"/>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6650" y="5268905"/>
            <a:ext cx="1417385" cy="1417385"/>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社長、部長"/>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79665" y="5460040"/>
            <a:ext cx="1344333" cy="1344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398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組織変革のステップ</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39</a:t>
            </a:fld>
            <a:endParaRPr lang="ja-JP" altLang="en-US">
              <a:uFillTx/>
            </a:endParaRPr>
          </a:p>
        </p:txBody>
      </p:sp>
      <p:sp>
        <p:nvSpPr>
          <p:cNvPr id="11" name="テキスト ボックス 10"/>
          <p:cNvSpPr txBox="1"/>
          <p:nvPr/>
        </p:nvSpPr>
        <p:spPr>
          <a:xfrm>
            <a:off x="500134" y="769713"/>
            <a:ext cx="10543004"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組織づくりには日ごろ語られないことを語りあう（対話）場面を</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意図的につくる</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ことが必要</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フリーフォーム 7"/>
          <p:cNvSpPr/>
          <p:nvPr/>
        </p:nvSpPr>
        <p:spPr>
          <a:xfrm>
            <a:off x="3629980" y="1877217"/>
            <a:ext cx="4597410" cy="4059591"/>
          </a:xfrm>
          <a:custGeom>
            <a:avLst/>
            <a:gdLst>
              <a:gd name="connsiteX0" fmla="*/ 117908 w 4597410"/>
              <a:gd name="connsiteY0" fmla="*/ 34290 h 4059591"/>
              <a:gd name="connsiteX1" fmla="*/ 220778 w 4597410"/>
              <a:gd name="connsiteY1" fmla="*/ 2491740 h 4059591"/>
              <a:gd name="connsiteX2" fmla="*/ 2129588 w 4597410"/>
              <a:gd name="connsiteY2" fmla="*/ 4023360 h 4059591"/>
              <a:gd name="connsiteX3" fmla="*/ 3958388 w 4597410"/>
              <a:gd name="connsiteY3" fmla="*/ 3360420 h 4059591"/>
              <a:gd name="connsiteX4" fmla="*/ 4541318 w 4597410"/>
              <a:gd name="connsiteY4" fmla="*/ 994410 h 4059591"/>
              <a:gd name="connsiteX5" fmla="*/ 4541318 w 4597410"/>
              <a:gd name="connsiteY5" fmla="*/ 0 h 4059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7410" h="4059591">
                <a:moveTo>
                  <a:pt x="117908" y="34290"/>
                </a:moveTo>
                <a:cubicBezTo>
                  <a:pt x="1703" y="930592"/>
                  <a:pt x="-114502" y="1826895"/>
                  <a:pt x="220778" y="2491740"/>
                </a:cubicBezTo>
                <a:cubicBezTo>
                  <a:pt x="556058" y="3156585"/>
                  <a:pt x="1506653" y="3878580"/>
                  <a:pt x="2129588" y="4023360"/>
                </a:cubicBezTo>
                <a:cubicBezTo>
                  <a:pt x="2752523" y="4168140"/>
                  <a:pt x="3556433" y="3865245"/>
                  <a:pt x="3958388" y="3360420"/>
                </a:cubicBezTo>
                <a:cubicBezTo>
                  <a:pt x="4360343" y="2855595"/>
                  <a:pt x="4444163" y="1554480"/>
                  <a:pt x="4541318" y="994410"/>
                </a:cubicBezTo>
                <a:cubicBezTo>
                  <a:pt x="4638473" y="434340"/>
                  <a:pt x="4589895" y="217170"/>
                  <a:pt x="4541318" y="0"/>
                </a:cubicBezTo>
              </a:path>
            </a:pathLst>
          </a:custGeom>
          <a:noFill/>
          <a:ln w="317500">
            <a:solidFill>
              <a:schemeClr val="accent1">
                <a:lumMod val="40000"/>
                <a:lumOff val="60000"/>
              </a:schemeClr>
            </a:solidFill>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b="1">
              <a:solidFill>
                <a:schemeClr val="tx1"/>
              </a:solidFill>
            </a:endParaRPr>
          </a:p>
        </p:txBody>
      </p:sp>
      <p:sp>
        <p:nvSpPr>
          <p:cNvPr id="9" name="テキスト ボックス 48"/>
          <p:cNvSpPr txBox="1"/>
          <p:nvPr/>
        </p:nvSpPr>
        <p:spPr>
          <a:xfrm>
            <a:off x="7014356" y="4845514"/>
            <a:ext cx="3312368" cy="46166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我々が描く最高の未来はどんな映像か？</a:t>
            </a:r>
            <a:endParaRPr kumimoji="1"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どんな場面か？</a:t>
            </a:r>
          </a:p>
        </p:txBody>
      </p:sp>
      <p:sp>
        <p:nvSpPr>
          <p:cNvPr id="10" name="テキスト ボックス 49"/>
          <p:cNvSpPr txBox="1"/>
          <p:nvPr/>
        </p:nvSpPr>
        <p:spPr>
          <a:xfrm>
            <a:off x="7014356" y="3760458"/>
            <a:ext cx="3347864"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それを実現するためには何をすればよいか？</a:t>
            </a:r>
          </a:p>
        </p:txBody>
      </p:sp>
      <p:sp>
        <p:nvSpPr>
          <p:cNvPr id="12" name="テキスト ボックス 50"/>
          <p:cNvSpPr txBox="1"/>
          <p:nvPr/>
        </p:nvSpPr>
        <p:spPr>
          <a:xfrm>
            <a:off x="7252337" y="2752346"/>
            <a:ext cx="2786355"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明日からまず何をすればよいか？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51"/>
          <p:cNvSpPr txBox="1"/>
          <p:nvPr/>
        </p:nvSpPr>
        <p:spPr>
          <a:xfrm>
            <a:off x="4134036" y="5538394"/>
            <a:ext cx="2506141"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自分たちはどこに向かいたいか？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54"/>
          <p:cNvSpPr txBox="1"/>
          <p:nvPr/>
        </p:nvSpPr>
        <p:spPr>
          <a:xfrm>
            <a:off x="2832373" y="3466619"/>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相手はどんな人か？</a:t>
            </a:r>
          </a:p>
        </p:txBody>
      </p:sp>
      <p:sp>
        <p:nvSpPr>
          <p:cNvPr id="15" name="テキスト ボックス 55"/>
          <p:cNvSpPr txBox="1"/>
          <p:nvPr/>
        </p:nvSpPr>
        <p:spPr>
          <a:xfrm>
            <a:off x="2681171" y="2576834"/>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自分はどんな人か？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3"/>
          <p:cNvSpPr txBox="1"/>
          <p:nvPr/>
        </p:nvSpPr>
        <p:spPr>
          <a:xfrm>
            <a:off x="5142148" y="2597297"/>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Mind</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（思考）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テキスト ボックス 14"/>
          <p:cNvSpPr txBox="1"/>
          <p:nvPr/>
        </p:nvSpPr>
        <p:spPr>
          <a:xfrm>
            <a:off x="5115002" y="3533401"/>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Heart</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テキスト ボックス 15"/>
          <p:cNvSpPr txBox="1"/>
          <p:nvPr/>
        </p:nvSpPr>
        <p:spPr>
          <a:xfrm>
            <a:off x="5120376" y="4499702"/>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Will</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（意志）</a:t>
            </a:r>
            <a:endParaRPr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9" name="テキスト ボックス 16"/>
          <p:cNvSpPr txBox="1"/>
          <p:nvPr/>
        </p:nvSpPr>
        <p:spPr>
          <a:xfrm>
            <a:off x="2189820" y="4363191"/>
            <a:ext cx="2402362"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自分たちはどんな集まりか？</a:t>
            </a:r>
          </a:p>
        </p:txBody>
      </p:sp>
      <p:sp>
        <p:nvSpPr>
          <p:cNvPr id="20" name="テキスト ボックス 21"/>
          <p:cNvSpPr txBox="1"/>
          <p:nvPr/>
        </p:nvSpPr>
        <p:spPr>
          <a:xfrm>
            <a:off x="1804754" y="1529816"/>
            <a:ext cx="6840760"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組織変革のステップ（</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理論：</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C Otto </a:t>
            </a:r>
            <a:r>
              <a:rPr lang="en-US" altLang="ja-JP" sz="1600" u="sng" dirty="0" err="1">
                <a:latin typeface="メイリオ" panose="020B0604030504040204" pitchFamily="50" charset="-128"/>
                <a:ea typeface="メイリオ" panose="020B0604030504040204" pitchFamily="50" charset="-128"/>
                <a:cs typeface="メイリオ" panose="020B0604030504040204" pitchFamily="50" charset="-128"/>
              </a:rPr>
              <a:t>Schamer</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フリーフォーム 6"/>
          <p:cNvSpPr/>
          <p:nvPr/>
        </p:nvSpPr>
        <p:spPr>
          <a:xfrm>
            <a:off x="2954511" y="2036919"/>
            <a:ext cx="5260812" cy="4240506"/>
          </a:xfrm>
          <a:custGeom>
            <a:avLst/>
            <a:gdLst>
              <a:gd name="connsiteX0" fmla="*/ 2140003 w 5260812"/>
              <a:gd name="connsiteY0" fmla="*/ 4063435 h 4240506"/>
              <a:gd name="connsiteX1" fmla="*/ 899032 w 5260812"/>
              <a:gd name="connsiteY1" fmla="*/ 3397230 h 4240506"/>
              <a:gd name="connsiteX2" fmla="*/ 49946 w 5260812"/>
              <a:gd name="connsiteY2" fmla="*/ 1725184 h 4240506"/>
              <a:gd name="connsiteX3" fmla="*/ 206700 w 5260812"/>
              <a:gd name="connsiteY3" fmla="*/ 196830 h 4240506"/>
              <a:gd name="connsiteX4" fmla="*/ 1094975 w 5260812"/>
              <a:gd name="connsiteY4" fmla="*/ 183767 h 4240506"/>
              <a:gd name="connsiteX5" fmla="*/ 1277855 w 5260812"/>
              <a:gd name="connsiteY5" fmla="*/ 1699058 h 4240506"/>
              <a:gd name="connsiteX6" fmla="*/ 1721992 w 5260812"/>
              <a:gd name="connsiteY6" fmla="*/ 2848590 h 4240506"/>
              <a:gd name="connsiteX7" fmla="*/ 2858460 w 5260812"/>
              <a:gd name="connsiteY7" fmla="*/ 3358041 h 4240506"/>
              <a:gd name="connsiteX8" fmla="*/ 3589980 w 5260812"/>
              <a:gd name="connsiteY8" fmla="*/ 3358041 h 4240506"/>
              <a:gd name="connsiteX9" fmla="*/ 4465192 w 5260812"/>
              <a:gd name="connsiteY9" fmla="*/ 2744087 h 4240506"/>
              <a:gd name="connsiteX10" fmla="*/ 5105272 w 5260812"/>
              <a:gd name="connsiteY10" fmla="*/ 2704898 h 4240506"/>
              <a:gd name="connsiteX11" fmla="*/ 5118335 w 5260812"/>
              <a:gd name="connsiteY11" fmla="*/ 3553984 h 4240506"/>
              <a:gd name="connsiteX12" fmla="*/ 3498540 w 5260812"/>
              <a:gd name="connsiteY12" fmla="*/ 4207127 h 4240506"/>
              <a:gd name="connsiteX13" fmla="*/ 2140003 w 5260812"/>
              <a:gd name="connsiteY13" fmla="*/ 4063435 h 4240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60812" h="4240506">
                <a:moveTo>
                  <a:pt x="2140003" y="4063435"/>
                </a:moveTo>
                <a:cubicBezTo>
                  <a:pt x="1706752" y="3928452"/>
                  <a:pt x="1247375" y="3786938"/>
                  <a:pt x="899032" y="3397230"/>
                </a:cubicBezTo>
                <a:cubicBezTo>
                  <a:pt x="550689" y="3007521"/>
                  <a:pt x="165335" y="2258584"/>
                  <a:pt x="49946" y="1725184"/>
                </a:cubicBezTo>
                <a:cubicBezTo>
                  <a:pt x="-65443" y="1191784"/>
                  <a:pt x="32529" y="453733"/>
                  <a:pt x="206700" y="196830"/>
                </a:cubicBezTo>
                <a:cubicBezTo>
                  <a:pt x="380871" y="-60073"/>
                  <a:pt x="916449" y="-66604"/>
                  <a:pt x="1094975" y="183767"/>
                </a:cubicBezTo>
                <a:cubicBezTo>
                  <a:pt x="1273501" y="434138"/>
                  <a:pt x="1173352" y="1254921"/>
                  <a:pt x="1277855" y="1699058"/>
                </a:cubicBezTo>
                <a:cubicBezTo>
                  <a:pt x="1382358" y="2143195"/>
                  <a:pt x="1458558" y="2572093"/>
                  <a:pt x="1721992" y="2848590"/>
                </a:cubicBezTo>
                <a:cubicBezTo>
                  <a:pt x="1985426" y="3125087"/>
                  <a:pt x="2547129" y="3273133"/>
                  <a:pt x="2858460" y="3358041"/>
                </a:cubicBezTo>
                <a:cubicBezTo>
                  <a:pt x="3169791" y="3442949"/>
                  <a:pt x="3322191" y="3460367"/>
                  <a:pt x="3589980" y="3358041"/>
                </a:cubicBezTo>
                <a:cubicBezTo>
                  <a:pt x="3857769" y="3255715"/>
                  <a:pt x="4212643" y="2852944"/>
                  <a:pt x="4465192" y="2744087"/>
                </a:cubicBezTo>
                <a:cubicBezTo>
                  <a:pt x="4717741" y="2635230"/>
                  <a:pt x="4996415" y="2569915"/>
                  <a:pt x="5105272" y="2704898"/>
                </a:cubicBezTo>
                <a:cubicBezTo>
                  <a:pt x="5214129" y="2839881"/>
                  <a:pt x="5386124" y="3303613"/>
                  <a:pt x="5118335" y="3553984"/>
                </a:cubicBezTo>
                <a:cubicBezTo>
                  <a:pt x="4850546" y="3804355"/>
                  <a:pt x="3988397" y="4120041"/>
                  <a:pt x="3498540" y="4207127"/>
                </a:cubicBezTo>
                <a:cubicBezTo>
                  <a:pt x="3008683" y="4294213"/>
                  <a:pt x="2573254" y="4198418"/>
                  <a:pt x="2140003" y="4063435"/>
                </a:cubicBezTo>
                <a:close/>
              </a:path>
            </a:pathLst>
          </a:custGeom>
          <a:noFill/>
          <a:ln w="635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p:cNvSpPr/>
          <p:nvPr/>
        </p:nvSpPr>
        <p:spPr>
          <a:xfrm rot="441733">
            <a:off x="7380034" y="2077424"/>
            <a:ext cx="1432380" cy="2712770"/>
          </a:xfrm>
          <a:prstGeom prst="ellipse">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p:cNvSpPr txBox="1"/>
          <p:nvPr/>
        </p:nvSpPr>
        <p:spPr>
          <a:xfrm>
            <a:off x="9024997" y="3065010"/>
            <a:ext cx="1433386" cy="584775"/>
          </a:xfrm>
          <a:prstGeom prst="rect">
            <a:avLst/>
          </a:prstGeom>
          <a:noFill/>
        </p:spPr>
        <p:txBody>
          <a:bodyPr wrap="square" rtlCol="0">
            <a:spAutoFit/>
          </a:bodyPr>
          <a:lstStyle/>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日々の仕事で</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語られること</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テキスト ボックス 22"/>
          <p:cNvSpPr txBox="1"/>
          <p:nvPr/>
        </p:nvSpPr>
        <p:spPr>
          <a:xfrm>
            <a:off x="2001239" y="4923634"/>
            <a:ext cx="1662268" cy="584775"/>
          </a:xfrm>
          <a:prstGeom prst="rect">
            <a:avLst/>
          </a:prstGeom>
          <a:noFill/>
        </p:spPr>
        <p:txBody>
          <a:bodyPr wrap="square" rtlCol="0">
            <a:spAutoFit/>
          </a:bodyPr>
          <a:lstStyle/>
          <a:p>
            <a:r>
              <a:rPr lang="ja-JP" altLang="en-US"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組織づくりで</a:t>
            </a:r>
            <a:endParaRPr lang="en-US" altLang="ja-JP"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語られること</a:t>
            </a:r>
            <a:endParaRPr lang="en-US" altLang="ja-JP"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4" name="Picture 2" descr="議論"/>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576" y="4093361"/>
            <a:ext cx="1366679" cy="136667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首をかしげる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808" y="2076045"/>
            <a:ext cx="1459227" cy="145922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ひじを付いて考える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7459" y="1301262"/>
            <a:ext cx="1552571" cy="155257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ここに注目その２．"/>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18383" y="4870786"/>
            <a:ext cx="1553153" cy="155315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社長、部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9665" y="5460040"/>
            <a:ext cx="1344333" cy="134433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0" descr="ひらめく人"/>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6650" y="5268905"/>
            <a:ext cx="1417385" cy="141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9976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組織変革のステップ</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40</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en-US" altLang="ja-JP" sz="2400" b="1"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の谷を越える</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ことが狙い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フリーフォーム 7"/>
          <p:cNvSpPr/>
          <p:nvPr/>
        </p:nvSpPr>
        <p:spPr>
          <a:xfrm>
            <a:off x="3629980" y="1877217"/>
            <a:ext cx="4597410" cy="4059591"/>
          </a:xfrm>
          <a:custGeom>
            <a:avLst/>
            <a:gdLst>
              <a:gd name="connsiteX0" fmla="*/ 117908 w 4597410"/>
              <a:gd name="connsiteY0" fmla="*/ 34290 h 4059591"/>
              <a:gd name="connsiteX1" fmla="*/ 220778 w 4597410"/>
              <a:gd name="connsiteY1" fmla="*/ 2491740 h 4059591"/>
              <a:gd name="connsiteX2" fmla="*/ 2129588 w 4597410"/>
              <a:gd name="connsiteY2" fmla="*/ 4023360 h 4059591"/>
              <a:gd name="connsiteX3" fmla="*/ 3958388 w 4597410"/>
              <a:gd name="connsiteY3" fmla="*/ 3360420 h 4059591"/>
              <a:gd name="connsiteX4" fmla="*/ 4541318 w 4597410"/>
              <a:gd name="connsiteY4" fmla="*/ 994410 h 4059591"/>
              <a:gd name="connsiteX5" fmla="*/ 4541318 w 4597410"/>
              <a:gd name="connsiteY5" fmla="*/ 0 h 4059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7410" h="4059591">
                <a:moveTo>
                  <a:pt x="117908" y="34290"/>
                </a:moveTo>
                <a:cubicBezTo>
                  <a:pt x="1703" y="930592"/>
                  <a:pt x="-114502" y="1826895"/>
                  <a:pt x="220778" y="2491740"/>
                </a:cubicBezTo>
                <a:cubicBezTo>
                  <a:pt x="556058" y="3156585"/>
                  <a:pt x="1506653" y="3878580"/>
                  <a:pt x="2129588" y="4023360"/>
                </a:cubicBezTo>
                <a:cubicBezTo>
                  <a:pt x="2752523" y="4168140"/>
                  <a:pt x="3556433" y="3865245"/>
                  <a:pt x="3958388" y="3360420"/>
                </a:cubicBezTo>
                <a:cubicBezTo>
                  <a:pt x="4360343" y="2855595"/>
                  <a:pt x="4444163" y="1554480"/>
                  <a:pt x="4541318" y="994410"/>
                </a:cubicBezTo>
                <a:cubicBezTo>
                  <a:pt x="4638473" y="434340"/>
                  <a:pt x="4589895" y="217170"/>
                  <a:pt x="4541318" y="0"/>
                </a:cubicBezTo>
              </a:path>
            </a:pathLst>
          </a:custGeom>
          <a:noFill/>
          <a:ln w="317500">
            <a:solidFill>
              <a:schemeClr val="accent1">
                <a:lumMod val="40000"/>
                <a:lumOff val="60000"/>
              </a:schemeClr>
            </a:solidFill>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b="1">
              <a:solidFill>
                <a:schemeClr val="tx1"/>
              </a:solidFill>
            </a:endParaRPr>
          </a:p>
        </p:txBody>
      </p:sp>
      <p:sp>
        <p:nvSpPr>
          <p:cNvPr id="9" name="テキスト ボックス 48"/>
          <p:cNvSpPr txBox="1"/>
          <p:nvPr/>
        </p:nvSpPr>
        <p:spPr>
          <a:xfrm>
            <a:off x="7014356" y="4845514"/>
            <a:ext cx="3312368" cy="46166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我々が描く最高の未来はどんな映像か？</a:t>
            </a:r>
            <a:endParaRPr kumimoji="1"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どんな場面か？</a:t>
            </a:r>
          </a:p>
        </p:txBody>
      </p:sp>
      <p:sp>
        <p:nvSpPr>
          <p:cNvPr id="10" name="テキスト ボックス 49"/>
          <p:cNvSpPr txBox="1"/>
          <p:nvPr/>
        </p:nvSpPr>
        <p:spPr>
          <a:xfrm>
            <a:off x="7014356" y="3760458"/>
            <a:ext cx="3347864"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それを実現するためには何をすればよいか？</a:t>
            </a:r>
          </a:p>
        </p:txBody>
      </p:sp>
      <p:sp>
        <p:nvSpPr>
          <p:cNvPr id="12" name="テキスト ボックス 50"/>
          <p:cNvSpPr txBox="1"/>
          <p:nvPr/>
        </p:nvSpPr>
        <p:spPr>
          <a:xfrm>
            <a:off x="7252337" y="2752346"/>
            <a:ext cx="2786355"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明日からまず何をすればよいか？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51"/>
          <p:cNvSpPr txBox="1"/>
          <p:nvPr/>
        </p:nvSpPr>
        <p:spPr>
          <a:xfrm>
            <a:off x="4134036" y="5538394"/>
            <a:ext cx="2506141"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自分たちはどこに向かいたいか？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54"/>
          <p:cNvSpPr txBox="1"/>
          <p:nvPr/>
        </p:nvSpPr>
        <p:spPr>
          <a:xfrm>
            <a:off x="2832373" y="3466619"/>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相手はどんな人か？</a:t>
            </a:r>
          </a:p>
        </p:txBody>
      </p:sp>
      <p:sp>
        <p:nvSpPr>
          <p:cNvPr id="15" name="テキスト ボックス 55"/>
          <p:cNvSpPr txBox="1"/>
          <p:nvPr/>
        </p:nvSpPr>
        <p:spPr>
          <a:xfrm>
            <a:off x="2681171" y="2576834"/>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自分はどんな人か？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3"/>
          <p:cNvSpPr txBox="1"/>
          <p:nvPr/>
        </p:nvSpPr>
        <p:spPr>
          <a:xfrm>
            <a:off x="5142148" y="2597297"/>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Mind</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（思考）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テキスト ボックス 14"/>
          <p:cNvSpPr txBox="1"/>
          <p:nvPr/>
        </p:nvSpPr>
        <p:spPr>
          <a:xfrm>
            <a:off x="5115002" y="3533401"/>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Heart</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テキスト ボックス 15"/>
          <p:cNvSpPr txBox="1"/>
          <p:nvPr/>
        </p:nvSpPr>
        <p:spPr>
          <a:xfrm>
            <a:off x="5120376" y="4499702"/>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Will</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（意志）</a:t>
            </a:r>
            <a:endParaRPr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9" name="テキスト ボックス 16"/>
          <p:cNvSpPr txBox="1"/>
          <p:nvPr/>
        </p:nvSpPr>
        <p:spPr>
          <a:xfrm>
            <a:off x="2189820" y="4363191"/>
            <a:ext cx="2402362"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自分たちはどんな集まりか？</a:t>
            </a:r>
          </a:p>
        </p:txBody>
      </p:sp>
      <p:sp>
        <p:nvSpPr>
          <p:cNvPr id="20" name="テキスト ボックス 21"/>
          <p:cNvSpPr txBox="1"/>
          <p:nvPr/>
        </p:nvSpPr>
        <p:spPr>
          <a:xfrm>
            <a:off x="1804754" y="1529816"/>
            <a:ext cx="6840760"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組織変革のステップ（</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理論：</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C Otto </a:t>
            </a:r>
            <a:r>
              <a:rPr lang="en-US" altLang="ja-JP" sz="1600" u="sng" dirty="0" err="1">
                <a:latin typeface="メイリオ" panose="020B0604030504040204" pitchFamily="50" charset="-128"/>
                <a:ea typeface="メイリオ" panose="020B0604030504040204" pitchFamily="50" charset="-128"/>
                <a:cs typeface="メイリオ" panose="020B0604030504040204" pitchFamily="50" charset="-128"/>
              </a:rPr>
              <a:t>Schamer</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フリーフォーム 6"/>
          <p:cNvSpPr/>
          <p:nvPr/>
        </p:nvSpPr>
        <p:spPr>
          <a:xfrm>
            <a:off x="2954511" y="2036919"/>
            <a:ext cx="5260812" cy="4240506"/>
          </a:xfrm>
          <a:custGeom>
            <a:avLst/>
            <a:gdLst>
              <a:gd name="connsiteX0" fmla="*/ 2140003 w 5260812"/>
              <a:gd name="connsiteY0" fmla="*/ 4063435 h 4240506"/>
              <a:gd name="connsiteX1" fmla="*/ 899032 w 5260812"/>
              <a:gd name="connsiteY1" fmla="*/ 3397230 h 4240506"/>
              <a:gd name="connsiteX2" fmla="*/ 49946 w 5260812"/>
              <a:gd name="connsiteY2" fmla="*/ 1725184 h 4240506"/>
              <a:gd name="connsiteX3" fmla="*/ 206700 w 5260812"/>
              <a:gd name="connsiteY3" fmla="*/ 196830 h 4240506"/>
              <a:gd name="connsiteX4" fmla="*/ 1094975 w 5260812"/>
              <a:gd name="connsiteY4" fmla="*/ 183767 h 4240506"/>
              <a:gd name="connsiteX5" fmla="*/ 1277855 w 5260812"/>
              <a:gd name="connsiteY5" fmla="*/ 1699058 h 4240506"/>
              <a:gd name="connsiteX6" fmla="*/ 1721992 w 5260812"/>
              <a:gd name="connsiteY6" fmla="*/ 2848590 h 4240506"/>
              <a:gd name="connsiteX7" fmla="*/ 2858460 w 5260812"/>
              <a:gd name="connsiteY7" fmla="*/ 3358041 h 4240506"/>
              <a:gd name="connsiteX8" fmla="*/ 3589980 w 5260812"/>
              <a:gd name="connsiteY8" fmla="*/ 3358041 h 4240506"/>
              <a:gd name="connsiteX9" fmla="*/ 4465192 w 5260812"/>
              <a:gd name="connsiteY9" fmla="*/ 2744087 h 4240506"/>
              <a:gd name="connsiteX10" fmla="*/ 5105272 w 5260812"/>
              <a:gd name="connsiteY10" fmla="*/ 2704898 h 4240506"/>
              <a:gd name="connsiteX11" fmla="*/ 5118335 w 5260812"/>
              <a:gd name="connsiteY11" fmla="*/ 3553984 h 4240506"/>
              <a:gd name="connsiteX12" fmla="*/ 3498540 w 5260812"/>
              <a:gd name="connsiteY12" fmla="*/ 4207127 h 4240506"/>
              <a:gd name="connsiteX13" fmla="*/ 2140003 w 5260812"/>
              <a:gd name="connsiteY13" fmla="*/ 4063435 h 4240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60812" h="4240506">
                <a:moveTo>
                  <a:pt x="2140003" y="4063435"/>
                </a:moveTo>
                <a:cubicBezTo>
                  <a:pt x="1706752" y="3928452"/>
                  <a:pt x="1247375" y="3786938"/>
                  <a:pt x="899032" y="3397230"/>
                </a:cubicBezTo>
                <a:cubicBezTo>
                  <a:pt x="550689" y="3007521"/>
                  <a:pt x="165335" y="2258584"/>
                  <a:pt x="49946" y="1725184"/>
                </a:cubicBezTo>
                <a:cubicBezTo>
                  <a:pt x="-65443" y="1191784"/>
                  <a:pt x="32529" y="453733"/>
                  <a:pt x="206700" y="196830"/>
                </a:cubicBezTo>
                <a:cubicBezTo>
                  <a:pt x="380871" y="-60073"/>
                  <a:pt x="916449" y="-66604"/>
                  <a:pt x="1094975" y="183767"/>
                </a:cubicBezTo>
                <a:cubicBezTo>
                  <a:pt x="1273501" y="434138"/>
                  <a:pt x="1173352" y="1254921"/>
                  <a:pt x="1277855" y="1699058"/>
                </a:cubicBezTo>
                <a:cubicBezTo>
                  <a:pt x="1382358" y="2143195"/>
                  <a:pt x="1458558" y="2572093"/>
                  <a:pt x="1721992" y="2848590"/>
                </a:cubicBezTo>
                <a:cubicBezTo>
                  <a:pt x="1985426" y="3125087"/>
                  <a:pt x="2547129" y="3273133"/>
                  <a:pt x="2858460" y="3358041"/>
                </a:cubicBezTo>
                <a:cubicBezTo>
                  <a:pt x="3169791" y="3442949"/>
                  <a:pt x="3322191" y="3460367"/>
                  <a:pt x="3589980" y="3358041"/>
                </a:cubicBezTo>
                <a:cubicBezTo>
                  <a:pt x="3857769" y="3255715"/>
                  <a:pt x="4212643" y="2852944"/>
                  <a:pt x="4465192" y="2744087"/>
                </a:cubicBezTo>
                <a:cubicBezTo>
                  <a:pt x="4717741" y="2635230"/>
                  <a:pt x="4996415" y="2569915"/>
                  <a:pt x="5105272" y="2704898"/>
                </a:cubicBezTo>
                <a:cubicBezTo>
                  <a:pt x="5214129" y="2839881"/>
                  <a:pt x="5386124" y="3303613"/>
                  <a:pt x="5118335" y="3553984"/>
                </a:cubicBezTo>
                <a:cubicBezTo>
                  <a:pt x="4850546" y="3804355"/>
                  <a:pt x="3988397" y="4120041"/>
                  <a:pt x="3498540" y="4207127"/>
                </a:cubicBezTo>
                <a:cubicBezTo>
                  <a:pt x="3008683" y="4294213"/>
                  <a:pt x="2573254" y="4198418"/>
                  <a:pt x="2140003" y="4063435"/>
                </a:cubicBezTo>
                <a:close/>
              </a:path>
            </a:pathLst>
          </a:custGeom>
          <a:noFill/>
          <a:ln w="635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p:cNvSpPr/>
          <p:nvPr/>
        </p:nvSpPr>
        <p:spPr>
          <a:xfrm rot="441733">
            <a:off x="7380034" y="2077424"/>
            <a:ext cx="1432380" cy="2712770"/>
          </a:xfrm>
          <a:prstGeom prst="ellipse">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p:cNvSpPr txBox="1"/>
          <p:nvPr/>
        </p:nvSpPr>
        <p:spPr>
          <a:xfrm>
            <a:off x="9024997" y="3065010"/>
            <a:ext cx="1433386" cy="584775"/>
          </a:xfrm>
          <a:prstGeom prst="rect">
            <a:avLst/>
          </a:prstGeom>
          <a:noFill/>
        </p:spPr>
        <p:txBody>
          <a:bodyPr wrap="square" rtlCol="0">
            <a:spAutoFit/>
          </a:bodyPr>
          <a:lstStyle/>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日々の仕事で</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語られること</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テキスト ボックス 22"/>
          <p:cNvSpPr txBox="1"/>
          <p:nvPr/>
        </p:nvSpPr>
        <p:spPr>
          <a:xfrm>
            <a:off x="2001239" y="4923634"/>
            <a:ext cx="1662268" cy="584775"/>
          </a:xfrm>
          <a:prstGeom prst="rect">
            <a:avLst/>
          </a:prstGeom>
          <a:noFill/>
        </p:spPr>
        <p:txBody>
          <a:bodyPr wrap="square" rtlCol="0">
            <a:spAutoFit/>
          </a:bodyPr>
          <a:lstStyle/>
          <a:p>
            <a:r>
              <a:rPr lang="ja-JP" altLang="en-US"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組織づくりで</a:t>
            </a:r>
            <a:endParaRPr lang="en-US" altLang="ja-JP"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語られること</a:t>
            </a:r>
            <a:endParaRPr lang="en-US" altLang="ja-JP"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テキスト ボックス 23"/>
          <p:cNvSpPr txBox="1"/>
          <p:nvPr/>
        </p:nvSpPr>
        <p:spPr>
          <a:xfrm>
            <a:off x="7948633" y="6086055"/>
            <a:ext cx="1323934" cy="461665"/>
          </a:xfrm>
          <a:prstGeom prst="rect">
            <a:avLst/>
          </a:prstGeom>
          <a:noFill/>
        </p:spPr>
        <p:txBody>
          <a:bodyPr wrap="square" rtlCol="0">
            <a:spAutoFit/>
          </a:bodyPr>
          <a:lstStyle/>
          <a:p>
            <a:r>
              <a:rPr lang="en-US" altLang="ja-JP" sz="2400" b="1" dirty="0">
                <a:solidFill>
                  <a:schemeClr val="accent4"/>
                </a:solidFill>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2400" b="1" dirty="0">
                <a:solidFill>
                  <a:schemeClr val="accent4"/>
                </a:solidFill>
                <a:latin typeface="メイリオ" panose="020B0604030504040204" pitchFamily="50" charset="-128"/>
                <a:ea typeface="メイリオ" panose="020B0604030504040204" pitchFamily="50" charset="-128"/>
                <a:cs typeface="メイリオ" panose="020B0604030504040204" pitchFamily="50" charset="-128"/>
              </a:rPr>
              <a:t>の谷</a:t>
            </a:r>
            <a:endParaRPr lang="en-US" altLang="ja-JP" sz="2400" b="1" dirty="0">
              <a:solidFill>
                <a:schemeClr val="accent4"/>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6" name="直線矢印コネクタ 25"/>
          <p:cNvCxnSpPr>
            <a:stCxn id="24" idx="1"/>
          </p:cNvCxnSpPr>
          <p:nvPr/>
        </p:nvCxnSpPr>
        <p:spPr>
          <a:xfrm flipH="1" flipV="1">
            <a:off x="6409592" y="5936808"/>
            <a:ext cx="1539041" cy="380080"/>
          </a:xfrm>
          <a:prstGeom prst="straightConnector1">
            <a:avLst/>
          </a:prstGeom>
          <a:ln w="254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8" name="楕円 27"/>
          <p:cNvSpPr/>
          <p:nvPr/>
        </p:nvSpPr>
        <p:spPr>
          <a:xfrm>
            <a:off x="5383310" y="5346357"/>
            <a:ext cx="1560462" cy="990274"/>
          </a:xfrm>
          <a:prstGeom prst="ellipse">
            <a:avLst/>
          </a:prstGeom>
          <a:noFill/>
          <a:ln w="635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Picture 2" descr="議論"/>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576" y="4093361"/>
            <a:ext cx="1366679" cy="136667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首をかしげる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808" y="2076045"/>
            <a:ext cx="1459227" cy="145922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ひじを付いて考える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7459" y="1301262"/>
            <a:ext cx="1552571" cy="155257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ここに注目その２．"/>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18383" y="4870786"/>
            <a:ext cx="1553153" cy="155315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2" descr="社長、部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9665" y="5460040"/>
            <a:ext cx="1344333" cy="134433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ひらめく人"/>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6650" y="5268905"/>
            <a:ext cx="1417385" cy="141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0173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組織変革のステップ（例えば、相互理解とは？）</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41</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en-US" altLang="ja-JP" sz="2400" b="1"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の谷を越える</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ことが狙い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フリーフォーム 7"/>
          <p:cNvSpPr/>
          <p:nvPr/>
        </p:nvSpPr>
        <p:spPr>
          <a:xfrm>
            <a:off x="3629980" y="1877217"/>
            <a:ext cx="4597410" cy="4059591"/>
          </a:xfrm>
          <a:custGeom>
            <a:avLst/>
            <a:gdLst>
              <a:gd name="connsiteX0" fmla="*/ 117908 w 4597410"/>
              <a:gd name="connsiteY0" fmla="*/ 34290 h 4059591"/>
              <a:gd name="connsiteX1" fmla="*/ 220778 w 4597410"/>
              <a:gd name="connsiteY1" fmla="*/ 2491740 h 4059591"/>
              <a:gd name="connsiteX2" fmla="*/ 2129588 w 4597410"/>
              <a:gd name="connsiteY2" fmla="*/ 4023360 h 4059591"/>
              <a:gd name="connsiteX3" fmla="*/ 3958388 w 4597410"/>
              <a:gd name="connsiteY3" fmla="*/ 3360420 h 4059591"/>
              <a:gd name="connsiteX4" fmla="*/ 4541318 w 4597410"/>
              <a:gd name="connsiteY4" fmla="*/ 994410 h 4059591"/>
              <a:gd name="connsiteX5" fmla="*/ 4541318 w 4597410"/>
              <a:gd name="connsiteY5" fmla="*/ 0 h 4059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7410" h="4059591">
                <a:moveTo>
                  <a:pt x="117908" y="34290"/>
                </a:moveTo>
                <a:cubicBezTo>
                  <a:pt x="1703" y="930592"/>
                  <a:pt x="-114502" y="1826895"/>
                  <a:pt x="220778" y="2491740"/>
                </a:cubicBezTo>
                <a:cubicBezTo>
                  <a:pt x="556058" y="3156585"/>
                  <a:pt x="1506653" y="3878580"/>
                  <a:pt x="2129588" y="4023360"/>
                </a:cubicBezTo>
                <a:cubicBezTo>
                  <a:pt x="2752523" y="4168140"/>
                  <a:pt x="3556433" y="3865245"/>
                  <a:pt x="3958388" y="3360420"/>
                </a:cubicBezTo>
                <a:cubicBezTo>
                  <a:pt x="4360343" y="2855595"/>
                  <a:pt x="4444163" y="1554480"/>
                  <a:pt x="4541318" y="994410"/>
                </a:cubicBezTo>
                <a:cubicBezTo>
                  <a:pt x="4638473" y="434340"/>
                  <a:pt x="4589895" y="217170"/>
                  <a:pt x="4541318" y="0"/>
                </a:cubicBezTo>
              </a:path>
            </a:pathLst>
          </a:custGeom>
          <a:noFill/>
          <a:ln w="317500">
            <a:solidFill>
              <a:schemeClr val="accent1">
                <a:lumMod val="40000"/>
                <a:lumOff val="60000"/>
              </a:schemeClr>
            </a:solidFill>
            <a:tailEnd type="stealth"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b="1">
              <a:solidFill>
                <a:schemeClr val="tx1"/>
              </a:solidFill>
            </a:endParaRPr>
          </a:p>
        </p:txBody>
      </p:sp>
      <p:sp>
        <p:nvSpPr>
          <p:cNvPr id="9" name="テキスト ボックス 48"/>
          <p:cNvSpPr txBox="1"/>
          <p:nvPr/>
        </p:nvSpPr>
        <p:spPr>
          <a:xfrm>
            <a:off x="7014356" y="4845514"/>
            <a:ext cx="3312368" cy="461665"/>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我々が描く最高の未来はどんな映像か？</a:t>
            </a:r>
            <a:endParaRPr kumimoji="1"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どんな場面か？</a:t>
            </a:r>
          </a:p>
        </p:txBody>
      </p:sp>
      <p:sp>
        <p:nvSpPr>
          <p:cNvPr id="10" name="テキスト ボックス 49"/>
          <p:cNvSpPr txBox="1"/>
          <p:nvPr/>
        </p:nvSpPr>
        <p:spPr>
          <a:xfrm>
            <a:off x="7014356" y="3760458"/>
            <a:ext cx="3347864"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それを実現するためには何をすればよいか？</a:t>
            </a:r>
          </a:p>
        </p:txBody>
      </p:sp>
      <p:sp>
        <p:nvSpPr>
          <p:cNvPr id="12" name="テキスト ボックス 50"/>
          <p:cNvSpPr txBox="1"/>
          <p:nvPr/>
        </p:nvSpPr>
        <p:spPr>
          <a:xfrm>
            <a:off x="7252337" y="2752346"/>
            <a:ext cx="2786355"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明日からまず何をすればよいか？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51"/>
          <p:cNvSpPr txBox="1"/>
          <p:nvPr/>
        </p:nvSpPr>
        <p:spPr>
          <a:xfrm>
            <a:off x="4134036" y="5538394"/>
            <a:ext cx="2506141"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自分たちはどこに向かいたいか？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テキスト ボックス 54"/>
          <p:cNvSpPr txBox="1"/>
          <p:nvPr/>
        </p:nvSpPr>
        <p:spPr>
          <a:xfrm>
            <a:off x="2832373" y="3466619"/>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相手はどんな人か？</a:t>
            </a:r>
          </a:p>
        </p:txBody>
      </p:sp>
      <p:sp>
        <p:nvSpPr>
          <p:cNvPr id="15" name="テキスト ボックス 55"/>
          <p:cNvSpPr txBox="1"/>
          <p:nvPr/>
        </p:nvSpPr>
        <p:spPr>
          <a:xfrm>
            <a:off x="2681171" y="2576834"/>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自分はどんな人か？</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3"/>
          <p:cNvSpPr txBox="1"/>
          <p:nvPr/>
        </p:nvSpPr>
        <p:spPr>
          <a:xfrm>
            <a:off x="5142148" y="2597297"/>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Mind</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（思考）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テキスト ボックス 14"/>
          <p:cNvSpPr txBox="1"/>
          <p:nvPr/>
        </p:nvSpPr>
        <p:spPr>
          <a:xfrm>
            <a:off x="5115002" y="3533401"/>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Heart</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（心）</a:t>
            </a:r>
            <a:endPar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テキスト ボックス 15"/>
          <p:cNvSpPr txBox="1"/>
          <p:nvPr/>
        </p:nvSpPr>
        <p:spPr>
          <a:xfrm>
            <a:off x="5120376" y="4499702"/>
            <a:ext cx="1755338"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b="1" dirty="0">
                <a:latin typeface="メイリオ" panose="020B0604030504040204" pitchFamily="50" charset="-128"/>
                <a:ea typeface="メイリオ" panose="020B0604030504040204" pitchFamily="50" charset="-128"/>
                <a:cs typeface="メイリオ" panose="020B0604030504040204" pitchFamily="50" charset="-128"/>
              </a:rPr>
              <a:t>Open Will</a:t>
            </a: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（意志）</a:t>
            </a:r>
            <a:endParaRPr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9" name="テキスト ボックス 16"/>
          <p:cNvSpPr txBox="1"/>
          <p:nvPr/>
        </p:nvSpPr>
        <p:spPr>
          <a:xfrm>
            <a:off x="2189820" y="4363191"/>
            <a:ext cx="2402362"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自分たちはどんな集まりか？</a:t>
            </a:r>
          </a:p>
        </p:txBody>
      </p:sp>
      <p:sp>
        <p:nvSpPr>
          <p:cNvPr id="20" name="テキスト ボックス 21"/>
          <p:cNvSpPr txBox="1"/>
          <p:nvPr/>
        </p:nvSpPr>
        <p:spPr>
          <a:xfrm>
            <a:off x="1804754" y="1529816"/>
            <a:ext cx="6840760"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組織変革のステップ（</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理論：</a:t>
            </a:r>
            <a:r>
              <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rPr>
              <a:t>C Otto </a:t>
            </a:r>
            <a:r>
              <a:rPr lang="en-US" altLang="ja-JP" sz="1600" u="sng" dirty="0" err="1">
                <a:latin typeface="メイリオ" panose="020B0604030504040204" pitchFamily="50" charset="-128"/>
                <a:ea typeface="メイリオ" panose="020B0604030504040204" pitchFamily="50" charset="-128"/>
                <a:cs typeface="メイリオ" panose="020B0604030504040204" pitchFamily="50" charset="-128"/>
              </a:rPr>
              <a:t>Schamer</a:t>
            </a:r>
            <a:r>
              <a:rPr lang="ja-JP" altLang="en-US" sz="1600" u="sng"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フリーフォーム 6"/>
          <p:cNvSpPr/>
          <p:nvPr/>
        </p:nvSpPr>
        <p:spPr>
          <a:xfrm>
            <a:off x="2954511" y="2036919"/>
            <a:ext cx="5260812" cy="4240506"/>
          </a:xfrm>
          <a:custGeom>
            <a:avLst/>
            <a:gdLst>
              <a:gd name="connsiteX0" fmla="*/ 2140003 w 5260812"/>
              <a:gd name="connsiteY0" fmla="*/ 4063435 h 4240506"/>
              <a:gd name="connsiteX1" fmla="*/ 899032 w 5260812"/>
              <a:gd name="connsiteY1" fmla="*/ 3397230 h 4240506"/>
              <a:gd name="connsiteX2" fmla="*/ 49946 w 5260812"/>
              <a:gd name="connsiteY2" fmla="*/ 1725184 h 4240506"/>
              <a:gd name="connsiteX3" fmla="*/ 206700 w 5260812"/>
              <a:gd name="connsiteY3" fmla="*/ 196830 h 4240506"/>
              <a:gd name="connsiteX4" fmla="*/ 1094975 w 5260812"/>
              <a:gd name="connsiteY4" fmla="*/ 183767 h 4240506"/>
              <a:gd name="connsiteX5" fmla="*/ 1277855 w 5260812"/>
              <a:gd name="connsiteY5" fmla="*/ 1699058 h 4240506"/>
              <a:gd name="connsiteX6" fmla="*/ 1721992 w 5260812"/>
              <a:gd name="connsiteY6" fmla="*/ 2848590 h 4240506"/>
              <a:gd name="connsiteX7" fmla="*/ 2858460 w 5260812"/>
              <a:gd name="connsiteY7" fmla="*/ 3358041 h 4240506"/>
              <a:gd name="connsiteX8" fmla="*/ 3589980 w 5260812"/>
              <a:gd name="connsiteY8" fmla="*/ 3358041 h 4240506"/>
              <a:gd name="connsiteX9" fmla="*/ 4465192 w 5260812"/>
              <a:gd name="connsiteY9" fmla="*/ 2744087 h 4240506"/>
              <a:gd name="connsiteX10" fmla="*/ 5105272 w 5260812"/>
              <a:gd name="connsiteY10" fmla="*/ 2704898 h 4240506"/>
              <a:gd name="connsiteX11" fmla="*/ 5118335 w 5260812"/>
              <a:gd name="connsiteY11" fmla="*/ 3553984 h 4240506"/>
              <a:gd name="connsiteX12" fmla="*/ 3498540 w 5260812"/>
              <a:gd name="connsiteY12" fmla="*/ 4207127 h 4240506"/>
              <a:gd name="connsiteX13" fmla="*/ 2140003 w 5260812"/>
              <a:gd name="connsiteY13" fmla="*/ 4063435 h 4240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60812" h="4240506">
                <a:moveTo>
                  <a:pt x="2140003" y="4063435"/>
                </a:moveTo>
                <a:cubicBezTo>
                  <a:pt x="1706752" y="3928452"/>
                  <a:pt x="1247375" y="3786938"/>
                  <a:pt x="899032" y="3397230"/>
                </a:cubicBezTo>
                <a:cubicBezTo>
                  <a:pt x="550689" y="3007521"/>
                  <a:pt x="165335" y="2258584"/>
                  <a:pt x="49946" y="1725184"/>
                </a:cubicBezTo>
                <a:cubicBezTo>
                  <a:pt x="-65443" y="1191784"/>
                  <a:pt x="32529" y="453733"/>
                  <a:pt x="206700" y="196830"/>
                </a:cubicBezTo>
                <a:cubicBezTo>
                  <a:pt x="380871" y="-60073"/>
                  <a:pt x="916449" y="-66604"/>
                  <a:pt x="1094975" y="183767"/>
                </a:cubicBezTo>
                <a:cubicBezTo>
                  <a:pt x="1273501" y="434138"/>
                  <a:pt x="1173352" y="1254921"/>
                  <a:pt x="1277855" y="1699058"/>
                </a:cubicBezTo>
                <a:cubicBezTo>
                  <a:pt x="1382358" y="2143195"/>
                  <a:pt x="1458558" y="2572093"/>
                  <a:pt x="1721992" y="2848590"/>
                </a:cubicBezTo>
                <a:cubicBezTo>
                  <a:pt x="1985426" y="3125087"/>
                  <a:pt x="2547129" y="3273133"/>
                  <a:pt x="2858460" y="3358041"/>
                </a:cubicBezTo>
                <a:cubicBezTo>
                  <a:pt x="3169791" y="3442949"/>
                  <a:pt x="3322191" y="3460367"/>
                  <a:pt x="3589980" y="3358041"/>
                </a:cubicBezTo>
                <a:cubicBezTo>
                  <a:pt x="3857769" y="3255715"/>
                  <a:pt x="4212643" y="2852944"/>
                  <a:pt x="4465192" y="2744087"/>
                </a:cubicBezTo>
                <a:cubicBezTo>
                  <a:pt x="4717741" y="2635230"/>
                  <a:pt x="4996415" y="2569915"/>
                  <a:pt x="5105272" y="2704898"/>
                </a:cubicBezTo>
                <a:cubicBezTo>
                  <a:pt x="5214129" y="2839881"/>
                  <a:pt x="5386124" y="3303613"/>
                  <a:pt x="5118335" y="3553984"/>
                </a:cubicBezTo>
                <a:cubicBezTo>
                  <a:pt x="4850546" y="3804355"/>
                  <a:pt x="3988397" y="4120041"/>
                  <a:pt x="3498540" y="4207127"/>
                </a:cubicBezTo>
                <a:cubicBezTo>
                  <a:pt x="3008683" y="4294213"/>
                  <a:pt x="2573254" y="4198418"/>
                  <a:pt x="2140003" y="4063435"/>
                </a:cubicBezTo>
                <a:close/>
              </a:path>
            </a:pathLst>
          </a:custGeom>
          <a:noFill/>
          <a:ln w="635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p:cNvSpPr/>
          <p:nvPr/>
        </p:nvSpPr>
        <p:spPr>
          <a:xfrm rot="441733">
            <a:off x="7380034" y="2077424"/>
            <a:ext cx="1432380" cy="2712770"/>
          </a:xfrm>
          <a:prstGeom prst="ellipse">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p:cNvSpPr txBox="1"/>
          <p:nvPr/>
        </p:nvSpPr>
        <p:spPr>
          <a:xfrm>
            <a:off x="9024997" y="3065010"/>
            <a:ext cx="1433386" cy="584775"/>
          </a:xfrm>
          <a:prstGeom prst="rect">
            <a:avLst/>
          </a:prstGeom>
          <a:noFill/>
        </p:spPr>
        <p:txBody>
          <a:bodyPr wrap="square" rtlCol="0">
            <a:spAutoFit/>
          </a:bodyPr>
          <a:lstStyle/>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日々の仕事で</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語られること</a:t>
            </a:r>
            <a:endParaRPr lang="en-US" altLang="ja-JP" sz="16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テキスト ボックス 22"/>
          <p:cNvSpPr txBox="1"/>
          <p:nvPr/>
        </p:nvSpPr>
        <p:spPr>
          <a:xfrm>
            <a:off x="2001239" y="4923634"/>
            <a:ext cx="1662268" cy="584775"/>
          </a:xfrm>
          <a:prstGeom prst="rect">
            <a:avLst/>
          </a:prstGeom>
          <a:noFill/>
        </p:spPr>
        <p:txBody>
          <a:bodyPr wrap="square" rtlCol="0">
            <a:spAutoFit/>
          </a:bodyPr>
          <a:lstStyle/>
          <a:p>
            <a:r>
              <a:rPr lang="ja-JP" altLang="en-US"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組織づくりで</a:t>
            </a:r>
            <a:endParaRPr lang="en-US" altLang="ja-JP"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rPr>
              <a:t>語られること</a:t>
            </a:r>
            <a:endParaRPr lang="en-US" altLang="ja-JP" sz="1600" b="1" dirty="0">
              <a:solidFill>
                <a:srgbClr val="00B05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テキスト ボックス 23"/>
          <p:cNvSpPr txBox="1"/>
          <p:nvPr/>
        </p:nvSpPr>
        <p:spPr>
          <a:xfrm>
            <a:off x="7948633" y="6086055"/>
            <a:ext cx="1323934" cy="461665"/>
          </a:xfrm>
          <a:prstGeom prst="rect">
            <a:avLst/>
          </a:prstGeom>
          <a:noFill/>
        </p:spPr>
        <p:txBody>
          <a:bodyPr wrap="square" rtlCol="0">
            <a:spAutoFit/>
          </a:bodyPr>
          <a:lstStyle/>
          <a:p>
            <a:r>
              <a:rPr lang="en-US" altLang="ja-JP" sz="2400" b="1" dirty="0">
                <a:solidFill>
                  <a:schemeClr val="accent4"/>
                </a:solidFill>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2400" b="1" dirty="0">
                <a:solidFill>
                  <a:schemeClr val="accent4"/>
                </a:solidFill>
                <a:latin typeface="メイリオ" panose="020B0604030504040204" pitchFamily="50" charset="-128"/>
                <a:ea typeface="メイリオ" panose="020B0604030504040204" pitchFamily="50" charset="-128"/>
                <a:cs typeface="メイリオ" panose="020B0604030504040204" pitchFamily="50" charset="-128"/>
              </a:rPr>
              <a:t>の谷</a:t>
            </a:r>
            <a:endParaRPr lang="en-US" altLang="ja-JP" sz="2400" b="1" dirty="0">
              <a:solidFill>
                <a:schemeClr val="accent4"/>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6" name="直線矢印コネクタ 25"/>
          <p:cNvCxnSpPr>
            <a:stCxn id="24" idx="1"/>
          </p:cNvCxnSpPr>
          <p:nvPr/>
        </p:nvCxnSpPr>
        <p:spPr>
          <a:xfrm flipH="1" flipV="1">
            <a:off x="6409592" y="5936808"/>
            <a:ext cx="1539041" cy="380080"/>
          </a:xfrm>
          <a:prstGeom prst="straightConnector1">
            <a:avLst/>
          </a:prstGeom>
          <a:ln w="254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8" name="楕円 27"/>
          <p:cNvSpPr/>
          <p:nvPr/>
        </p:nvSpPr>
        <p:spPr>
          <a:xfrm>
            <a:off x="5383310" y="5346357"/>
            <a:ext cx="1560462" cy="990274"/>
          </a:xfrm>
          <a:prstGeom prst="ellipse">
            <a:avLst/>
          </a:prstGeom>
          <a:noFill/>
          <a:ln w="635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Picture 2" descr="議論"/>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576" y="4093361"/>
            <a:ext cx="1366679" cy="136667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首をかしげる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808" y="2076045"/>
            <a:ext cx="1459227" cy="145922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ひじを付いて考える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7459" y="1301262"/>
            <a:ext cx="1552571" cy="155257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ここに注目その２．"/>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18383" y="4870786"/>
            <a:ext cx="1553153" cy="155315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2" descr="社長、部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9665" y="5460040"/>
            <a:ext cx="1344333" cy="134433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ひらめく人"/>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6650" y="5268905"/>
            <a:ext cx="1417385" cy="1417385"/>
          </a:xfrm>
          <a:prstGeom prst="rect">
            <a:avLst/>
          </a:prstGeom>
          <a:noFill/>
          <a:extLst>
            <a:ext uri="{909E8E84-426E-40DD-AFC4-6F175D3DCCD1}">
              <a14:hiddenFill xmlns:a14="http://schemas.microsoft.com/office/drawing/2010/main">
                <a:solidFill>
                  <a:srgbClr val="FFFFFF"/>
                </a:solidFill>
              </a14:hiddenFill>
            </a:ext>
          </a:extLst>
        </p:spPr>
      </p:pic>
      <p:sp>
        <p:nvSpPr>
          <p:cNvPr id="36" name="楕円 35">
            <a:extLst>
              <a:ext uri="{FF2B5EF4-FFF2-40B4-BE49-F238E27FC236}">
                <a16:creationId xmlns:a16="http://schemas.microsoft.com/office/drawing/2014/main" id="{2FB5B106-79A9-BC9B-084C-C8F60FE11318}"/>
              </a:ext>
            </a:extLst>
          </p:cNvPr>
          <p:cNvSpPr/>
          <p:nvPr/>
        </p:nvSpPr>
        <p:spPr>
          <a:xfrm rot="21063749">
            <a:off x="2804835" y="1951476"/>
            <a:ext cx="1432380" cy="2298581"/>
          </a:xfrm>
          <a:prstGeom prst="ellipse">
            <a:avLst/>
          </a:prstGeom>
          <a:noFill/>
          <a:ln w="635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4B3EA389-A090-D41E-8296-0184F8E21303}"/>
              </a:ext>
            </a:extLst>
          </p:cNvPr>
          <p:cNvSpPr txBox="1"/>
          <p:nvPr/>
        </p:nvSpPr>
        <p:spPr>
          <a:xfrm>
            <a:off x="1337918" y="3517529"/>
            <a:ext cx="1433386" cy="584775"/>
          </a:xfrm>
          <a:prstGeom prst="rect">
            <a:avLst/>
          </a:prstGeom>
          <a:noFill/>
        </p:spPr>
        <p:txBody>
          <a:bodyPr wrap="square" rtlCol="0">
            <a:spAutoFit/>
          </a:bodyPr>
          <a:lstStyle/>
          <a:p>
            <a:r>
              <a:rPr lang="ja-JP" altLang="en-US" sz="1600" b="1" dirty="0">
                <a:solidFill>
                  <a:schemeClr val="accent5"/>
                </a:solidFill>
                <a:latin typeface="メイリオ" panose="020B0604030504040204" pitchFamily="50" charset="-128"/>
                <a:ea typeface="メイリオ" panose="020B0604030504040204" pitchFamily="50" charset="-128"/>
                <a:cs typeface="メイリオ" panose="020B0604030504040204" pitchFamily="50" charset="-128"/>
              </a:rPr>
              <a:t>例えば</a:t>
            </a:r>
            <a:endParaRPr lang="en-US" altLang="ja-JP" sz="1600" b="1" dirty="0">
              <a:solidFill>
                <a:schemeClr val="accent5"/>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accent5"/>
                </a:solidFill>
                <a:latin typeface="メイリオ" panose="020B0604030504040204" pitchFamily="50" charset="-128"/>
                <a:ea typeface="メイリオ" panose="020B0604030504040204" pitchFamily="50" charset="-128"/>
                <a:cs typeface="メイリオ" panose="020B0604030504040204" pitchFamily="50" charset="-128"/>
              </a:rPr>
              <a:t>相互理解</a:t>
            </a:r>
            <a:endParaRPr lang="en-US" altLang="ja-JP" sz="1600" b="1" dirty="0">
              <a:solidFill>
                <a:schemeClr val="accent5"/>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6319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自己紹介</a:t>
            </a:r>
            <a:r>
              <a:rPr lang="ja-JP" altLang="en-US" sz="1800" b="1" dirty="0">
                <a:latin typeface="Meiryo" charset="-128"/>
                <a:ea typeface="Meiryo" charset="-128"/>
                <a:cs typeface="Meiryo" charset="-128"/>
              </a:rPr>
              <a:t>（偏愛マップ）</a:t>
            </a:r>
            <a:endParaRPr lang="ja-JP" altLang="en-US" sz="2800" b="1" dirty="0">
              <a:latin typeface="Meiryo" charset="-128"/>
              <a:ea typeface="Meiryo" charset="-128"/>
              <a:cs typeface="Meiryo"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7" name="角丸四角形 6"/>
          <p:cNvSpPr/>
          <p:nvPr/>
        </p:nvSpPr>
        <p:spPr>
          <a:xfrm>
            <a:off x="5009744" y="3110463"/>
            <a:ext cx="1256379" cy="538925"/>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8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小向洋誌</a:t>
            </a:r>
            <a:endParaRPr kumimoji="1" lang="en-US" altLang="ja-JP" sz="18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（コム）</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角丸四角形 7"/>
          <p:cNvSpPr/>
          <p:nvPr/>
        </p:nvSpPr>
        <p:spPr>
          <a:xfrm>
            <a:off x="3220429" y="2808412"/>
            <a:ext cx="861060" cy="316401"/>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156cm</a:t>
            </a:r>
          </a:p>
        </p:txBody>
      </p:sp>
      <p:sp>
        <p:nvSpPr>
          <p:cNvPr id="9" name="角丸四角形 8"/>
          <p:cNvSpPr/>
          <p:nvPr/>
        </p:nvSpPr>
        <p:spPr>
          <a:xfrm>
            <a:off x="2895399" y="1073209"/>
            <a:ext cx="999778" cy="516957"/>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歳（女）</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歳（男）</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5</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歳（女）</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角丸四角形 9"/>
          <p:cNvSpPr/>
          <p:nvPr/>
        </p:nvSpPr>
        <p:spPr>
          <a:xfrm>
            <a:off x="4521965" y="2071729"/>
            <a:ext cx="1256379" cy="573880"/>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拠点は仙台と</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東京と茅ケ崎</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角丸四角形 10"/>
          <p:cNvSpPr/>
          <p:nvPr/>
        </p:nvSpPr>
        <p:spPr>
          <a:xfrm>
            <a:off x="6846892" y="2801096"/>
            <a:ext cx="886040" cy="37980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古いもの</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8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（物語好き）</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角丸四角形 11"/>
          <p:cNvSpPr/>
          <p:nvPr/>
        </p:nvSpPr>
        <p:spPr>
          <a:xfrm>
            <a:off x="6755498" y="3278473"/>
            <a:ext cx="659591" cy="52263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食べ物</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酒</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角丸四角形 12"/>
          <p:cNvSpPr/>
          <p:nvPr/>
        </p:nvSpPr>
        <p:spPr>
          <a:xfrm>
            <a:off x="2301962" y="2175616"/>
            <a:ext cx="659591" cy="52263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高校</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球児</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角丸四角形 13"/>
          <p:cNvSpPr/>
          <p:nvPr/>
        </p:nvSpPr>
        <p:spPr>
          <a:xfrm>
            <a:off x="1267769" y="2024928"/>
            <a:ext cx="687796" cy="28856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日本一</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5" name="角丸四角形 14"/>
          <p:cNvSpPr/>
          <p:nvPr/>
        </p:nvSpPr>
        <p:spPr>
          <a:xfrm>
            <a:off x="3308873" y="1964839"/>
            <a:ext cx="960120" cy="341183"/>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妻１子３</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角丸四角形 15"/>
          <p:cNvSpPr/>
          <p:nvPr/>
        </p:nvSpPr>
        <p:spPr>
          <a:xfrm>
            <a:off x="3313457" y="3359610"/>
            <a:ext cx="861060" cy="353337"/>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1977</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年生</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角丸四角形 16"/>
          <p:cNvSpPr/>
          <p:nvPr/>
        </p:nvSpPr>
        <p:spPr>
          <a:xfrm>
            <a:off x="1229610" y="2873805"/>
            <a:ext cx="1137711" cy="70642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小泉今日子</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爆笑問題田中</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木村カエラ</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ナイナイ岡村</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角丸四角形 17"/>
          <p:cNvSpPr/>
          <p:nvPr/>
        </p:nvSpPr>
        <p:spPr>
          <a:xfrm>
            <a:off x="1740546" y="1487458"/>
            <a:ext cx="892533" cy="30940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主将で補欠</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9" name="角丸四角形 18"/>
          <p:cNvSpPr/>
          <p:nvPr/>
        </p:nvSpPr>
        <p:spPr>
          <a:xfrm>
            <a:off x="4205164" y="1287968"/>
            <a:ext cx="782702" cy="443762"/>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地元自宅は仙台</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角丸四角形 19"/>
          <p:cNvSpPr/>
          <p:nvPr/>
        </p:nvSpPr>
        <p:spPr>
          <a:xfrm>
            <a:off x="7557978" y="1895775"/>
            <a:ext cx="522431" cy="32418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古着</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角丸四角形 22"/>
          <p:cNvSpPr/>
          <p:nvPr/>
        </p:nvSpPr>
        <p:spPr>
          <a:xfrm>
            <a:off x="9146587" y="2438175"/>
            <a:ext cx="522431" cy="32418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車</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角丸四角形 23"/>
          <p:cNvSpPr/>
          <p:nvPr/>
        </p:nvSpPr>
        <p:spPr>
          <a:xfrm>
            <a:off x="9980103" y="2080348"/>
            <a:ext cx="1036659" cy="276557"/>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W123,1981</a:t>
            </a:r>
          </a:p>
        </p:txBody>
      </p:sp>
      <p:sp>
        <p:nvSpPr>
          <p:cNvPr id="25" name="角丸四角形 24"/>
          <p:cNvSpPr/>
          <p:nvPr/>
        </p:nvSpPr>
        <p:spPr>
          <a:xfrm>
            <a:off x="8246126" y="3040877"/>
            <a:ext cx="900461" cy="32418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大衆酒場</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角丸四角形 26"/>
          <p:cNvSpPr/>
          <p:nvPr/>
        </p:nvSpPr>
        <p:spPr>
          <a:xfrm>
            <a:off x="7981423" y="3551742"/>
            <a:ext cx="1038479" cy="36443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ナチュラルワイン大好き</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角丸四角形 27"/>
          <p:cNvSpPr/>
          <p:nvPr/>
        </p:nvSpPr>
        <p:spPr>
          <a:xfrm>
            <a:off x="9555291" y="2985865"/>
            <a:ext cx="1066288" cy="36443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横丁大好き</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9" name="角丸四角形 28"/>
          <p:cNvSpPr/>
          <p:nvPr/>
        </p:nvSpPr>
        <p:spPr>
          <a:xfrm>
            <a:off x="6386352" y="4079025"/>
            <a:ext cx="1074385" cy="358877"/>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25</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歳起業</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角丸四角形 29"/>
          <p:cNvSpPr/>
          <p:nvPr/>
        </p:nvSpPr>
        <p:spPr>
          <a:xfrm>
            <a:off x="7724625" y="4124918"/>
            <a:ext cx="1009739" cy="36443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28</a:t>
            </a:r>
            <a:r>
              <a:rPr kumimoji="1" lang="ja-JP" altLang="en-US"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歳廃業</a:t>
            </a:r>
            <a:endParaRPr kumimoji="1" lang="en-US" altLang="ja-JP"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角丸四角形 30"/>
          <p:cNvSpPr/>
          <p:nvPr/>
        </p:nvSpPr>
        <p:spPr>
          <a:xfrm>
            <a:off x="4886517" y="4485622"/>
            <a:ext cx="1074090" cy="50412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28</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ヤフー入社</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2" name="角丸四角形 31"/>
          <p:cNvSpPr/>
          <p:nvPr/>
        </p:nvSpPr>
        <p:spPr>
          <a:xfrm>
            <a:off x="3454185" y="4500619"/>
            <a:ext cx="1190732" cy="439306"/>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歳で初人事</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角丸四角形 32"/>
          <p:cNvSpPr/>
          <p:nvPr/>
        </p:nvSpPr>
        <p:spPr>
          <a:xfrm>
            <a:off x="190221" y="4548439"/>
            <a:ext cx="1218238" cy="324349"/>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43</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歳</a:t>
            </a: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LINE</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入社</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4" name="角丸四角形 33"/>
          <p:cNvSpPr/>
          <p:nvPr/>
        </p:nvSpPr>
        <p:spPr>
          <a:xfrm>
            <a:off x="7549723" y="5322609"/>
            <a:ext cx="835022" cy="36443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1000</a:t>
            </a: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万円の借金</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角丸四角形 34"/>
          <p:cNvSpPr/>
          <p:nvPr/>
        </p:nvSpPr>
        <p:spPr>
          <a:xfrm>
            <a:off x="8590510" y="4625228"/>
            <a:ext cx="835022" cy="36443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全社員</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辞める</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角丸四角形 35"/>
          <p:cNvSpPr/>
          <p:nvPr/>
        </p:nvSpPr>
        <p:spPr>
          <a:xfrm>
            <a:off x="7130096" y="5990465"/>
            <a:ext cx="575530" cy="28668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就職</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角丸四角形 36"/>
          <p:cNvSpPr/>
          <p:nvPr/>
        </p:nvSpPr>
        <p:spPr>
          <a:xfrm>
            <a:off x="6494162" y="5363582"/>
            <a:ext cx="793954" cy="40136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初の上京</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角丸四角形 37"/>
          <p:cNvSpPr/>
          <p:nvPr/>
        </p:nvSpPr>
        <p:spPr>
          <a:xfrm>
            <a:off x="4259085" y="5414731"/>
            <a:ext cx="1062929" cy="48580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ショッピング</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オークション</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角丸四角形 38"/>
          <p:cNvSpPr/>
          <p:nvPr/>
        </p:nvSpPr>
        <p:spPr>
          <a:xfrm>
            <a:off x="3648831" y="6206843"/>
            <a:ext cx="1168928" cy="40888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企画・営業</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マネジメント</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角丸四角形 39"/>
          <p:cNvSpPr/>
          <p:nvPr/>
        </p:nvSpPr>
        <p:spPr>
          <a:xfrm>
            <a:off x="3063011" y="5727597"/>
            <a:ext cx="762263" cy="37000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会社の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大改革</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角丸四角形 40"/>
          <p:cNvSpPr/>
          <p:nvPr/>
        </p:nvSpPr>
        <p:spPr>
          <a:xfrm>
            <a:off x="2891628" y="5151214"/>
            <a:ext cx="1119337" cy="38425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志願して異動</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角丸四角形 41"/>
          <p:cNvSpPr/>
          <p:nvPr/>
        </p:nvSpPr>
        <p:spPr>
          <a:xfrm>
            <a:off x="2343664" y="3924398"/>
            <a:ext cx="898002" cy="38425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1on1</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やるから広めて</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角丸四角形 42"/>
          <p:cNvSpPr/>
          <p:nvPr/>
        </p:nvSpPr>
        <p:spPr>
          <a:xfrm>
            <a:off x="1985735" y="4512569"/>
            <a:ext cx="1020976" cy="439306"/>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組織開発やるから考えて</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4" name="角丸四角形 43"/>
          <p:cNvSpPr/>
          <p:nvPr/>
        </p:nvSpPr>
        <p:spPr>
          <a:xfrm>
            <a:off x="1538026" y="5183404"/>
            <a:ext cx="957719" cy="439306"/>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制度設計もやってみて</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角丸四角形 44"/>
          <p:cNvSpPr/>
          <p:nvPr/>
        </p:nvSpPr>
        <p:spPr>
          <a:xfrm>
            <a:off x="1264300" y="6496896"/>
            <a:ext cx="922512" cy="317103"/>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人事で副業</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角丸四角形 45"/>
          <p:cNvSpPr/>
          <p:nvPr/>
        </p:nvSpPr>
        <p:spPr>
          <a:xfrm>
            <a:off x="89602" y="5047252"/>
            <a:ext cx="1218238" cy="536606"/>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コロナ禍</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オンライン転職</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角丸四角形 46"/>
          <p:cNvSpPr/>
          <p:nvPr/>
        </p:nvSpPr>
        <p:spPr>
          <a:xfrm>
            <a:off x="5990333" y="2281801"/>
            <a:ext cx="1016051" cy="35534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小沢健二</a:t>
            </a:r>
            <a:endParaRPr kumimoji="1" lang="en-US" altLang="ja-JP"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8" name="角丸四角形 47"/>
          <p:cNvSpPr/>
          <p:nvPr/>
        </p:nvSpPr>
        <p:spPr>
          <a:xfrm>
            <a:off x="6928898" y="1100055"/>
            <a:ext cx="1673942" cy="394404"/>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大事なことは大体オザケンの歌詞のパクリ</a:t>
            </a:r>
            <a:endParaRPr kumimoji="1" lang="en-US" altLang="ja-JP" sz="9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9" name="曲線コネクタ 48"/>
          <p:cNvCxnSpPr>
            <a:cxnSpLocks/>
            <a:stCxn id="7" idx="0"/>
            <a:endCxn id="10" idx="2"/>
          </p:cNvCxnSpPr>
          <p:nvPr/>
        </p:nvCxnSpPr>
        <p:spPr>
          <a:xfrm rot="16200000" flipV="1">
            <a:off x="5161618" y="2634146"/>
            <a:ext cx="464854" cy="487779"/>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曲線コネクタ 49"/>
          <p:cNvCxnSpPr>
            <a:stCxn id="7" idx="0"/>
            <a:endCxn id="15" idx="2"/>
          </p:cNvCxnSpPr>
          <p:nvPr/>
        </p:nvCxnSpPr>
        <p:spPr>
          <a:xfrm rot="16200000" flipV="1">
            <a:off x="4311214" y="1783742"/>
            <a:ext cx="804441" cy="1849001"/>
          </a:xfrm>
          <a:prstGeom prst="curvedConnector3">
            <a:avLst>
              <a:gd name="adj1" fmla="val 2903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曲線コネクタ 50"/>
          <p:cNvCxnSpPr>
            <a:stCxn id="7" idx="1"/>
            <a:endCxn id="8" idx="3"/>
          </p:cNvCxnSpPr>
          <p:nvPr/>
        </p:nvCxnSpPr>
        <p:spPr>
          <a:xfrm rot="10800000">
            <a:off x="4081490" y="2966614"/>
            <a:ext cx="928255" cy="413313"/>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曲線コネクタ 51"/>
          <p:cNvCxnSpPr>
            <a:stCxn id="7" idx="1"/>
            <a:endCxn id="16" idx="3"/>
          </p:cNvCxnSpPr>
          <p:nvPr/>
        </p:nvCxnSpPr>
        <p:spPr>
          <a:xfrm rot="10800000" flipV="1">
            <a:off x="4174518" y="3379925"/>
            <a:ext cx="835227" cy="156353"/>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曲線コネクタ 52"/>
          <p:cNvCxnSpPr>
            <a:stCxn id="8" idx="1"/>
            <a:endCxn id="17" idx="3"/>
          </p:cNvCxnSpPr>
          <p:nvPr/>
        </p:nvCxnSpPr>
        <p:spPr>
          <a:xfrm rot="10800000" flipV="1">
            <a:off x="2367321" y="2966612"/>
            <a:ext cx="853108" cy="260403"/>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曲線コネクタ 53"/>
          <p:cNvCxnSpPr>
            <a:stCxn id="8" idx="1"/>
            <a:endCxn id="13" idx="3"/>
          </p:cNvCxnSpPr>
          <p:nvPr/>
        </p:nvCxnSpPr>
        <p:spPr>
          <a:xfrm rot="10800000">
            <a:off x="2961553" y="2436937"/>
            <a:ext cx="258876" cy="529677"/>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曲線コネクタ 54"/>
          <p:cNvCxnSpPr>
            <a:stCxn id="13" idx="1"/>
            <a:endCxn id="14" idx="3"/>
          </p:cNvCxnSpPr>
          <p:nvPr/>
        </p:nvCxnSpPr>
        <p:spPr>
          <a:xfrm rot="10800000">
            <a:off x="1955566" y="2169208"/>
            <a:ext cx="346397" cy="267728"/>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曲線コネクタ 55"/>
          <p:cNvCxnSpPr>
            <a:stCxn id="13" idx="0"/>
            <a:endCxn id="18" idx="2"/>
          </p:cNvCxnSpPr>
          <p:nvPr/>
        </p:nvCxnSpPr>
        <p:spPr>
          <a:xfrm rot="16200000" flipV="1">
            <a:off x="2219912" y="1763769"/>
            <a:ext cx="378749" cy="444945"/>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曲線コネクタ 56"/>
          <p:cNvCxnSpPr>
            <a:stCxn id="15" idx="0"/>
            <a:endCxn id="9" idx="2"/>
          </p:cNvCxnSpPr>
          <p:nvPr/>
        </p:nvCxnSpPr>
        <p:spPr>
          <a:xfrm rot="16200000" flipV="1">
            <a:off x="3404775" y="1580680"/>
            <a:ext cx="374673" cy="393645"/>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曲線コネクタ 57"/>
          <p:cNvCxnSpPr>
            <a:cxnSpLocks/>
            <a:stCxn id="10" idx="0"/>
            <a:endCxn id="19" idx="2"/>
          </p:cNvCxnSpPr>
          <p:nvPr/>
        </p:nvCxnSpPr>
        <p:spPr>
          <a:xfrm rot="16200000" flipV="1">
            <a:off x="4703336" y="1624910"/>
            <a:ext cx="339999" cy="553640"/>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角丸四角形 58"/>
          <p:cNvSpPr/>
          <p:nvPr/>
        </p:nvSpPr>
        <p:spPr>
          <a:xfrm>
            <a:off x="5147108" y="1319041"/>
            <a:ext cx="561189" cy="38494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職場</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東京</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60" name="曲線コネクタ 59"/>
          <p:cNvCxnSpPr>
            <a:cxnSpLocks/>
            <a:stCxn id="10" idx="0"/>
            <a:endCxn id="59" idx="2"/>
          </p:cNvCxnSpPr>
          <p:nvPr/>
        </p:nvCxnSpPr>
        <p:spPr>
          <a:xfrm rot="5400000" flipH="1" flipV="1">
            <a:off x="5105060" y="1749086"/>
            <a:ext cx="367739" cy="277548"/>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角丸四角形 60"/>
          <p:cNvSpPr/>
          <p:nvPr/>
        </p:nvSpPr>
        <p:spPr>
          <a:xfrm>
            <a:off x="5959277" y="1386030"/>
            <a:ext cx="726315" cy="34992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第二の故郷茅ケ崎</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62" name="曲線コネクタ 61"/>
          <p:cNvCxnSpPr>
            <a:cxnSpLocks/>
            <a:stCxn id="10" idx="0"/>
            <a:endCxn id="61" idx="2"/>
          </p:cNvCxnSpPr>
          <p:nvPr/>
        </p:nvCxnSpPr>
        <p:spPr>
          <a:xfrm rot="5400000" flipH="1" flipV="1">
            <a:off x="5568410" y="1317704"/>
            <a:ext cx="335771" cy="1172280"/>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曲線コネクタ 62"/>
          <p:cNvCxnSpPr>
            <a:cxnSpLocks/>
            <a:stCxn id="47" idx="0"/>
            <a:endCxn id="48" idx="2"/>
          </p:cNvCxnSpPr>
          <p:nvPr/>
        </p:nvCxnSpPr>
        <p:spPr>
          <a:xfrm rot="5400000" flipH="1" flipV="1">
            <a:off x="6738443" y="1254375"/>
            <a:ext cx="787342" cy="1267510"/>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曲線コネクタ 63"/>
          <p:cNvCxnSpPr>
            <a:cxnSpLocks/>
            <a:stCxn id="7" idx="0"/>
            <a:endCxn id="47" idx="2"/>
          </p:cNvCxnSpPr>
          <p:nvPr/>
        </p:nvCxnSpPr>
        <p:spPr>
          <a:xfrm rot="5400000" flipH="1" flipV="1">
            <a:off x="5831488" y="2443593"/>
            <a:ext cx="473317" cy="860425"/>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曲線コネクタ 64"/>
          <p:cNvCxnSpPr>
            <a:stCxn id="7" idx="3"/>
            <a:endCxn id="11" idx="1"/>
          </p:cNvCxnSpPr>
          <p:nvPr/>
        </p:nvCxnSpPr>
        <p:spPr>
          <a:xfrm flipV="1">
            <a:off x="6266123" y="2991001"/>
            <a:ext cx="580769" cy="388925"/>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曲線コネクタ 65"/>
          <p:cNvCxnSpPr>
            <a:stCxn id="7" idx="3"/>
            <a:endCxn id="12" idx="1"/>
          </p:cNvCxnSpPr>
          <p:nvPr/>
        </p:nvCxnSpPr>
        <p:spPr>
          <a:xfrm>
            <a:off x="6266123" y="3379926"/>
            <a:ext cx="489375" cy="159867"/>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曲線コネクタ 68"/>
          <p:cNvCxnSpPr>
            <a:stCxn id="11" idx="3"/>
            <a:endCxn id="20" idx="1"/>
          </p:cNvCxnSpPr>
          <p:nvPr/>
        </p:nvCxnSpPr>
        <p:spPr>
          <a:xfrm flipH="1" flipV="1">
            <a:off x="7557978" y="2057870"/>
            <a:ext cx="174954" cy="933131"/>
          </a:xfrm>
          <a:prstGeom prst="curvedConnector5">
            <a:avLst>
              <a:gd name="adj1" fmla="val -130663"/>
              <a:gd name="adj2" fmla="val 51490"/>
              <a:gd name="adj3" fmla="val 23066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曲線コネクタ 69"/>
          <p:cNvCxnSpPr>
            <a:stCxn id="11" idx="3"/>
            <a:endCxn id="23" idx="1"/>
          </p:cNvCxnSpPr>
          <p:nvPr/>
        </p:nvCxnSpPr>
        <p:spPr>
          <a:xfrm flipV="1">
            <a:off x="7732932" y="2600270"/>
            <a:ext cx="1413655" cy="390731"/>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曲線コネクタ 70"/>
          <p:cNvCxnSpPr>
            <a:stCxn id="23" idx="3"/>
            <a:endCxn id="24" idx="1"/>
          </p:cNvCxnSpPr>
          <p:nvPr/>
        </p:nvCxnSpPr>
        <p:spPr>
          <a:xfrm flipV="1">
            <a:off x="9669018" y="2218627"/>
            <a:ext cx="311085" cy="381643"/>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曲線コネクタ 71"/>
          <p:cNvCxnSpPr>
            <a:stCxn id="12" idx="3"/>
            <a:endCxn id="25" idx="1"/>
          </p:cNvCxnSpPr>
          <p:nvPr/>
        </p:nvCxnSpPr>
        <p:spPr>
          <a:xfrm flipV="1">
            <a:off x="7415089" y="3202972"/>
            <a:ext cx="831037" cy="336821"/>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曲線コネクタ 72"/>
          <p:cNvCxnSpPr>
            <a:cxnSpLocks/>
            <a:stCxn id="12" idx="3"/>
            <a:endCxn id="27" idx="1"/>
          </p:cNvCxnSpPr>
          <p:nvPr/>
        </p:nvCxnSpPr>
        <p:spPr>
          <a:xfrm>
            <a:off x="7415089" y="3539793"/>
            <a:ext cx="566334" cy="194168"/>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曲線コネクタ 73"/>
          <p:cNvCxnSpPr>
            <a:stCxn id="25" idx="3"/>
            <a:endCxn id="28" idx="1"/>
          </p:cNvCxnSpPr>
          <p:nvPr/>
        </p:nvCxnSpPr>
        <p:spPr>
          <a:xfrm flipV="1">
            <a:off x="9146587" y="3168084"/>
            <a:ext cx="408704" cy="34888"/>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曲線コネクタ 75"/>
          <p:cNvCxnSpPr>
            <a:cxnSpLocks/>
            <a:stCxn id="7" idx="2"/>
            <a:endCxn id="29" idx="0"/>
          </p:cNvCxnSpPr>
          <p:nvPr/>
        </p:nvCxnSpPr>
        <p:spPr>
          <a:xfrm rot="16200000" flipH="1">
            <a:off x="6065921" y="3221400"/>
            <a:ext cx="429637" cy="1285611"/>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曲線コネクタ 76"/>
          <p:cNvCxnSpPr>
            <a:cxnSpLocks/>
            <a:stCxn id="29" idx="3"/>
            <a:endCxn id="30" idx="1"/>
          </p:cNvCxnSpPr>
          <p:nvPr/>
        </p:nvCxnSpPr>
        <p:spPr>
          <a:xfrm>
            <a:off x="7460737" y="4258464"/>
            <a:ext cx="263888" cy="48674"/>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曲線コネクタ 77"/>
          <p:cNvCxnSpPr>
            <a:cxnSpLocks/>
            <a:stCxn id="30" idx="2"/>
            <a:endCxn id="35" idx="1"/>
          </p:cNvCxnSpPr>
          <p:nvPr/>
        </p:nvCxnSpPr>
        <p:spPr>
          <a:xfrm rot="16200000" flipH="1">
            <a:off x="8250957" y="4467894"/>
            <a:ext cx="318090" cy="361015"/>
          </a:xfrm>
          <a:prstGeom prst="curved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曲線コネクタ 78"/>
          <p:cNvCxnSpPr>
            <a:cxnSpLocks/>
            <a:stCxn id="30" idx="2"/>
            <a:endCxn id="34" idx="0"/>
          </p:cNvCxnSpPr>
          <p:nvPr/>
        </p:nvCxnSpPr>
        <p:spPr>
          <a:xfrm rot="5400000">
            <a:off x="7681739" y="4774853"/>
            <a:ext cx="833252" cy="262261"/>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曲線コネクタ 79"/>
          <p:cNvCxnSpPr>
            <a:stCxn id="34" idx="2"/>
            <a:endCxn id="36" idx="3"/>
          </p:cNvCxnSpPr>
          <p:nvPr/>
        </p:nvCxnSpPr>
        <p:spPr>
          <a:xfrm rot="5400000">
            <a:off x="7613050" y="5779623"/>
            <a:ext cx="446761" cy="261608"/>
          </a:xfrm>
          <a:prstGeom prst="curved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曲線コネクタ 80"/>
          <p:cNvCxnSpPr>
            <a:cxnSpLocks/>
            <a:stCxn id="37" idx="2"/>
            <a:endCxn id="36" idx="0"/>
          </p:cNvCxnSpPr>
          <p:nvPr/>
        </p:nvCxnSpPr>
        <p:spPr>
          <a:xfrm rot="16200000" flipH="1">
            <a:off x="7041741" y="5614345"/>
            <a:ext cx="225518" cy="526722"/>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曲線コネクタ 81"/>
          <p:cNvCxnSpPr>
            <a:cxnSpLocks/>
            <a:stCxn id="31" idx="3"/>
            <a:endCxn id="37" idx="1"/>
          </p:cNvCxnSpPr>
          <p:nvPr/>
        </p:nvCxnSpPr>
        <p:spPr>
          <a:xfrm>
            <a:off x="5960607" y="4737683"/>
            <a:ext cx="533555" cy="826582"/>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曲線コネクタ 82"/>
          <p:cNvCxnSpPr>
            <a:cxnSpLocks/>
            <a:stCxn id="31" idx="2"/>
            <a:endCxn id="38" idx="0"/>
          </p:cNvCxnSpPr>
          <p:nvPr/>
        </p:nvCxnSpPr>
        <p:spPr>
          <a:xfrm rot="5400000">
            <a:off x="4894562" y="4885731"/>
            <a:ext cx="424988" cy="633012"/>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曲線コネクタ 83"/>
          <p:cNvCxnSpPr>
            <a:cxnSpLocks/>
            <a:stCxn id="38" idx="2"/>
            <a:endCxn id="39" idx="0"/>
          </p:cNvCxnSpPr>
          <p:nvPr/>
        </p:nvCxnSpPr>
        <p:spPr>
          <a:xfrm rot="5400000">
            <a:off x="4358772" y="5775064"/>
            <a:ext cx="306303" cy="557255"/>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曲線コネクタ 84"/>
          <p:cNvCxnSpPr>
            <a:cxnSpLocks/>
            <a:stCxn id="39" idx="1"/>
            <a:endCxn id="40" idx="2"/>
          </p:cNvCxnSpPr>
          <p:nvPr/>
        </p:nvCxnSpPr>
        <p:spPr>
          <a:xfrm rot="10800000">
            <a:off x="3444143" y="6097606"/>
            <a:ext cx="204688" cy="313681"/>
          </a:xfrm>
          <a:prstGeom prst="curved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角丸四角形 85"/>
          <p:cNvSpPr/>
          <p:nvPr/>
        </p:nvSpPr>
        <p:spPr>
          <a:xfrm>
            <a:off x="8514666" y="5103341"/>
            <a:ext cx="1454424" cy="459502"/>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マネジメントの失敗</a:t>
            </a:r>
            <a:endParaRPr kumimoji="1" lang="en-US" altLang="ja-JP" sz="105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87" name="曲線コネクタ 86"/>
          <p:cNvCxnSpPr>
            <a:cxnSpLocks/>
            <a:stCxn id="35" idx="2"/>
            <a:endCxn id="86" idx="0"/>
          </p:cNvCxnSpPr>
          <p:nvPr/>
        </p:nvCxnSpPr>
        <p:spPr>
          <a:xfrm rot="16200000" flipH="1">
            <a:off x="9068112" y="4929574"/>
            <a:ext cx="113675" cy="233857"/>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曲線コネクタ 87"/>
          <p:cNvCxnSpPr>
            <a:cxnSpLocks/>
            <a:stCxn id="40" idx="0"/>
            <a:endCxn id="41" idx="2"/>
          </p:cNvCxnSpPr>
          <p:nvPr/>
        </p:nvCxnSpPr>
        <p:spPr>
          <a:xfrm rot="5400000" flipH="1" flipV="1">
            <a:off x="3351656" y="5627956"/>
            <a:ext cx="192128" cy="7154"/>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曲線コネクタ 88"/>
          <p:cNvCxnSpPr>
            <a:cxnSpLocks/>
            <a:stCxn id="41" idx="0"/>
            <a:endCxn id="32" idx="2"/>
          </p:cNvCxnSpPr>
          <p:nvPr/>
        </p:nvCxnSpPr>
        <p:spPr>
          <a:xfrm rot="5400000" flipH="1" flipV="1">
            <a:off x="3644780" y="4746443"/>
            <a:ext cx="211289" cy="598254"/>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曲線コネクタ 89"/>
          <p:cNvCxnSpPr>
            <a:cxnSpLocks/>
            <a:stCxn id="42" idx="3"/>
            <a:endCxn id="32" idx="1"/>
          </p:cNvCxnSpPr>
          <p:nvPr/>
        </p:nvCxnSpPr>
        <p:spPr>
          <a:xfrm>
            <a:off x="3241666" y="4116526"/>
            <a:ext cx="212519" cy="603746"/>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曲線コネクタ 90"/>
          <p:cNvCxnSpPr>
            <a:cxnSpLocks/>
            <a:stCxn id="43" idx="0"/>
            <a:endCxn id="42" idx="2"/>
          </p:cNvCxnSpPr>
          <p:nvPr/>
        </p:nvCxnSpPr>
        <p:spPr>
          <a:xfrm rot="5400000" flipH="1" flipV="1">
            <a:off x="2542486" y="4262390"/>
            <a:ext cx="203916" cy="296442"/>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曲線コネクタ 91"/>
          <p:cNvCxnSpPr>
            <a:cxnSpLocks/>
            <a:stCxn id="44" idx="0"/>
            <a:endCxn id="43" idx="2"/>
          </p:cNvCxnSpPr>
          <p:nvPr/>
        </p:nvCxnSpPr>
        <p:spPr>
          <a:xfrm rot="5400000" flipH="1" flipV="1">
            <a:off x="2140790" y="4827972"/>
            <a:ext cx="231529" cy="479337"/>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曲線コネクタ 92"/>
          <p:cNvCxnSpPr>
            <a:cxnSpLocks/>
            <a:stCxn id="315" idx="0"/>
            <a:endCxn id="44" idx="2"/>
          </p:cNvCxnSpPr>
          <p:nvPr/>
        </p:nvCxnSpPr>
        <p:spPr>
          <a:xfrm rot="5400000" flipH="1" flipV="1">
            <a:off x="1686440" y="5546918"/>
            <a:ext cx="254653" cy="406239"/>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曲線コネクタ 93"/>
          <p:cNvCxnSpPr>
            <a:cxnSpLocks/>
            <a:stCxn id="46" idx="2"/>
            <a:endCxn id="315" idx="1"/>
          </p:cNvCxnSpPr>
          <p:nvPr/>
        </p:nvCxnSpPr>
        <p:spPr>
          <a:xfrm rot="16200000" flipH="1">
            <a:off x="553285" y="5729294"/>
            <a:ext cx="506296" cy="215424"/>
          </a:xfrm>
          <a:prstGeom prst="curved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11" name="フッター プレースホルダー 210"/>
          <p:cNvSpPr>
            <a:spLocks noGrp="1"/>
          </p:cNvSpPr>
          <p:nvPr>
            <p:ph type="ftr" idx="11"/>
          </p:nvPr>
        </p:nvSpPr>
        <p:spPr/>
        <p:txBody>
          <a:bodyPr/>
          <a:lstStyle/>
          <a:p>
            <a:r>
              <a:rPr lang="en-US"/>
              <a:t>©2022 LINE</a:t>
            </a:r>
            <a:endParaRPr lang="en-US" dirty="0"/>
          </a:p>
        </p:txBody>
      </p:sp>
      <p:sp>
        <p:nvSpPr>
          <p:cNvPr id="212" name="スライド番号プレースホルダー 21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42</a:t>
            </a:fld>
            <a:endParaRPr lang="ja-JP" altLang="en-US">
              <a:uFillTx/>
            </a:endParaRPr>
          </a:p>
        </p:txBody>
      </p:sp>
      <p:sp>
        <p:nvSpPr>
          <p:cNvPr id="99" name="角丸四角形 22">
            <a:extLst>
              <a:ext uri="{FF2B5EF4-FFF2-40B4-BE49-F238E27FC236}">
                <a16:creationId xmlns:a16="http://schemas.microsoft.com/office/drawing/2014/main" id="{A11D4369-743B-2ED8-FA57-8F4684B6F123}"/>
              </a:ext>
            </a:extLst>
          </p:cNvPr>
          <p:cNvSpPr/>
          <p:nvPr/>
        </p:nvSpPr>
        <p:spPr>
          <a:xfrm>
            <a:off x="8257220" y="2057870"/>
            <a:ext cx="762682" cy="417713"/>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古民家</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購入</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00" name="曲線コネクタ 68">
            <a:extLst>
              <a:ext uri="{FF2B5EF4-FFF2-40B4-BE49-F238E27FC236}">
                <a16:creationId xmlns:a16="http://schemas.microsoft.com/office/drawing/2014/main" id="{AB73414F-E1DC-BD3E-4F5F-40A8B601F47D}"/>
              </a:ext>
            </a:extLst>
          </p:cNvPr>
          <p:cNvCxnSpPr>
            <a:cxnSpLocks/>
            <a:stCxn id="11" idx="3"/>
            <a:endCxn id="99" idx="1"/>
          </p:cNvCxnSpPr>
          <p:nvPr/>
        </p:nvCxnSpPr>
        <p:spPr>
          <a:xfrm flipV="1">
            <a:off x="7732932" y="2266727"/>
            <a:ext cx="524288" cy="724274"/>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角丸四角形 22">
            <a:extLst>
              <a:ext uri="{FF2B5EF4-FFF2-40B4-BE49-F238E27FC236}">
                <a16:creationId xmlns:a16="http://schemas.microsoft.com/office/drawing/2014/main" id="{F80313FA-BFB9-6A68-BA7D-1BFADF6F682D}"/>
              </a:ext>
            </a:extLst>
          </p:cNvPr>
          <p:cNvSpPr/>
          <p:nvPr/>
        </p:nvSpPr>
        <p:spPr>
          <a:xfrm>
            <a:off x="8797345" y="1626226"/>
            <a:ext cx="1047299" cy="32418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週末リノベ中</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06" name="曲線コネクタ 68">
            <a:extLst>
              <a:ext uri="{FF2B5EF4-FFF2-40B4-BE49-F238E27FC236}">
                <a16:creationId xmlns:a16="http://schemas.microsoft.com/office/drawing/2014/main" id="{CD5EB33C-F0B4-7C04-C780-09727BA2BD4F}"/>
              </a:ext>
            </a:extLst>
          </p:cNvPr>
          <p:cNvCxnSpPr>
            <a:cxnSpLocks/>
            <a:stCxn id="99" idx="0"/>
            <a:endCxn id="105" idx="1"/>
          </p:cNvCxnSpPr>
          <p:nvPr/>
        </p:nvCxnSpPr>
        <p:spPr>
          <a:xfrm rot="5400000" flipH="1" flipV="1">
            <a:off x="8583179" y="1843704"/>
            <a:ext cx="269549" cy="158784"/>
          </a:xfrm>
          <a:prstGeom prst="curved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角丸四角形 22">
            <a:extLst>
              <a:ext uri="{FF2B5EF4-FFF2-40B4-BE49-F238E27FC236}">
                <a16:creationId xmlns:a16="http://schemas.microsoft.com/office/drawing/2014/main" id="{1194BDF7-5A3A-1F83-2201-B056DA9AAF2A}"/>
              </a:ext>
            </a:extLst>
          </p:cNvPr>
          <p:cNvSpPr/>
          <p:nvPr/>
        </p:nvSpPr>
        <p:spPr>
          <a:xfrm>
            <a:off x="9598465" y="1162896"/>
            <a:ext cx="1673947" cy="305834"/>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シェアオフィスつくるぞ</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11" name="曲線コネクタ 68">
            <a:extLst>
              <a:ext uri="{FF2B5EF4-FFF2-40B4-BE49-F238E27FC236}">
                <a16:creationId xmlns:a16="http://schemas.microsoft.com/office/drawing/2014/main" id="{BABF4D92-7D6C-7D44-01D4-C4455233D93C}"/>
              </a:ext>
            </a:extLst>
          </p:cNvPr>
          <p:cNvCxnSpPr>
            <a:cxnSpLocks/>
            <a:stCxn id="105" idx="0"/>
            <a:endCxn id="110" idx="1"/>
          </p:cNvCxnSpPr>
          <p:nvPr/>
        </p:nvCxnSpPr>
        <p:spPr>
          <a:xfrm rot="5400000" flipH="1" flipV="1">
            <a:off x="9304524" y="1332285"/>
            <a:ext cx="310413" cy="277470"/>
          </a:xfrm>
          <a:prstGeom prst="curved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角丸四角形 22">
            <a:extLst>
              <a:ext uri="{FF2B5EF4-FFF2-40B4-BE49-F238E27FC236}">
                <a16:creationId xmlns:a16="http://schemas.microsoft.com/office/drawing/2014/main" id="{45D20B53-6B0C-19E4-277F-83F6D15A864E}"/>
              </a:ext>
            </a:extLst>
          </p:cNvPr>
          <p:cNvSpPr/>
          <p:nvPr/>
        </p:nvSpPr>
        <p:spPr>
          <a:xfrm>
            <a:off x="10775263" y="2551798"/>
            <a:ext cx="1131188" cy="57175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入院して</a:t>
            </a: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年帰ってこない</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17" name="曲線コネクタ 68">
            <a:extLst>
              <a:ext uri="{FF2B5EF4-FFF2-40B4-BE49-F238E27FC236}">
                <a16:creationId xmlns:a16="http://schemas.microsoft.com/office/drawing/2014/main" id="{B3EE412F-9918-C104-AE14-81C0FD2CB38B}"/>
              </a:ext>
            </a:extLst>
          </p:cNvPr>
          <p:cNvCxnSpPr>
            <a:cxnSpLocks/>
            <a:stCxn id="24" idx="2"/>
            <a:endCxn id="116" idx="0"/>
          </p:cNvCxnSpPr>
          <p:nvPr/>
        </p:nvCxnSpPr>
        <p:spPr>
          <a:xfrm rot="16200000" flipH="1">
            <a:off x="10822199" y="2033139"/>
            <a:ext cx="194893" cy="842424"/>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55" name="角丸四角形 19">
            <a:extLst>
              <a:ext uri="{FF2B5EF4-FFF2-40B4-BE49-F238E27FC236}">
                <a16:creationId xmlns:a16="http://schemas.microsoft.com/office/drawing/2014/main" id="{C0629902-55CF-5BC4-99E0-9A5C99CD8FAB}"/>
              </a:ext>
            </a:extLst>
          </p:cNvPr>
          <p:cNvSpPr/>
          <p:nvPr/>
        </p:nvSpPr>
        <p:spPr>
          <a:xfrm>
            <a:off x="6182561" y="920580"/>
            <a:ext cx="522431" cy="32418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30</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代</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56" name="曲線コネクタ 61">
            <a:extLst>
              <a:ext uri="{FF2B5EF4-FFF2-40B4-BE49-F238E27FC236}">
                <a16:creationId xmlns:a16="http://schemas.microsoft.com/office/drawing/2014/main" id="{518ECF0D-5DD9-90EC-D74D-A50B94A0DDCB}"/>
              </a:ext>
            </a:extLst>
          </p:cNvPr>
          <p:cNvCxnSpPr>
            <a:cxnSpLocks/>
            <a:stCxn id="61" idx="0"/>
            <a:endCxn id="155" idx="2"/>
          </p:cNvCxnSpPr>
          <p:nvPr/>
        </p:nvCxnSpPr>
        <p:spPr>
          <a:xfrm rot="5400000" flipH="1" flipV="1">
            <a:off x="6312476" y="1254729"/>
            <a:ext cx="141261" cy="121342"/>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角丸四角形 19">
            <a:extLst>
              <a:ext uri="{FF2B5EF4-FFF2-40B4-BE49-F238E27FC236}">
                <a16:creationId xmlns:a16="http://schemas.microsoft.com/office/drawing/2014/main" id="{3A7F14D9-FF02-D050-1AD1-D60AE800B1EE}"/>
              </a:ext>
            </a:extLst>
          </p:cNvPr>
          <p:cNvSpPr/>
          <p:nvPr/>
        </p:nvSpPr>
        <p:spPr>
          <a:xfrm>
            <a:off x="4173204" y="833601"/>
            <a:ext cx="836540" cy="32418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15</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年ぶり</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66" name="曲線コネクタ 57">
            <a:extLst>
              <a:ext uri="{FF2B5EF4-FFF2-40B4-BE49-F238E27FC236}">
                <a16:creationId xmlns:a16="http://schemas.microsoft.com/office/drawing/2014/main" id="{381FFC30-4367-CB3B-BF5A-05002E2341D5}"/>
              </a:ext>
            </a:extLst>
          </p:cNvPr>
          <p:cNvCxnSpPr>
            <a:cxnSpLocks/>
            <a:stCxn id="19" idx="0"/>
            <a:endCxn id="161" idx="2"/>
          </p:cNvCxnSpPr>
          <p:nvPr/>
        </p:nvCxnSpPr>
        <p:spPr>
          <a:xfrm rot="16200000" flipV="1">
            <a:off x="4528906" y="1220358"/>
            <a:ext cx="130178" cy="5041"/>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69" name="角丸四角形 58">
            <a:extLst>
              <a:ext uri="{FF2B5EF4-FFF2-40B4-BE49-F238E27FC236}">
                <a16:creationId xmlns:a16="http://schemas.microsoft.com/office/drawing/2014/main" id="{D5679DF3-65D3-9EC2-3208-5C3C1C7AAC8B}"/>
              </a:ext>
            </a:extLst>
          </p:cNvPr>
          <p:cNvSpPr/>
          <p:nvPr/>
        </p:nvSpPr>
        <p:spPr>
          <a:xfrm>
            <a:off x="5209880" y="771223"/>
            <a:ext cx="687712" cy="38494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ホテル暮らし</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70" name="曲線コネクタ 59">
            <a:extLst>
              <a:ext uri="{FF2B5EF4-FFF2-40B4-BE49-F238E27FC236}">
                <a16:creationId xmlns:a16="http://schemas.microsoft.com/office/drawing/2014/main" id="{F3835773-422A-D0F8-9A98-C7BE4B136527}"/>
              </a:ext>
            </a:extLst>
          </p:cNvPr>
          <p:cNvCxnSpPr>
            <a:cxnSpLocks/>
            <a:stCxn id="59" idx="0"/>
            <a:endCxn id="169" idx="2"/>
          </p:cNvCxnSpPr>
          <p:nvPr/>
        </p:nvCxnSpPr>
        <p:spPr>
          <a:xfrm rot="5400000" flipH="1" flipV="1">
            <a:off x="5409285" y="1174591"/>
            <a:ext cx="162869" cy="126033"/>
          </a:xfrm>
          <a:prstGeom prst="curved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87" name="角丸四角形 26">
            <a:extLst>
              <a:ext uri="{FF2B5EF4-FFF2-40B4-BE49-F238E27FC236}">
                <a16:creationId xmlns:a16="http://schemas.microsoft.com/office/drawing/2014/main" id="{A7B0A378-0F86-C41E-9A4D-81FB8E20CDA1}"/>
              </a:ext>
            </a:extLst>
          </p:cNvPr>
          <p:cNvSpPr/>
          <p:nvPr/>
        </p:nvSpPr>
        <p:spPr>
          <a:xfrm>
            <a:off x="9321891" y="3596262"/>
            <a:ext cx="1316423" cy="36443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ワイナリーめぐり</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88" name="曲線コネクタ 73">
            <a:extLst>
              <a:ext uri="{FF2B5EF4-FFF2-40B4-BE49-F238E27FC236}">
                <a16:creationId xmlns:a16="http://schemas.microsoft.com/office/drawing/2014/main" id="{D6F928E4-0502-2615-EB12-B49A80E77670}"/>
              </a:ext>
            </a:extLst>
          </p:cNvPr>
          <p:cNvCxnSpPr>
            <a:cxnSpLocks/>
            <a:stCxn id="27" idx="3"/>
            <a:endCxn id="187" idx="1"/>
          </p:cNvCxnSpPr>
          <p:nvPr/>
        </p:nvCxnSpPr>
        <p:spPr>
          <a:xfrm>
            <a:off x="9019902" y="3733961"/>
            <a:ext cx="301989" cy="44520"/>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48" name="角丸四角形 28">
            <a:extLst>
              <a:ext uri="{FF2B5EF4-FFF2-40B4-BE49-F238E27FC236}">
                <a16:creationId xmlns:a16="http://schemas.microsoft.com/office/drawing/2014/main" id="{123830E3-BCD6-D813-690A-7A7CDFA98EA6}"/>
              </a:ext>
            </a:extLst>
          </p:cNvPr>
          <p:cNvSpPr/>
          <p:nvPr/>
        </p:nvSpPr>
        <p:spPr>
          <a:xfrm>
            <a:off x="6510810" y="4696996"/>
            <a:ext cx="1167705" cy="40634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菓子製造小売業</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56" name="曲線コネクタ 75">
            <a:extLst>
              <a:ext uri="{FF2B5EF4-FFF2-40B4-BE49-F238E27FC236}">
                <a16:creationId xmlns:a16="http://schemas.microsoft.com/office/drawing/2014/main" id="{DBE35878-5192-EB97-4F9C-BCD26015D25E}"/>
              </a:ext>
            </a:extLst>
          </p:cNvPr>
          <p:cNvCxnSpPr>
            <a:cxnSpLocks/>
            <a:stCxn id="29" idx="2"/>
            <a:endCxn id="248" idx="0"/>
          </p:cNvCxnSpPr>
          <p:nvPr/>
        </p:nvCxnSpPr>
        <p:spPr>
          <a:xfrm rot="16200000" flipH="1">
            <a:off x="6879557" y="4481890"/>
            <a:ext cx="259094" cy="171118"/>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57" name="角丸四角形 85">
            <a:extLst>
              <a:ext uri="{FF2B5EF4-FFF2-40B4-BE49-F238E27FC236}">
                <a16:creationId xmlns:a16="http://schemas.microsoft.com/office/drawing/2014/main" id="{DD554230-D0C3-78F9-9241-E7F414AEBD56}"/>
              </a:ext>
            </a:extLst>
          </p:cNvPr>
          <p:cNvSpPr/>
          <p:nvPr/>
        </p:nvSpPr>
        <p:spPr>
          <a:xfrm>
            <a:off x="8463479" y="5682857"/>
            <a:ext cx="1202511" cy="36443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朝まで眠れない</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58" name="曲線コネクタ 86">
            <a:extLst>
              <a:ext uri="{FF2B5EF4-FFF2-40B4-BE49-F238E27FC236}">
                <a16:creationId xmlns:a16="http://schemas.microsoft.com/office/drawing/2014/main" id="{C83A1F78-E302-17AA-190C-09DC41F493FB}"/>
              </a:ext>
            </a:extLst>
          </p:cNvPr>
          <p:cNvCxnSpPr>
            <a:cxnSpLocks/>
            <a:stCxn id="86" idx="2"/>
            <a:endCxn id="257" idx="0"/>
          </p:cNvCxnSpPr>
          <p:nvPr/>
        </p:nvCxnSpPr>
        <p:spPr>
          <a:xfrm rot="5400000">
            <a:off x="9093300" y="5534279"/>
            <a:ext cx="120014" cy="177143"/>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角丸四角形 85">
            <a:extLst>
              <a:ext uri="{FF2B5EF4-FFF2-40B4-BE49-F238E27FC236}">
                <a16:creationId xmlns:a16="http://schemas.microsoft.com/office/drawing/2014/main" id="{8608DC96-7B2D-F471-A9FF-0F772F389912}"/>
              </a:ext>
            </a:extLst>
          </p:cNvPr>
          <p:cNvSpPr/>
          <p:nvPr/>
        </p:nvSpPr>
        <p:spPr>
          <a:xfrm>
            <a:off x="7801512" y="6373190"/>
            <a:ext cx="1202511" cy="36443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自己破産</a:t>
            </a:r>
            <a:r>
              <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p>
        </p:txBody>
      </p:sp>
      <p:cxnSp>
        <p:nvCxnSpPr>
          <p:cNvPr id="260" name="曲線コネクタ 86">
            <a:extLst>
              <a:ext uri="{FF2B5EF4-FFF2-40B4-BE49-F238E27FC236}">
                <a16:creationId xmlns:a16="http://schemas.microsoft.com/office/drawing/2014/main" id="{A5FFE2C7-1E10-995C-5ADF-83439F1ABBFC}"/>
              </a:ext>
            </a:extLst>
          </p:cNvPr>
          <p:cNvCxnSpPr>
            <a:cxnSpLocks/>
            <a:stCxn id="257" idx="2"/>
            <a:endCxn id="259" idx="0"/>
          </p:cNvCxnSpPr>
          <p:nvPr/>
        </p:nvCxnSpPr>
        <p:spPr>
          <a:xfrm rot="5400000">
            <a:off x="8570805" y="5879259"/>
            <a:ext cx="325895" cy="661967"/>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曲線コネクタ 86">
            <a:extLst>
              <a:ext uri="{FF2B5EF4-FFF2-40B4-BE49-F238E27FC236}">
                <a16:creationId xmlns:a16="http://schemas.microsoft.com/office/drawing/2014/main" id="{7A8871A0-764C-2EAD-FA72-A6ACAFF0F08F}"/>
              </a:ext>
            </a:extLst>
          </p:cNvPr>
          <p:cNvCxnSpPr>
            <a:cxnSpLocks/>
            <a:stCxn id="34" idx="2"/>
            <a:endCxn id="259" idx="0"/>
          </p:cNvCxnSpPr>
          <p:nvPr/>
        </p:nvCxnSpPr>
        <p:spPr>
          <a:xfrm rot="16200000" flipH="1">
            <a:off x="7841930" y="5812351"/>
            <a:ext cx="686143" cy="435534"/>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62" name="角丸四角形 36">
            <a:extLst>
              <a:ext uri="{FF2B5EF4-FFF2-40B4-BE49-F238E27FC236}">
                <a16:creationId xmlns:a16="http://schemas.microsoft.com/office/drawing/2014/main" id="{196DA6CD-0BE8-E659-B948-77C641151ADB}"/>
              </a:ext>
            </a:extLst>
          </p:cNvPr>
          <p:cNvSpPr/>
          <p:nvPr/>
        </p:nvSpPr>
        <p:spPr>
          <a:xfrm>
            <a:off x="4307537" y="3884049"/>
            <a:ext cx="1175906" cy="393785"/>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借金返済のため</a:t>
            </a:r>
            <a:endParaRPr kumimoji="1" lang="en-US" altLang="ja-JP" sz="105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63" name="曲線コネクタ 82">
            <a:extLst>
              <a:ext uri="{FF2B5EF4-FFF2-40B4-BE49-F238E27FC236}">
                <a16:creationId xmlns:a16="http://schemas.microsoft.com/office/drawing/2014/main" id="{0D7ADF62-6DDC-3A94-715E-0BE5EE749452}"/>
              </a:ext>
            </a:extLst>
          </p:cNvPr>
          <p:cNvCxnSpPr>
            <a:cxnSpLocks/>
            <a:stCxn id="262" idx="2"/>
            <a:endCxn id="31" idx="0"/>
          </p:cNvCxnSpPr>
          <p:nvPr/>
        </p:nvCxnSpPr>
        <p:spPr>
          <a:xfrm rot="16200000" flipH="1">
            <a:off x="5055632" y="4117692"/>
            <a:ext cx="207788" cy="528072"/>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64" name="角丸四角形 37">
            <a:extLst>
              <a:ext uri="{FF2B5EF4-FFF2-40B4-BE49-F238E27FC236}">
                <a16:creationId xmlns:a16="http://schemas.microsoft.com/office/drawing/2014/main" id="{4377E46B-33A6-99ED-4CA1-ADCF106603A2}"/>
              </a:ext>
            </a:extLst>
          </p:cNvPr>
          <p:cNvSpPr/>
          <p:nvPr/>
        </p:nvSpPr>
        <p:spPr>
          <a:xfrm>
            <a:off x="5502170" y="5897791"/>
            <a:ext cx="1168928" cy="48603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六本木ヒルズ</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だけど自作弁当</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272" name="曲線コネクタ 82">
            <a:extLst>
              <a:ext uri="{FF2B5EF4-FFF2-40B4-BE49-F238E27FC236}">
                <a16:creationId xmlns:a16="http://schemas.microsoft.com/office/drawing/2014/main" id="{FBE4E3DC-41C7-EBBD-51BE-F0CC2393A1F3}"/>
              </a:ext>
            </a:extLst>
          </p:cNvPr>
          <p:cNvCxnSpPr>
            <a:cxnSpLocks/>
            <a:stCxn id="31" idx="2"/>
            <a:endCxn id="264" idx="0"/>
          </p:cNvCxnSpPr>
          <p:nvPr/>
        </p:nvCxnSpPr>
        <p:spPr>
          <a:xfrm rot="16200000" flipH="1">
            <a:off x="5301074" y="5112231"/>
            <a:ext cx="908048" cy="663072"/>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15" name="角丸四角形 44">
            <a:extLst>
              <a:ext uri="{FF2B5EF4-FFF2-40B4-BE49-F238E27FC236}">
                <a16:creationId xmlns:a16="http://schemas.microsoft.com/office/drawing/2014/main" id="{224C398F-76F7-D661-52CF-A40E826C8693}"/>
              </a:ext>
            </a:extLst>
          </p:cNvPr>
          <p:cNvSpPr/>
          <p:nvPr/>
        </p:nvSpPr>
        <p:spPr>
          <a:xfrm>
            <a:off x="914145" y="5877363"/>
            <a:ext cx="1393004" cy="42558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現場大事だから</a:t>
            </a: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HRBP</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やってみて</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333" name="曲線コネクタ 93">
            <a:extLst>
              <a:ext uri="{FF2B5EF4-FFF2-40B4-BE49-F238E27FC236}">
                <a16:creationId xmlns:a16="http://schemas.microsoft.com/office/drawing/2014/main" id="{13D98D54-6D2F-CD4E-08A7-52DC7BE8B95D}"/>
              </a:ext>
            </a:extLst>
          </p:cNvPr>
          <p:cNvCxnSpPr>
            <a:cxnSpLocks/>
            <a:stCxn id="33" idx="2"/>
            <a:endCxn id="46" idx="0"/>
          </p:cNvCxnSpPr>
          <p:nvPr/>
        </p:nvCxnSpPr>
        <p:spPr>
          <a:xfrm rot="5400000">
            <a:off x="661799" y="4909711"/>
            <a:ext cx="174464" cy="100619"/>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8" name="曲線コネクタ 92">
            <a:extLst>
              <a:ext uri="{FF2B5EF4-FFF2-40B4-BE49-F238E27FC236}">
                <a16:creationId xmlns:a16="http://schemas.microsoft.com/office/drawing/2014/main" id="{D724B5A9-54AF-B5BF-213A-51CAFEC86DD6}"/>
              </a:ext>
            </a:extLst>
          </p:cNvPr>
          <p:cNvCxnSpPr>
            <a:cxnSpLocks/>
            <a:stCxn id="45" idx="0"/>
            <a:endCxn id="315" idx="2"/>
          </p:cNvCxnSpPr>
          <p:nvPr/>
        </p:nvCxnSpPr>
        <p:spPr>
          <a:xfrm rot="16200000" flipV="1">
            <a:off x="1571126" y="6342465"/>
            <a:ext cx="193952" cy="114909"/>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42" name="角丸四角形 32">
            <a:extLst>
              <a:ext uri="{FF2B5EF4-FFF2-40B4-BE49-F238E27FC236}">
                <a16:creationId xmlns:a16="http://schemas.microsoft.com/office/drawing/2014/main" id="{4D35A5E9-500E-268C-C5E7-B6FBABE51B52}"/>
              </a:ext>
            </a:extLst>
          </p:cNvPr>
          <p:cNvSpPr/>
          <p:nvPr/>
        </p:nvSpPr>
        <p:spPr>
          <a:xfrm>
            <a:off x="243096" y="3904575"/>
            <a:ext cx="1666095" cy="46375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HRBP</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でサンドバッグ</a:t>
            </a:r>
            <a:endParaRPr kumimoji="1" lang="en-US" altLang="ja-JP" sz="11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346" name="曲線コネクタ 93">
            <a:extLst>
              <a:ext uri="{FF2B5EF4-FFF2-40B4-BE49-F238E27FC236}">
                <a16:creationId xmlns:a16="http://schemas.microsoft.com/office/drawing/2014/main" id="{177D4C63-7B99-8396-1455-E831DB0F7403}"/>
              </a:ext>
            </a:extLst>
          </p:cNvPr>
          <p:cNvCxnSpPr>
            <a:cxnSpLocks/>
            <a:stCxn id="342" idx="2"/>
            <a:endCxn id="33" idx="0"/>
          </p:cNvCxnSpPr>
          <p:nvPr/>
        </p:nvCxnSpPr>
        <p:spPr>
          <a:xfrm rot="5400000">
            <a:off x="847686" y="4319980"/>
            <a:ext cx="180113" cy="276804"/>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98" name="角丸四角形 39">
            <a:extLst>
              <a:ext uri="{FF2B5EF4-FFF2-40B4-BE49-F238E27FC236}">
                <a16:creationId xmlns:a16="http://schemas.microsoft.com/office/drawing/2014/main" id="{4A327590-78EF-52D7-52D1-F8203EAAD4C4}"/>
              </a:ext>
            </a:extLst>
          </p:cNvPr>
          <p:cNvSpPr/>
          <p:nvPr/>
        </p:nvSpPr>
        <p:spPr>
          <a:xfrm>
            <a:off x="2567944" y="6360055"/>
            <a:ext cx="762263" cy="370008"/>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ちょっと飽きてた</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399" name="曲線コネクタ 84">
            <a:extLst>
              <a:ext uri="{FF2B5EF4-FFF2-40B4-BE49-F238E27FC236}">
                <a16:creationId xmlns:a16="http://schemas.microsoft.com/office/drawing/2014/main" id="{75EF52C7-C7A0-1494-847C-68DAA320B035}"/>
              </a:ext>
            </a:extLst>
          </p:cNvPr>
          <p:cNvCxnSpPr>
            <a:cxnSpLocks/>
            <a:stCxn id="39" idx="1"/>
            <a:endCxn id="398" idx="3"/>
          </p:cNvCxnSpPr>
          <p:nvPr/>
        </p:nvCxnSpPr>
        <p:spPr>
          <a:xfrm rot="10800000" flipV="1">
            <a:off x="3330207" y="6411285"/>
            <a:ext cx="318624" cy="133773"/>
          </a:xfrm>
          <a:prstGeom prst="curved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1816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2"/>
          </p:nvPr>
        </p:nvSpPr>
        <p:spPr/>
        <p:txBody>
          <a:bodyPr/>
          <a:lstStyle/>
          <a:p>
            <a:fld id="{7EB29901-185E-436F-B7EE-94CD3DCFCF3C}" type="slidenum">
              <a:rPr kumimoji="1" lang="ja-JP" altLang="en-US" smtClean="0">
                <a:solidFill>
                  <a:schemeClr val="bg1">
                    <a:lumMod val="50000"/>
                  </a:schemeClr>
                </a:solidFill>
              </a:rPr>
              <a:t>43</a:t>
            </a:fld>
            <a:endParaRPr kumimoji="1" lang="ja-JP" altLang="en-US" dirty="0">
              <a:solidFill>
                <a:schemeClr val="bg1">
                  <a:lumMod val="50000"/>
                </a:schemeClr>
              </a:solidFill>
            </a:endParaRPr>
          </a:p>
        </p:txBody>
      </p:sp>
      <p:sp>
        <p:nvSpPr>
          <p:cNvPr id="14" name="テキスト ボックス 13"/>
          <p:cNvSpPr txBox="1"/>
          <p:nvPr/>
        </p:nvSpPr>
        <p:spPr>
          <a:xfrm>
            <a:off x="197525" y="111839"/>
            <a:ext cx="2553913" cy="400110"/>
          </a:xfrm>
          <a:prstGeom prst="rect">
            <a:avLst/>
          </a:prstGeom>
          <a:noFill/>
        </p:spPr>
        <p:txBody>
          <a:bodyPr wrap="square" rtlCol="0" anchor="ctr">
            <a:spAutoFit/>
          </a:bodyPr>
          <a:lstStyle/>
          <a:p>
            <a:r>
              <a:rPr lang="en-US" altLang="ja-JP" sz="2000" b="1" dirty="0">
                <a:latin typeface="メイリオ" panose="020B0604030504040204" pitchFamily="50" charset="-128"/>
                <a:ea typeface="メイリオ" panose="020B0604030504040204" pitchFamily="50" charset="-128"/>
                <a:cs typeface="メイリオ" panose="020B0604030504040204" pitchFamily="50" charset="-128"/>
              </a:rPr>
              <a:t>LIFE</a:t>
            </a:r>
            <a:r>
              <a:rPr lang="ja-JP" altLang="en-US" sz="20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2000" b="1" dirty="0">
                <a:latin typeface="メイリオ" panose="020B0604030504040204" pitchFamily="50" charset="-128"/>
                <a:ea typeface="メイリオ" panose="020B0604030504040204" pitchFamily="50" charset="-128"/>
                <a:cs typeface="メイリオ" panose="020B0604030504040204" pitchFamily="50" charset="-128"/>
              </a:rPr>
              <a:t>LINE CHART</a:t>
            </a:r>
            <a:endParaRPr lang="en-US" altLang="ja-JP" sz="11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 name="直線コネクタ 3"/>
          <p:cNvCxnSpPr/>
          <p:nvPr/>
        </p:nvCxnSpPr>
        <p:spPr>
          <a:xfrm>
            <a:off x="281354" y="414215"/>
            <a:ext cx="11628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8291201" y="111839"/>
            <a:ext cx="3618153" cy="400110"/>
          </a:xfrm>
          <a:prstGeom prst="rect">
            <a:avLst/>
          </a:prstGeom>
          <a:noFill/>
        </p:spPr>
        <p:txBody>
          <a:bodyPr wrap="square" rtlCol="0" anchor="ctr">
            <a:spAutoFit/>
          </a:bodyPr>
          <a:lstStyle/>
          <a:p>
            <a:r>
              <a:rPr lang="en-US" altLang="ja-JP" sz="2000" b="1" dirty="0" err="1">
                <a:latin typeface="メイリオ" panose="020B0604030504040204" pitchFamily="50" charset="-128"/>
                <a:ea typeface="メイリオ" panose="020B0604030504040204" pitchFamily="50" charset="-128"/>
                <a:cs typeface="メイリオ" panose="020B0604030504040204" pitchFamily="50" charset="-128"/>
              </a:rPr>
              <a:t>Name:komukai</a:t>
            </a:r>
            <a:endParaRPr lang="en-US" altLang="ja-JP" sz="11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9" name="直線コネクタ 8"/>
          <p:cNvCxnSpPr/>
          <p:nvPr/>
        </p:nvCxnSpPr>
        <p:spPr>
          <a:xfrm>
            <a:off x="1199869" y="3079163"/>
            <a:ext cx="9972000" cy="0"/>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a:off x="1199869" y="848497"/>
            <a:ext cx="0" cy="4428000"/>
          </a:xfrm>
          <a:prstGeom prst="line">
            <a:avLst/>
          </a:prstGeom>
          <a:ln>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861314" y="1542246"/>
            <a:ext cx="338554" cy="3171568"/>
          </a:xfrm>
          <a:prstGeom prst="rect">
            <a:avLst/>
          </a:prstGeom>
          <a:noFill/>
        </p:spPr>
        <p:txBody>
          <a:bodyPr vert="eaVert" wrap="square" rtlCol="0">
            <a:spAutoFit/>
          </a:bodyPr>
          <a:lstStyle/>
          <a:p>
            <a:pPr algn="ctr"/>
            <a:r>
              <a:rPr lang="ja-JP" altLang="en-US" sz="1000" dirty="0">
                <a:latin typeface="メイリオ" panose="020B0604030504040204" pitchFamily="50" charset="-128"/>
                <a:ea typeface="メイリオ" panose="020B0604030504040204" pitchFamily="50" charset="-128"/>
              </a:rPr>
              <a:t>モチベーション</a:t>
            </a:r>
            <a:endParaRPr kumimoji="1" lang="ja-JP" altLang="en-US" sz="1000" dirty="0">
              <a:latin typeface="メイリオ" panose="020B0604030504040204" pitchFamily="50" charset="-128"/>
              <a:ea typeface="メイリオ" panose="020B0604030504040204" pitchFamily="50" charset="-128"/>
            </a:endParaRPr>
          </a:p>
        </p:txBody>
      </p:sp>
      <p:sp>
        <p:nvSpPr>
          <p:cNvPr id="15" name="正方形/長方形 14"/>
          <p:cNvSpPr/>
          <p:nvPr/>
        </p:nvSpPr>
        <p:spPr>
          <a:xfrm>
            <a:off x="1199869" y="5744111"/>
            <a:ext cx="9972000" cy="87087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p:cNvSpPr txBox="1"/>
          <p:nvPr/>
        </p:nvSpPr>
        <p:spPr>
          <a:xfrm>
            <a:off x="1301578" y="5766486"/>
            <a:ext cx="9753600" cy="900246"/>
          </a:xfrm>
          <a:prstGeom prst="rect">
            <a:avLst/>
          </a:prstGeom>
          <a:noFill/>
        </p:spPr>
        <p:txBody>
          <a:bodyPr wrap="square" rtlCol="0">
            <a:spAutoFit/>
          </a:bodyPr>
          <a:lstStyle/>
          <a:p>
            <a:r>
              <a:rPr lang="ja-JP" altLang="en-US" sz="1050" dirty="0">
                <a:latin typeface="メイリオ" panose="020B0604030504040204" pitchFamily="50" charset="-128"/>
                <a:ea typeface="メイリオ" panose="020B0604030504040204" pitchFamily="50" charset="-128"/>
              </a:rPr>
              <a:t>会社をつくり、つぶしたこと。それによって多くの人を巻き込んでしまったこと。</a:t>
            </a:r>
            <a:endParaRPr lang="en-US" altLang="ja-JP" sz="1050" dirty="0">
              <a:latin typeface="メイリオ" panose="020B0604030504040204" pitchFamily="50" charset="-128"/>
              <a:ea typeface="メイリオ" panose="020B0604030504040204" pitchFamily="50" charset="-128"/>
            </a:endParaRPr>
          </a:p>
          <a:p>
            <a:r>
              <a:rPr lang="ja-JP" altLang="en-US" sz="1050" dirty="0">
                <a:latin typeface="メイリオ" panose="020B0604030504040204" pitchFamily="50" charset="-128"/>
                <a:ea typeface="メイリオ" panose="020B0604030504040204" pitchFamily="50" charset="-128"/>
              </a:rPr>
              <a:t>今は人事の仕事をしているが、経営や事業観点から人事の仕事を捉えているのは上記の影響が大きい。</a:t>
            </a:r>
            <a:r>
              <a:rPr kumimoji="1" lang="ja-JP" altLang="en-US" sz="1050" dirty="0">
                <a:latin typeface="メイリオ" panose="020B0604030504040204" pitchFamily="50" charset="-128"/>
                <a:ea typeface="メイリオ" panose="020B0604030504040204" pitchFamily="50" charset="-128"/>
              </a:rPr>
              <a:t>仕事としては人材開発や組織開発という仕事をしているが、人が育ったり、組織がよくなったり、という事自体を目的にする</a:t>
            </a:r>
            <a:r>
              <a:rPr lang="ja-JP" altLang="en-US" sz="1050" dirty="0">
                <a:latin typeface="メイリオ" panose="020B0604030504040204" pitchFamily="50" charset="-128"/>
                <a:ea typeface="メイリオ" panose="020B0604030504040204" pitchFamily="50" charset="-128"/>
              </a:rPr>
              <a:t>ことにはどうにも気持ち悪さを感じる。ビジネスはいろいろな意味で制限がある。お金、リソース、時間</a:t>
            </a:r>
            <a:r>
              <a:rPr lang="ja-JP" altLang="en-US" sz="1050" dirty="0" err="1">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様々な制限があるからこそ人間は想像することを止めなかったし、苦しい時も乗り越えてきた。それがビジネスの醍醐味であるし、何としても事業を成功させないとならないという根本的な価値観に通じている。</a:t>
            </a:r>
            <a:endParaRPr kumimoji="1" lang="ja-JP" altLang="en-US" sz="1050" dirty="0">
              <a:latin typeface="メイリオ" panose="020B0604030504040204" pitchFamily="50" charset="-128"/>
              <a:ea typeface="メイリオ" panose="020B0604030504040204" pitchFamily="50" charset="-128"/>
            </a:endParaRPr>
          </a:p>
        </p:txBody>
      </p:sp>
      <p:sp>
        <p:nvSpPr>
          <p:cNvPr id="17" name="テキスト ボックス 16"/>
          <p:cNvSpPr txBox="1"/>
          <p:nvPr/>
        </p:nvSpPr>
        <p:spPr>
          <a:xfrm>
            <a:off x="10889223" y="3128030"/>
            <a:ext cx="464577" cy="246221"/>
          </a:xfrm>
          <a:prstGeom prst="rect">
            <a:avLst/>
          </a:prstGeom>
          <a:noFill/>
        </p:spPr>
        <p:txBody>
          <a:bodyPr wrap="square" rtlCol="0">
            <a:spAutoFit/>
          </a:bodyPr>
          <a:lstStyle/>
          <a:p>
            <a:r>
              <a:rPr kumimoji="1" lang="ja-JP" altLang="en-US" sz="1000" dirty="0">
                <a:latin typeface="メイリオ" panose="020B0604030504040204" pitchFamily="50" charset="-128"/>
                <a:ea typeface="メイリオ" panose="020B0604030504040204" pitchFamily="50" charset="-128"/>
              </a:rPr>
              <a:t>現在</a:t>
            </a:r>
          </a:p>
        </p:txBody>
      </p:sp>
      <p:sp>
        <p:nvSpPr>
          <p:cNvPr id="18" name="テキスト ボックス 17"/>
          <p:cNvSpPr txBox="1"/>
          <p:nvPr/>
        </p:nvSpPr>
        <p:spPr>
          <a:xfrm>
            <a:off x="8610600" y="3156846"/>
            <a:ext cx="464577" cy="246221"/>
          </a:xfrm>
          <a:prstGeom prst="rect">
            <a:avLst/>
          </a:prstGeom>
          <a:noFill/>
        </p:spPr>
        <p:txBody>
          <a:bodyPr wrap="square" rtlCol="0">
            <a:spAutoFit/>
          </a:bodyPr>
          <a:lstStyle/>
          <a:p>
            <a:pPr algn="ctr"/>
            <a:r>
              <a:rPr kumimoji="1" lang="en-US" altLang="ja-JP" sz="1000" dirty="0">
                <a:latin typeface="メイリオ" panose="020B0604030504040204" pitchFamily="50" charset="-128"/>
                <a:ea typeface="メイリオ" panose="020B0604030504040204" pitchFamily="50" charset="-128"/>
              </a:rPr>
              <a:t>40</a:t>
            </a:r>
            <a:endParaRPr kumimoji="1" lang="ja-JP" altLang="en-US" sz="1000" dirty="0">
              <a:latin typeface="メイリオ" panose="020B0604030504040204" pitchFamily="50" charset="-128"/>
              <a:ea typeface="メイリオ" panose="020B0604030504040204" pitchFamily="50" charset="-128"/>
            </a:endParaRPr>
          </a:p>
        </p:txBody>
      </p:sp>
      <p:sp>
        <p:nvSpPr>
          <p:cNvPr id="19" name="テキスト ボックス 18"/>
          <p:cNvSpPr txBox="1"/>
          <p:nvPr/>
        </p:nvSpPr>
        <p:spPr>
          <a:xfrm>
            <a:off x="5713801" y="3156846"/>
            <a:ext cx="464577" cy="246221"/>
          </a:xfrm>
          <a:prstGeom prst="rect">
            <a:avLst/>
          </a:prstGeom>
          <a:noFill/>
        </p:spPr>
        <p:txBody>
          <a:bodyPr wrap="square" rtlCol="0">
            <a:spAutoFit/>
          </a:bodyPr>
          <a:lstStyle/>
          <a:p>
            <a:pPr algn="ctr"/>
            <a:r>
              <a:rPr kumimoji="1" lang="en-US" altLang="ja-JP" sz="1000" dirty="0">
                <a:latin typeface="メイリオ" panose="020B0604030504040204" pitchFamily="50" charset="-128"/>
                <a:ea typeface="メイリオ" panose="020B0604030504040204" pitchFamily="50" charset="-128"/>
              </a:rPr>
              <a:t>30</a:t>
            </a:r>
            <a:endParaRPr kumimoji="1" lang="ja-JP" altLang="en-US" sz="1000" dirty="0">
              <a:latin typeface="メイリオ" panose="020B0604030504040204" pitchFamily="50" charset="-128"/>
              <a:ea typeface="メイリオ" panose="020B0604030504040204" pitchFamily="50" charset="-128"/>
            </a:endParaRPr>
          </a:p>
        </p:txBody>
      </p:sp>
      <p:sp>
        <p:nvSpPr>
          <p:cNvPr id="20" name="テキスト ボックス 19"/>
          <p:cNvSpPr txBox="1"/>
          <p:nvPr/>
        </p:nvSpPr>
        <p:spPr>
          <a:xfrm>
            <a:off x="2817002" y="3161004"/>
            <a:ext cx="464577" cy="246221"/>
          </a:xfrm>
          <a:prstGeom prst="rect">
            <a:avLst/>
          </a:prstGeom>
          <a:noFill/>
        </p:spPr>
        <p:txBody>
          <a:bodyPr wrap="square" rtlCol="0">
            <a:spAutoFit/>
          </a:bodyPr>
          <a:lstStyle/>
          <a:p>
            <a:pPr algn="ctr"/>
            <a:r>
              <a:rPr lang="en-US" altLang="ja-JP" sz="1000" dirty="0">
                <a:latin typeface="メイリオ" panose="020B0604030504040204" pitchFamily="50" charset="-128"/>
                <a:ea typeface="メイリオ" panose="020B0604030504040204" pitchFamily="50" charset="-128"/>
              </a:rPr>
              <a:t>2</a:t>
            </a:r>
            <a:r>
              <a:rPr kumimoji="1" lang="en-US" altLang="ja-JP" sz="1000" dirty="0">
                <a:latin typeface="メイリオ" panose="020B0604030504040204" pitchFamily="50" charset="-128"/>
                <a:ea typeface="メイリオ" panose="020B0604030504040204" pitchFamily="50" charset="-128"/>
              </a:rPr>
              <a:t>0</a:t>
            </a:r>
            <a:endParaRPr kumimoji="1" lang="ja-JP" altLang="en-US" sz="1000" dirty="0">
              <a:latin typeface="メイリオ" panose="020B0604030504040204" pitchFamily="50" charset="-128"/>
              <a:ea typeface="メイリオ" panose="020B0604030504040204" pitchFamily="50" charset="-128"/>
            </a:endParaRPr>
          </a:p>
        </p:txBody>
      </p:sp>
      <p:sp>
        <p:nvSpPr>
          <p:cNvPr id="21" name="テキスト ボックス 20"/>
          <p:cNvSpPr txBox="1"/>
          <p:nvPr/>
        </p:nvSpPr>
        <p:spPr>
          <a:xfrm>
            <a:off x="1301578" y="2293986"/>
            <a:ext cx="1771137" cy="507831"/>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20</a:t>
            </a:r>
            <a:r>
              <a:rPr lang="ja-JP" altLang="en-US" sz="900" dirty="0">
                <a:latin typeface="メイリオ" panose="020B0604030504040204" pitchFamily="50" charset="-128"/>
                <a:ea typeface="メイリオ" panose="020B0604030504040204" pitchFamily="50" charset="-128"/>
              </a:rPr>
              <a:t>歳。世はベンチャーブーム</a:t>
            </a:r>
            <a:endParaRPr lang="en-US" altLang="ja-JP" sz="900" dirty="0">
              <a:latin typeface="メイリオ" panose="020B0604030504040204" pitchFamily="50" charset="-128"/>
              <a:ea typeface="メイリオ" panose="020B0604030504040204" pitchFamily="50" charset="-128"/>
            </a:endParaRPr>
          </a:p>
          <a:p>
            <a:r>
              <a:rPr lang="ja-JP" altLang="en-US" sz="900" dirty="0">
                <a:latin typeface="メイリオ" panose="020B0604030504040204" pitchFamily="50" charset="-128"/>
                <a:ea typeface="メイリオ" panose="020B0604030504040204" pitchFamily="50" charset="-128"/>
              </a:rPr>
              <a:t>ビジネスプランをつくりコンテストに出まくる</a:t>
            </a:r>
            <a:endParaRPr kumimoji="1" lang="ja-JP" altLang="en-US" sz="900" dirty="0">
              <a:latin typeface="メイリオ" panose="020B0604030504040204" pitchFamily="50" charset="-128"/>
              <a:ea typeface="メイリオ" panose="020B0604030504040204" pitchFamily="50" charset="-128"/>
            </a:endParaRPr>
          </a:p>
        </p:txBody>
      </p:sp>
      <p:sp>
        <p:nvSpPr>
          <p:cNvPr id="22" name="テキスト ボックス 21"/>
          <p:cNvSpPr txBox="1"/>
          <p:nvPr/>
        </p:nvSpPr>
        <p:spPr>
          <a:xfrm>
            <a:off x="3072715" y="3341233"/>
            <a:ext cx="1844576" cy="507831"/>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22</a:t>
            </a:r>
            <a:r>
              <a:rPr lang="ja-JP" altLang="en-US" sz="900" dirty="0">
                <a:latin typeface="メイリオ" panose="020B0604030504040204" pitchFamily="50" charset="-128"/>
                <a:ea typeface="メイリオ" panose="020B0604030504040204" pitchFamily="50" charset="-128"/>
              </a:rPr>
              <a:t>歳。同級生はみんな就職活動。</a:t>
            </a:r>
            <a:endParaRPr lang="en-US" altLang="ja-JP" sz="900" dirty="0">
              <a:latin typeface="メイリオ" panose="020B0604030504040204" pitchFamily="50" charset="-128"/>
              <a:ea typeface="メイリオ" panose="020B0604030504040204" pitchFamily="50" charset="-128"/>
            </a:endParaRPr>
          </a:p>
          <a:p>
            <a:r>
              <a:rPr kumimoji="1" lang="ja-JP" altLang="en-US" sz="900" dirty="0">
                <a:latin typeface="メイリオ" panose="020B0604030504040204" pitchFamily="50" charset="-128"/>
                <a:ea typeface="メイリオ" panose="020B0604030504040204" pitchFamily="50" charset="-128"/>
              </a:rPr>
              <a:t>就職することに反発し、なぜか自転車での旅に出る</a:t>
            </a:r>
          </a:p>
        </p:txBody>
      </p:sp>
      <p:sp>
        <p:nvSpPr>
          <p:cNvPr id="23" name="テキスト ボックス 22"/>
          <p:cNvSpPr txBox="1"/>
          <p:nvPr/>
        </p:nvSpPr>
        <p:spPr>
          <a:xfrm>
            <a:off x="2898658" y="1687000"/>
            <a:ext cx="1722413" cy="507831"/>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23</a:t>
            </a:r>
            <a:r>
              <a:rPr lang="ja-JP" altLang="en-US" sz="900" dirty="0">
                <a:latin typeface="メイリオ" panose="020B0604030504040204" pitchFamily="50" charset="-128"/>
                <a:ea typeface="メイリオ" panose="020B0604030504040204" pitchFamily="50" charset="-128"/>
              </a:rPr>
              <a:t>歳。当時</a:t>
            </a:r>
            <a:r>
              <a:rPr lang="en-US" altLang="ja-JP" sz="900" dirty="0">
                <a:latin typeface="メイリオ" panose="020B0604030504040204" pitchFamily="50" charset="-128"/>
                <a:ea typeface="メイリオ" panose="020B0604030504040204" pitchFamily="50" charset="-128"/>
              </a:rPr>
              <a:t>100</a:t>
            </a:r>
            <a:r>
              <a:rPr lang="ja-JP" altLang="en-US" sz="900" dirty="0">
                <a:latin typeface="メイリオ" panose="020B0604030504040204" pitchFamily="50" charset="-128"/>
                <a:ea typeface="メイリオ" panose="020B0604030504040204" pitchFamily="50" charset="-128"/>
              </a:rPr>
              <a:t>人程度の</a:t>
            </a:r>
            <a:endParaRPr lang="en-US" altLang="ja-JP" sz="900" dirty="0">
              <a:latin typeface="メイリオ" panose="020B0604030504040204" pitchFamily="50" charset="-128"/>
              <a:ea typeface="メイリオ" panose="020B0604030504040204" pitchFamily="50" charset="-128"/>
            </a:endParaRPr>
          </a:p>
          <a:p>
            <a:r>
              <a:rPr lang="ja-JP" altLang="en-US" sz="900" dirty="0">
                <a:latin typeface="メイリオ" panose="020B0604030504040204" pitchFamily="50" charset="-128"/>
                <a:ea typeface="メイリオ" panose="020B0604030504040204" pitchFamily="50" charset="-128"/>
              </a:rPr>
              <a:t>「ぐるなび」で働き始める。営業で飲食店に飛び込む日々</a:t>
            </a:r>
            <a:endParaRPr kumimoji="1" lang="ja-JP" altLang="en-US" sz="900" dirty="0">
              <a:latin typeface="メイリオ" panose="020B0604030504040204" pitchFamily="50" charset="-128"/>
              <a:ea typeface="メイリオ" panose="020B0604030504040204" pitchFamily="50" charset="-128"/>
            </a:endParaRPr>
          </a:p>
        </p:txBody>
      </p:sp>
      <p:sp>
        <p:nvSpPr>
          <p:cNvPr id="24" name="テキスト ボックス 23"/>
          <p:cNvSpPr txBox="1"/>
          <p:nvPr/>
        </p:nvSpPr>
        <p:spPr>
          <a:xfrm>
            <a:off x="3702076" y="921888"/>
            <a:ext cx="1743051" cy="507831"/>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25</a:t>
            </a:r>
            <a:r>
              <a:rPr lang="ja-JP" altLang="en-US" sz="900" dirty="0">
                <a:latin typeface="メイリオ" panose="020B0604030504040204" pitchFamily="50" charset="-128"/>
                <a:ea typeface="メイリオ" panose="020B0604030504040204" pitchFamily="50" charset="-128"/>
              </a:rPr>
              <a:t>歳。ビジネスコンテストで優勝してしまい、会社を辞めて起業をすることに</a:t>
            </a:r>
            <a:endParaRPr kumimoji="1" lang="ja-JP" altLang="en-US" sz="900" dirty="0">
              <a:latin typeface="メイリオ" panose="020B0604030504040204" pitchFamily="50" charset="-128"/>
              <a:ea typeface="メイリオ" panose="020B0604030504040204" pitchFamily="50" charset="-128"/>
            </a:endParaRPr>
          </a:p>
        </p:txBody>
      </p:sp>
      <p:sp>
        <p:nvSpPr>
          <p:cNvPr id="25" name="テキスト ボックス 24"/>
          <p:cNvSpPr txBox="1"/>
          <p:nvPr/>
        </p:nvSpPr>
        <p:spPr>
          <a:xfrm>
            <a:off x="3511943" y="4390648"/>
            <a:ext cx="1743051" cy="646331"/>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27</a:t>
            </a:r>
            <a:r>
              <a:rPr lang="ja-JP" altLang="en-US" sz="900" dirty="0">
                <a:latin typeface="メイリオ" panose="020B0604030504040204" pitchFamily="50" charset="-128"/>
                <a:ea typeface="メイリオ" panose="020B0604030504040204" pitchFamily="50" charset="-128"/>
              </a:rPr>
              <a:t>歳。社員が全員辞める。「あなたにはついていけない」の言葉と共に。廃業。借金</a:t>
            </a:r>
            <a:r>
              <a:rPr lang="en-US" altLang="ja-JP" sz="900" dirty="0">
                <a:latin typeface="メイリオ" panose="020B0604030504040204" pitchFamily="50" charset="-128"/>
                <a:ea typeface="メイリオ" panose="020B0604030504040204" pitchFamily="50" charset="-128"/>
              </a:rPr>
              <a:t>1000</a:t>
            </a:r>
            <a:r>
              <a:rPr lang="ja-JP" altLang="en-US" sz="900" dirty="0">
                <a:latin typeface="メイリオ" panose="020B0604030504040204" pitchFamily="50" charset="-128"/>
                <a:ea typeface="メイリオ" panose="020B0604030504040204" pitchFamily="50" charset="-128"/>
              </a:rPr>
              <a:t>万を抱える</a:t>
            </a:r>
            <a:endParaRPr kumimoji="1" lang="ja-JP" altLang="en-US" sz="900" dirty="0">
              <a:latin typeface="メイリオ" panose="020B0604030504040204" pitchFamily="50" charset="-128"/>
              <a:ea typeface="メイリオ" panose="020B0604030504040204" pitchFamily="50" charset="-128"/>
            </a:endParaRPr>
          </a:p>
        </p:txBody>
      </p:sp>
      <p:sp>
        <p:nvSpPr>
          <p:cNvPr id="26" name="テキスト ボックス 25"/>
          <p:cNvSpPr txBox="1"/>
          <p:nvPr/>
        </p:nvSpPr>
        <p:spPr>
          <a:xfrm>
            <a:off x="4862028" y="1478585"/>
            <a:ext cx="1743051" cy="784830"/>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28-30</a:t>
            </a:r>
            <a:r>
              <a:rPr lang="ja-JP" altLang="en-US" sz="900" dirty="0">
                <a:latin typeface="メイリオ" panose="020B0604030504040204" pitchFamily="50" charset="-128"/>
                <a:ea typeface="メイリオ" panose="020B0604030504040204" pitchFamily="50" charset="-128"/>
              </a:rPr>
              <a:t>歳。初めての上京。初めての六本木ヒルズ。ヤフー株式会社入社。ヤフオク、ショッピングの</a:t>
            </a:r>
            <a:r>
              <a:rPr lang="en-US" altLang="ja-JP" sz="900" dirty="0">
                <a:latin typeface="メイリオ" panose="020B0604030504040204" pitchFamily="50" charset="-128"/>
                <a:ea typeface="メイリオ" panose="020B0604030504040204" pitchFamily="50" charset="-128"/>
              </a:rPr>
              <a:t>EC</a:t>
            </a:r>
            <a:r>
              <a:rPr lang="ja-JP" altLang="en-US" sz="900" dirty="0">
                <a:latin typeface="メイリオ" panose="020B0604030504040204" pitchFamily="50" charset="-128"/>
                <a:ea typeface="メイリオ" panose="020B0604030504040204" pitchFamily="50" charset="-128"/>
              </a:rPr>
              <a:t>担当。全国</a:t>
            </a:r>
            <a:r>
              <a:rPr lang="en-US" altLang="ja-JP" sz="900" dirty="0">
                <a:latin typeface="メイリオ" panose="020B0604030504040204" pitchFamily="50" charset="-128"/>
                <a:ea typeface="メイリオ" panose="020B0604030504040204" pitchFamily="50" charset="-128"/>
              </a:rPr>
              <a:t>1</a:t>
            </a:r>
            <a:r>
              <a:rPr lang="ja-JP" altLang="en-US" sz="900" dirty="0">
                <a:latin typeface="メイリオ" panose="020B0604030504040204" pitchFamily="50" charset="-128"/>
                <a:ea typeface="メイリオ" panose="020B0604030504040204" pitchFamily="50" charset="-128"/>
              </a:rPr>
              <a:t>位のマーチャントを担当する</a:t>
            </a:r>
            <a:endParaRPr kumimoji="1" lang="ja-JP" altLang="en-US" sz="900" dirty="0">
              <a:latin typeface="メイリオ" panose="020B0604030504040204" pitchFamily="50" charset="-128"/>
              <a:ea typeface="メイリオ" panose="020B0604030504040204" pitchFamily="50" charset="-128"/>
            </a:endParaRPr>
          </a:p>
        </p:txBody>
      </p:sp>
      <p:sp>
        <p:nvSpPr>
          <p:cNvPr id="27" name="テキスト ボックス 26"/>
          <p:cNvSpPr txBox="1"/>
          <p:nvPr/>
        </p:nvSpPr>
        <p:spPr>
          <a:xfrm>
            <a:off x="6178378" y="768949"/>
            <a:ext cx="1743051" cy="646331"/>
          </a:xfrm>
          <a:prstGeom prst="rect">
            <a:avLst/>
          </a:prstGeom>
          <a:noFill/>
        </p:spPr>
        <p:txBody>
          <a:bodyPr wrap="square" rtlCol="0">
            <a:spAutoFit/>
          </a:bodyPr>
          <a:lstStyle/>
          <a:p>
            <a:r>
              <a:rPr kumimoji="1" lang="en-US" altLang="ja-JP" sz="900" dirty="0">
                <a:latin typeface="メイリオ" panose="020B0604030504040204" pitchFamily="50" charset="-128"/>
                <a:ea typeface="メイリオ" panose="020B0604030504040204" pitchFamily="50" charset="-128"/>
              </a:rPr>
              <a:t>31</a:t>
            </a:r>
            <a:r>
              <a:rPr kumimoji="1" lang="ja-JP" altLang="en-US" sz="900" dirty="0">
                <a:latin typeface="メイリオ" panose="020B0604030504040204" pitchFamily="50" charset="-128"/>
                <a:ea typeface="メイリオ" panose="020B0604030504040204" pitchFamily="50" charset="-128"/>
              </a:rPr>
              <a:t>歳。マネージャーになる。久しぶりのマネジメントに懐かしさを覚える。やはり楽しいしやりがいを感じる</a:t>
            </a:r>
          </a:p>
        </p:txBody>
      </p:sp>
      <p:sp>
        <p:nvSpPr>
          <p:cNvPr id="28" name="テキスト ボックス 27"/>
          <p:cNvSpPr txBox="1"/>
          <p:nvPr/>
        </p:nvSpPr>
        <p:spPr>
          <a:xfrm>
            <a:off x="6474174" y="3272024"/>
            <a:ext cx="1743051" cy="646331"/>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34</a:t>
            </a:r>
            <a:r>
              <a:rPr lang="ja-JP" altLang="en-US" sz="900" dirty="0">
                <a:latin typeface="メイリオ" panose="020B0604030504040204" pitchFamily="50" charset="-128"/>
                <a:ea typeface="メイリオ" panose="020B0604030504040204" pitchFamily="50" charset="-128"/>
              </a:rPr>
              <a:t>歳。会社や組織の方針に納得がいかない。自分の人生をこんなところで無駄にしたくないと転職活動する</a:t>
            </a:r>
            <a:endParaRPr kumimoji="1" lang="ja-JP" altLang="en-US" sz="900" dirty="0">
              <a:latin typeface="メイリオ" panose="020B0604030504040204" pitchFamily="50" charset="-128"/>
              <a:ea typeface="メイリオ" panose="020B0604030504040204" pitchFamily="50" charset="-128"/>
            </a:endParaRPr>
          </a:p>
        </p:txBody>
      </p:sp>
      <p:sp>
        <p:nvSpPr>
          <p:cNvPr id="29" name="テキスト ボックス 28"/>
          <p:cNvSpPr txBox="1"/>
          <p:nvPr/>
        </p:nvSpPr>
        <p:spPr>
          <a:xfrm>
            <a:off x="7626741" y="2102415"/>
            <a:ext cx="1743051" cy="784830"/>
          </a:xfrm>
          <a:prstGeom prst="rect">
            <a:avLst/>
          </a:prstGeom>
          <a:noFill/>
        </p:spPr>
        <p:txBody>
          <a:bodyPr wrap="square" rtlCol="0">
            <a:spAutoFit/>
          </a:bodyPr>
          <a:lstStyle/>
          <a:p>
            <a:r>
              <a:rPr kumimoji="1" lang="en-US" altLang="ja-JP" sz="900" dirty="0">
                <a:latin typeface="メイリオ" panose="020B0604030504040204" pitchFamily="50" charset="-128"/>
                <a:ea typeface="メイリオ" panose="020B0604030504040204" pitchFamily="50" charset="-128"/>
              </a:rPr>
              <a:t>35</a:t>
            </a:r>
            <a:r>
              <a:rPr kumimoji="1" lang="ja-JP" altLang="en-US" sz="900" dirty="0">
                <a:latin typeface="メイリオ" panose="020B0604030504040204" pitchFamily="50" charset="-128"/>
                <a:ea typeface="メイリオ" panose="020B0604030504040204" pitchFamily="50" charset="-128"/>
              </a:rPr>
              <a:t>歳。宮坂社長体制になり、人事に力を入れる会社に。社内異動制度を使って人事に志願。</a:t>
            </a:r>
            <a:r>
              <a:rPr lang="ja-JP" altLang="en-US" sz="900" dirty="0">
                <a:latin typeface="メイリオ" panose="020B0604030504040204" pitchFamily="50" charset="-128"/>
                <a:ea typeface="メイリオ" panose="020B0604030504040204" pitchFamily="50" charset="-128"/>
              </a:rPr>
              <a:t>全社に</a:t>
            </a:r>
            <a:r>
              <a:rPr lang="en-US" altLang="ja-JP" sz="900" dirty="0">
                <a:latin typeface="メイリオ" panose="020B0604030504040204" pitchFamily="50" charset="-128"/>
                <a:ea typeface="メイリオ" panose="020B0604030504040204" pitchFamily="50" charset="-128"/>
              </a:rPr>
              <a:t>1on1</a:t>
            </a:r>
            <a:r>
              <a:rPr lang="ja-JP" altLang="en-US" sz="900" dirty="0">
                <a:latin typeface="メイリオ" panose="020B0604030504040204" pitchFamily="50" charset="-128"/>
                <a:ea typeface="メイリオ" panose="020B0604030504040204" pitchFamily="50" charset="-128"/>
              </a:rPr>
              <a:t>を浸透しろと言われる</a:t>
            </a:r>
            <a:endParaRPr kumimoji="1" lang="ja-JP" altLang="en-US" sz="900" dirty="0">
              <a:latin typeface="メイリオ" panose="020B0604030504040204" pitchFamily="50" charset="-128"/>
              <a:ea typeface="メイリオ" panose="020B0604030504040204" pitchFamily="50" charset="-128"/>
            </a:endParaRPr>
          </a:p>
        </p:txBody>
      </p:sp>
      <p:sp>
        <p:nvSpPr>
          <p:cNvPr id="30" name="テキスト ボックス 29"/>
          <p:cNvSpPr txBox="1"/>
          <p:nvPr/>
        </p:nvSpPr>
        <p:spPr>
          <a:xfrm>
            <a:off x="8239149" y="598471"/>
            <a:ext cx="1743051" cy="646331"/>
          </a:xfrm>
          <a:prstGeom prst="rect">
            <a:avLst/>
          </a:prstGeom>
          <a:noFill/>
        </p:spPr>
        <p:txBody>
          <a:bodyPr wrap="square" rtlCol="0">
            <a:spAutoFit/>
          </a:bodyPr>
          <a:lstStyle/>
          <a:p>
            <a:r>
              <a:rPr kumimoji="1" lang="en-US" altLang="ja-JP" sz="900" dirty="0">
                <a:latin typeface="メイリオ" panose="020B0604030504040204" pitchFamily="50" charset="-128"/>
                <a:ea typeface="メイリオ" panose="020B0604030504040204" pitchFamily="50" charset="-128"/>
              </a:rPr>
              <a:t>37</a:t>
            </a:r>
            <a:r>
              <a:rPr kumimoji="1" lang="ja-JP" altLang="en-US" sz="900" dirty="0">
                <a:latin typeface="メイリオ" panose="020B0604030504040204" pitchFamily="50" charset="-128"/>
                <a:ea typeface="メイリオ" panose="020B0604030504040204" pitchFamily="50" charset="-128"/>
              </a:rPr>
              <a:t>歳。</a:t>
            </a:r>
            <a:r>
              <a:rPr kumimoji="1" lang="en-US" altLang="ja-JP" sz="900" dirty="0">
                <a:latin typeface="メイリオ" panose="020B0604030504040204" pitchFamily="50" charset="-128"/>
                <a:ea typeface="メイリオ" panose="020B0604030504040204" pitchFamily="50" charset="-128"/>
              </a:rPr>
              <a:t>1on1</a:t>
            </a:r>
            <a:r>
              <a:rPr kumimoji="1" lang="ja-JP" altLang="en-US" sz="900" dirty="0">
                <a:latin typeface="メイリオ" panose="020B0604030504040204" pitchFamily="50" charset="-128"/>
                <a:ea typeface="メイリオ" panose="020B0604030504040204" pitchFamily="50" charset="-128"/>
              </a:rPr>
              <a:t>に限界を感じ、組織開発を学び始める。「ビジネスに資する組織開発」がブルーオーシャンだと気づく</a:t>
            </a:r>
          </a:p>
        </p:txBody>
      </p:sp>
      <p:sp>
        <p:nvSpPr>
          <p:cNvPr id="31" name="テキスト ボックス 30"/>
          <p:cNvSpPr txBox="1"/>
          <p:nvPr/>
        </p:nvSpPr>
        <p:spPr>
          <a:xfrm>
            <a:off x="9302037" y="1569750"/>
            <a:ext cx="1810806" cy="646331"/>
          </a:xfrm>
          <a:prstGeom prst="rect">
            <a:avLst/>
          </a:prstGeom>
          <a:noFill/>
        </p:spPr>
        <p:txBody>
          <a:bodyPr wrap="square" rtlCol="0">
            <a:spAutoFit/>
          </a:bodyPr>
          <a:lstStyle/>
          <a:p>
            <a:r>
              <a:rPr kumimoji="1" lang="en-US" altLang="ja-JP" sz="900" dirty="0">
                <a:latin typeface="メイリオ" panose="020B0604030504040204" pitchFamily="50" charset="-128"/>
                <a:ea typeface="メイリオ" panose="020B0604030504040204" pitchFamily="50" charset="-128"/>
              </a:rPr>
              <a:t>40-42</a:t>
            </a:r>
            <a:r>
              <a:rPr kumimoji="1" lang="ja-JP" altLang="en-US" sz="900" dirty="0">
                <a:latin typeface="メイリオ" panose="020B0604030504040204" pitchFamily="50" charset="-128"/>
                <a:ea typeface="メイリオ" panose="020B0604030504040204" pitchFamily="50" charset="-128"/>
              </a:rPr>
              <a:t>歳。気がつけば会社でも人事内でも古株扱い。</a:t>
            </a:r>
            <a:r>
              <a:rPr lang="ja-JP" altLang="en-US" sz="900" dirty="0">
                <a:latin typeface="メイリオ" panose="020B0604030504040204" pitchFamily="50" charset="-128"/>
                <a:ea typeface="メイリオ" panose="020B0604030504040204" pitchFamily="50" charset="-128"/>
              </a:rPr>
              <a:t>居心地はいいが同時に焦燥感も覚え転職を考える</a:t>
            </a:r>
            <a:endParaRPr kumimoji="1" lang="ja-JP" altLang="en-US" sz="900" dirty="0">
              <a:latin typeface="メイリオ" panose="020B0604030504040204" pitchFamily="50" charset="-128"/>
              <a:ea typeface="メイリオ" panose="020B0604030504040204" pitchFamily="50" charset="-128"/>
            </a:endParaRPr>
          </a:p>
        </p:txBody>
      </p:sp>
      <p:sp>
        <p:nvSpPr>
          <p:cNvPr id="32" name="テキスト ボックス 31"/>
          <p:cNvSpPr txBox="1"/>
          <p:nvPr/>
        </p:nvSpPr>
        <p:spPr>
          <a:xfrm>
            <a:off x="10482274" y="513731"/>
            <a:ext cx="1743051" cy="646331"/>
          </a:xfrm>
          <a:prstGeom prst="rect">
            <a:avLst/>
          </a:prstGeom>
          <a:noFill/>
        </p:spPr>
        <p:txBody>
          <a:bodyPr wrap="square" rtlCol="0">
            <a:spAutoFit/>
          </a:bodyPr>
          <a:lstStyle/>
          <a:p>
            <a:r>
              <a:rPr lang="en-US" altLang="ja-JP" sz="900" dirty="0">
                <a:latin typeface="メイリオ" panose="020B0604030504040204" pitchFamily="50" charset="-128"/>
                <a:ea typeface="メイリオ" panose="020B0604030504040204" pitchFamily="50" charset="-128"/>
              </a:rPr>
              <a:t>43</a:t>
            </a:r>
            <a:r>
              <a:rPr lang="ja-JP" altLang="en-US" sz="900" dirty="0">
                <a:latin typeface="メイリオ" panose="020B0604030504040204" pitchFamily="50" charset="-128"/>
                <a:ea typeface="メイリオ" panose="020B0604030504040204" pitchFamily="50" charset="-128"/>
              </a:rPr>
              <a:t>歳。</a:t>
            </a:r>
            <a:r>
              <a:rPr lang="en-US" altLang="ja-JP" sz="900" dirty="0">
                <a:latin typeface="メイリオ" panose="020B0604030504040204" pitchFamily="50" charset="-128"/>
                <a:ea typeface="メイリオ" panose="020B0604030504040204" pitchFamily="50" charset="-128"/>
              </a:rPr>
              <a:t>LINE</a:t>
            </a:r>
            <a:r>
              <a:rPr lang="ja-JP" altLang="en-US" sz="900" dirty="0">
                <a:latin typeface="メイリオ" panose="020B0604030504040204" pitchFamily="50" charset="-128"/>
                <a:ea typeface="メイリオ" panose="020B0604030504040204" pitchFamily="50" charset="-128"/>
              </a:rPr>
              <a:t>入社。統合を表裏から見るという稀有な体験に価値を感じて選択。仙台に移住。ほぼ同時にコロナ禍</a:t>
            </a:r>
            <a:endParaRPr lang="en-US" altLang="ja-JP" sz="900" dirty="0">
              <a:latin typeface="メイリオ" panose="020B0604030504040204" pitchFamily="50" charset="-128"/>
              <a:ea typeface="メイリオ" panose="020B0604030504040204" pitchFamily="50" charset="-128"/>
            </a:endParaRPr>
          </a:p>
        </p:txBody>
      </p:sp>
      <p:sp>
        <p:nvSpPr>
          <p:cNvPr id="33" name="フリーフォーム 32"/>
          <p:cNvSpPr/>
          <p:nvPr/>
        </p:nvSpPr>
        <p:spPr>
          <a:xfrm>
            <a:off x="1202724" y="816446"/>
            <a:ext cx="9910119" cy="4176367"/>
          </a:xfrm>
          <a:custGeom>
            <a:avLst/>
            <a:gdLst>
              <a:gd name="connsiteX0" fmla="*/ 0 w 9910119"/>
              <a:gd name="connsiteY0" fmla="*/ 2264505 h 4176367"/>
              <a:gd name="connsiteX1" fmla="*/ 411892 w 9910119"/>
              <a:gd name="connsiteY1" fmla="*/ 2124462 h 4176367"/>
              <a:gd name="connsiteX2" fmla="*/ 1375719 w 9910119"/>
              <a:gd name="connsiteY2" fmla="*/ 1844376 h 4176367"/>
              <a:gd name="connsiteX3" fmla="*/ 1894703 w 9910119"/>
              <a:gd name="connsiteY3" fmla="*/ 2009132 h 4176367"/>
              <a:gd name="connsiteX4" fmla="*/ 2133600 w 9910119"/>
              <a:gd name="connsiteY4" fmla="*/ 2684635 h 4176367"/>
              <a:gd name="connsiteX5" fmla="*/ 2372498 w 9910119"/>
              <a:gd name="connsiteY5" fmla="*/ 2585781 h 4176367"/>
              <a:gd name="connsiteX6" fmla="*/ 2685535 w 9910119"/>
              <a:gd name="connsiteY6" fmla="*/ 1654905 h 4176367"/>
              <a:gd name="connsiteX7" fmla="*/ 3328087 w 9910119"/>
              <a:gd name="connsiteY7" fmla="*/ 855835 h 4176367"/>
              <a:gd name="connsiteX8" fmla="*/ 4250725 w 9910119"/>
              <a:gd name="connsiteY8" fmla="*/ 4175684 h 4176367"/>
              <a:gd name="connsiteX9" fmla="*/ 4637903 w 9910119"/>
              <a:gd name="connsiteY9" fmla="*/ 542797 h 4176367"/>
              <a:gd name="connsiteX10" fmla="*/ 5387546 w 9910119"/>
              <a:gd name="connsiteY10" fmla="*/ 633413 h 4176367"/>
              <a:gd name="connsiteX11" fmla="*/ 5684108 w 9910119"/>
              <a:gd name="connsiteY11" fmla="*/ 2346884 h 4176367"/>
              <a:gd name="connsiteX12" fmla="*/ 6310184 w 9910119"/>
              <a:gd name="connsiteY12" fmla="*/ 1490149 h 4176367"/>
              <a:gd name="connsiteX13" fmla="*/ 6647935 w 9910119"/>
              <a:gd name="connsiteY13" fmla="*/ 279186 h 4176367"/>
              <a:gd name="connsiteX14" fmla="*/ 7422292 w 9910119"/>
              <a:gd name="connsiteY14" fmla="*/ 32051 h 4176367"/>
              <a:gd name="connsiteX15" fmla="*/ 7933038 w 9910119"/>
              <a:gd name="connsiteY15" fmla="*/ 798170 h 4176367"/>
              <a:gd name="connsiteX16" fmla="*/ 8839200 w 9910119"/>
              <a:gd name="connsiteY16" fmla="*/ 435705 h 4176367"/>
              <a:gd name="connsiteX17" fmla="*/ 9910119 w 9910119"/>
              <a:gd name="connsiteY17" fmla="*/ 345089 h 4176367"/>
              <a:gd name="connsiteX18" fmla="*/ 9910119 w 9910119"/>
              <a:gd name="connsiteY18" fmla="*/ 345089 h 4176367"/>
              <a:gd name="connsiteX19" fmla="*/ 9910119 w 9910119"/>
              <a:gd name="connsiteY19" fmla="*/ 345089 h 4176367"/>
              <a:gd name="connsiteX20" fmla="*/ 9910119 w 9910119"/>
              <a:gd name="connsiteY20" fmla="*/ 345089 h 417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10119" h="4176367">
                <a:moveTo>
                  <a:pt x="0" y="2264505"/>
                </a:moveTo>
                <a:cubicBezTo>
                  <a:pt x="91303" y="2229494"/>
                  <a:pt x="182606" y="2194483"/>
                  <a:pt x="411892" y="2124462"/>
                </a:cubicBezTo>
                <a:cubicBezTo>
                  <a:pt x="641178" y="2054441"/>
                  <a:pt x="1128584" y="1863598"/>
                  <a:pt x="1375719" y="1844376"/>
                </a:cubicBezTo>
                <a:cubicBezTo>
                  <a:pt x="1622854" y="1825154"/>
                  <a:pt x="1768390" y="1869089"/>
                  <a:pt x="1894703" y="2009132"/>
                </a:cubicBezTo>
                <a:cubicBezTo>
                  <a:pt x="2021016" y="2149175"/>
                  <a:pt x="2053968" y="2588527"/>
                  <a:pt x="2133600" y="2684635"/>
                </a:cubicBezTo>
                <a:cubicBezTo>
                  <a:pt x="2213232" y="2780743"/>
                  <a:pt x="2280509" y="2757403"/>
                  <a:pt x="2372498" y="2585781"/>
                </a:cubicBezTo>
                <a:cubicBezTo>
                  <a:pt x="2464487" y="2414159"/>
                  <a:pt x="2526270" y="1943229"/>
                  <a:pt x="2685535" y="1654905"/>
                </a:cubicBezTo>
                <a:cubicBezTo>
                  <a:pt x="2844800" y="1366581"/>
                  <a:pt x="3067222" y="435705"/>
                  <a:pt x="3328087" y="855835"/>
                </a:cubicBezTo>
                <a:cubicBezTo>
                  <a:pt x="3588952" y="1275965"/>
                  <a:pt x="4032422" y="4227857"/>
                  <a:pt x="4250725" y="4175684"/>
                </a:cubicBezTo>
                <a:cubicBezTo>
                  <a:pt x="4469028" y="4123511"/>
                  <a:pt x="4448433" y="1133176"/>
                  <a:pt x="4637903" y="542797"/>
                </a:cubicBezTo>
                <a:cubicBezTo>
                  <a:pt x="4827373" y="-47582"/>
                  <a:pt x="5213179" y="332732"/>
                  <a:pt x="5387546" y="633413"/>
                </a:cubicBezTo>
                <a:cubicBezTo>
                  <a:pt x="5561913" y="934094"/>
                  <a:pt x="5530335" y="2204095"/>
                  <a:pt x="5684108" y="2346884"/>
                </a:cubicBezTo>
                <a:cubicBezTo>
                  <a:pt x="5837881" y="2489673"/>
                  <a:pt x="6149546" y="1834765"/>
                  <a:pt x="6310184" y="1490149"/>
                </a:cubicBezTo>
                <a:cubicBezTo>
                  <a:pt x="6470822" y="1145533"/>
                  <a:pt x="6462584" y="522202"/>
                  <a:pt x="6647935" y="279186"/>
                </a:cubicBezTo>
                <a:cubicBezTo>
                  <a:pt x="6833286" y="36170"/>
                  <a:pt x="7208108" y="-54446"/>
                  <a:pt x="7422292" y="32051"/>
                </a:cubicBezTo>
                <a:cubicBezTo>
                  <a:pt x="7636476" y="118548"/>
                  <a:pt x="7696887" y="730894"/>
                  <a:pt x="7933038" y="798170"/>
                </a:cubicBezTo>
                <a:cubicBezTo>
                  <a:pt x="8169189" y="865446"/>
                  <a:pt x="8509687" y="511218"/>
                  <a:pt x="8839200" y="435705"/>
                </a:cubicBezTo>
                <a:cubicBezTo>
                  <a:pt x="9168713" y="360192"/>
                  <a:pt x="9910119" y="345089"/>
                  <a:pt x="9910119" y="345089"/>
                </a:cubicBezTo>
                <a:lnTo>
                  <a:pt x="9910119" y="345089"/>
                </a:lnTo>
                <a:lnTo>
                  <a:pt x="9910119" y="345089"/>
                </a:lnTo>
                <a:lnTo>
                  <a:pt x="9910119" y="345089"/>
                </a:lnTo>
              </a:path>
            </a:pathLst>
          </a:custGeom>
          <a:noFill/>
          <a:ln>
            <a:solidFill>
              <a:srgbClr val="00B05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p:cNvSpPr txBox="1"/>
          <p:nvPr/>
        </p:nvSpPr>
        <p:spPr>
          <a:xfrm>
            <a:off x="1199869" y="5436334"/>
            <a:ext cx="9972000" cy="307777"/>
          </a:xfrm>
          <a:prstGeom prst="rect">
            <a:avLst/>
          </a:prstGeom>
          <a:noFill/>
        </p:spPr>
        <p:txBody>
          <a:bodyPr wrap="square" rtlCol="0">
            <a:spAutoFit/>
          </a:bodyPr>
          <a:lstStyle/>
          <a:p>
            <a:r>
              <a:rPr lang="ja-JP" altLang="en-US" sz="1400" b="1" dirty="0">
                <a:latin typeface="メイリオ" panose="020B0604030504040204" pitchFamily="50" charset="-128"/>
                <a:ea typeface="メイリオ" panose="020B0604030504040204" pitchFamily="50" charset="-128"/>
              </a:rPr>
              <a:t>最も自分の価値観に影響している出来事はなんですか？ それは仕事上の決断や判断にどんな影響を与えていますか？</a:t>
            </a:r>
            <a:endParaRPr kumimoji="1" lang="ja-JP" altLang="en-US" sz="1400" b="1" dirty="0">
              <a:latin typeface="メイリオ" panose="020B0604030504040204" pitchFamily="50" charset="-128"/>
              <a:ea typeface="メイリオ" panose="020B0604030504040204" pitchFamily="50" charset="-128"/>
            </a:endParaRPr>
          </a:p>
        </p:txBody>
      </p:sp>
      <p:sp>
        <p:nvSpPr>
          <p:cNvPr id="2" name="フッター プレースホルダー 1">
            <a:extLst>
              <a:ext uri="{FF2B5EF4-FFF2-40B4-BE49-F238E27FC236}">
                <a16:creationId xmlns:a16="http://schemas.microsoft.com/office/drawing/2014/main" id="{1CA8A4A1-6455-B505-12CF-775B0BA0F97E}"/>
              </a:ext>
            </a:extLst>
          </p:cNvPr>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3450213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本日の過ごし方</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フッター プレースホルダー 2"/>
          <p:cNvSpPr>
            <a:spLocks noGrp="1"/>
          </p:cNvSpPr>
          <p:nvPr>
            <p:ph type="ftr" idx="11"/>
          </p:nvPr>
        </p:nvSpPr>
        <p:spPr/>
        <p:txBody>
          <a:bodyPr/>
          <a:lstStyle/>
          <a:p>
            <a:r>
              <a:rPr lang="en-US"/>
              <a:t>©2022 LINE</a:t>
            </a:r>
          </a:p>
        </p:txBody>
      </p:sp>
      <p:sp>
        <p:nvSpPr>
          <p:cNvPr id="7" name="スライド番号プレースホルダー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44</a:t>
            </a:fld>
            <a:endParaRPr lang="ja-JP" altLang="en-US">
              <a:uFillTx/>
            </a:endParaRPr>
          </a:p>
        </p:txBody>
      </p:sp>
      <p:sp>
        <p:nvSpPr>
          <p:cNvPr id="8" name="正方形/長方形 7">
            <a:extLst>
              <a:ext uri="{FF2B5EF4-FFF2-40B4-BE49-F238E27FC236}">
                <a16:creationId xmlns:a16="http://schemas.microsoft.com/office/drawing/2014/main" id="{202FA2B0-B568-CF67-2E75-E16156D7D53F}"/>
              </a:ext>
            </a:extLst>
          </p:cNvPr>
          <p:cNvSpPr/>
          <p:nvPr/>
        </p:nvSpPr>
        <p:spPr>
          <a:xfrm>
            <a:off x="747833" y="1174377"/>
            <a:ext cx="10094338" cy="523220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組織開発とはなにか？</a:t>
            </a:r>
            <a:endParaRPr kumimoji="0" lang="en-US" altLang="ja-JP" sz="4000" b="1"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組織開発の狙い</a:t>
            </a:r>
            <a:endParaRPr kumimoji="0" lang="en-US" altLang="ja-JP"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組織開発の効果</a:t>
            </a:r>
            <a:endParaRPr kumimoji="0" lang="en-US" altLang="ja-JP"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lang="ja-JP" altLang="en-US" sz="2400" dirty="0">
                <a:solidFill>
                  <a:schemeClr val="bg1">
                    <a:lumMod val="75000"/>
                  </a:schemeClr>
                </a:solidFill>
                <a:latin typeface="メイリオ" panose="020B0604030504040204" pitchFamily="50" charset="-128"/>
                <a:ea typeface="メイリオ" panose="020B0604030504040204" pitchFamily="50" charset="-128"/>
              </a:rPr>
              <a:t>組織開発が求められる背景</a:t>
            </a:r>
            <a:endParaRPr lang="en-US" altLang="ja-JP" sz="2400" dirty="0">
              <a:solidFill>
                <a:schemeClr val="bg1">
                  <a:lumMod val="75000"/>
                </a:schemeClr>
              </a:solidFill>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lang="en-US" altLang="ja-JP" sz="2400" dirty="0">
                <a:solidFill>
                  <a:schemeClr val="bg1">
                    <a:lumMod val="75000"/>
                  </a:schemeClr>
                </a:solidFill>
                <a:latin typeface="メイリオ" panose="020B0604030504040204" pitchFamily="50" charset="-128"/>
                <a:ea typeface="メイリオ" panose="020B0604030504040204" pitchFamily="50" charset="-128"/>
              </a:rPr>
              <a:t>1on1</a:t>
            </a:r>
            <a:r>
              <a:rPr lang="ja-JP" altLang="en-US" sz="2400" dirty="0">
                <a:solidFill>
                  <a:schemeClr val="bg1">
                    <a:lumMod val="75000"/>
                  </a:schemeClr>
                </a:solidFill>
                <a:latin typeface="メイリオ" panose="020B0604030504040204" pitchFamily="50" charset="-128"/>
                <a:ea typeface="メイリオ" panose="020B0604030504040204" pitchFamily="50" charset="-128"/>
              </a:rPr>
              <a:t>の次の武器、組織開発</a:t>
            </a:r>
            <a:endParaRPr lang="en-US" altLang="ja-JP" sz="2400" dirty="0">
              <a:solidFill>
                <a:schemeClr val="bg1">
                  <a:lumMod val="75000"/>
                </a:schemeClr>
              </a:solidFill>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bg1">
                  <a:lumMod val="75000"/>
                </a:schemeClr>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rPr>
              <a:t>代表的な考え方のフレームと事例</a:t>
            </a:r>
            <a:endParaRPr kumimoji="0" lang="en-US" altLang="ja-JP" sz="2400" b="0" i="0" u="none" strike="noStrike" kern="0" cap="none" spc="0" normalizeH="0" baseline="0" noProof="0" dirty="0">
              <a:ln>
                <a:noFill/>
              </a:ln>
              <a:solidFill>
                <a:schemeClr val="bg1">
                  <a:lumMod val="75000"/>
                </a:schemeClr>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組織開発の手法で課題を見立てる</a:t>
            </a:r>
            <a:endParaRPr kumimoji="0" lang="en-US" altLang="ja-JP"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組織開発への反応</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レバレッジポイントの合意</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レバレッジポイントを探しに行く</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組織課題の見立て（私の場合）</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97267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組織開発への反応</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45</a:t>
            </a:fld>
            <a:endParaRPr lang="ja-JP" altLang="en-US">
              <a:uFillTx/>
            </a:endParaRPr>
          </a:p>
        </p:txBody>
      </p:sp>
      <p:sp>
        <p:nvSpPr>
          <p:cNvPr id="11" name="タイトル 1"/>
          <p:cNvSpPr txBox="1">
            <a:spLocks/>
          </p:cNvSpPr>
          <p:nvPr/>
        </p:nvSpPr>
        <p:spPr>
          <a:xfrm>
            <a:off x="3535014" y="1807435"/>
            <a:ext cx="3732060" cy="956950"/>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まったくその通りだ！</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関係性は大切に決まっている</a:t>
            </a:r>
          </a:p>
        </p:txBody>
      </p:sp>
      <p:sp>
        <p:nvSpPr>
          <p:cNvPr id="13" name="タイトル 1"/>
          <p:cNvSpPr txBox="1">
            <a:spLocks/>
          </p:cNvSpPr>
          <p:nvPr/>
        </p:nvSpPr>
        <p:spPr>
          <a:xfrm>
            <a:off x="6090823" y="2822090"/>
            <a:ext cx="3984482" cy="1093400"/>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投資した分リターンとして</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返ってくるならやった方がよい</a:t>
            </a:r>
          </a:p>
        </p:txBody>
      </p:sp>
      <p:sp>
        <p:nvSpPr>
          <p:cNvPr id="14" name="タイトル 1"/>
          <p:cNvSpPr txBox="1">
            <a:spLocks/>
          </p:cNvSpPr>
          <p:nvPr/>
        </p:nvSpPr>
        <p:spPr>
          <a:xfrm>
            <a:off x="2925205" y="4027874"/>
            <a:ext cx="4574465"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仲良しクラブを作りたいわけじゃない</a:t>
            </a:r>
            <a:endParaRPr lang="en-US" altLang="ja-JP" sz="2000" dirty="0">
              <a:latin typeface="メイリオ" panose="020B0604030504040204" pitchFamily="50" charset="-128"/>
              <a:ea typeface="メイリオ" panose="020B0604030504040204" pitchFamily="50" charset="-128"/>
              <a:cs typeface="メイリオ" panose="020B0604030504040204" pitchFamily="50" charset="-128"/>
            </a:endParaRPr>
          </a:p>
          <a:p>
            <a:pPr algn="l"/>
            <a:r>
              <a:rPr lang="ja-JP" altLang="en-US" sz="2000" dirty="0">
                <a:latin typeface="メイリオ" panose="020B0604030504040204" pitchFamily="50" charset="-128"/>
                <a:ea typeface="メイリオ" panose="020B0604030504040204" pitchFamily="50" charset="-128"/>
                <a:cs typeface="メイリオ" panose="020B0604030504040204" pitchFamily="50" charset="-128"/>
              </a:rPr>
              <a:t>意味がないんじゃないだろうか</a:t>
            </a:r>
          </a:p>
        </p:txBody>
      </p:sp>
      <p:sp>
        <p:nvSpPr>
          <p:cNvPr id="15" name="テキスト ボックス 14"/>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どの反応も自然。正しいか、正しくないか、は問題ではない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5"/>
          <p:cNvSpPr txBox="1"/>
          <p:nvPr/>
        </p:nvSpPr>
        <p:spPr>
          <a:xfrm>
            <a:off x="1659790" y="5426108"/>
            <a:ext cx="8934152" cy="830997"/>
          </a:xfrm>
          <a:prstGeom prst="rect">
            <a:avLst/>
          </a:prstGeom>
          <a:noFill/>
        </p:spPr>
        <p:txBody>
          <a:bodyPr wrap="square" rtlCol="0">
            <a:spAutoFit/>
          </a:bodyPr>
          <a:lstStyle/>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組織のミッションに資するストーリーラインを描けていないと</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考えが異なる人を巻き込むことはできない</a:t>
            </a:r>
            <a:endParaRPr lang="en-US" altLang="ja-JP"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028" name="Picture 4" descr="虫眼鏡で観察"/>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3532" y="2615430"/>
            <a:ext cx="1766153" cy="17661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首をかしげる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2886" y="3301411"/>
            <a:ext cx="1947862" cy="19478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チーム"/>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4114" y="1288730"/>
            <a:ext cx="2120587" cy="2120587"/>
          </a:xfrm>
          <a:prstGeom prst="rect">
            <a:avLst/>
          </a:prstGeom>
          <a:noFill/>
          <a:extLst>
            <a:ext uri="{909E8E84-426E-40DD-AFC4-6F175D3DCCD1}">
              <a14:hiddenFill xmlns:a14="http://schemas.microsoft.com/office/drawing/2010/main">
                <a:solidFill>
                  <a:srgbClr val="FFFFFF"/>
                </a:solidFill>
              </a14:hiddenFill>
            </a:ext>
          </a:extLst>
        </p:spPr>
      </p:pic>
      <p:sp>
        <p:nvSpPr>
          <p:cNvPr id="7" name="角丸四角形吹き出し 6"/>
          <p:cNvSpPr/>
          <p:nvPr/>
        </p:nvSpPr>
        <p:spPr>
          <a:xfrm>
            <a:off x="3429088" y="1810611"/>
            <a:ext cx="3622343" cy="900121"/>
          </a:xfrm>
          <a:prstGeom prst="wedgeRoundRectCallout">
            <a:avLst>
              <a:gd name="adj1" fmla="val -58613"/>
              <a:gd name="adj2" fmla="val -26230"/>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吹き出し 18"/>
          <p:cNvSpPr/>
          <p:nvPr/>
        </p:nvSpPr>
        <p:spPr>
          <a:xfrm>
            <a:off x="5965304" y="2899266"/>
            <a:ext cx="3989604" cy="844732"/>
          </a:xfrm>
          <a:prstGeom prst="wedgeRoundRectCallout">
            <a:avLst>
              <a:gd name="adj1" fmla="val 60807"/>
              <a:gd name="adj2" fmla="val -24617"/>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吹き出し 19"/>
          <p:cNvSpPr/>
          <p:nvPr/>
        </p:nvSpPr>
        <p:spPr>
          <a:xfrm>
            <a:off x="2835110" y="3891611"/>
            <a:ext cx="4664728" cy="845879"/>
          </a:xfrm>
          <a:prstGeom prst="wedgeRoundRectCallout">
            <a:avLst>
              <a:gd name="adj1" fmla="val -54734"/>
              <a:gd name="adj2" fmla="val -39136"/>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29993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レバレッジポイントの合意</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46</a:t>
            </a:fld>
            <a:endParaRPr lang="ja-JP" altLang="en-US">
              <a:uFillTx/>
            </a:endParaRPr>
          </a:p>
        </p:txBody>
      </p:sp>
      <p:sp>
        <p:nvSpPr>
          <p:cNvPr id="11" name="テキスト ボックス 10"/>
          <p:cNvSpPr txBox="1"/>
          <p:nvPr/>
        </p:nvSpPr>
        <p:spPr>
          <a:xfrm>
            <a:off x="500133" y="752128"/>
            <a:ext cx="10596491" cy="830997"/>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集めた情報から課題（＝レバレッジポイント）を設定する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課題設定無くして打ち手は打てない</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ホームベース 7"/>
          <p:cNvSpPr/>
          <p:nvPr/>
        </p:nvSpPr>
        <p:spPr>
          <a:xfrm>
            <a:off x="2490267" y="1904256"/>
            <a:ext cx="2149642" cy="1764632"/>
          </a:xfrm>
          <a:prstGeom prst="homePlate">
            <a:avLst>
              <a:gd name="adj" fmla="val 2545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charset="-128"/>
                <a:ea typeface="Meiryo" charset="-128"/>
                <a:cs typeface="Meiryo" charset="-128"/>
              </a:rPr>
              <a:t>事実</a:t>
            </a:r>
            <a:endParaRPr kumimoji="1" lang="en-US" altLang="ja-JP" sz="2400" b="1" dirty="0">
              <a:solidFill>
                <a:schemeClr val="tx1"/>
              </a:solidFill>
              <a:latin typeface="Meiryo" charset="-128"/>
              <a:ea typeface="Meiryo" charset="-128"/>
              <a:cs typeface="Meiryo" charset="-128"/>
            </a:endParaRPr>
          </a:p>
        </p:txBody>
      </p:sp>
      <p:sp>
        <p:nvSpPr>
          <p:cNvPr id="9" name="山形 8"/>
          <p:cNvSpPr/>
          <p:nvPr/>
        </p:nvSpPr>
        <p:spPr>
          <a:xfrm>
            <a:off x="4261536" y="1904256"/>
            <a:ext cx="2124749" cy="1764632"/>
          </a:xfrm>
          <a:prstGeom prst="chevron">
            <a:avLst>
              <a:gd name="adj" fmla="val 2558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Meiryo" charset="-128"/>
                <a:ea typeface="Meiryo" charset="-128"/>
                <a:cs typeface="Meiryo" charset="-128"/>
              </a:rPr>
              <a:t>課題</a:t>
            </a:r>
            <a:endParaRPr lang="en-US" altLang="ja-JP" sz="2400" b="1" dirty="0">
              <a:solidFill>
                <a:schemeClr val="bg1"/>
              </a:solidFill>
              <a:latin typeface="Meiryo" charset="-128"/>
              <a:ea typeface="Meiryo" charset="-128"/>
              <a:cs typeface="Meiryo" charset="-128"/>
            </a:endParaRPr>
          </a:p>
        </p:txBody>
      </p:sp>
      <p:sp>
        <p:nvSpPr>
          <p:cNvPr id="10" name="山形 9"/>
          <p:cNvSpPr/>
          <p:nvPr/>
        </p:nvSpPr>
        <p:spPr>
          <a:xfrm>
            <a:off x="6011510" y="1904396"/>
            <a:ext cx="2124749" cy="1764632"/>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charset="-128"/>
                <a:ea typeface="Meiryo" charset="-128"/>
                <a:cs typeface="Meiryo" charset="-128"/>
              </a:rPr>
              <a:t>解決</a:t>
            </a:r>
            <a:endParaRPr lang="en-US" altLang="ja-JP" sz="2400" b="1" dirty="0">
              <a:solidFill>
                <a:schemeClr val="tx1"/>
              </a:solidFill>
              <a:latin typeface="Meiryo" charset="-128"/>
              <a:ea typeface="Meiryo" charset="-128"/>
              <a:cs typeface="Meiryo" charset="-128"/>
            </a:endParaRPr>
          </a:p>
        </p:txBody>
      </p:sp>
      <p:sp>
        <p:nvSpPr>
          <p:cNvPr id="12" name="山形 11"/>
          <p:cNvSpPr/>
          <p:nvPr/>
        </p:nvSpPr>
        <p:spPr>
          <a:xfrm>
            <a:off x="7757886" y="1904256"/>
            <a:ext cx="2124749" cy="1764632"/>
          </a:xfrm>
          <a:prstGeom prst="chevron">
            <a:avLst>
              <a:gd name="adj" fmla="val 2558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charset="-128"/>
                <a:ea typeface="Meiryo" charset="-128"/>
                <a:cs typeface="Meiryo" charset="-128"/>
              </a:rPr>
              <a:t>評価</a:t>
            </a:r>
            <a:endParaRPr lang="en-US" altLang="ja-JP" sz="2400" b="1" dirty="0">
              <a:solidFill>
                <a:schemeClr val="tx1"/>
              </a:solidFill>
              <a:latin typeface="Meiryo" charset="-128"/>
              <a:ea typeface="Meiryo" charset="-128"/>
              <a:cs typeface="Meiryo" charset="-128"/>
            </a:endParaRPr>
          </a:p>
        </p:txBody>
      </p:sp>
      <p:sp>
        <p:nvSpPr>
          <p:cNvPr id="21" name="二等辺三角形 20"/>
          <p:cNvSpPr/>
          <p:nvPr/>
        </p:nvSpPr>
        <p:spPr>
          <a:xfrm rot="10800000">
            <a:off x="5077036" y="5512573"/>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22" name="テキスト ボックス 21"/>
          <p:cNvSpPr txBox="1"/>
          <p:nvPr/>
        </p:nvSpPr>
        <p:spPr>
          <a:xfrm>
            <a:off x="4293205" y="5850101"/>
            <a:ext cx="1824438" cy="523220"/>
          </a:xfrm>
          <a:prstGeom prst="rect">
            <a:avLst/>
          </a:prstGeom>
          <a:noFill/>
        </p:spPr>
        <p:txBody>
          <a:bodyPr wrap="square" rtlCol="0">
            <a:spAutoFit/>
          </a:bodyPr>
          <a:lstStyle/>
          <a:p>
            <a:r>
              <a:rPr kumimoji="1" lang="ja-JP" altLang="en-US" sz="1400" b="1" dirty="0">
                <a:latin typeface="Meiryo" charset="-128"/>
                <a:ea typeface="Meiryo" charset="-128"/>
                <a:cs typeface="Meiryo" charset="-128"/>
              </a:rPr>
              <a:t>レバレッジポイント</a:t>
            </a:r>
            <a:r>
              <a:rPr kumimoji="1" lang="ja-JP" altLang="en-US" sz="1400" dirty="0">
                <a:latin typeface="Meiryo" charset="-128"/>
                <a:ea typeface="Meiryo" charset="-128"/>
                <a:cs typeface="Meiryo" charset="-128"/>
              </a:rPr>
              <a:t>の合意</a:t>
            </a:r>
          </a:p>
        </p:txBody>
      </p:sp>
      <p:sp>
        <p:nvSpPr>
          <p:cNvPr id="23" name="テキスト ボックス 22"/>
          <p:cNvSpPr txBox="1"/>
          <p:nvPr/>
        </p:nvSpPr>
        <p:spPr>
          <a:xfrm>
            <a:off x="2404099" y="1545855"/>
            <a:ext cx="3263276" cy="338554"/>
          </a:xfrm>
          <a:prstGeom prst="rect">
            <a:avLst/>
          </a:prstGeom>
          <a:noFill/>
        </p:spPr>
        <p:txBody>
          <a:bodyPr wrap="square" rtlCol="0">
            <a:spAutoFit/>
          </a:bodyPr>
          <a:lstStyle/>
          <a:p>
            <a:r>
              <a:rPr lang="ja-JP" altLang="en-US" sz="1600" b="1" u="sng" dirty="0">
                <a:latin typeface="メイリオ" panose="020B0604030504040204" pitchFamily="50" charset="-128"/>
                <a:ea typeface="メイリオ" panose="020B0604030504040204" pitchFamily="50" charset="-128"/>
                <a:cs typeface="メイリオ" panose="020B0604030504040204" pitchFamily="50" charset="-128"/>
              </a:rPr>
              <a:t>組織課題解決のための</a:t>
            </a:r>
            <a:r>
              <a:rPr lang="en-US" altLang="ja-JP" sz="1600" b="1" u="sng" dirty="0">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600" b="1" u="sng" dirty="0">
                <a:latin typeface="メイリオ" panose="020B0604030504040204" pitchFamily="50" charset="-128"/>
                <a:ea typeface="メイリオ" panose="020B0604030504040204" pitchFamily="50" charset="-128"/>
                <a:cs typeface="メイリオ" panose="020B0604030504040204" pitchFamily="50" charset="-128"/>
              </a:rPr>
              <a:t>ステップ</a:t>
            </a:r>
            <a:endParaRPr lang="en-US" altLang="ja-JP" sz="1600" b="1"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テキスト ボックス 23"/>
          <p:cNvSpPr txBox="1"/>
          <p:nvPr/>
        </p:nvSpPr>
        <p:spPr>
          <a:xfrm>
            <a:off x="2490267" y="4733937"/>
            <a:ext cx="1771438" cy="738664"/>
          </a:xfrm>
          <a:prstGeom prst="rect">
            <a:avLst/>
          </a:prstGeom>
          <a:noFill/>
        </p:spPr>
        <p:txBody>
          <a:bodyPr wrap="square" rtlCol="0">
            <a:spAutoFit/>
          </a:bodyPr>
          <a:lstStyle/>
          <a:p>
            <a:r>
              <a:rPr lang="ja-JP" altLang="en-US" sz="1400" dirty="0">
                <a:latin typeface="Meiryo" charset="-128"/>
                <a:ea typeface="Meiryo" charset="-128"/>
                <a:cs typeface="Meiryo" charset="-128"/>
              </a:rPr>
              <a:t>自分の思い込みだけでなく、定量・定性情報を集める</a:t>
            </a:r>
            <a:endParaRPr kumimoji="1" lang="ja-JP" altLang="en-US" sz="1400" dirty="0">
              <a:latin typeface="Meiryo" charset="-128"/>
              <a:ea typeface="Meiryo" charset="-128"/>
              <a:cs typeface="Meiryo" charset="-128"/>
            </a:endParaRPr>
          </a:p>
        </p:txBody>
      </p:sp>
      <p:sp>
        <p:nvSpPr>
          <p:cNvPr id="25" name="テキスト ボックス 24"/>
          <p:cNvSpPr txBox="1"/>
          <p:nvPr/>
        </p:nvSpPr>
        <p:spPr>
          <a:xfrm>
            <a:off x="4290467" y="4733937"/>
            <a:ext cx="1824438" cy="738664"/>
          </a:xfrm>
          <a:prstGeom prst="rect">
            <a:avLst/>
          </a:prstGeom>
          <a:noFill/>
        </p:spPr>
        <p:txBody>
          <a:bodyPr wrap="square" rtlCol="0">
            <a:spAutoFit/>
          </a:bodyPr>
          <a:lstStyle/>
          <a:p>
            <a:r>
              <a:rPr kumimoji="1" lang="ja-JP" altLang="en-US" sz="1400" dirty="0">
                <a:latin typeface="Meiryo" charset="-128"/>
                <a:ea typeface="Meiryo" charset="-128"/>
                <a:cs typeface="Meiryo" charset="-128"/>
              </a:rPr>
              <a:t>組織のミッションを達成するための組織課題を設定する</a:t>
            </a:r>
          </a:p>
        </p:txBody>
      </p:sp>
      <p:sp>
        <p:nvSpPr>
          <p:cNvPr id="26" name="テキスト ボックス 25"/>
          <p:cNvSpPr txBox="1"/>
          <p:nvPr/>
        </p:nvSpPr>
        <p:spPr>
          <a:xfrm>
            <a:off x="6139143" y="4733937"/>
            <a:ext cx="1895740" cy="738664"/>
          </a:xfrm>
          <a:prstGeom prst="rect">
            <a:avLst/>
          </a:prstGeom>
          <a:noFill/>
        </p:spPr>
        <p:txBody>
          <a:bodyPr wrap="square" rtlCol="0">
            <a:spAutoFit/>
          </a:bodyPr>
          <a:lstStyle/>
          <a:p>
            <a:r>
              <a:rPr lang="ja-JP" altLang="en-US" sz="1400" dirty="0">
                <a:latin typeface="Meiryo" charset="-128"/>
                <a:ea typeface="Meiryo" charset="-128"/>
                <a:cs typeface="Meiryo" charset="-128"/>
              </a:rPr>
              <a:t>課題を解決するための対話が行われ、施策が決定する</a:t>
            </a:r>
            <a:endParaRPr kumimoji="1" lang="ja-JP" altLang="en-US" sz="1400" dirty="0">
              <a:latin typeface="Meiryo" charset="-128"/>
              <a:ea typeface="Meiryo" charset="-128"/>
              <a:cs typeface="Meiryo" charset="-128"/>
            </a:endParaRPr>
          </a:p>
        </p:txBody>
      </p:sp>
      <p:sp>
        <p:nvSpPr>
          <p:cNvPr id="27" name="テキスト ボックス 26"/>
          <p:cNvSpPr txBox="1"/>
          <p:nvPr/>
        </p:nvSpPr>
        <p:spPr>
          <a:xfrm>
            <a:off x="8064196" y="4733937"/>
            <a:ext cx="1852494" cy="523220"/>
          </a:xfrm>
          <a:prstGeom prst="rect">
            <a:avLst/>
          </a:prstGeom>
          <a:noFill/>
        </p:spPr>
        <p:txBody>
          <a:bodyPr wrap="square" rtlCol="0">
            <a:spAutoFit/>
          </a:bodyPr>
          <a:lstStyle/>
          <a:p>
            <a:r>
              <a:rPr lang="ja-JP" altLang="en-US" sz="1400" dirty="0">
                <a:latin typeface="Meiryo" charset="-128"/>
                <a:ea typeface="Meiryo" charset="-128"/>
                <a:cs typeface="Meiryo" charset="-128"/>
              </a:rPr>
              <a:t>成果を可視化して、解決の実感を与える</a:t>
            </a:r>
            <a:endParaRPr kumimoji="1" lang="ja-JP" altLang="en-US" sz="1400" dirty="0">
              <a:latin typeface="Meiryo" charset="-128"/>
              <a:ea typeface="Meiryo" charset="-128"/>
              <a:cs typeface="Meiryo" charset="-128"/>
            </a:endParaRPr>
          </a:p>
        </p:txBody>
      </p:sp>
      <p:sp>
        <p:nvSpPr>
          <p:cNvPr id="28" name="二等辺三角形 27"/>
          <p:cNvSpPr/>
          <p:nvPr/>
        </p:nvSpPr>
        <p:spPr>
          <a:xfrm rot="10800000">
            <a:off x="3138339" y="4301889"/>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29" name="二等辺三角形 28"/>
          <p:cNvSpPr/>
          <p:nvPr/>
        </p:nvSpPr>
        <p:spPr>
          <a:xfrm rot="10800000">
            <a:off x="5072698" y="4309847"/>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30" name="二等辺三角形 29"/>
          <p:cNvSpPr/>
          <p:nvPr/>
        </p:nvSpPr>
        <p:spPr>
          <a:xfrm rot="10800000">
            <a:off x="6800890" y="4319574"/>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sp>
        <p:nvSpPr>
          <p:cNvPr id="31" name="二等辺三角形 30"/>
          <p:cNvSpPr/>
          <p:nvPr/>
        </p:nvSpPr>
        <p:spPr>
          <a:xfrm rot="10800000">
            <a:off x="8548538" y="4330024"/>
            <a:ext cx="408516" cy="18364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Meiryo" charset="-128"/>
              <a:ea typeface="Meiryo" charset="-128"/>
              <a:cs typeface="Meiryo" charset="-128"/>
            </a:endParaRPr>
          </a:p>
        </p:txBody>
      </p:sp>
      <p:cxnSp>
        <p:nvCxnSpPr>
          <p:cNvPr id="32" name="直線矢印コネクタ 31"/>
          <p:cNvCxnSpPr/>
          <p:nvPr/>
        </p:nvCxnSpPr>
        <p:spPr>
          <a:xfrm>
            <a:off x="2490267" y="3780692"/>
            <a:ext cx="1914679"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テキスト ボックス 32"/>
          <p:cNvSpPr txBox="1"/>
          <p:nvPr/>
        </p:nvSpPr>
        <p:spPr>
          <a:xfrm>
            <a:off x="2490267" y="3892497"/>
            <a:ext cx="1914679" cy="261610"/>
          </a:xfrm>
          <a:prstGeom prst="rect">
            <a:avLst/>
          </a:prstGeom>
          <a:noFill/>
        </p:spPr>
        <p:txBody>
          <a:bodyPr wrap="square" rtlCol="0">
            <a:spAutoFit/>
          </a:bodyPr>
          <a:lstStyle/>
          <a:p>
            <a:pPr algn="ct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情報を集めて可視化</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34" name="直線矢印コネクタ 33"/>
          <p:cNvCxnSpPr/>
          <p:nvPr/>
        </p:nvCxnSpPr>
        <p:spPr>
          <a:xfrm>
            <a:off x="4471605" y="3780692"/>
            <a:ext cx="3420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4884841" y="3892497"/>
            <a:ext cx="2456732" cy="261610"/>
          </a:xfrm>
          <a:prstGeom prst="rect">
            <a:avLst/>
          </a:prstGeom>
          <a:noFill/>
        </p:spPr>
        <p:txBody>
          <a:bodyPr wrap="square" rtlCol="0">
            <a:spAutoFit/>
          </a:bodyPr>
          <a:lstStyle/>
          <a:p>
            <a:pPr algn="ct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対話とネクストアクションの決定</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7891604" y="3923226"/>
            <a:ext cx="1948351" cy="261610"/>
          </a:xfrm>
          <a:prstGeom prst="rect">
            <a:avLst/>
          </a:prstGeom>
          <a:noFill/>
        </p:spPr>
        <p:txBody>
          <a:bodyPr wrap="square" rtlCol="0">
            <a:spAutoFit/>
          </a:bodyPr>
          <a:lstStyle/>
          <a:p>
            <a:pPr algn="ct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実行と振り返り</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37" name="直線矢印コネクタ 36"/>
          <p:cNvCxnSpPr/>
          <p:nvPr/>
        </p:nvCxnSpPr>
        <p:spPr>
          <a:xfrm>
            <a:off x="7967956" y="3780692"/>
            <a:ext cx="1872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6544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レバレッジポイントを探しに行く（氷山モデル）</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47</a:t>
            </a:fld>
            <a:endParaRPr lang="ja-JP" altLang="en-US">
              <a:uFillTx/>
            </a:endParaRPr>
          </a:p>
        </p:txBody>
      </p:sp>
      <p:sp>
        <p:nvSpPr>
          <p:cNvPr id="9" name="フリーフォーム 8"/>
          <p:cNvSpPr/>
          <p:nvPr/>
        </p:nvSpPr>
        <p:spPr>
          <a:xfrm>
            <a:off x="1580782" y="1217998"/>
            <a:ext cx="2137799" cy="3950003"/>
          </a:xfrm>
          <a:custGeom>
            <a:avLst/>
            <a:gdLst>
              <a:gd name="connsiteX0" fmla="*/ 0 w 1252331"/>
              <a:gd name="connsiteY0" fmla="*/ 1059966 h 1059966"/>
              <a:gd name="connsiteX1" fmla="*/ 154057 w 1252331"/>
              <a:gd name="connsiteY1" fmla="*/ 920818 h 1059966"/>
              <a:gd name="connsiteX2" fmla="*/ 238539 w 1252331"/>
              <a:gd name="connsiteY2" fmla="*/ 632584 h 1059966"/>
              <a:gd name="connsiteX3" fmla="*/ 238539 w 1252331"/>
              <a:gd name="connsiteY3" fmla="*/ 632584 h 1059966"/>
              <a:gd name="connsiteX4" fmla="*/ 288235 w 1252331"/>
              <a:gd name="connsiteY4" fmla="*/ 413923 h 1059966"/>
              <a:gd name="connsiteX5" fmla="*/ 382657 w 1252331"/>
              <a:gd name="connsiteY5" fmla="*/ 359257 h 1059966"/>
              <a:gd name="connsiteX6" fmla="*/ 382657 w 1252331"/>
              <a:gd name="connsiteY6" fmla="*/ 359257 h 1059966"/>
              <a:gd name="connsiteX7" fmla="*/ 382657 w 1252331"/>
              <a:gd name="connsiteY7" fmla="*/ 359257 h 1059966"/>
              <a:gd name="connsiteX8" fmla="*/ 536713 w 1252331"/>
              <a:gd name="connsiteY8" fmla="*/ 190292 h 1059966"/>
              <a:gd name="connsiteX9" fmla="*/ 536713 w 1252331"/>
              <a:gd name="connsiteY9" fmla="*/ 100840 h 1059966"/>
              <a:gd name="connsiteX10" fmla="*/ 660953 w 1252331"/>
              <a:gd name="connsiteY10" fmla="*/ 1449 h 1059966"/>
              <a:gd name="connsiteX11" fmla="*/ 795131 w 1252331"/>
              <a:gd name="connsiteY11" fmla="*/ 180353 h 1059966"/>
              <a:gd name="connsiteX12" fmla="*/ 889553 w 1252331"/>
              <a:gd name="connsiteY12" fmla="*/ 423862 h 1059966"/>
              <a:gd name="connsiteX13" fmla="*/ 1033670 w 1252331"/>
              <a:gd name="connsiteY13" fmla="*/ 652462 h 1059966"/>
              <a:gd name="connsiteX14" fmla="*/ 1013792 w 1252331"/>
              <a:gd name="connsiteY14" fmla="*/ 801549 h 1059966"/>
              <a:gd name="connsiteX15" fmla="*/ 1147970 w 1252331"/>
              <a:gd name="connsiteY15" fmla="*/ 935727 h 1059966"/>
              <a:gd name="connsiteX16" fmla="*/ 1252331 w 1252331"/>
              <a:gd name="connsiteY16" fmla="*/ 1059966 h 1059966"/>
              <a:gd name="connsiteX17" fmla="*/ 1252331 w 1252331"/>
              <a:gd name="connsiteY17" fmla="*/ 1059966 h 105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2331" h="1059966">
                <a:moveTo>
                  <a:pt x="0" y="1059966"/>
                </a:moveTo>
                <a:cubicBezTo>
                  <a:pt x="57150" y="1026007"/>
                  <a:pt x="114301" y="992048"/>
                  <a:pt x="154057" y="920818"/>
                </a:cubicBezTo>
                <a:cubicBezTo>
                  <a:pt x="193813" y="849588"/>
                  <a:pt x="238539" y="632584"/>
                  <a:pt x="238539" y="632584"/>
                </a:cubicBezTo>
                <a:lnTo>
                  <a:pt x="238539" y="632584"/>
                </a:lnTo>
                <a:cubicBezTo>
                  <a:pt x="246822" y="596141"/>
                  <a:pt x="264215" y="459478"/>
                  <a:pt x="288235" y="413923"/>
                </a:cubicBezTo>
                <a:cubicBezTo>
                  <a:pt x="312255" y="368368"/>
                  <a:pt x="382657" y="359257"/>
                  <a:pt x="382657" y="359257"/>
                </a:cubicBezTo>
                <a:lnTo>
                  <a:pt x="382657" y="359257"/>
                </a:lnTo>
                <a:lnTo>
                  <a:pt x="382657" y="359257"/>
                </a:lnTo>
                <a:cubicBezTo>
                  <a:pt x="408333" y="331096"/>
                  <a:pt x="511037" y="233362"/>
                  <a:pt x="536713" y="190292"/>
                </a:cubicBezTo>
                <a:cubicBezTo>
                  <a:pt x="562389" y="147222"/>
                  <a:pt x="516006" y="132314"/>
                  <a:pt x="536713" y="100840"/>
                </a:cubicBezTo>
                <a:cubicBezTo>
                  <a:pt x="557420" y="69366"/>
                  <a:pt x="617883" y="-11803"/>
                  <a:pt x="660953" y="1449"/>
                </a:cubicBezTo>
                <a:cubicBezTo>
                  <a:pt x="704023" y="14701"/>
                  <a:pt x="757031" y="109951"/>
                  <a:pt x="795131" y="180353"/>
                </a:cubicBezTo>
                <a:cubicBezTo>
                  <a:pt x="833231" y="250755"/>
                  <a:pt x="849797" y="345177"/>
                  <a:pt x="889553" y="423862"/>
                </a:cubicBezTo>
                <a:cubicBezTo>
                  <a:pt x="929309" y="502547"/>
                  <a:pt x="1012964" y="589514"/>
                  <a:pt x="1033670" y="652462"/>
                </a:cubicBezTo>
                <a:cubicBezTo>
                  <a:pt x="1054376" y="715410"/>
                  <a:pt x="994742" y="754338"/>
                  <a:pt x="1013792" y="801549"/>
                </a:cubicBezTo>
                <a:cubicBezTo>
                  <a:pt x="1032842" y="848760"/>
                  <a:pt x="1108214" y="892658"/>
                  <a:pt x="1147970" y="935727"/>
                </a:cubicBezTo>
                <a:cubicBezTo>
                  <a:pt x="1187726" y="978796"/>
                  <a:pt x="1252331" y="1059966"/>
                  <a:pt x="1252331" y="1059966"/>
                </a:cubicBezTo>
                <a:lnTo>
                  <a:pt x="1252331" y="1059966"/>
                </a:lnTo>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p:cNvCxnSpPr/>
          <p:nvPr/>
        </p:nvCxnSpPr>
        <p:spPr>
          <a:xfrm>
            <a:off x="1117695" y="2611493"/>
            <a:ext cx="3060000" cy="0"/>
          </a:xfrm>
          <a:prstGeom prst="line">
            <a:avLst/>
          </a:prstGeom>
          <a:ln w="254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1117695" y="3814730"/>
            <a:ext cx="3060000" cy="0"/>
          </a:xfrm>
          <a:prstGeom prst="line">
            <a:avLst/>
          </a:prstGeom>
          <a:ln w="254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正方形/長方形 11"/>
          <p:cNvSpPr/>
          <p:nvPr/>
        </p:nvSpPr>
        <p:spPr>
          <a:xfrm>
            <a:off x="295671" y="1567179"/>
            <a:ext cx="126488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メイリオ" panose="020B0604030504040204" pitchFamily="50" charset="-128"/>
                <a:ea typeface="メイリオ" panose="020B0604030504040204" pitchFamily="50" charset="-128"/>
              </a:rPr>
              <a:t>見えて</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dirty="0">
                <a:solidFill>
                  <a:schemeClr val="tx1"/>
                </a:solidFill>
                <a:latin typeface="メイリオ" panose="020B0604030504040204" pitchFamily="50" charset="-128"/>
                <a:ea typeface="メイリオ" panose="020B0604030504040204" pitchFamily="50" charset="-128"/>
              </a:rPr>
              <a:t>いること</a:t>
            </a:r>
          </a:p>
        </p:txBody>
      </p:sp>
      <p:sp>
        <p:nvSpPr>
          <p:cNvPr id="13" name="正方形/長方形 12"/>
          <p:cNvSpPr/>
          <p:nvPr/>
        </p:nvSpPr>
        <p:spPr>
          <a:xfrm>
            <a:off x="276946" y="2867819"/>
            <a:ext cx="126488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メイリオ" panose="020B0604030504040204" pitchFamily="50" charset="-128"/>
                <a:ea typeface="メイリオ" panose="020B0604030504040204" pitchFamily="50" charset="-128"/>
              </a:rPr>
              <a:t>直接的</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dirty="0">
                <a:solidFill>
                  <a:schemeClr val="tx1"/>
                </a:solidFill>
                <a:latin typeface="メイリオ" panose="020B0604030504040204" pitchFamily="50" charset="-128"/>
                <a:ea typeface="メイリオ" panose="020B0604030504040204" pitchFamily="50" charset="-128"/>
              </a:rPr>
              <a:t>要因</a:t>
            </a:r>
          </a:p>
        </p:txBody>
      </p:sp>
      <p:sp>
        <p:nvSpPr>
          <p:cNvPr id="14" name="正方形/長方形 13"/>
          <p:cNvSpPr/>
          <p:nvPr/>
        </p:nvSpPr>
        <p:spPr>
          <a:xfrm>
            <a:off x="271934" y="4229535"/>
            <a:ext cx="126488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メイリオ" panose="020B0604030504040204" pitchFamily="50" charset="-128"/>
                <a:ea typeface="メイリオ" panose="020B0604030504040204" pitchFamily="50" charset="-128"/>
              </a:rPr>
              <a:t>構造的</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dirty="0">
                <a:solidFill>
                  <a:schemeClr val="tx1"/>
                </a:solidFill>
                <a:latin typeface="メイリオ" panose="020B0604030504040204" pitchFamily="50" charset="-128"/>
                <a:ea typeface="メイリオ" panose="020B0604030504040204" pitchFamily="50" charset="-128"/>
              </a:rPr>
              <a:t>要因</a:t>
            </a:r>
          </a:p>
        </p:txBody>
      </p:sp>
      <p:sp>
        <p:nvSpPr>
          <p:cNvPr id="8" name="テキスト ボックス 7"/>
          <p:cNvSpPr txBox="1"/>
          <p:nvPr/>
        </p:nvSpPr>
        <p:spPr>
          <a:xfrm>
            <a:off x="1255412" y="1628207"/>
            <a:ext cx="3044536" cy="523220"/>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事実として</a:t>
            </a:r>
            <a:endParaRPr kumimoji="1" lang="en-US" altLang="ja-JP" dirty="0">
              <a:latin typeface="メイリオ" panose="020B0604030504040204" pitchFamily="50" charset="-128"/>
              <a:ea typeface="メイリオ" panose="020B0604030504040204" pitchFamily="50" charset="-128"/>
            </a:endParaRPr>
          </a:p>
          <a:p>
            <a:pPr algn="ctr"/>
            <a:r>
              <a:rPr kumimoji="1" lang="ja-JP" altLang="en-US" dirty="0">
                <a:latin typeface="メイリオ" panose="020B0604030504040204" pitchFamily="50" charset="-128"/>
                <a:ea typeface="メイリオ" panose="020B0604030504040204" pitchFamily="50" charset="-128"/>
              </a:rPr>
              <a:t>起きていることは何か？</a:t>
            </a:r>
            <a:endParaRPr kumimoji="1" lang="en-US" altLang="ja-JP" dirty="0">
              <a:latin typeface="メイリオ" panose="020B0604030504040204" pitchFamily="50" charset="-128"/>
              <a:ea typeface="メイリオ" panose="020B0604030504040204" pitchFamily="50" charset="-128"/>
            </a:endParaRPr>
          </a:p>
        </p:txBody>
      </p:sp>
      <p:sp>
        <p:nvSpPr>
          <p:cNvPr id="17" name="テキスト ボックス 16"/>
          <p:cNvSpPr txBox="1"/>
          <p:nvPr/>
        </p:nvSpPr>
        <p:spPr>
          <a:xfrm>
            <a:off x="1700644" y="2889167"/>
            <a:ext cx="2017937" cy="523220"/>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それが起きている</a:t>
            </a:r>
            <a:endParaRPr kumimoji="1" lang="en-US" altLang="ja-JP" dirty="0">
              <a:latin typeface="メイリオ" panose="020B0604030504040204" pitchFamily="50" charset="-128"/>
              <a:ea typeface="メイリオ" panose="020B0604030504040204" pitchFamily="50" charset="-128"/>
            </a:endParaRPr>
          </a:p>
          <a:p>
            <a:pPr algn="ctr"/>
            <a:r>
              <a:rPr kumimoji="1" lang="ja-JP" altLang="en-US" dirty="0">
                <a:latin typeface="メイリオ" panose="020B0604030504040204" pitchFamily="50" charset="-128"/>
                <a:ea typeface="メイリオ" panose="020B0604030504040204" pitchFamily="50" charset="-128"/>
              </a:rPr>
              <a:t>直接的な要因は何か？</a:t>
            </a:r>
            <a:endParaRPr kumimoji="1" lang="en-US" altLang="ja-JP" dirty="0">
              <a:latin typeface="メイリオ" panose="020B0604030504040204" pitchFamily="50" charset="-128"/>
              <a:ea typeface="メイリオ" panose="020B0604030504040204" pitchFamily="50" charset="-128"/>
            </a:endParaRPr>
          </a:p>
        </p:txBody>
      </p:sp>
      <p:sp>
        <p:nvSpPr>
          <p:cNvPr id="18" name="テキスト ボックス 17"/>
          <p:cNvSpPr txBox="1"/>
          <p:nvPr/>
        </p:nvSpPr>
        <p:spPr>
          <a:xfrm>
            <a:off x="1609554" y="4255957"/>
            <a:ext cx="2090673" cy="523220"/>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それが起きている</a:t>
            </a:r>
            <a:endParaRPr kumimoji="1" lang="en-US" altLang="ja-JP" dirty="0">
              <a:latin typeface="メイリオ" panose="020B0604030504040204" pitchFamily="50" charset="-128"/>
              <a:ea typeface="メイリオ" panose="020B0604030504040204" pitchFamily="50" charset="-128"/>
            </a:endParaRPr>
          </a:p>
          <a:p>
            <a:pPr algn="ctr"/>
            <a:r>
              <a:rPr kumimoji="1" lang="ja-JP" altLang="en-US" dirty="0">
                <a:latin typeface="メイリオ" panose="020B0604030504040204" pitchFamily="50" charset="-128"/>
                <a:ea typeface="メイリオ" panose="020B0604030504040204" pitchFamily="50" charset="-128"/>
              </a:rPr>
              <a:t>構造的な要因は何か？</a:t>
            </a:r>
            <a:endParaRPr kumimoji="1" lang="en-US" altLang="ja-JP" dirty="0">
              <a:latin typeface="メイリオ" panose="020B0604030504040204" pitchFamily="50" charset="-128"/>
              <a:ea typeface="メイリオ" panose="020B0604030504040204" pitchFamily="50" charset="-128"/>
            </a:endParaRPr>
          </a:p>
        </p:txBody>
      </p:sp>
      <p:sp>
        <p:nvSpPr>
          <p:cNvPr id="7" name="正方形/長方形 6"/>
          <p:cNvSpPr/>
          <p:nvPr/>
        </p:nvSpPr>
        <p:spPr>
          <a:xfrm>
            <a:off x="4405745" y="1345806"/>
            <a:ext cx="4094019" cy="811307"/>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4405745" y="2521200"/>
            <a:ext cx="4094019" cy="1167574"/>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4405745" y="4058293"/>
            <a:ext cx="4094019" cy="1011287"/>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p:cNvSpPr txBox="1"/>
          <p:nvPr/>
        </p:nvSpPr>
        <p:spPr>
          <a:xfrm>
            <a:off x="4333009" y="1085764"/>
            <a:ext cx="3044536" cy="307777"/>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事実として起きていること</a:t>
            </a:r>
            <a:endParaRPr kumimoji="1" lang="en-US" altLang="ja-JP" b="1" dirty="0">
              <a:latin typeface="メイリオ" panose="020B0604030504040204" pitchFamily="50" charset="-128"/>
              <a:ea typeface="メイリオ" panose="020B0604030504040204" pitchFamily="50" charset="-128"/>
            </a:endParaRPr>
          </a:p>
        </p:txBody>
      </p:sp>
      <p:sp>
        <p:nvSpPr>
          <p:cNvPr id="22" name="テキスト ボックス 21"/>
          <p:cNvSpPr txBox="1"/>
          <p:nvPr/>
        </p:nvSpPr>
        <p:spPr>
          <a:xfrm>
            <a:off x="4333009" y="2273093"/>
            <a:ext cx="3044536" cy="307777"/>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それが起きている直接的な要因</a:t>
            </a:r>
            <a:endParaRPr kumimoji="1" lang="en-US" altLang="ja-JP" b="1" dirty="0">
              <a:latin typeface="メイリオ" panose="020B0604030504040204" pitchFamily="50" charset="-128"/>
              <a:ea typeface="メイリオ" panose="020B0604030504040204" pitchFamily="50" charset="-128"/>
            </a:endParaRPr>
          </a:p>
        </p:txBody>
      </p:sp>
      <p:sp>
        <p:nvSpPr>
          <p:cNvPr id="23" name="テキスト ボックス 22"/>
          <p:cNvSpPr txBox="1"/>
          <p:nvPr/>
        </p:nvSpPr>
        <p:spPr>
          <a:xfrm>
            <a:off x="4333009" y="3814730"/>
            <a:ext cx="3044536" cy="307777"/>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それが起きている構造的な要因</a:t>
            </a:r>
            <a:endParaRPr kumimoji="1" lang="en-US" altLang="ja-JP" b="1" dirty="0">
              <a:latin typeface="メイリオ" panose="020B0604030504040204" pitchFamily="50" charset="-128"/>
              <a:ea typeface="メイリオ" panose="020B0604030504040204" pitchFamily="50" charset="-128"/>
            </a:endParaRPr>
          </a:p>
        </p:txBody>
      </p:sp>
      <p:sp>
        <p:nvSpPr>
          <p:cNvPr id="15" name="二等辺三角形 14"/>
          <p:cNvSpPr/>
          <p:nvPr/>
        </p:nvSpPr>
        <p:spPr>
          <a:xfrm rot="5400000">
            <a:off x="3847653" y="1761799"/>
            <a:ext cx="627807" cy="13508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4" name="二等辺三角形 23"/>
          <p:cNvSpPr/>
          <p:nvPr/>
        </p:nvSpPr>
        <p:spPr>
          <a:xfrm rot="5400000">
            <a:off x="3862982" y="3062439"/>
            <a:ext cx="627807" cy="13508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二等辺三角形 24"/>
          <p:cNvSpPr/>
          <p:nvPr/>
        </p:nvSpPr>
        <p:spPr>
          <a:xfrm rot="5400000">
            <a:off x="3847653" y="4518673"/>
            <a:ext cx="627807" cy="13508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二等辺三角形 25"/>
          <p:cNvSpPr/>
          <p:nvPr/>
        </p:nvSpPr>
        <p:spPr>
          <a:xfrm rot="10800000">
            <a:off x="5943377" y="5242903"/>
            <a:ext cx="1018754" cy="9411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7" name="テキスト ボックス 26"/>
          <p:cNvSpPr txBox="1"/>
          <p:nvPr/>
        </p:nvSpPr>
        <p:spPr>
          <a:xfrm>
            <a:off x="4333009" y="5419596"/>
            <a:ext cx="3678382" cy="307777"/>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解決すべきレバレッジポイント</a:t>
            </a:r>
            <a:endParaRPr kumimoji="1" lang="en-US" altLang="ja-JP" b="1" dirty="0">
              <a:latin typeface="メイリオ" panose="020B0604030504040204" pitchFamily="50" charset="-128"/>
              <a:ea typeface="メイリオ" panose="020B0604030504040204" pitchFamily="50" charset="-128"/>
            </a:endParaRPr>
          </a:p>
        </p:txBody>
      </p:sp>
      <p:sp>
        <p:nvSpPr>
          <p:cNvPr id="28" name="正方形/長方形 27"/>
          <p:cNvSpPr/>
          <p:nvPr/>
        </p:nvSpPr>
        <p:spPr>
          <a:xfrm>
            <a:off x="4405745" y="5710188"/>
            <a:ext cx="4094019" cy="646161"/>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吹き出し 28"/>
          <p:cNvSpPr/>
          <p:nvPr/>
        </p:nvSpPr>
        <p:spPr>
          <a:xfrm>
            <a:off x="665018" y="5818908"/>
            <a:ext cx="3179619" cy="716974"/>
          </a:xfrm>
          <a:prstGeom prst="wedgeRoundRectCallout">
            <a:avLst>
              <a:gd name="adj1" fmla="val 60067"/>
              <a:gd name="adj2" fmla="val -31189"/>
              <a:gd name="adj3" fmla="val 16667"/>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レバレッジポイントの設定に正解はないが、関係者で話し合い、合意した上で課題設定を行い、ネクストアクションを決めることが重要</a:t>
            </a:r>
            <a:endParaRPr kumimoji="1"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30" name="二等辺三角形 29"/>
          <p:cNvSpPr/>
          <p:nvPr/>
        </p:nvSpPr>
        <p:spPr>
          <a:xfrm rot="5400000">
            <a:off x="6727840" y="3800054"/>
            <a:ext cx="4080524" cy="13909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1" name="テキスト ボックス 30"/>
          <p:cNvSpPr txBox="1"/>
          <p:nvPr/>
        </p:nvSpPr>
        <p:spPr>
          <a:xfrm>
            <a:off x="8972363" y="1655112"/>
            <a:ext cx="2907712" cy="276999"/>
          </a:xfrm>
          <a:prstGeom prst="rect">
            <a:avLst/>
          </a:prstGeom>
          <a:noFill/>
        </p:spPr>
        <p:txBody>
          <a:bodyPr wrap="square" rtlCol="0">
            <a:spAutoFit/>
          </a:bodyPr>
          <a:lstStyle/>
          <a:p>
            <a:r>
              <a:rPr kumimoji="1" lang="ja-JP" altLang="en-US" sz="1200" b="1" dirty="0">
                <a:latin typeface="メイリオ" panose="020B0604030504040204" pitchFamily="50" charset="-128"/>
                <a:ea typeface="メイリオ" panose="020B0604030504040204" pitchFamily="50" charset="-128"/>
              </a:rPr>
              <a:t>解決のためのアクションプラン</a:t>
            </a:r>
            <a:endParaRPr kumimoji="1" lang="en-US" altLang="ja-JP" sz="12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9036440" y="1889817"/>
            <a:ext cx="2978348" cy="3311779"/>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角丸四角形吹き出し 32"/>
          <p:cNvSpPr/>
          <p:nvPr/>
        </p:nvSpPr>
        <p:spPr>
          <a:xfrm>
            <a:off x="8866909" y="5674781"/>
            <a:ext cx="3179619" cy="716974"/>
          </a:xfrm>
          <a:prstGeom prst="wedgeRoundRectCallout">
            <a:avLst>
              <a:gd name="adj1" fmla="val -26207"/>
              <a:gd name="adj2" fmla="val -90052"/>
              <a:gd name="adj3" fmla="val 16667"/>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ja-JP" altLang="en-US" sz="1050" dirty="0">
                <a:solidFill>
                  <a:schemeClr val="tx1"/>
                </a:solidFill>
                <a:latin typeface="メイリオ" panose="020B0604030504040204" pitchFamily="50" charset="-128"/>
                <a:ea typeface="メイリオ" panose="020B0604030504040204" pitchFamily="50" charset="-128"/>
              </a:rPr>
              <a:t>①全員が関わること</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ja-JP" altLang="en-US" sz="1050" dirty="0">
                <a:solidFill>
                  <a:schemeClr val="tx1"/>
                </a:solidFill>
                <a:latin typeface="メイリオ" panose="020B0604030504040204" pitchFamily="50" charset="-128"/>
                <a:ea typeface="メイリオ" panose="020B0604030504040204" pitchFamily="50" charset="-128"/>
              </a:rPr>
              <a:t>②誰が、いつまでに、何をするか決めること</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ja-JP" altLang="en-US" sz="1050" dirty="0">
                <a:solidFill>
                  <a:schemeClr val="tx1"/>
                </a:solidFill>
                <a:latin typeface="メイリオ" panose="020B0604030504040204" pitchFamily="50" charset="-128"/>
                <a:ea typeface="メイリオ" panose="020B0604030504040204" pitchFamily="50" charset="-128"/>
              </a:rPr>
              <a:t>③すぐできること＞中長期的な取り組み</a:t>
            </a:r>
            <a:endParaRPr kumimoji="1" lang="en-US" altLang="ja-JP" sz="105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543692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2" name="フッター プレースホルダー 1"/>
          <p:cNvSpPr>
            <a:spLocks noGrp="1"/>
          </p:cNvSpPr>
          <p:nvPr>
            <p:ph type="ftr" idx="11"/>
          </p:nvPr>
        </p:nvSpPr>
        <p:spPr>
          <a:xfrm>
            <a:off x="4038600" y="5994400"/>
            <a:ext cx="4114800" cy="365125"/>
          </a:xfrm>
        </p:spPr>
        <p:txBody>
          <a:bodyPr/>
          <a:lstStyle/>
          <a:p>
            <a:r>
              <a:rPr lang="en-US">
                <a:latin typeface="メイリオ" panose="020B0604030504040204" pitchFamily="50" charset="-128"/>
                <a:ea typeface="メイリオ" panose="020B0604030504040204" pitchFamily="50" charset="-128"/>
              </a:rPr>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48</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組織課題を「７</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」のフレームで見立てる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角丸四角形 7"/>
          <p:cNvSpPr/>
          <p:nvPr/>
        </p:nvSpPr>
        <p:spPr>
          <a:xfrm>
            <a:off x="3608626" y="3399341"/>
            <a:ext cx="1512168" cy="648072"/>
          </a:xfrm>
          <a:prstGeom prst="roundRect">
            <a:avLst>
              <a:gd name="adj" fmla="val 749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Shared Value</a:t>
            </a: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共通価値観</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角丸四角形 8"/>
          <p:cNvSpPr/>
          <p:nvPr/>
        </p:nvSpPr>
        <p:spPr>
          <a:xfrm>
            <a:off x="3608626" y="1736140"/>
            <a:ext cx="1512168" cy="648072"/>
          </a:xfrm>
          <a:prstGeom prst="roundRect">
            <a:avLst>
              <a:gd name="adj" fmla="val 749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Strategy</a:t>
            </a: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戦略</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角丸四角形 9"/>
          <p:cNvSpPr/>
          <p:nvPr/>
        </p:nvSpPr>
        <p:spPr>
          <a:xfrm>
            <a:off x="5477962" y="2566338"/>
            <a:ext cx="1512168" cy="648072"/>
          </a:xfrm>
          <a:prstGeom prst="roundRect">
            <a:avLst>
              <a:gd name="adj" fmla="val 749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Structure</a:t>
            </a: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組織構造</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角丸四角形 11"/>
          <p:cNvSpPr/>
          <p:nvPr/>
        </p:nvSpPr>
        <p:spPr>
          <a:xfrm>
            <a:off x="1703177" y="2566338"/>
            <a:ext cx="1512168" cy="648072"/>
          </a:xfrm>
          <a:prstGeom prst="roundRect">
            <a:avLst>
              <a:gd name="adj" fmla="val 749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System</a:t>
            </a: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システム</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角丸四角形 12"/>
          <p:cNvSpPr/>
          <p:nvPr/>
        </p:nvSpPr>
        <p:spPr>
          <a:xfrm>
            <a:off x="1703177" y="4207059"/>
            <a:ext cx="1512168" cy="648072"/>
          </a:xfrm>
          <a:prstGeom prst="roundRect">
            <a:avLst>
              <a:gd name="adj" fmla="val 749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Skill</a:t>
            </a: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スキル</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角丸四角形 13"/>
          <p:cNvSpPr/>
          <p:nvPr/>
        </p:nvSpPr>
        <p:spPr>
          <a:xfrm>
            <a:off x="5477962" y="4207059"/>
            <a:ext cx="1512168" cy="648072"/>
          </a:xfrm>
          <a:prstGeom prst="roundRect">
            <a:avLst>
              <a:gd name="adj" fmla="val 749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Staff</a:t>
            </a: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人材</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5" name="角丸四角形 14"/>
          <p:cNvSpPr/>
          <p:nvPr/>
        </p:nvSpPr>
        <p:spPr>
          <a:xfrm>
            <a:off x="3608626" y="5071155"/>
            <a:ext cx="1512168" cy="648072"/>
          </a:xfrm>
          <a:prstGeom prst="roundRect">
            <a:avLst>
              <a:gd name="adj" fmla="val 749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Style</a:t>
            </a:r>
            <a:endParaRPr lang="en-US" altLang="ja-JP"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スタイル</a:t>
            </a:r>
            <a:endParaRPr kumimoji="1" lang="en-US" altLang="ja-JP" b="1" dirty="0">
              <a:solidFill>
                <a:schemeClr val="tx1"/>
              </a:solidFill>
              <a:latin typeface="メイリオ" panose="020B0604030504040204" pitchFamily="50" charset="-128"/>
              <a:ea typeface="メイリオ" panose="020B0604030504040204" pitchFamily="50" charset="-128"/>
            </a:endParaRPr>
          </a:p>
        </p:txBody>
      </p:sp>
      <p:cxnSp>
        <p:nvCxnSpPr>
          <p:cNvPr id="16" name="直線コネクタ 15"/>
          <p:cNvCxnSpPr>
            <a:stCxn id="10" idx="1"/>
            <a:endCxn id="8" idx="3"/>
          </p:cNvCxnSpPr>
          <p:nvPr/>
        </p:nvCxnSpPr>
        <p:spPr>
          <a:xfrm flipH="1">
            <a:off x="5120794" y="2890374"/>
            <a:ext cx="357168" cy="83300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a:stCxn id="14" idx="1"/>
            <a:endCxn id="8" idx="3"/>
          </p:cNvCxnSpPr>
          <p:nvPr/>
        </p:nvCxnSpPr>
        <p:spPr>
          <a:xfrm flipH="1" flipV="1">
            <a:off x="5120794" y="3723377"/>
            <a:ext cx="357168" cy="80771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9" idx="2"/>
            <a:endCxn id="8" idx="0"/>
          </p:cNvCxnSpPr>
          <p:nvPr/>
        </p:nvCxnSpPr>
        <p:spPr>
          <a:xfrm>
            <a:off x="4364710" y="2384211"/>
            <a:ext cx="0" cy="10188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a:stCxn id="12" idx="3"/>
            <a:endCxn id="8" idx="1"/>
          </p:cNvCxnSpPr>
          <p:nvPr/>
        </p:nvCxnSpPr>
        <p:spPr>
          <a:xfrm>
            <a:off x="3215345" y="2890374"/>
            <a:ext cx="393281" cy="83300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a:stCxn id="8" idx="1"/>
            <a:endCxn id="13" idx="3"/>
          </p:cNvCxnSpPr>
          <p:nvPr/>
        </p:nvCxnSpPr>
        <p:spPr>
          <a:xfrm flipH="1">
            <a:off x="3215345" y="3723377"/>
            <a:ext cx="393281" cy="80771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a:stCxn id="8" idx="2"/>
            <a:endCxn id="15" idx="0"/>
          </p:cNvCxnSpPr>
          <p:nvPr/>
        </p:nvCxnSpPr>
        <p:spPr>
          <a:xfrm>
            <a:off x="4364710" y="4047413"/>
            <a:ext cx="0" cy="10188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a:stCxn id="9" idx="1"/>
            <a:endCxn id="12" idx="0"/>
          </p:cNvCxnSpPr>
          <p:nvPr/>
        </p:nvCxnSpPr>
        <p:spPr>
          <a:xfrm flipH="1">
            <a:off x="2459261" y="2060176"/>
            <a:ext cx="1149365" cy="506162"/>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a:stCxn id="9" idx="3"/>
            <a:endCxn id="10" idx="0"/>
          </p:cNvCxnSpPr>
          <p:nvPr/>
        </p:nvCxnSpPr>
        <p:spPr>
          <a:xfrm>
            <a:off x="5120794" y="2060176"/>
            <a:ext cx="1113252" cy="506162"/>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a:stCxn id="12" idx="2"/>
            <a:endCxn id="13" idx="0"/>
          </p:cNvCxnSpPr>
          <p:nvPr/>
        </p:nvCxnSpPr>
        <p:spPr>
          <a:xfrm>
            <a:off x="2459261" y="3214410"/>
            <a:ext cx="0" cy="99264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a:stCxn id="10" idx="2"/>
            <a:endCxn id="14" idx="0"/>
          </p:cNvCxnSpPr>
          <p:nvPr/>
        </p:nvCxnSpPr>
        <p:spPr>
          <a:xfrm>
            <a:off x="6234046" y="3214410"/>
            <a:ext cx="0" cy="99264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stCxn id="13" idx="2"/>
            <a:endCxn id="15" idx="1"/>
          </p:cNvCxnSpPr>
          <p:nvPr/>
        </p:nvCxnSpPr>
        <p:spPr>
          <a:xfrm>
            <a:off x="2459261" y="4855131"/>
            <a:ext cx="1149365" cy="54006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a:stCxn id="14" idx="2"/>
            <a:endCxn id="15" idx="3"/>
          </p:cNvCxnSpPr>
          <p:nvPr/>
        </p:nvCxnSpPr>
        <p:spPr>
          <a:xfrm flipH="1">
            <a:off x="5120794" y="4855131"/>
            <a:ext cx="1113252" cy="54006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12" idx="3"/>
            <a:endCxn id="10" idx="1"/>
          </p:cNvCxnSpPr>
          <p:nvPr/>
        </p:nvCxnSpPr>
        <p:spPr>
          <a:xfrm>
            <a:off x="3215345" y="2890374"/>
            <a:ext cx="226261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3" idx="3"/>
            <a:endCxn id="14" idx="1"/>
          </p:cNvCxnSpPr>
          <p:nvPr/>
        </p:nvCxnSpPr>
        <p:spPr>
          <a:xfrm>
            <a:off x="3215345" y="4531095"/>
            <a:ext cx="226261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角丸四角形 29"/>
          <p:cNvSpPr/>
          <p:nvPr/>
        </p:nvSpPr>
        <p:spPr>
          <a:xfrm>
            <a:off x="1713362" y="6065910"/>
            <a:ext cx="5276767" cy="648072"/>
          </a:xfrm>
          <a:prstGeom prst="roundRect">
            <a:avLst>
              <a:gd name="adj" fmla="val 749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メイリオ" panose="020B0604030504040204" pitchFamily="50" charset="-128"/>
                <a:ea typeface="メイリオ" panose="020B0604030504040204" pitchFamily="50" charset="-128"/>
              </a:rPr>
              <a:t>Quality Relationships</a:t>
            </a:r>
          </a:p>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関係の質</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テキスト ボックス 32"/>
          <p:cNvSpPr txBox="1"/>
          <p:nvPr/>
        </p:nvSpPr>
        <p:spPr>
          <a:xfrm>
            <a:off x="7102181" y="2006749"/>
            <a:ext cx="3022272"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Strategy</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：戦略</a:t>
            </a: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ビジネス</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の方向性、戦略上のポイント</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4" name="テキスト ボックス 33"/>
          <p:cNvSpPr txBox="1"/>
          <p:nvPr/>
        </p:nvSpPr>
        <p:spPr>
          <a:xfrm>
            <a:off x="7103776" y="2496852"/>
            <a:ext cx="3256694"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Structure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：組織構造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トップダウン、ボトムアップ、マトリックス</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テキスト ボックス 34"/>
          <p:cNvSpPr txBox="1"/>
          <p:nvPr/>
        </p:nvSpPr>
        <p:spPr>
          <a:xfrm>
            <a:off x="7103777" y="3000908"/>
            <a:ext cx="3112678"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System</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評価・人事、承認プロセス</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7104481" y="4013282"/>
            <a:ext cx="3472014"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Shared Value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：共通価値観</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共通認識している価値観、トップの言葉</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テキスト ボックス 36"/>
          <p:cNvSpPr txBox="1"/>
          <p:nvPr/>
        </p:nvSpPr>
        <p:spPr>
          <a:xfrm>
            <a:off x="7106077" y="4408135"/>
            <a:ext cx="3110378"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Staff</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：人材</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社内の人材の能力、ネットワーク</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p:cNvSpPr txBox="1"/>
          <p:nvPr/>
        </p:nvSpPr>
        <p:spPr>
          <a:xfrm>
            <a:off x="7106076" y="4912191"/>
            <a:ext cx="3254393"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Skill</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：スキル</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技術力、販売力などの暗黙知やノウハウ</a:t>
            </a:r>
          </a:p>
        </p:txBody>
      </p:sp>
      <p:sp>
        <p:nvSpPr>
          <p:cNvPr id="39" name="テキスト ボックス 38"/>
          <p:cNvSpPr txBox="1"/>
          <p:nvPr/>
        </p:nvSpPr>
        <p:spPr>
          <a:xfrm>
            <a:off x="7112296" y="5416247"/>
            <a:ext cx="2248582"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Style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：スタイル</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社風や文化、スピリッツ</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テキスト ボックス 39"/>
          <p:cNvSpPr txBox="1"/>
          <p:nvPr/>
        </p:nvSpPr>
        <p:spPr>
          <a:xfrm>
            <a:off x="7112295" y="6338842"/>
            <a:ext cx="3248175" cy="492443"/>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Quality Relationships</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：関係の質</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メンバー間、縦横間、組織間の関係性</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テキスト ボックス 40"/>
          <p:cNvSpPr txBox="1"/>
          <p:nvPr/>
        </p:nvSpPr>
        <p:spPr>
          <a:xfrm>
            <a:off x="7103777" y="1646709"/>
            <a:ext cx="2248582" cy="307777"/>
          </a:xfrm>
          <a:prstGeom prst="rect">
            <a:avLst/>
          </a:prstGeom>
          <a:noFill/>
        </p:spPr>
        <p:txBody>
          <a:bodyPr wrap="square" rtlCol="0">
            <a:spAutoFit/>
          </a:bodyPr>
          <a:lstStyle/>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ハードの</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3S</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2" name="直線コネクタ 41"/>
          <p:cNvCxnSpPr/>
          <p:nvPr/>
        </p:nvCxnSpPr>
        <p:spPr>
          <a:xfrm>
            <a:off x="7192119" y="1895666"/>
            <a:ext cx="2916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p:cNvSpPr txBox="1"/>
          <p:nvPr/>
        </p:nvSpPr>
        <p:spPr>
          <a:xfrm>
            <a:off x="7112296" y="3586810"/>
            <a:ext cx="2248582" cy="307777"/>
          </a:xfrm>
          <a:prstGeom prst="rect">
            <a:avLst/>
          </a:prstGeom>
          <a:noFill/>
        </p:spPr>
        <p:txBody>
          <a:bodyPr wrap="square" rtlCol="0">
            <a:spAutoFit/>
          </a:bodyPr>
          <a:lstStyle/>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ソフトの</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4S</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4" name="直線コネクタ 43"/>
          <p:cNvCxnSpPr/>
          <p:nvPr/>
        </p:nvCxnSpPr>
        <p:spPr>
          <a:xfrm>
            <a:off x="7200638" y="3835767"/>
            <a:ext cx="2916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5" name="テキスト ボックス 44"/>
          <p:cNvSpPr txBox="1"/>
          <p:nvPr/>
        </p:nvSpPr>
        <p:spPr>
          <a:xfrm>
            <a:off x="7120111" y="6019452"/>
            <a:ext cx="2736304" cy="307777"/>
          </a:xfrm>
          <a:prstGeom prst="rect">
            <a:avLst/>
          </a:prstGeom>
          <a:noFill/>
        </p:spPr>
        <p:txBody>
          <a:bodyPr wrap="square" rtlCol="0">
            <a:spAutoFit/>
          </a:bodyPr>
          <a:lstStyle/>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組織の成功循環モデル</a:t>
            </a:r>
            <a:r>
              <a:rPr lang="ja-JP" altLang="en-US" sz="1100" b="1" dirty="0">
                <a:latin typeface="メイリオ" panose="020B0604030504040204" pitchFamily="50" charset="-128"/>
                <a:ea typeface="メイリオ" panose="020B0604030504040204" pitchFamily="50" charset="-128"/>
                <a:cs typeface="メイリオ" panose="020B0604030504040204" pitchFamily="50" charset="-128"/>
              </a:rPr>
              <a:t>より</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6" name="直線コネクタ 45"/>
          <p:cNvCxnSpPr/>
          <p:nvPr/>
        </p:nvCxnSpPr>
        <p:spPr>
          <a:xfrm>
            <a:off x="7208453" y="6268409"/>
            <a:ext cx="2916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7" name="角丸四角形 46"/>
          <p:cNvSpPr/>
          <p:nvPr/>
        </p:nvSpPr>
        <p:spPr>
          <a:xfrm>
            <a:off x="7192119" y="1658443"/>
            <a:ext cx="216024" cy="217709"/>
          </a:xfrm>
          <a:prstGeom prst="roundRect">
            <a:avLst>
              <a:gd name="adj" fmla="val 22724"/>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8" name="角丸四角形 47"/>
          <p:cNvSpPr/>
          <p:nvPr/>
        </p:nvSpPr>
        <p:spPr>
          <a:xfrm>
            <a:off x="7192119" y="3601917"/>
            <a:ext cx="216024" cy="217709"/>
          </a:xfrm>
          <a:prstGeom prst="roundRect">
            <a:avLst>
              <a:gd name="adj" fmla="val 22724"/>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角丸四角形 48"/>
          <p:cNvSpPr/>
          <p:nvPr/>
        </p:nvSpPr>
        <p:spPr>
          <a:xfrm>
            <a:off x="7192119" y="6040637"/>
            <a:ext cx="216024" cy="217709"/>
          </a:xfrm>
          <a:prstGeom prst="roundRect">
            <a:avLst>
              <a:gd name="adj" fmla="val 22724"/>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2013885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49</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「７</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」で情報を集め、整理する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p:cNvSpPr/>
          <p:nvPr/>
        </p:nvSpPr>
        <p:spPr>
          <a:xfrm>
            <a:off x="2280076" y="1663001"/>
            <a:ext cx="7488832" cy="4896544"/>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9" name="直線コネクタ 8"/>
          <p:cNvCxnSpPr/>
          <p:nvPr/>
        </p:nvCxnSpPr>
        <p:spPr>
          <a:xfrm>
            <a:off x="2280076" y="5556657"/>
            <a:ext cx="7488832"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4764352" y="2997761"/>
            <a:ext cx="2520280" cy="1224136"/>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12" name="直線コネクタ 11"/>
          <p:cNvCxnSpPr/>
          <p:nvPr/>
        </p:nvCxnSpPr>
        <p:spPr>
          <a:xfrm flipV="1">
            <a:off x="7284632" y="1663001"/>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a:off x="7284632" y="4221897"/>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3522214" y="1663001"/>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flipV="1">
            <a:off x="3522214" y="4221897"/>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2280076" y="3609829"/>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7284632" y="3609829"/>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5274320" y="1736366"/>
            <a:ext cx="3022272"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Strategy</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（戦略）</a:t>
            </a:r>
          </a:p>
        </p:txBody>
      </p:sp>
      <p:sp>
        <p:nvSpPr>
          <p:cNvPr id="19" name="テキスト ボックス 18"/>
          <p:cNvSpPr txBox="1"/>
          <p:nvPr/>
        </p:nvSpPr>
        <p:spPr>
          <a:xfrm>
            <a:off x="6620629" y="1736365"/>
            <a:ext cx="3256694" cy="307777"/>
          </a:xfrm>
          <a:prstGeom prst="rect">
            <a:avLst/>
          </a:prstGeom>
          <a:noFill/>
        </p:spPr>
        <p:txBody>
          <a:bodyPr wrap="square" rtlCol="0">
            <a:spAutoFit/>
          </a:bodyPr>
          <a:lstStyle/>
          <a:p>
            <a:pPr algn="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Structure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（組織構造）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テキスト ボックス 19"/>
          <p:cNvSpPr txBox="1"/>
          <p:nvPr/>
        </p:nvSpPr>
        <p:spPr>
          <a:xfrm>
            <a:off x="2360631" y="1736366"/>
            <a:ext cx="3112678"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System</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1" name="テキスト ボックス 20"/>
          <p:cNvSpPr txBox="1"/>
          <p:nvPr/>
        </p:nvSpPr>
        <p:spPr>
          <a:xfrm>
            <a:off x="4762810" y="3071125"/>
            <a:ext cx="3472014"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Shared Value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（共通価値観）</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2" name="テキスト ボックス 21"/>
          <p:cNvSpPr txBox="1"/>
          <p:nvPr/>
        </p:nvSpPr>
        <p:spPr>
          <a:xfrm>
            <a:off x="2334376" y="3707976"/>
            <a:ext cx="3254393"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Skill</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（スキル）</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テキスト ボックス 22"/>
          <p:cNvSpPr txBox="1"/>
          <p:nvPr/>
        </p:nvSpPr>
        <p:spPr>
          <a:xfrm>
            <a:off x="5208104" y="4309677"/>
            <a:ext cx="2248582"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Style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（スタイル）</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テキスト ボックス 23"/>
          <p:cNvSpPr txBox="1"/>
          <p:nvPr/>
        </p:nvSpPr>
        <p:spPr>
          <a:xfrm>
            <a:off x="2360631" y="5607877"/>
            <a:ext cx="3777785" cy="338554"/>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Quality Relationships</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（関係の質</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172835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50</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「７</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」で情報を集め、整理する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正方形/長方形 24"/>
          <p:cNvSpPr/>
          <p:nvPr/>
        </p:nvSpPr>
        <p:spPr>
          <a:xfrm>
            <a:off x="2205622" y="1695584"/>
            <a:ext cx="7488832" cy="4896544"/>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26" name="直線コネクタ 25"/>
          <p:cNvCxnSpPr/>
          <p:nvPr/>
        </p:nvCxnSpPr>
        <p:spPr>
          <a:xfrm>
            <a:off x="2205622" y="5589240"/>
            <a:ext cx="7488832"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正方形/長方形 26"/>
          <p:cNvSpPr/>
          <p:nvPr/>
        </p:nvSpPr>
        <p:spPr>
          <a:xfrm>
            <a:off x="4689898" y="3030344"/>
            <a:ext cx="2520280" cy="1224136"/>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28" name="直線コネクタ 27"/>
          <p:cNvCxnSpPr/>
          <p:nvPr/>
        </p:nvCxnSpPr>
        <p:spPr>
          <a:xfrm flipV="1">
            <a:off x="7210178" y="1695584"/>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7210178" y="4254480"/>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a:off x="3447760" y="1695584"/>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3447760" y="4254480"/>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a:off x="2205622"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a:off x="7210178"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5199866" y="1768949"/>
            <a:ext cx="3022272"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Strategy</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（戦略）</a:t>
            </a:r>
          </a:p>
        </p:txBody>
      </p:sp>
      <p:sp>
        <p:nvSpPr>
          <p:cNvPr id="35" name="テキスト ボックス 34"/>
          <p:cNvSpPr txBox="1"/>
          <p:nvPr/>
        </p:nvSpPr>
        <p:spPr>
          <a:xfrm>
            <a:off x="6546175" y="1768948"/>
            <a:ext cx="3256694" cy="307777"/>
          </a:xfrm>
          <a:prstGeom prst="rect">
            <a:avLst/>
          </a:prstGeom>
          <a:noFill/>
        </p:spPr>
        <p:txBody>
          <a:bodyPr wrap="square" rtlCol="0">
            <a:spAutoFit/>
          </a:bodyPr>
          <a:lstStyle/>
          <a:p>
            <a:pPr algn="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Structure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（組織構造）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2286177" y="1768949"/>
            <a:ext cx="3112678" cy="307777"/>
          </a:xfrm>
          <a:prstGeom prst="rect">
            <a:avLst/>
          </a:prstGeom>
          <a:noFill/>
        </p:spPr>
        <p:txBody>
          <a:bodyPr wrap="square" rtlCol="0">
            <a:spAutoFit/>
          </a:bodyPr>
          <a:lstStyle/>
          <a:p>
            <a:r>
              <a:rPr lang="en-US" altLang="ja-JP" sz="1400" b="1" dirty="0" err="1">
                <a:latin typeface="メイリオ" panose="020B0604030504040204" pitchFamily="50" charset="-128"/>
                <a:ea typeface="メイリオ" panose="020B0604030504040204" pitchFamily="50" charset="-128"/>
                <a:cs typeface="メイリオ" panose="020B0604030504040204" pitchFamily="50" charset="-128"/>
              </a:rPr>
              <a:t>Stystem</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テキスト ボックス 36"/>
          <p:cNvSpPr txBox="1"/>
          <p:nvPr/>
        </p:nvSpPr>
        <p:spPr>
          <a:xfrm>
            <a:off x="4688356" y="3103708"/>
            <a:ext cx="3472014"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Shared Value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（共通価値観）</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p:cNvSpPr txBox="1"/>
          <p:nvPr/>
        </p:nvSpPr>
        <p:spPr>
          <a:xfrm>
            <a:off x="2259922" y="3740559"/>
            <a:ext cx="3254393"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Skill</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（スキル）</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テキスト ボックス 38"/>
          <p:cNvSpPr txBox="1"/>
          <p:nvPr/>
        </p:nvSpPr>
        <p:spPr>
          <a:xfrm>
            <a:off x="5133650" y="4342260"/>
            <a:ext cx="2248582" cy="307777"/>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Style</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（スタイル）</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テキスト ボックス 39"/>
          <p:cNvSpPr txBox="1"/>
          <p:nvPr/>
        </p:nvSpPr>
        <p:spPr>
          <a:xfrm>
            <a:off x="2286177" y="5640460"/>
            <a:ext cx="3777785" cy="338554"/>
          </a:xfrm>
          <a:prstGeom prst="rect">
            <a:avLst/>
          </a:prstGeom>
          <a:noFill/>
        </p:spPr>
        <p:txBody>
          <a:bodyPr wrap="square" rtlCol="0">
            <a:spAutoFit/>
          </a:bodyPr>
          <a:lstStyle/>
          <a:p>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Quality Relationships</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（関係の質</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正方形/長方形 40"/>
          <p:cNvSpPr/>
          <p:nvPr/>
        </p:nvSpPr>
        <p:spPr>
          <a:xfrm>
            <a:off x="2391554" y="220486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2" name="正方形/長方形 41"/>
          <p:cNvSpPr/>
          <p:nvPr/>
        </p:nvSpPr>
        <p:spPr>
          <a:xfrm>
            <a:off x="3460966" y="261141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正方形/長方形 42"/>
          <p:cNvSpPr/>
          <p:nvPr/>
        </p:nvSpPr>
        <p:spPr>
          <a:xfrm>
            <a:off x="2468463" y="301176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44" name="正方形/長方形 43"/>
          <p:cNvSpPr/>
          <p:nvPr/>
        </p:nvSpPr>
        <p:spPr>
          <a:xfrm>
            <a:off x="2595163" y="237091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正方形/長方形 44"/>
          <p:cNvSpPr/>
          <p:nvPr/>
        </p:nvSpPr>
        <p:spPr>
          <a:xfrm>
            <a:off x="3689986" y="278374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46" name="正方形/長方形 45"/>
          <p:cNvSpPr/>
          <p:nvPr/>
        </p:nvSpPr>
        <p:spPr>
          <a:xfrm>
            <a:off x="2774492" y="316974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正方形/長方形 46"/>
          <p:cNvSpPr/>
          <p:nvPr/>
        </p:nvSpPr>
        <p:spPr>
          <a:xfrm>
            <a:off x="4842508" y="217794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8" name="正方形/長方形 47"/>
          <p:cNvSpPr/>
          <p:nvPr/>
        </p:nvSpPr>
        <p:spPr>
          <a:xfrm>
            <a:off x="6761183" y="224177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正方形/長方形 48"/>
          <p:cNvSpPr/>
          <p:nvPr/>
        </p:nvSpPr>
        <p:spPr>
          <a:xfrm>
            <a:off x="5757933" y="231796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0" name="正方形/長方形 49"/>
          <p:cNvSpPr/>
          <p:nvPr/>
        </p:nvSpPr>
        <p:spPr>
          <a:xfrm>
            <a:off x="5046117" y="234399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正方形/長方形 50"/>
          <p:cNvSpPr/>
          <p:nvPr/>
        </p:nvSpPr>
        <p:spPr>
          <a:xfrm>
            <a:off x="6934678" y="213221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2" name="正方形/長方形 51"/>
          <p:cNvSpPr/>
          <p:nvPr/>
        </p:nvSpPr>
        <p:spPr>
          <a:xfrm>
            <a:off x="6063962" y="247594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3" name="正方形/長方形 52"/>
          <p:cNvSpPr/>
          <p:nvPr/>
        </p:nvSpPr>
        <p:spPr>
          <a:xfrm>
            <a:off x="2285222" y="402840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54" name="正方形/長方形 53"/>
          <p:cNvSpPr/>
          <p:nvPr/>
        </p:nvSpPr>
        <p:spPr>
          <a:xfrm>
            <a:off x="3354634" y="443495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5" name="正方形/長方形 54"/>
          <p:cNvSpPr/>
          <p:nvPr/>
        </p:nvSpPr>
        <p:spPr>
          <a:xfrm>
            <a:off x="2362131" y="483530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6" name="正方形/長方形 55"/>
          <p:cNvSpPr/>
          <p:nvPr/>
        </p:nvSpPr>
        <p:spPr>
          <a:xfrm>
            <a:off x="2488831" y="41944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7" name="正方形/長方形 56"/>
          <p:cNvSpPr/>
          <p:nvPr/>
        </p:nvSpPr>
        <p:spPr>
          <a:xfrm>
            <a:off x="3583654" y="460729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8" name="正方形/長方形 57"/>
          <p:cNvSpPr/>
          <p:nvPr/>
        </p:nvSpPr>
        <p:spPr>
          <a:xfrm>
            <a:off x="2668160" y="499328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9" name="正方形/長方形 58"/>
          <p:cNvSpPr/>
          <p:nvPr/>
        </p:nvSpPr>
        <p:spPr>
          <a:xfrm>
            <a:off x="7807618" y="407543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0" name="正方形/長方形 59"/>
          <p:cNvSpPr/>
          <p:nvPr/>
        </p:nvSpPr>
        <p:spPr>
          <a:xfrm>
            <a:off x="8877030" y="448198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1" name="正方形/長方形 60"/>
          <p:cNvSpPr/>
          <p:nvPr/>
        </p:nvSpPr>
        <p:spPr>
          <a:xfrm>
            <a:off x="7884527" y="48823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2" name="正方形/長方形 61"/>
          <p:cNvSpPr/>
          <p:nvPr/>
        </p:nvSpPr>
        <p:spPr>
          <a:xfrm>
            <a:off x="8011227" y="424148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3" name="正方形/長方形 62"/>
          <p:cNvSpPr/>
          <p:nvPr/>
        </p:nvSpPr>
        <p:spPr>
          <a:xfrm>
            <a:off x="9106050" y="465431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64" name="正方形/長方形 63"/>
          <p:cNvSpPr/>
          <p:nvPr/>
        </p:nvSpPr>
        <p:spPr>
          <a:xfrm>
            <a:off x="8190556" y="504031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5" name="正方形/長方形 64"/>
          <p:cNvSpPr/>
          <p:nvPr/>
        </p:nvSpPr>
        <p:spPr>
          <a:xfrm>
            <a:off x="7840516" y="213061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6" name="正方形/長方形 65"/>
          <p:cNvSpPr/>
          <p:nvPr/>
        </p:nvSpPr>
        <p:spPr>
          <a:xfrm>
            <a:off x="8909928" y="25371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7" name="正方形/長方形 66"/>
          <p:cNvSpPr/>
          <p:nvPr/>
        </p:nvSpPr>
        <p:spPr>
          <a:xfrm>
            <a:off x="7917425" y="293751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8" name="正方形/長方形 67"/>
          <p:cNvSpPr/>
          <p:nvPr/>
        </p:nvSpPr>
        <p:spPr>
          <a:xfrm>
            <a:off x="8044125" y="229666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9" name="正方形/長方形 68"/>
          <p:cNvSpPr/>
          <p:nvPr/>
        </p:nvSpPr>
        <p:spPr>
          <a:xfrm>
            <a:off x="9138948" y="270949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0" name="正方形/長方形 69"/>
          <p:cNvSpPr/>
          <p:nvPr/>
        </p:nvSpPr>
        <p:spPr>
          <a:xfrm>
            <a:off x="8223454" y="309548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1" name="正方形/長方形 70"/>
          <p:cNvSpPr/>
          <p:nvPr/>
        </p:nvSpPr>
        <p:spPr>
          <a:xfrm>
            <a:off x="4675843" y="476124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2" name="正方形/長方形 71"/>
          <p:cNvSpPr/>
          <p:nvPr/>
        </p:nvSpPr>
        <p:spPr>
          <a:xfrm>
            <a:off x="6594518" y="482508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3" name="正方形/長方形 72"/>
          <p:cNvSpPr/>
          <p:nvPr/>
        </p:nvSpPr>
        <p:spPr>
          <a:xfrm>
            <a:off x="5591268" y="49012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4" name="正方形/長方形 73"/>
          <p:cNvSpPr/>
          <p:nvPr/>
        </p:nvSpPr>
        <p:spPr>
          <a:xfrm>
            <a:off x="4879452" y="49273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5" name="正方形/長方形 74"/>
          <p:cNvSpPr/>
          <p:nvPr/>
        </p:nvSpPr>
        <p:spPr>
          <a:xfrm>
            <a:off x="6768013" y="47155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6" name="正方形/長方形 75"/>
          <p:cNvSpPr/>
          <p:nvPr/>
        </p:nvSpPr>
        <p:spPr>
          <a:xfrm>
            <a:off x="5897297" y="505925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7" name="正方形/長方形 76"/>
          <p:cNvSpPr/>
          <p:nvPr/>
        </p:nvSpPr>
        <p:spPr>
          <a:xfrm>
            <a:off x="6153794" y="34515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8" name="正方形/長方形 77"/>
          <p:cNvSpPr/>
          <p:nvPr/>
        </p:nvSpPr>
        <p:spPr>
          <a:xfrm>
            <a:off x="4934012" y="345344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9" name="正方形/長方形 78"/>
          <p:cNvSpPr/>
          <p:nvPr/>
        </p:nvSpPr>
        <p:spPr>
          <a:xfrm>
            <a:off x="6357403" y="361762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0" name="正方形/長方形 79"/>
          <p:cNvSpPr/>
          <p:nvPr/>
        </p:nvSpPr>
        <p:spPr>
          <a:xfrm>
            <a:off x="5240041" y="36114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1" name="正方形/長方形 80"/>
          <p:cNvSpPr/>
          <p:nvPr/>
        </p:nvSpPr>
        <p:spPr>
          <a:xfrm>
            <a:off x="3111634" y="592995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82" name="正方形/長方形 81"/>
          <p:cNvSpPr/>
          <p:nvPr/>
        </p:nvSpPr>
        <p:spPr>
          <a:xfrm>
            <a:off x="3315243" y="609600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3" name="正方形/長方形 82"/>
          <p:cNvSpPr/>
          <p:nvPr/>
        </p:nvSpPr>
        <p:spPr>
          <a:xfrm>
            <a:off x="8460569" y="600277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4" name="正方形/長方形 83"/>
          <p:cNvSpPr/>
          <p:nvPr/>
        </p:nvSpPr>
        <p:spPr>
          <a:xfrm>
            <a:off x="7836763" y="572268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85" name="正方形/長方形 84"/>
          <p:cNvSpPr/>
          <p:nvPr/>
        </p:nvSpPr>
        <p:spPr>
          <a:xfrm>
            <a:off x="8142792" y="588066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6" name="正方形/長方形 85"/>
          <p:cNvSpPr/>
          <p:nvPr/>
        </p:nvSpPr>
        <p:spPr>
          <a:xfrm>
            <a:off x="5869496" y="58524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7" name="正方形/長方形 86"/>
          <p:cNvSpPr/>
          <p:nvPr/>
        </p:nvSpPr>
        <p:spPr>
          <a:xfrm>
            <a:off x="6098516" y="60247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194471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51</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「７</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」で情報を集め、整理する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正方形/長方形 24"/>
          <p:cNvSpPr/>
          <p:nvPr/>
        </p:nvSpPr>
        <p:spPr>
          <a:xfrm>
            <a:off x="2236531" y="1695584"/>
            <a:ext cx="7488832" cy="4896544"/>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p:cNvCxnSpPr/>
          <p:nvPr/>
        </p:nvCxnSpPr>
        <p:spPr>
          <a:xfrm>
            <a:off x="2236531" y="5589240"/>
            <a:ext cx="7488832"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正方形/長方形 26"/>
          <p:cNvSpPr/>
          <p:nvPr/>
        </p:nvSpPr>
        <p:spPr>
          <a:xfrm>
            <a:off x="4720807" y="3030344"/>
            <a:ext cx="2520280" cy="1224136"/>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p:cNvCxnSpPr/>
          <p:nvPr/>
        </p:nvCxnSpPr>
        <p:spPr>
          <a:xfrm flipV="1">
            <a:off x="7241087" y="1695584"/>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7241087" y="4254480"/>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a:off x="3478669" y="1695584"/>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3478669" y="4254480"/>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a:off x="2236531"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a:off x="7241087"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5230775" y="1768949"/>
            <a:ext cx="3022272"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Strategy</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（戦略）</a:t>
            </a:r>
          </a:p>
        </p:txBody>
      </p:sp>
      <p:sp>
        <p:nvSpPr>
          <p:cNvPr id="35" name="テキスト ボックス 34"/>
          <p:cNvSpPr txBox="1"/>
          <p:nvPr/>
        </p:nvSpPr>
        <p:spPr>
          <a:xfrm>
            <a:off x="6577084" y="1768948"/>
            <a:ext cx="3256694" cy="307777"/>
          </a:xfrm>
          <a:prstGeom prst="rect">
            <a:avLst/>
          </a:prstGeom>
          <a:noFill/>
        </p:spPr>
        <p:txBody>
          <a:bodyPr wrap="square" rtlCol="0">
            <a:spAutoFit/>
          </a:bodyPr>
          <a:lstStyle/>
          <a:p>
            <a:pPr algn="r"/>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Structure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（組織構造）</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2317086" y="1768949"/>
            <a:ext cx="3112678" cy="307777"/>
          </a:xfrm>
          <a:prstGeom prst="rect">
            <a:avLst/>
          </a:prstGeom>
          <a:noFill/>
        </p:spPr>
        <p:txBody>
          <a:bodyPr wrap="square" rtlCol="0">
            <a:spAutoFit/>
          </a:bodyPr>
          <a:lstStyle/>
          <a:p>
            <a:r>
              <a:rPr lang="en-US" altLang="ja-JP" sz="1400" b="1" dirty="0" err="1">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Stystem</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テキスト ボックス 36"/>
          <p:cNvSpPr txBox="1"/>
          <p:nvPr/>
        </p:nvSpPr>
        <p:spPr>
          <a:xfrm>
            <a:off x="4719265" y="3103708"/>
            <a:ext cx="3472014"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Shared Value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（共通価値観）</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p:cNvSpPr txBox="1"/>
          <p:nvPr/>
        </p:nvSpPr>
        <p:spPr>
          <a:xfrm>
            <a:off x="2290831" y="3740559"/>
            <a:ext cx="3254393"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Skill</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（スキル）</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テキスト ボックス 38"/>
          <p:cNvSpPr txBox="1"/>
          <p:nvPr/>
        </p:nvSpPr>
        <p:spPr>
          <a:xfrm>
            <a:off x="5164559" y="4342260"/>
            <a:ext cx="2248582"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Style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（スタイル）</a:t>
            </a:r>
            <a:endParaRPr kumimoji="1" lang="ja-JP" altLang="en-US" sz="1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テキスト ボックス 39"/>
          <p:cNvSpPr txBox="1"/>
          <p:nvPr/>
        </p:nvSpPr>
        <p:spPr>
          <a:xfrm>
            <a:off x="2317086" y="5640460"/>
            <a:ext cx="3777785" cy="338554"/>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Quality Relationships</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（関係の質</a:t>
            </a:r>
            <a:r>
              <a:rPr lang="ja-JP" altLang="en-US" sz="1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正方形/長方形 40"/>
          <p:cNvSpPr/>
          <p:nvPr/>
        </p:nvSpPr>
        <p:spPr>
          <a:xfrm>
            <a:off x="2422463" y="220486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2" name="正方形/長方形 41"/>
          <p:cNvSpPr/>
          <p:nvPr/>
        </p:nvSpPr>
        <p:spPr>
          <a:xfrm>
            <a:off x="3491875" y="261141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正方形/長方形 42"/>
          <p:cNvSpPr/>
          <p:nvPr/>
        </p:nvSpPr>
        <p:spPr>
          <a:xfrm>
            <a:off x="2499372" y="301176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44" name="正方形/長方形 43"/>
          <p:cNvSpPr/>
          <p:nvPr/>
        </p:nvSpPr>
        <p:spPr>
          <a:xfrm>
            <a:off x="2626072" y="237091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正方形/長方形 44"/>
          <p:cNvSpPr/>
          <p:nvPr/>
        </p:nvSpPr>
        <p:spPr>
          <a:xfrm>
            <a:off x="3720895" y="278374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46" name="正方形/長方形 45"/>
          <p:cNvSpPr/>
          <p:nvPr/>
        </p:nvSpPr>
        <p:spPr>
          <a:xfrm>
            <a:off x="2805401" y="316974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正方形/長方形 46"/>
          <p:cNvSpPr/>
          <p:nvPr/>
        </p:nvSpPr>
        <p:spPr>
          <a:xfrm>
            <a:off x="4873417" y="217794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8" name="正方形/長方形 47"/>
          <p:cNvSpPr/>
          <p:nvPr/>
        </p:nvSpPr>
        <p:spPr>
          <a:xfrm>
            <a:off x="6792092" y="224177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正方形/長方形 48"/>
          <p:cNvSpPr/>
          <p:nvPr/>
        </p:nvSpPr>
        <p:spPr>
          <a:xfrm>
            <a:off x="5788842" y="231796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0" name="正方形/長方形 49"/>
          <p:cNvSpPr/>
          <p:nvPr/>
        </p:nvSpPr>
        <p:spPr>
          <a:xfrm>
            <a:off x="5077026" y="234399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正方形/長方形 50"/>
          <p:cNvSpPr/>
          <p:nvPr/>
        </p:nvSpPr>
        <p:spPr>
          <a:xfrm>
            <a:off x="6965587" y="213221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2" name="正方形/長方形 51"/>
          <p:cNvSpPr/>
          <p:nvPr/>
        </p:nvSpPr>
        <p:spPr>
          <a:xfrm>
            <a:off x="6094871" y="247594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3" name="正方形/長方形 52"/>
          <p:cNvSpPr/>
          <p:nvPr/>
        </p:nvSpPr>
        <p:spPr>
          <a:xfrm>
            <a:off x="2316131" y="402840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54" name="正方形/長方形 53"/>
          <p:cNvSpPr/>
          <p:nvPr/>
        </p:nvSpPr>
        <p:spPr>
          <a:xfrm>
            <a:off x="3385543" y="443495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5" name="正方形/長方形 54"/>
          <p:cNvSpPr/>
          <p:nvPr/>
        </p:nvSpPr>
        <p:spPr>
          <a:xfrm>
            <a:off x="2393040" y="483530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6" name="正方形/長方形 55"/>
          <p:cNvSpPr/>
          <p:nvPr/>
        </p:nvSpPr>
        <p:spPr>
          <a:xfrm>
            <a:off x="2519740" y="41944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7" name="正方形/長方形 56"/>
          <p:cNvSpPr/>
          <p:nvPr/>
        </p:nvSpPr>
        <p:spPr>
          <a:xfrm>
            <a:off x="3614563" y="460729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8" name="正方形/長方形 57"/>
          <p:cNvSpPr/>
          <p:nvPr/>
        </p:nvSpPr>
        <p:spPr>
          <a:xfrm>
            <a:off x="2699069" y="499328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9" name="正方形/長方形 58"/>
          <p:cNvSpPr/>
          <p:nvPr/>
        </p:nvSpPr>
        <p:spPr>
          <a:xfrm>
            <a:off x="7838527" y="407543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0" name="正方形/長方形 59"/>
          <p:cNvSpPr/>
          <p:nvPr/>
        </p:nvSpPr>
        <p:spPr>
          <a:xfrm>
            <a:off x="8907939" y="448198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1" name="正方形/長方形 60"/>
          <p:cNvSpPr/>
          <p:nvPr/>
        </p:nvSpPr>
        <p:spPr>
          <a:xfrm>
            <a:off x="7915436" y="48823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2" name="正方形/長方形 61"/>
          <p:cNvSpPr/>
          <p:nvPr/>
        </p:nvSpPr>
        <p:spPr>
          <a:xfrm>
            <a:off x="8042136" y="424148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3" name="正方形/長方形 62"/>
          <p:cNvSpPr/>
          <p:nvPr/>
        </p:nvSpPr>
        <p:spPr>
          <a:xfrm>
            <a:off x="9136959" y="465431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64" name="正方形/長方形 63"/>
          <p:cNvSpPr/>
          <p:nvPr/>
        </p:nvSpPr>
        <p:spPr>
          <a:xfrm>
            <a:off x="8221465" y="504031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5" name="正方形/長方形 64"/>
          <p:cNvSpPr/>
          <p:nvPr/>
        </p:nvSpPr>
        <p:spPr>
          <a:xfrm>
            <a:off x="7871425" y="213061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6" name="正方形/長方形 65"/>
          <p:cNvSpPr/>
          <p:nvPr/>
        </p:nvSpPr>
        <p:spPr>
          <a:xfrm>
            <a:off x="8940837" y="25371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7" name="正方形/長方形 66"/>
          <p:cNvSpPr/>
          <p:nvPr/>
        </p:nvSpPr>
        <p:spPr>
          <a:xfrm>
            <a:off x="7948334" y="293751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8" name="正方形/長方形 67"/>
          <p:cNvSpPr/>
          <p:nvPr/>
        </p:nvSpPr>
        <p:spPr>
          <a:xfrm>
            <a:off x="8075034" y="229666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9" name="正方形/長方形 68"/>
          <p:cNvSpPr/>
          <p:nvPr/>
        </p:nvSpPr>
        <p:spPr>
          <a:xfrm>
            <a:off x="9169857" y="270949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0" name="正方形/長方形 69"/>
          <p:cNvSpPr/>
          <p:nvPr/>
        </p:nvSpPr>
        <p:spPr>
          <a:xfrm>
            <a:off x="8254363" y="309548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1" name="正方形/長方形 70"/>
          <p:cNvSpPr/>
          <p:nvPr/>
        </p:nvSpPr>
        <p:spPr>
          <a:xfrm>
            <a:off x="4706752" y="476124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2" name="正方形/長方形 71"/>
          <p:cNvSpPr/>
          <p:nvPr/>
        </p:nvSpPr>
        <p:spPr>
          <a:xfrm>
            <a:off x="6625427" y="482508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3" name="正方形/長方形 72"/>
          <p:cNvSpPr/>
          <p:nvPr/>
        </p:nvSpPr>
        <p:spPr>
          <a:xfrm>
            <a:off x="5622177" y="49012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4" name="正方形/長方形 73"/>
          <p:cNvSpPr/>
          <p:nvPr/>
        </p:nvSpPr>
        <p:spPr>
          <a:xfrm>
            <a:off x="4910361" y="49273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5" name="正方形/長方形 74"/>
          <p:cNvSpPr/>
          <p:nvPr/>
        </p:nvSpPr>
        <p:spPr>
          <a:xfrm>
            <a:off x="6798922" y="47155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6" name="正方形/長方形 75"/>
          <p:cNvSpPr/>
          <p:nvPr/>
        </p:nvSpPr>
        <p:spPr>
          <a:xfrm>
            <a:off x="5928206" y="505925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7" name="正方形/長方形 76"/>
          <p:cNvSpPr/>
          <p:nvPr/>
        </p:nvSpPr>
        <p:spPr>
          <a:xfrm>
            <a:off x="6184703" y="34515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8" name="正方形/長方形 77"/>
          <p:cNvSpPr/>
          <p:nvPr/>
        </p:nvSpPr>
        <p:spPr>
          <a:xfrm>
            <a:off x="4964921" y="345344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9" name="正方形/長方形 78"/>
          <p:cNvSpPr/>
          <p:nvPr/>
        </p:nvSpPr>
        <p:spPr>
          <a:xfrm>
            <a:off x="6388312" y="361762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0" name="正方形/長方形 79"/>
          <p:cNvSpPr/>
          <p:nvPr/>
        </p:nvSpPr>
        <p:spPr>
          <a:xfrm>
            <a:off x="5270950" y="36114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1" name="フリーフォーム 80"/>
          <p:cNvSpPr/>
          <p:nvPr/>
        </p:nvSpPr>
        <p:spPr>
          <a:xfrm>
            <a:off x="3281683" y="2292774"/>
            <a:ext cx="1161561" cy="1175856"/>
          </a:xfrm>
          <a:custGeom>
            <a:avLst/>
            <a:gdLst>
              <a:gd name="connsiteX0" fmla="*/ 480864 w 1161561"/>
              <a:gd name="connsiteY0" fmla="*/ 44026 h 1175856"/>
              <a:gd name="connsiteX1" fmla="*/ 43203 w 1161561"/>
              <a:gd name="connsiteY1" fmla="*/ 145626 h 1175856"/>
              <a:gd name="connsiteX2" fmla="*/ 121357 w 1161561"/>
              <a:gd name="connsiteY2" fmla="*/ 981872 h 1175856"/>
              <a:gd name="connsiteX3" fmla="*/ 973234 w 1161561"/>
              <a:gd name="connsiteY3" fmla="*/ 1153811 h 1175856"/>
              <a:gd name="connsiteX4" fmla="*/ 1129541 w 1161561"/>
              <a:gd name="connsiteY4" fmla="*/ 622364 h 1175856"/>
              <a:gd name="connsiteX5" fmla="*/ 480864 w 1161561"/>
              <a:gd name="connsiteY5" fmla="*/ 44026 h 11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561" h="1175856">
                <a:moveTo>
                  <a:pt x="480864" y="44026"/>
                </a:moveTo>
                <a:cubicBezTo>
                  <a:pt x="299808" y="-35430"/>
                  <a:pt x="103121" y="-10682"/>
                  <a:pt x="43203" y="145626"/>
                </a:cubicBezTo>
                <a:cubicBezTo>
                  <a:pt x="-16715" y="301934"/>
                  <a:pt x="-33648" y="813841"/>
                  <a:pt x="121357" y="981872"/>
                </a:cubicBezTo>
                <a:cubicBezTo>
                  <a:pt x="276362" y="1149903"/>
                  <a:pt x="805203" y="1213729"/>
                  <a:pt x="973234" y="1153811"/>
                </a:cubicBezTo>
                <a:cubicBezTo>
                  <a:pt x="1141265" y="1093893"/>
                  <a:pt x="1206392" y="803420"/>
                  <a:pt x="1129541" y="622364"/>
                </a:cubicBezTo>
                <a:cubicBezTo>
                  <a:pt x="1052690" y="441308"/>
                  <a:pt x="661920" y="123482"/>
                  <a:pt x="480864" y="44026"/>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フリーフォーム 81"/>
          <p:cNvSpPr/>
          <p:nvPr/>
        </p:nvSpPr>
        <p:spPr>
          <a:xfrm>
            <a:off x="4759425" y="3341787"/>
            <a:ext cx="1177535" cy="806348"/>
          </a:xfrm>
          <a:custGeom>
            <a:avLst/>
            <a:gdLst>
              <a:gd name="connsiteX0" fmla="*/ 894445 w 1177535"/>
              <a:gd name="connsiteY0" fmla="*/ 104798 h 918438"/>
              <a:gd name="connsiteX1" fmla="*/ 597461 w 1177535"/>
              <a:gd name="connsiteY1" fmla="*/ 11013 h 918438"/>
              <a:gd name="connsiteX2" fmla="*/ 19122 w 1177535"/>
              <a:gd name="connsiteY2" fmla="*/ 96982 h 918438"/>
              <a:gd name="connsiteX3" fmla="*/ 230138 w 1177535"/>
              <a:gd name="connsiteY3" fmla="*/ 855075 h 918438"/>
              <a:gd name="connsiteX4" fmla="*/ 1113276 w 1177535"/>
              <a:gd name="connsiteY4" fmla="*/ 808182 h 918438"/>
              <a:gd name="connsiteX5" fmla="*/ 1082015 w 1177535"/>
              <a:gd name="connsiteY5" fmla="*/ 261105 h 918438"/>
              <a:gd name="connsiteX6" fmla="*/ 894445 w 1177535"/>
              <a:gd name="connsiteY6" fmla="*/ 104798 h 91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7535" h="918438">
                <a:moveTo>
                  <a:pt x="894445" y="104798"/>
                </a:moveTo>
                <a:cubicBezTo>
                  <a:pt x="813686" y="63116"/>
                  <a:pt x="743348" y="12316"/>
                  <a:pt x="597461" y="11013"/>
                </a:cubicBezTo>
                <a:cubicBezTo>
                  <a:pt x="451574" y="9710"/>
                  <a:pt x="80343" y="-43695"/>
                  <a:pt x="19122" y="96982"/>
                </a:cubicBezTo>
                <a:cubicBezTo>
                  <a:pt x="-42099" y="237659"/>
                  <a:pt x="47779" y="736542"/>
                  <a:pt x="230138" y="855075"/>
                </a:cubicBezTo>
                <a:cubicBezTo>
                  <a:pt x="412497" y="973608"/>
                  <a:pt x="971297" y="907177"/>
                  <a:pt x="1113276" y="808182"/>
                </a:cubicBezTo>
                <a:cubicBezTo>
                  <a:pt x="1255255" y="709187"/>
                  <a:pt x="1123697" y="378336"/>
                  <a:pt x="1082015" y="261105"/>
                </a:cubicBezTo>
                <a:cubicBezTo>
                  <a:pt x="1040333" y="143874"/>
                  <a:pt x="975204" y="146480"/>
                  <a:pt x="894445" y="104798"/>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フリーフォーム 82"/>
          <p:cNvSpPr/>
          <p:nvPr/>
        </p:nvSpPr>
        <p:spPr>
          <a:xfrm>
            <a:off x="6609465" y="1982145"/>
            <a:ext cx="982750" cy="869867"/>
          </a:xfrm>
          <a:custGeom>
            <a:avLst/>
            <a:gdLst>
              <a:gd name="connsiteX0" fmla="*/ 701267 w 982750"/>
              <a:gd name="connsiteY0" fmla="*/ 18593 h 869867"/>
              <a:gd name="connsiteX1" fmla="*/ 107298 w 982750"/>
              <a:gd name="connsiteY1" fmla="*/ 104563 h 869867"/>
              <a:gd name="connsiteX2" fmla="*/ 60405 w 982750"/>
              <a:gd name="connsiteY2" fmla="*/ 800132 h 869867"/>
              <a:gd name="connsiteX3" fmla="*/ 748159 w 982750"/>
              <a:gd name="connsiteY3" fmla="*/ 784501 h 869867"/>
              <a:gd name="connsiteX4" fmla="*/ 982621 w 982750"/>
              <a:gd name="connsiteY4" fmla="*/ 260870 h 869867"/>
              <a:gd name="connsiteX5" fmla="*/ 701267 w 982750"/>
              <a:gd name="connsiteY5" fmla="*/ 18593 h 86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2750" h="869867">
                <a:moveTo>
                  <a:pt x="701267" y="18593"/>
                </a:moveTo>
                <a:cubicBezTo>
                  <a:pt x="555380" y="-7458"/>
                  <a:pt x="214108" y="-25694"/>
                  <a:pt x="107298" y="104563"/>
                </a:cubicBezTo>
                <a:cubicBezTo>
                  <a:pt x="488" y="234820"/>
                  <a:pt x="-46405" y="686809"/>
                  <a:pt x="60405" y="800132"/>
                </a:cubicBezTo>
                <a:cubicBezTo>
                  <a:pt x="167215" y="913455"/>
                  <a:pt x="594456" y="874378"/>
                  <a:pt x="748159" y="784501"/>
                </a:cubicBezTo>
                <a:cubicBezTo>
                  <a:pt x="901862" y="694624"/>
                  <a:pt x="986529" y="388521"/>
                  <a:pt x="982621" y="260870"/>
                </a:cubicBezTo>
                <a:cubicBezTo>
                  <a:pt x="978713" y="133219"/>
                  <a:pt x="847154" y="44644"/>
                  <a:pt x="701267" y="18593"/>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フリーフォーム 83"/>
          <p:cNvSpPr/>
          <p:nvPr/>
        </p:nvSpPr>
        <p:spPr>
          <a:xfrm>
            <a:off x="7696480" y="4225371"/>
            <a:ext cx="2007697" cy="1479960"/>
          </a:xfrm>
          <a:custGeom>
            <a:avLst/>
            <a:gdLst>
              <a:gd name="connsiteX0" fmla="*/ 1529021 w 2007697"/>
              <a:gd name="connsiteY0" fmla="*/ 10567 h 1479960"/>
              <a:gd name="connsiteX1" fmla="*/ 1138252 w 2007697"/>
              <a:gd name="connsiteY1" fmla="*/ 96537 h 1479960"/>
              <a:gd name="connsiteX2" fmla="*/ 919421 w 2007697"/>
              <a:gd name="connsiteY2" fmla="*/ 542014 h 1479960"/>
              <a:gd name="connsiteX3" fmla="*/ 130067 w 2007697"/>
              <a:gd name="connsiteY3" fmla="*/ 573275 h 1479960"/>
              <a:gd name="connsiteX4" fmla="*/ 90990 w 2007697"/>
              <a:gd name="connsiteY4" fmla="*/ 1135983 h 1479960"/>
              <a:gd name="connsiteX5" fmla="*/ 1028837 w 2007697"/>
              <a:gd name="connsiteY5" fmla="*/ 1479860 h 1479960"/>
              <a:gd name="connsiteX6" fmla="*/ 1747852 w 2007697"/>
              <a:gd name="connsiteY6" fmla="*/ 1104721 h 1479960"/>
              <a:gd name="connsiteX7" fmla="*/ 1966683 w 2007697"/>
              <a:gd name="connsiteY7" fmla="*/ 948414 h 1479960"/>
              <a:gd name="connsiteX8" fmla="*/ 1966683 w 2007697"/>
              <a:gd name="connsiteY8" fmla="*/ 260660 h 1479960"/>
              <a:gd name="connsiteX9" fmla="*/ 1529021 w 2007697"/>
              <a:gd name="connsiteY9" fmla="*/ 10567 h 147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7697" h="1479960">
                <a:moveTo>
                  <a:pt x="1529021" y="10567"/>
                </a:moveTo>
                <a:cubicBezTo>
                  <a:pt x="1390949" y="-16787"/>
                  <a:pt x="1239852" y="7963"/>
                  <a:pt x="1138252" y="96537"/>
                </a:cubicBezTo>
                <a:cubicBezTo>
                  <a:pt x="1036652" y="185111"/>
                  <a:pt x="1087452" y="462558"/>
                  <a:pt x="919421" y="542014"/>
                </a:cubicBezTo>
                <a:cubicBezTo>
                  <a:pt x="751390" y="621470"/>
                  <a:pt x="268139" y="474280"/>
                  <a:pt x="130067" y="573275"/>
                </a:cubicBezTo>
                <a:cubicBezTo>
                  <a:pt x="-8005" y="672270"/>
                  <a:pt x="-58805" y="984886"/>
                  <a:pt x="90990" y="1135983"/>
                </a:cubicBezTo>
                <a:cubicBezTo>
                  <a:pt x="240785" y="1287080"/>
                  <a:pt x="752693" y="1485070"/>
                  <a:pt x="1028837" y="1479860"/>
                </a:cubicBezTo>
                <a:cubicBezTo>
                  <a:pt x="1304981" y="1474650"/>
                  <a:pt x="1591544" y="1193295"/>
                  <a:pt x="1747852" y="1104721"/>
                </a:cubicBezTo>
                <a:cubicBezTo>
                  <a:pt x="1904160" y="1016147"/>
                  <a:pt x="1930211" y="1089091"/>
                  <a:pt x="1966683" y="948414"/>
                </a:cubicBezTo>
                <a:cubicBezTo>
                  <a:pt x="2003155" y="807737"/>
                  <a:pt x="2037021" y="418270"/>
                  <a:pt x="1966683" y="260660"/>
                </a:cubicBezTo>
                <a:cubicBezTo>
                  <a:pt x="1896345" y="103050"/>
                  <a:pt x="1667093" y="37921"/>
                  <a:pt x="1529021" y="10567"/>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フリーフォーム 84"/>
          <p:cNvSpPr/>
          <p:nvPr/>
        </p:nvSpPr>
        <p:spPr>
          <a:xfrm>
            <a:off x="4462730" y="4617091"/>
            <a:ext cx="2128297" cy="1079915"/>
          </a:xfrm>
          <a:custGeom>
            <a:avLst/>
            <a:gdLst>
              <a:gd name="connsiteX0" fmla="*/ 143879 w 2128297"/>
              <a:gd name="connsiteY0" fmla="*/ 64324 h 1079915"/>
              <a:gd name="connsiteX1" fmla="*/ 120433 w 2128297"/>
              <a:gd name="connsiteY1" fmla="*/ 728632 h 1079915"/>
              <a:gd name="connsiteX2" fmla="*/ 1386525 w 2128297"/>
              <a:gd name="connsiteY2" fmla="*/ 1064694 h 1079915"/>
              <a:gd name="connsiteX3" fmla="*/ 2089910 w 2128297"/>
              <a:gd name="connsiteY3" fmla="*/ 939647 h 1079915"/>
              <a:gd name="connsiteX4" fmla="*/ 1917971 w 2128297"/>
              <a:gd name="connsiteY4" fmla="*/ 220632 h 1079915"/>
              <a:gd name="connsiteX5" fmla="*/ 933233 w 2128297"/>
              <a:gd name="connsiteY5" fmla="*/ 40878 h 1079915"/>
              <a:gd name="connsiteX6" fmla="*/ 143879 w 2128297"/>
              <a:gd name="connsiteY6" fmla="*/ 64324 h 107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8297" h="1079915">
                <a:moveTo>
                  <a:pt x="143879" y="64324"/>
                </a:moveTo>
                <a:cubicBezTo>
                  <a:pt x="8412" y="178950"/>
                  <a:pt x="-86675" y="561904"/>
                  <a:pt x="120433" y="728632"/>
                </a:cubicBezTo>
                <a:cubicBezTo>
                  <a:pt x="327541" y="895360"/>
                  <a:pt x="1058279" y="1029525"/>
                  <a:pt x="1386525" y="1064694"/>
                </a:cubicBezTo>
                <a:cubicBezTo>
                  <a:pt x="1714771" y="1099863"/>
                  <a:pt x="2001336" y="1080324"/>
                  <a:pt x="2089910" y="939647"/>
                </a:cubicBezTo>
                <a:cubicBezTo>
                  <a:pt x="2178484" y="798970"/>
                  <a:pt x="2110751" y="370427"/>
                  <a:pt x="1917971" y="220632"/>
                </a:cubicBezTo>
                <a:cubicBezTo>
                  <a:pt x="1725191" y="70837"/>
                  <a:pt x="1231520" y="63021"/>
                  <a:pt x="933233" y="40878"/>
                </a:cubicBezTo>
                <a:cubicBezTo>
                  <a:pt x="634946" y="18735"/>
                  <a:pt x="279346" y="-50302"/>
                  <a:pt x="143879" y="6432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正方形/長方形 85"/>
          <p:cNvSpPr/>
          <p:nvPr/>
        </p:nvSpPr>
        <p:spPr>
          <a:xfrm>
            <a:off x="3142543" y="592995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87" name="正方形/長方形 86"/>
          <p:cNvSpPr/>
          <p:nvPr/>
        </p:nvSpPr>
        <p:spPr>
          <a:xfrm>
            <a:off x="3346152" y="609600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8" name="正方形/長方形 87"/>
          <p:cNvSpPr/>
          <p:nvPr/>
        </p:nvSpPr>
        <p:spPr>
          <a:xfrm>
            <a:off x="8491478" y="600277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9" name="正方形/長方形 88"/>
          <p:cNvSpPr/>
          <p:nvPr/>
        </p:nvSpPr>
        <p:spPr>
          <a:xfrm>
            <a:off x="7867672" y="572268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90" name="正方形/長方形 89"/>
          <p:cNvSpPr/>
          <p:nvPr/>
        </p:nvSpPr>
        <p:spPr>
          <a:xfrm>
            <a:off x="8173701" y="588066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1" name="正方形/長方形 90"/>
          <p:cNvSpPr/>
          <p:nvPr/>
        </p:nvSpPr>
        <p:spPr>
          <a:xfrm>
            <a:off x="5900405" y="58524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2" name="正方形/長方形 91"/>
          <p:cNvSpPr/>
          <p:nvPr/>
        </p:nvSpPr>
        <p:spPr>
          <a:xfrm>
            <a:off x="6129425" y="60247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93" name="フリーフォーム 92"/>
          <p:cNvSpPr/>
          <p:nvPr/>
        </p:nvSpPr>
        <p:spPr>
          <a:xfrm>
            <a:off x="2931948" y="5765749"/>
            <a:ext cx="1120989" cy="828849"/>
          </a:xfrm>
          <a:custGeom>
            <a:avLst/>
            <a:gdLst>
              <a:gd name="connsiteX0" fmla="*/ 1088507 w 1120989"/>
              <a:gd name="connsiteY0" fmla="*/ 298989 h 828849"/>
              <a:gd name="connsiteX1" fmla="*/ 650845 w 1120989"/>
              <a:gd name="connsiteY1" fmla="*/ 2005 h 828849"/>
              <a:gd name="connsiteX2" fmla="*/ 25615 w 1120989"/>
              <a:gd name="connsiteY2" fmla="*/ 197389 h 828849"/>
              <a:gd name="connsiteX3" fmla="*/ 174107 w 1120989"/>
              <a:gd name="connsiteY3" fmla="*/ 721020 h 828849"/>
              <a:gd name="connsiteX4" fmla="*/ 666476 w 1120989"/>
              <a:gd name="connsiteY4" fmla="*/ 791359 h 828849"/>
              <a:gd name="connsiteX5" fmla="*/ 1041615 w 1120989"/>
              <a:gd name="connsiteY5" fmla="*/ 791359 h 828849"/>
              <a:gd name="connsiteX6" fmla="*/ 1088507 w 1120989"/>
              <a:gd name="connsiteY6" fmla="*/ 298989 h 82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0989" h="828849">
                <a:moveTo>
                  <a:pt x="1088507" y="298989"/>
                </a:moveTo>
                <a:cubicBezTo>
                  <a:pt x="1023379" y="167430"/>
                  <a:pt x="827994" y="18938"/>
                  <a:pt x="650845" y="2005"/>
                </a:cubicBezTo>
                <a:cubicBezTo>
                  <a:pt x="473696" y="-14928"/>
                  <a:pt x="105071" y="77553"/>
                  <a:pt x="25615" y="197389"/>
                </a:cubicBezTo>
                <a:cubicBezTo>
                  <a:pt x="-53841" y="317225"/>
                  <a:pt x="67297" y="622025"/>
                  <a:pt x="174107" y="721020"/>
                </a:cubicBezTo>
                <a:cubicBezTo>
                  <a:pt x="280917" y="820015"/>
                  <a:pt x="521891" y="779636"/>
                  <a:pt x="666476" y="791359"/>
                </a:cubicBezTo>
                <a:cubicBezTo>
                  <a:pt x="811061" y="803082"/>
                  <a:pt x="971277" y="869513"/>
                  <a:pt x="1041615" y="791359"/>
                </a:cubicBezTo>
                <a:cubicBezTo>
                  <a:pt x="1111953" y="713205"/>
                  <a:pt x="1153635" y="430548"/>
                  <a:pt x="1088507" y="298989"/>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23234998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52</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「７</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」で情報を集め、整理する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正方形/長方形 24"/>
          <p:cNvSpPr/>
          <p:nvPr/>
        </p:nvSpPr>
        <p:spPr>
          <a:xfrm>
            <a:off x="2296743" y="1695584"/>
            <a:ext cx="7488832" cy="4896544"/>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p:cNvCxnSpPr/>
          <p:nvPr/>
        </p:nvCxnSpPr>
        <p:spPr>
          <a:xfrm>
            <a:off x="2296743" y="5589240"/>
            <a:ext cx="7488832"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正方形/長方形 26"/>
          <p:cNvSpPr/>
          <p:nvPr/>
        </p:nvSpPr>
        <p:spPr>
          <a:xfrm>
            <a:off x="4781019" y="3030344"/>
            <a:ext cx="2520280" cy="1224136"/>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p:cNvCxnSpPr/>
          <p:nvPr/>
        </p:nvCxnSpPr>
        <p:spPr>
          <a:xfrm flipV="1">
            <a:off x="7301299" y="1695584"/>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7301299" y="4254480"/>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a:off x="3538881" y="1695584"/>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3538881" y="4254480"/>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a:off x="2296743"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a:off x="7301299"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5290987" y="1768949"/>
            <a:ext cx="3022272"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Strategy</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（戦略）</a:t>
            </a:r>
          </a:p>
        </p:txBody>
      </p:sp>
      <p:sp>
        <p:nvSpPr>
          <p:cNvPr id="35" name="テキスト ボックス 34"/>
          <p:cNvSpPr txBox="1"/>
          <p:nvPr/>
        </p:nvSpPr>
        <p:spPr>
          <a:xfrm>
            <a:off x="6637296" y="1768948"/>
            <a:ext cx="3256694" cy="307777"/>
          </a:xfrm>
          <a:prstGeom prst="rect">
            <a:avLst/>
          </a:prstGeom>
          <a:noFill/>
        </p:spPr>
        <p:txBody>
          <a:bodyPr wrap="square" rtlCol="0">
            <a:spAutoFit/>
          </a:bodyPr>
          <a:lstStyle/>
          <a:p>
            <a:pPr algn="r"/>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Structure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（組織構造）</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2377298" y="1768949"/>
            <a:ext cx="3112678" cy="307777"/>
          </a:xfrm>
          <a:prstGeom prst="rect">
            <a:avLst/>
          </a:prstGeom>
          <a:noFill/>
        </p:spPr>
        <p:txBody>
          <a:bodyPr wrap="square" rtlCol="0">
            <a:spAutoFit/>
          </a:bodyPr>
          <a:lstStyle/>
          <a:p>
            <a:r>
              <a:rPr lang="en-US" altLang="ja-JP" sz="1400" b="1" dirty="0" err="1">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Stystem</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テキスト ボックス 36"/>
          <p:cNvSpPr txBox="1"/>
          <p:nvPr/>
        </p:nvSpPr>
        <p:spPr>
          <a:xfrm>
            <a:off x="4779477" y="3103708"/>
            <a:ext cx="3472014"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Shared Value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（共通価値観）</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p:cNvSpPr txBox="1"/>
          <p:nvPr/>
        </p:nvSpPr>
        <p:spPr>
          <a:xfrm>
            <a:off x="2351043" y="3740559"/>
            <a:ext cx="3254393"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Skill</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（スキル）</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テキスト ボックス 38"/>
          <p:cNvSpPr txBox="1"/>
          <p:nvPr/>
        </p:nvSpPr>
        <p:spPr>
          <a:xfrm>
            <a:off x="5224771" y="4342260"/>
            <a:ext cx="2248582"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Style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（スタイル）</a:t>
            </a:r>
            <a:endParaRPr kumimoji="1" lang="ja-JP" altLang="en-US" sz="1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テキスト ボックス 39"/>
          <p:cNvSpPr txBox="1"/>
          <p:nvPr/>
        </p:nvSpPr>
        <p:spPr>
          <a:xfrm>
            <a:off x="2377298" y="5640460"/>
            <a:ext cx="3777785" cy="338554"/>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Quality Relationships</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（関係の質</a:t>
            </a:r>
            <a:r>
              <a:rPr lang="ja-JP" altLang="en-US" sz="1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正方形/長方形 40"/>
          <p:cNvSpPr/>
          <p:nvPr/>
        </p:nvSpPr>
        <p:spPr>
          <a:xfrm>
            <a:off x="2482675" y="220486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2" name="正方形/長方形 41"/>
          <p:cNvSpPr/>
          <p:nvPr/>
        </p:nvSpPr>
        <p:spPr>
          <a:xfrm>
            <a:off x="3552087" y="261141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正方形/長方形 42"/>
          <p:cNvSpPr/>
          <p:nvPr/>
        </p:nvSpPr>
        <p:spPr>
          <a:xfrm>
            <a:off x="2559584" y="301176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44" name="正方形/長方形 43"/>
          <p:cNvSpPr/>
          <p:nvPr/>
        </p:nvSpPr>
        <p:spPr>
          <a:xfrm>
            <a:off x="2686284" y="237091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正方形/長方形 44"/>
          <p:cNvSpPr/>
          <p:nvPr/>
        </p:nvSpPr>
        <p:spPr>
          <a:xfrm>
            <a:off x="3781107" y="278374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46" name="正方形/長方形 45"/>
          <p:cNvSpPr/>
          <p:nvPr/>
        </p:nvSpPr>
        <p:spPr>
          <a:xfrm>
            <a:off x="2865613" y="316974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正方形/長方形 46"/>
          <p:cNvSpPr/>
          <p:nvPr/>
        </p:nvSpPr>
        <p:spPr>
          <a:xfrm>
            <a:off x="4933629" y="217794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8" name="正方形/長方形 47"/>
          <p:cNvSpPr/>
          <p:nvPr/>
        </p:nvSpPr>
        <p:spPr>
          <a:xfrm>
            <a:off x="6852304" y="224177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正方形/長方形 48"/>
          <p:cNvSpPr/>
          <p:nvPr/>
        </p:nvSpPr>
        <p:spPr>
          <a:xfrm>
            <a:off x="5849054" y="231796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0" name="正方形/長方形 49"/>
          <p:cNvSpPr/>
          <p:nvPr/>
        </p:nvSpPr>
        <p:spPr>
          <a:xfrm>
            <a:off x="5137238" y="234399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正方形/長方形 50"/>
          <p:cNvSpPr/>
          <p:nvPr/>
        </p:nvSpPr>
        <p:spPr>
          <a:xfrm>
            <a:off x="7025799" y="213221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2" name="正方形/長方形 51"/>
          <p:cNvSpPr/>
          <p:nvPr/>
        </p:nvSpPr>
        <p:spPr>
          <a:xfrm>
            <a:off x="6155083" y="247594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3" name="正方形/長方形 52"/>
          <p:cNvSpPr/>
          <p:nvPr/>
        </p:nvSpPr>
        <p:spPr>
          <a:xfrm>
            <a:off x="2376343" y="402840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54" name="正方形/長方形 53"/>
          <p:cNvSpPr/>
          <p:nvPr/>
        </p:nvSpPr>
        <p:spPr>
          <a:xfrm>
            <a:off x="3445755" y="443495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5" name="正方形/長方形 54"/>
          <p:cNvSpPr/>
          <p:nvPr/>
        </p:nvSpPr>
        <p:spPr>
          <a:xfrm>
            <a:off x="2453252" y="483530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6" name="正方形/長方形 55"/>
          <p:cNvSpPr/>
          <p:nvPr/>
        </p:nvSpPr>
        <p:spPr>
          <a:xfrm>
            <a:off x="2579952" y="41944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7" name="正方形/長方形 56"/>
          <p:cNvSpPr/>
          <p:nvPr/>
        </p:nvSpPr>
        <p:spPr>
          <a:xfrm>
            <a:off x="3674775" y="460729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8" name="正方形/長方形 57"/>
          <p:cNvSpPr/>
          <p:nvPr/>
        </p:nvSpPr>
        <p:spPr>
          <a:xfrm>
            <a:off x="2759281" y="499328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9" name="正方形/長方形 58"/>
          <p:cNvSpPr/>
          <p:nvPr/>
        </p:nvSpPr>
        <p:spPr>
          <a:xfrm>
            <a:off x="7898739" y="407543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0" name="正方形/長方形 59"/>
          <p:cNvSpPr/>
          <p:nvPr/>
        </p:nvSpPr>
        <p:spPr>
          <a:xfrm>
            <a:off x="8968151" y="448198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1" name="正方形/長方形 60"/>
          <p:cNvSpPr/>
          <p:nvPr/>
        </p:nvSpPr>
        <p:spPr>
          <a:xfrm>
            <a:off x="7975648" y="48823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2" name="正方形/長方形 61"/>
          <p:cNvSpPr/>
          <p:nvPr/>
        </p:nvSpPr>
        <p:spPr>
          <a:xfrm>
            <a:off x="8102348" y="424148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3" name="正方形/長方形 62"/>
          <p:cNvSpPr/>
          <p:nvPr/>
        </p:nvSpPr>
        <p:spPr>
          <a:xfrm>
            <a:off x="9197171" y="465431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64" name="正方形/長方形 63"/>
          <p:cNvSpPr/>
          <p:nvPr/>
        </p:nvSpPr>
        <p:spPr>
          <a:xfrm>
            <a:off x="8281677" y="504031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5" name="正方形/長方形 64"/>
          <p:cNvSpPr/>
          <p:nvPr/>
        </p:nvSpPr>
        <p:spPr>
          <a:xfrm>
            <a:off x="7931637" y="213061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6" name="正方形/長方形 65"/>
          <p:cNvSpPr/>
          <p:nvPr/>
        </p:nvSpPr>
        <p:spPr>
          <a:xfrm>
            <a:off x="9001049" y="25371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7" name="正方形/長方形 66"/>
          <p:cNvSpPr/>
          <p:nvPr/>
        </p:nvSpPr>
        <p:spPr>
          <a:xfrm>
            <a:off x="8008546" y="293751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8" name="正方形/長方形 67"/>
          <p:cNvSpPr/>
          <p:nvPr/>
        </p:nvSpPr>
        <p:spPr>
          <a:xfrm>
            <a:off x="8135246" y="229666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9" name="正方形/長方形 68"/>
          <p:cNvSpPr/>
          <p:nvPr/>
        </p:nvSpPr>
        <p:spPr>
          <a:xfrm>
            <a:off x="9230069" y="270949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0" name="正方形/長方形 69"/>
          <p:cNvSpPr/>
          <p:nvPr/>
        </p:nvSpPr>
        <p:spPr>
          <a:xfrm>
            <a:off x="8314575" y="309548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1" name="正方形/長方形 70"/>
          <p:cNvSpPr/>
          <p:nvPr/>
        </p:nvSpPr>
        <p:spPr>
          <a:xfrm>
            <a:off x="4766964" y="476124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2" name="正方形/長方形 71"/>
          <p:cNvSpPr/>
          <p:nvPr/>
        </p:nvSpPr>
        <p:spPr>
          <a:xfrm>
            <a:off x="6685639" y="482508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3" name="正方形/長方形 72"/>
          <p:cNvSpPr/>
          <p:nvPr/>
        </p:nvSpPr>
        <p:spPr>
          <a:xfrm>
            <a:off x="5682389" y="49012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4" name="正方形/長方形 73"/>
          <p:cNvSpPr/>
          <p:nvPr/>
        </p:nvSpPr>
        <p:spPr>
          <a:xfrm>
            <a:off x="4970573" y="49273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5" name="正方形/長方形 74"/>
          <p:cNvSpPr/>
          <p:nvPr/>
        </p:nvSpPr>
        <p:spPr>
          <a:xfrm>
            <a:off x="6859134" y="47155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6" name="正方形/長方形 75"/>
          <p:cNvSpPr/>
          <p:nvPr/>
        </p:nvSpPr>
        <p:spPr>
          <a:xfrm>
            <a:off x="5988418" y="505925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7" name="正方形/長方形 76"/>
          <p:cNvSpPr/>
          <p:nvPr/>
        </p:nvSpPr>
        <p:spPr>
          <a:xfrm>
            <a:off x="6244915" y="34515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8" name="正方形/長方形 77"/>
          <p:cNvSpPr/>
          <p:nvPr/>
        </p:nvSpPr>
        <p:spPr>
          <a:xfrm>
            <a:off x="5025133" y="345344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9" name="正方形/長方形 78"/>
          <p:cNvSpPr/>
          <p:nvPr/>
        </p:nvSpPr>
        <p:spPr>
          <a:xfrm>
            <a:off x="6448524" y="361762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0" name="正方形/長方形 79"/>
          <p:cNvSpPr/>
          <p:nvPr/>
        </p:nvSpPr>
        <p:spPr>
          <a:xfrm>
            <a:off x="5331162" y="36114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1" name="フリーフォーム 80"/>
          <p:cNvSpPr/>
          <p:nvPr/>
        </p:nvSpPr>
        <p:spPr>
          <a:xfrm>
            <a:off x="3341895" y="2292774"/>
            <a:ext cx="1161561" cy="1175856"/>
          </a:xfrm>
          <a:custGeom>
            <a:avLst/>
            <a:gdLst>
              <a:gd name="connsiteX0" fmla="*/ 480864 w 1161561"/>
              <a:gd name="connsiteY0" fmla="*/ 44026 h 1175856"/>
              <a:gd name="connsiteX1" fmla="*/ 43203 w 1161561"/>
              <a:gd name="connsiteY1" fmla="*/ 145626 h 1175856"/>
              <a:gd name="connsiteX2" fmla="*/ 121357 w 1161561"/>
              <a:gd name="connsiteY2" fmla="*/ 981872 h 1175856"/>
              <a:gd name="connsiteX3" fmla="*/ 973234 w 1161561"/>
              <a:gd name="connsiteY3" fmla="*/ 1153811 h 1175856"/>
              <a:gd name="connsiteX4" fmla="*/ 1129541 w 1161561"/>
              <a:gd name="connsiteY4" fmla="*/ 622364 h 1175856"/>
              <a:gd name="connsiteX5" fmla="*/ 480864 w 1161561"/>
              <a:gd name="connsiteY5" fmla="*/ 44026 h 11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561" h="1175856">
                <a:moveTo>
                  <a:pt x="480864" y="44026"/>
                </a:moveTo>
                <a:cubicBezTo>
                  <a:pt x="299808" y="-35430"/>
                  <a:pt x="103121" y="-10682"/>
                  <a:pt x="43203" y="145626"/>
                </a:cubicBezTo>
                <a:cubicBezTo>
                  <a:pt x="-16715" y="301934"/>
                  <a:pt x="-33648" y="813841"/>
                  <a:pt x="121357" y="981872"/>
                </a:cubicBezTo>
                <a:cubicBezTo>
                  <a:pt x="276362" y="1149903"/>
                  <a:pt x="805203" y="1213729"/>
                  <a:pt x="973234" y="1153811"/>
                </a:cubicBezTo>
                <a:cubicBezTo>
                  <a:pt x="1141265" y="1093893"/>
                  <a:pt x="1206392" y="803420"/>
                  <a:pt x="1129541" y="622364"/>
                </a:cubicBezTo>
                <a:cubicBezTo>
                  <a:pt x="1052690" y="441308"/>
                  <a:pt x="661920" y="123482"/>
                  <a:pt x="480864" y="44026"/>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フリーフォーム 81"/>
          <p:cNvSpPr/>
          <p:nvPr/>
        </p:nvSpPr>
        <p:spPr>
          <a:xfrm>
            <a:off x="4819637" y="3341787"/>
            <a:ext cx="1177535" cy="806348"/>
          </a:xfrm>
          <a:custGeom>
            <a:avLst/>
            <a:gdLst>
              <a:gd name="connsiteX0" fmla="*/ 894445 w 1177535"/>
              <a:gd name="connsiteY0" fmla="*/ 104798 h 918438"/>
              <a:gd name="connsiteX1" fmla="*/ 597461 w 1177535"/>
              <a:gd name="connsiteY1" fmla="*/ 11013 h 918438"/>
              <a:gd name="connsiteX2" fmla="*/ 19122 w 1177535"/>
              <a:gd name="connsiteY2" fmla="*/ 96982 h 918438"/>
              <a:gd name="connsiteX3" fmla="*/ 230138 w 1177535"/>
              <a:gd name="connsiteY3" fmla="*/ 855075 h 918438"/>
              <a:gd name="connsiteX4" fmla="*/ 1113276 w 1177535"/>
              <a:gd name="connsiteY4" fmla="*/ 808182 h 918438"/>
              <a:gd name="connsiteX5" fmla="*/ 1082015 w 1177535"/>
              <a:gd name="connsiteY5" fmla="*/ 261105 h 918438"/>
              <a:gd name="connsiteX6" fmla="*/ 894445 w 1177535"/>
              <a:gd name="connsiteY6" fmla="*/ 104798 h 91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7535" h="918438">
                <a:moveTo>
                  <a:pt x="894445" y="104798"/>
                </a:moveTo>
                <a:cubicBezTo>
                  <a:pt x="813686" y="63116"/>
                  <a:pt x="743348" y="12316"/>
                  <a:pt x="597461" y="11013"/>
                </a:cubicBezTo>
                <a:cubicBezTo>
                  <a:pt x="451574" y="9710"/>
                  <a:pt x="80343" y="-43695"/>
                  <a:pt x="19122" y="96982"/>
                </a:cubicBezTo>
                <a:cubicBezTo>
                  <a:pt x="-42099" y="237659"/>
                  <a:pt x="47779" y="736542"/>
                  <a:pt x="230138" y="855075"/>
                </a:cubicBezTo>
                <a:cubicBezTo>
                  <a:pt x="412497" y="973608"/>
                  <a:pt x="971297" y="907177"/>
                  <a:pt x="1113276" y="808182"/>
                </a:cubicBezTo>
                <a:cubicBezTo>
                  <a:pt x="1255255" y="709187"/>
                  <a:pt x="1123697" y="378336"/>
                  <a:pt x="1082015" y="261105"/>
                </a:cubicBezTo>
                <a:cubicBezTo>
                  <a:pt x="1040333" y="143874"/>
                  <a:pt x="975204" y="146480"/>
                  <a:pt x="894445" y="104798"/>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フリーフォーム 82"/>
          <p:cNvSpPr/>
          <p:nvPr/>
        </p:nvSpPr>
        <p:spPr>
          <a:xfrm>
            <a:off x="6669677" y="1982145"/>
            <a:ext cx="982750" cy="869867"/>
          </a:xfrm>
          <a:custGeom>
            <a:avLst/>
            <a:gdLst>
              <a:gd name="connsiteX0" fmla="*/ 701267 w 982750"/>
              <a:gd name="connsiteY0" fmla="*/ 18593 h 869867"/>
              <a:gd name="connsiteX1" fmla="*/ 107298 w 982750"/>
              <a:gd name="connsiteY1" fmla="*/ 104563 h 869867"/>
              <a:gd name="connsiteX2" fmla="*/ 60405 w 982750"/>
              <a:gd name="connsiteY2" fmla="*/ 800132 h 869867"/>
              <a:gd name="connsiteX3" fmla="*/ 748159 w 982750"/>
              <a:gd name="connsiteY3" fmla="*/ 784501 h 869867"/>
              <a:gd name="connsiteX4" fmla="*/ 982621 w 982750"/>
              <a:gd name="connsiteY4" fmla="*/ 260870 h 869867"/>
              <a:gd name="connsiteX5" fmla="*/ 701267 w 982750"/>
              <a:gd name="connsiteY5" fmla="*/ 18593 h 86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2750" h="869867">
                <a:moveTo>
                  <a:pt x="701267" y="18593"/>
                </a:moveTo>
                <a:cubicBezTo>
                  <a:pt x="555380" y="-7458"/>
                  <a:pt x="214108" y="-25694"/>
                  <a:pt x="107298" y="104563"/>
                </a:cubicBezTo>
                <a:cubicBezTo>
                  <a:pt x="488" y="234820"/>
                  <a:pt x="-46405" y="686809"/>
                  <a:pt x="60405" y="800132"/>
                </a:cubicBezTo>
                <a:cubicBezTo>
                  <a:pt x="167215" y="913455"/>
                  <a:pt x="594456" y="874378"/>
                  <a:pt x="748159" y="784501"/>
                </a:cubicBezTo>
                <a:cubicBezTo>
                  <a:pt x="901862" y="694624"/>
                  <a:pt x="986529" y="388521"/>
                  <a:pt x="982621" y="260870"/>
                </a:cubicBezTo>
                <a:cubicBezTo>
                  <a:pt x="978713" y="133219"/>
                  <a:pt x="847154" y="44644"/>
                  <a:pt x="701267" y="18593"/>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フリーフォーム 83"/>
          <p:cNvSpPr/>
          <p:nvPr/>
        </p:nvSpPr>
        <p:spPr>
          <a:xfrm>
            <a:off x="7756692" y="4225371"/>
            <a:ext cx="2007697" cy="1479960"/>
          </a:xfrm>
          <a:custGeom>
            <a:avLst/>
            <a:gdLst>
              <a:gd name="connsiteX0" fmla="*/ 1529021 w 2007697"/>
              <a:gd name="connsiteY0" fmla="*/ 10567 h 1479960"/>
              <a:gd name="connsiteX1" fmla="*/ 1138252 w 2007697"/>
              <a:gd name="connsiteY1" fmla="*/ 96537 h 1479960"/>
              <a:gd name="connsiteX2" fmla="*/ 919421 w 2007697"/>
              <a:gd name="connsiteY2" fmla="*/ 542014 h 1479960"/>
              <a:gd name="connsiteX3" fmla="*/ 130067 w 2007697"/>
              <a:gd name="connsiteY3" fmla="*/ 573275 h 1479960"/>
              <a:gd name="connsiteX4" fmla="*/ 90990 w 2007697"/>
              <a:gd name="connsiteY4" fmla="*/ 1135983 h 1479960"/>
              <a:gd name="connsiteX5" fmla="*/ 1028837 w 2007697"/>
              <a:gd name="connsiteY5" fmla="*/ 1479860 h 1479960"/>
              <a:gd name="connsiteX6" fmla="*/ 1747852 w 2007697"/>
              <a:gd name="connsiteY6" fmla="*/ 1104721 h 1479960"/>
              <a:gd name="connsiteX7" fmla="*/ 1966683 w 2007697"/>
              <a:gd name="connsiteY7" fmla="*/ 948414 h 1479960"/>
              <a:gd name="connsiteX8" fmla="*/ 1966683 w 2007697"/>
              <a:gd name="connsiteY8" fmla="*/ 260660 h 1479960"/>
              <a:gd name="connsiteX9" fmla="*/ 1529021 w 2007697"/>
              <a:gd name="connsiteY9" fmla="*/ 10567 h 147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7697" h="1479960">
                <a:moveTo>
                  <a:pt x="1529021" y="10567"/>
                </a:moveTo>
                <a:cubicBezTo>
                  <a:pt x="1390949" y="-16787"/>
                  <a:pt x="1239852" y="7963"/>
                  <a:pt x="1138252" y="96537"/>
                </a:cubicBezTo>
                <a:cubicBezTo>
                  <a:pt x="1036652" y="185111"/>
                  <a:pt x="1087452" y="462558"/>
                  <a:pt x="919421" y="542014"/>
                </a:cubicBezTo>
                <a:cubicBezTo>
                  <a:pt x="751390" y="621470"/>
                  <a:pt x="268139" y="474280"/>
                  <a:pt x="130067" y="573275"/>
                </a:cubicBezTo>
                <a:cubicBezTo>
                  <a:pt x="-8005" y="672270"/>
                  <a:pt x="-58805" y="984886"/>
                  <a:pt x="90990" y="1135983"/>
                </a:cubicBezTo>
                <a:cubicBezTo>
                  <a:pt x="240785" y="1287080"/>
                  <a:pt x="752693" y="1485070"/>
                  <a:pt x="1028837" y="1479860"/>
                </a:cubicBezTo>
                <a:cubicBezTo>
                  <a:pt x="1304981" y="1474650"/>
                  <a:pt x="1591544" y="1193295"/>
                  <a:pt x="1747852" y="1104721"/>
                </a:cubicBezTo>
                <a:cubicBezTo>
                  <a:pt x="1904160" y="1016147"/>
                  <a:pt x="1930211" y="1089091"/>
                  <a:pt x="1966683" y="948414"/>
                </a:cubicBezTo>
                <a:cubicBezTo>
                  <a:pt x="2003155" y="807737"/>
                  <a:pt x="2037021" y="418270"/>
                  <a:pt x="1966683" y="260660"/>
                </a:cubicBezTo>
                <a:cubicBezTo>
                  <a:pt x="1896345" y="103050"/>
                  <a:pt x="1667093" y="37921"/>
                  <a:pt x="1529021" y="10567"/>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フリーフォーム 84"/>
          <p:cNvSpPr/>
          <p:nvPr/>
        </p:nvSpPr>
        <p:spPr>
          <a:xfrm>
            <a:off x="4522942" y="4617091"/>
            <a:ext cx="2128297" cy="1079915"/>
          </a:xfrm>
          <a:custGeom>
            <a:avLst/>
            <a:gdLst>
              <a:gd name="connsiteX0" fmla="*/ 143879 w 2128297"/>
              <a:gd name="connsiteY0" fmla="*/ 64324 h 1079915"/>
              <a:gd name="connsiteX1" fmla="*/ 120433 w 2128297"/>
              <a:gd name="connsiteY1" fmla="*/ 728632 h 1079915"/>
              <a:gd name="connsiteX2" fmla="*/ 1386525 w 2128297"/>
              <a:gd name="connsiteY2" fmla="*/ 1064694 h 1079915"/>
              <a:gd name="connsiteX3" fmla="*/ 2089910 w 2128297"/>
              <a:gd name="connsiteY3" fmla="*/ 939647 h 1079915"/>
              <a:gd name="connsiteX4" fmla="*/ 1917971 w 2128297"/>
              <a:gd name="connsiteY4" fmla="*/ 220632 h 1079915"/>
              <a:gd name="connsiteX5" fmla="*/ 933233 w 2128297"/>
              <a:gd name="connsiteY5" fmla="*/ 40878 h 1079915"/>
              <a:gd name="connsiteX6" fmla="*/ 143879 w 2128297"/>
              <a:gd name="connsiteY6" fmla="*/ 64324 h 107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8297" h="1079915">
                <a:moveTo>
                  <a:pt x="143879" y="64324"/>
                </a:moveTo>
                <a:cubicBezTo>
                  <a:pt x="8412" y="178950"/>
                  <a:pt x="-86675" y="561904"/>
                  <a:pt x="120433" y="728632"/>
                </a:cubicBezTo>
                <a:cubicBezTo>
                  <a:pt x="327541" y="895360"/>
                  <a:pt x="1058279" y="1029525"/>
                  <a:pt x="1386525" y="1064694"/>
                </a:cubicBezTo>
                <a:cubicBezTo>
                  <a:pt x="1714771" y="1099863"/>
                  <a:pt x="2001336" y="1080324"/>
                  <a:pt x="2089910" y="939647"/>
                </a:cubicBezTo>
                <a:cubicBezTo>
                  <a:pt x="2178484" y="798970"/>
                  <a:pt x="2110751" y="370427"/>
                  <a:pt x="1917971" y="220632"/>
                </a:cubicBezTo>
                <a:cubicBezTo>
                  <a:pt x="1725191" y="70837"/>
                  <a:pt x="1231520" y="63021"/>
                  <a:pt x="933233" y="40878"/>
                </a:cubicBezTo>
                <a:cubicBezTo>
                  <a:pt x="634946" y="18735"/>
                  <a:pt x="279346" y="-50302"/>
                  <a:pt x="143879" y="6432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正方形/長方形 85"/>
          <p:cNvSpPr/>
          <p:nvPr/>
        </p:nvSpPr>
        <p:spPr>
          <a:xfrm>
            <a:off x="3202755" y="592995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87" name="正方形/長方形 86"/>
          <p:cNvSpPr/>
          <p:nvPr/>
        </p:nvSpPr>
        <p:spPr>
          <a:xfrm>
            <a:off x="3406364" y="609600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8" name="正方形/長方形 87"/>
          <p:cNvSpPr/>
          <p:nvPr/>
        </p:nvSpPr>
        <p:spPr>
          <a:xfrm>
            <a:off x="8551690" y="600277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9" name="正方形/長方形 88"/>
          <p:cNvSpPr/>
          <p:nvPr/>
        </p:nvSpPr>
        <p:spPr>
          <a:xfrm>
            <a:off x="7927884" y="572268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90" name="正方形/長方形 89"/>
          <p:cNvSpPr/>
          <p:nvPr/>
        </p:nvSpPr>
        <p:spPr>
          <a:xfrm>
            <a:off x="8233913" y="588066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1" name="正方形/長方形 90"/>
          <p:cNvSpPr/>
          <p:nvPr/>
        </p:nvSpPr>
        <p:spPr>
          <a:xfrm>
            <a:off x="5960617" y="58524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2" name="正方形/長方形 91"/>
          <p:cNvSpPr/>
          <p:nvPr/>
        </p:nvSpPr>
        <p:spPr>
          <a:xfrm>
            <a:off x="6189637" y="60247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93" name="フリーフォーム 92"/>
          <p:cNvSpPr/>
          <p:nvPr/>
        </p:nvSpPr>
        <p:spPr>
          <a:xfrm>
            <a:off x="2992160" y="5765749"/>
            <a:ext cx="1120989" cy="828849"/>
          </a:xfrm>
          <a:custGeom>
            <a:avLst/>
            <a:gdLst>
              <a:gd name="connsiteX0" fmla="*/ 1088507 w 1120989"/>
              <a:gd name="connsiteY0" fmla="*/ 298989 h 828849"/>
              <a:gd name="connsiteX1" fmla="*/ 650845 w 1120989"/>
              <a:gd name="connsiteY1" fmla="*/ 2005 h 828849"/>
              <a:gd name="connsiteX2" fmla="*/ 25615 w 1120989"/>
              <a:gd name="connsiteY2" fmla="*/ 197389 h 828849"/>
              <a:gd name="connsiteX3" fmla="*/ 174107 w 1120989"/>
              <a:gd name="connsiteY3" fmla="*/ 721020 h 828849"/>
              <a:gd name="connsiteX4" fmla="*/ 666476 w 1120989"/>
              <a:gd name="connsiteY4" fmla="*/ 791359 h 828849"/>
              <a:gd name="connsiteX5" fmla="*/ 1041615 w 1120989"/>
              <a:gd name="connsiteY5" fmla="*/ 791359 h 828849"/>
              <a:gd name="connsiteX6" fmla="*/ 1088507 w 1120989"/>
              <a:gd name="connsiteY6" fmla="*/ 298989 h 82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0989" h="828849">
                <a:moveTo>
                  <a:pt x="1088507" y="298989"/>
                </a:moveTo>
                <a:cubicBezTo>
                  <a:pt x="1023379" y="167430"/>
                  <a:pt x="827994" y="18938"/>
                  <a:pt x="650845" y="2005"/>
                </a:cubicBezTo>
                <a:cubicBezTo>
                  <a:pt x="473696" y="-14928"/>
                  <a:pt x="105071" y="77553"/>
                  <a:pt x="25615" y="197389"/>
                </a:cubicBezTo>
                <a:cubicBezTo>
                  <a:pt x="-53841" y="317225"/>
                  <a:pt x="67297" y="622025"/>
                  <a:pt x="174107" y="721020"/>
                </a:cubicBezTo>
                <a:cubicBezTo>
                  <a:pt x="280917" y="820015"/>
                  <a:pt x="521891" y="779636"/>
                  <a:pt x="666476" y="791359"/>
                </a:cubicBezTo>
                <a:cubicBezTo>
                  <a:pt x="811061" y="803082"/>
                  <a:pt x="971277" y="869513"/>
                  <a:pt x="1041615" y="791359"/>
                </a:cubicBezTo>
                <a:cubicBezTo>
                  <a:pt x="1111953" y="713205"/>
                  <a:pt x="1153635" y="430548"/>
                  <a:pt x="1088507" y="298989"/>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テキスト ボックス 93"/>
          <p:cNvSpPr txBox="1"/>
          <p:nvPr/>
        </p:nvSpPr>
        <p:spPr>
          <a:xfrm>
            <a:off x="3312874" y="3364248"/>
            <a:ext cx="1398348" cy="261610"/>
          </a:xfrm>
          <a:prstGeom prst="rect">
            <a:avLst/>
          </a:prstGeom>
          <a:noFill/>
        </p:spPr>
        <p:txBody>
          <a:bodyPr wrap="square" rtlCol="0">
            <a:spAutoFit/>
          </a:bodyPr>
          <a:lstStyle/>
          <a:p>
            <a:r>
              <a:rPr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承認プロセスが複雑</a:t>
            </a:r>
            <a:endPar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endParaRPr>
          </a:p>
        </p:txBody>
      </p:sp>
      <p:sp>
        <p:nvSpPr>
          <p:cNvPr id="95" name="テキスト ボックス 94"/>
          <p:cNvSpPr txBox="1"/>
          <p:nvPr/>
        </p:nvSpPr>
        <p:spPr>
          <a:xfrm>
            <a:off x="6553016" y="2782885"/>
            <a:ext cx="1613872"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戦略が伝わっていない</a:t>
            </a:r>
          </a:p>
        </p:txBody>
      </p:sp>
      <p:sp>
        <p:nvSpPr>
          <p:cNvPr id="96" name="テキスト ボックス 95"/>
          <p:cNvSpPr txBox="1"/>
          <p:nvPr/>
        </p:nvSpPr>
        <p:spPr>
          <a:xfrm>
            <a:off x="4670614" y="4488884"/>
            <a:ext cx="2082429"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メンバーの主体性が足りない</a:t>
            </a:r>
          </a:p>
        </p:txBody>
      </p:sp>
      <p:sp>
        <p:nvSpPr>
          <p:cNvPr id="97" name="フリーフォーム 96"/>
          <p:cNvSpPr/>
          <p:nvPr/>
        </p:nvSpPr>
        <p:spPr>
          <a:xfrm>
            <a:off x="2329485" y="4683043"/>
            <a:ext cx="1093370" cy="931824"/>
          </a:xfrm>
          <a:custGeom>
            <a:avLst/>
            <a:gdLst>
              <a:gd name="connsiteX0" fmla="*/ 657028 w 1093370"/>
              <a:gd name="connsiteY0" fmla="*/ 29634 h 931824"/>
              <a:gd name="connsiteX1" fmla="*/ 63059 w 1093370"/>
              <a:gd name="connsiteY1" fmla="*/ 99972 h 931824"/>
              <a:gd name="connsiteX2" fmla="*/ 117767 w 1093370"/>
              <a:gd name="connsiteY2" fmla="*/ 850249 h 931824"/>
              <a:gd name="connsiteX3" fmla="*/ 954013 w 1093370"/>
              <a:gd name="connsiteY3" fmla="*/ 850249 h 931824"/>
              <a:gd name="connsiteX4" fmla="*/ 1063428 w 1093370"/>
              <a:gd name="connsiteY4" fmla="*/ 303172 h 931824"/>
              <a:gd name="connsiteX5" fmla="*/ 657028 w 1093370"/>
              <a:gd name="connsiteY5" fmla="*/ 29634 h 93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370" h="931824">
                <a:moveTo>
                  <a:pt x="657028" y="29634"/>
                </a:moveTo>
                <a:cubicBezTo>
                  <a:pt x="490300" y="-4233"/>
                  <a:pt x="152936" y="-36797"/>
                  <a:pt x="63059" y="99972"/>
                </a:cubicBezTo>
                <a:cubicBezTo>
                  <a:pt x="-26818" y="236741"/>
                  <a:pt x="-30725" y="725203"/>
                  <a:pt x="117767" y="850249"/>
                </a:cubicBezTo>
                <a:cubicBezTo>
                  <a:pt x="266259" y="975295"/>
                  <a:pt x="796403" y="941428"/>
                  <a:pt x="954013" y="850249"/>
                </a:cubicBezTo>
                <a:cubicBezTo>
                  <a:pt x="1111623" y="759070"/>
                  <a:pt x="1115531" y="438639"/>
                  <a:pt x="1063428" y="303172"/>
                </a:cubicBezTo>
                <a:cubicBezTo>
                  <a:pt x="1011325" y="167705"/>
                  <a:pt x="823756" y="63501"/>
                  <a:pt x="657028" y="2963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テキスト ボックス 97"/>
          <p:cNvSpPr txBox="1"/>
          <p:nvPr/>
        </p:nvSpPr>
        <p:spPr>
          <a:xfrm>
            <a:off x="2759281" y="5360690"/>
            <a:ext cx="2082429"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マネジメントスキルがバラバラ</a:t>
            </a:r>
          </a:p>
        </p:txBody>
      </p:sp>
      <p:sp>
        <p:nvSpPr>
          <p:cNvPr id="99" name="テキスト ボックス 98"/>
          <p:cNvSpPr txBox="1"/>
          <p:nvPr/>
        </p:nvSpPr>
        <p:spPr>
          <a:xfrm>
            <a:off x="3670007" y="5861209"/>
            <a:ext cx="2082429"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マネージャーが信頼されていない</a:t>
            </a:r>
          </a:p>
        </p:txBody>
      </p:sp>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4821260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53</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「７</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」で情報を集め、整理する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正方形/長方形 24"/>
          <p:cNvSpPr/>
          <p:nvPr/>
        </p:nvSpPr>
        <p:spPr>
          <a:xfrm>
            <a:off x="2296743" y="1695584"/>
            <a:ext cx="7488832" cy="4896544"/>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p:cNvCxnSpPr/>
          <p:nvPr/>
        </p:nvCxnSpPr>
        <p:spPr>
          <a:xfrm>
            <a:off x="2296743" y="5589240"/>
            <a:ext cx="7488832"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正方形/長方形 26"/>
          <p:cNvSpPr/>
          <p:nvPr/>
        </p:nvSpPr>
        <p:spPr>
          <a:xfrm>
            <a:off x="4781019" y="3030344"/>
            <a:ext cx="2520280" cy="1224136"/>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p:cNvCxnSpPr/>
          <p:nvPr/>
        </p:nvCxnSpPr>
        <p:spPr>
          <a:xfrm flipV="1">
            <a:off x="7301299" y="1695584"/>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7301299" y="4254480"/>
            <a:ext cx="1242137"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a:off x="3538881" y="1695584"/>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3538881" y="4254480"/>
            <a:ext cx="1242138" cy="133476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a:off x="2296743"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a:off x="7301299" y="3642412"/>
            <a:ext cx="24842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5290987" y="1768949"/>
            <a:ext cx="3022272"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Strategy</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（戦略）</a:t>
            </a:r>
          </a:p>
        </p:txBody>
      </p:sp>
      <p:sp>
        <p:nvSpPr>
          <p:cNvPr id="35" name="テキスト ボックス 34"/>
          <p:cNvSpPr txBox="1"/>
          <p:nvPr/>
        </p:nvSpPr>
        <p:spPr>
          <a:xfrm>
            <a:off x="6637296" y="1768948"/>
            <a:ext cx="3256694" cy="307777"/>
          </a:xfrm>
          <a:prstGeom prst="rect">
            <a:avLst/>
          </a:prstGeom>
          <a:noFill/>
        </p:spPr>
        <p:txBody>
          <a:bodyPr wrap="square" rtlCol="0">
            <a:spAutoFit/>
          </a:bodyPr>
          <a:lstStyle/>
          <a:p>
            <a:pPr algn="r"/>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Structure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（組織構造）</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テキスト ボックス 35"/>
          <p:cNvSpPr txBox="1"/>
          <p:nvPr/>
        </p:nvSpPr>
        <p:spPr>
          <a:xfrm>
            <a:off x="2377298" y="1768949"/>
            <a:ext cx="3112678" cy="307777"/>
          </a:xfrm>
          <a:prstGeom prst="rect">
            <a:avLst/>
          </a:prstGeom>
          <a:noFill/>
        </p:spPr>
        <p:txBody>
          <a:bodyPr wrap="square" rtlCol="0">
            <a:spAutoFit/>
          </a:bodyPr>
          <a:lstStyle/>
          <a:p>
            <a:r>
              <a:rPr lang="en-US" altLang="ja-JP" sz="1400" b="1" dirty="0" err="1">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Stystem</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テキスト ボックス 36"/>
          <p:cNvSpPr txBox="1"/>
          <p:nvPr/>
        </p:nvSpPr>
        <p:spPr>
          <a:xfrm>
            <a:off x="4779477" y="3103708"/>
            <a:ext cx="3472014"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Shared Value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（共通価値観）</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p:cNvSpPr txBox="1"/>
          <p:nvPr/>
        </p:nvSpPr>
        <p:spPr>
          <a:xfrm>
            <a:off x="2351043" y="3740559"/>
            <a:ext cx="3254393"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Skill</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（スキル）</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テキスト ボックス 38"/>
          <p:cNvSpPr txBox="1"/>
          <p:nvPr/>
        </p:nvSpPr>
        <p:spPr>
          <a:xfrm>
            <a:off x="5224771" y="4342260"/>
            <a:ext cx="2248582" cy="307777"/>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Style</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（スタイル）</a:t>
            </a:r>
            <a:endParaRPr kumimoji="1" lang="ja-JP" altLang="en-US" sz="1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テキスト ボックス 39"/>
          <p:cNvSpPr txBox="1"/>
          <p:nvPr/>
        </p:nvSpPr>
        <p:spPr>
          <a:xfrm>
            <a:off x="2377298" y="5640460"/>
            <a:ext cx="3777785" cy="338554"/>
          </a:xfrm>
          <a:prstGeom prst="rect">
            <a:avLst/>
          </a:prstGeom>
          <a:noFill/>
        </p:spPr>
        <p:txBody>
          <a:bodyPr wrap="square" rtlCol="0">
            <a:spAutoFit/>
          </a:bodyPr>
          <a:lstStyle/>
          <a:p>
            <a:r>
              <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Quality Relationships</a:t>
            </a:r>
            <a:r>
              <a:rPr lang="ja-JP" altLang="en-US"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（関係の質</a:t>
            </a:r>
            <a:r>
              <a:rPr lang="ja-JP" altLang="en-US" sz="1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正方形/長方形 40"/>
          <p:cNvSpPr/>
          <p:nvPr/>
        </p:nvSpPr>
        <p:spPr>
          <a:xfrm>
            <a:off x="2482675" y="220486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2" name="正方形/長方形 41"/>
          <p:cNvSpPr/>
          <p:nvPr/>
        </p:nvSpPr>
        <p:spPr>
          <a:xfrm>
            <a:off x="3552087" y="261141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正方形/長方形 42"/>
          <p:cNvSpPr/>
          <p:nvPr/>
        </p:nvSpPr>
        <p:spPr>
          <a:xfrm>
            <a:off x="2559584" y="301176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44" name="正方形/長方形 43"/>
          <p:cNvSpPr/>
          <p:nvPr/>
        </p:nvSpPr>
        <p:spPr>
          <a:xfrm>
            <a:off x="2686284" y="237091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正方形/長方形 44"/>
          <p:cNvSpPr/>
          <p:nvPr/>
        </p:nvSpPr>
        <p:spPr>
          <a:xfrm>
            <a:off x="3781107" y="278374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46" name="正方形/長方形 45"/>
          <p:cNvSpPr/>
          <p:nvPr/>
        </p:nvSpPr>
        <p:spPr>
          <a:xfrm>
            <a:off x="2865613" y="316974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正方形/長方形 46"/>
          <p:cNvSpPr/>
          <p:nvPr/>
        </p:nvSpPr>
        <p:spPr>
          <a:xfrm>
            <a:off x="4933629" y="217794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48" name="正方形/長方形 47"/>
          <p:cNvSpPr/>
          <p:nvPr/>
        </p:nvSpPr>
        <p:spPr>
          <a:xfrm>
            <a:off x="6852304" y="224177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正方形/長方形 48"/>
          <p:cNvSpPr/>
          <p:nvPr/>
        </p:nvSpPr>
        <p:spPr>
          <a:xfrm>
            <a:off x="5849054" y="231796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0" name="正方形/長方形 49"/>
          <p:cNvSpPr/>
          <p:nvPr/>
        </p:nvSpPr>
        <p:spPr>
          <a:xfrm>
            <a:off x="5137238" y="234399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正方形/長方形 50"/>
          <p:cNvSpPr/>
          <p:nvPr/>
        </p:nvSpPr>
        <p:spPr>
          <a:xfrm>
            <a:off x="7025799" y="213221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2" name="正方形/長方形 51"/>
          <p:cNvSpPr/>
          <p:nvPr/>
        </p:nvSpPr>
        <p:spPr>
          <a:xfrm>
            <a:off x="6155083" y="247594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3" name="正方形/長方形 52"/>
          <p:cNvSpPr/>
          <p:nvPr/>
        </p:nvSpPr>
        <p:spPr>
          <a:xfrm>
            <a:off x="2376343" y="402840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54" name="正方形/長方形 53"/>
          <p:cNvSpPr/>
          <p:nvPr/>
        </p:nvSpPr>
        <p:spPr>
          <a:xfrm>
            <a:off x="3445755" y="443495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5" name="正方形/長方形 54"/>
          <p:cNvSpPr/>
          <p:nvPr/>
        </p:nvSpPr>
        <p:spPr>
          <a:xfrm>
            <a:off x="2453252" y="4835308"/>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56" name="正方形/長方形 55"/>
          <p:cNvSpPr/>
          <p:nvPr/>
        </p:nvSpPr>
        <p:spPr>
          <a:xfrm>
            <a:off x="2579952" y="41944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7" name="正方形/長方形 56"/>
          <p:cNvSpPr/>
          <p:nvPr/>
        </p:nvSpPr>
        <p:spPr>
          <a:xfrm>
            <a:off x="3674775" y="460729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58" name="正方形/長方形 57"/>
          <p:cNvSpPr/>
          <p:nvPr/>
        </p:nvSpPr>
        <p:spPr>
          <a:xfrm>
            <a:off x="2759281" y="499328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9" name="正方形/長方形 58"/>
          <p:cNvSpPr/>
          <p:nvPr/>
        </p:nvSpPr>
        <p:spPr>
          <a:xfrm>
            <a:off x="7898739" y="407543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0" name="正方形/長方形 59"/>
          <p:cNvSpPr/>
          <p:nvPr/>
        </p:nvSpPr>
        <p:spPr>
          <a:xfrm>
            <a:off x="8968151" y="448198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1" name="正方形/長方形 60"/>
          <p:cNvSpPr/>
          <p:nvPr/>
        </p:nvSpPr>
        <p:spPr>
          <a:xfrm>
            <a:off x="7975648" y="48823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2" name="正方形/長方形 61"/>
          <p:cNvSpPr/>
          <p:nvPr/>
        </p:nvSpPr>
        <p:spPr>
          <a:xfrm>
            <a:off x="8102348" y="424148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3" name="正方形/長方形 62"/>
          <p:cNvSpPr/>
          <p:nvPr/>
        </p:nvSpPr>
        <p:spPr>
          <a:xfrm>
            <a:off x="9197171" y="465431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64" name="正方形/長方形 63"/>
          <p:cNvSpPr/>
          <p:nvPr/>
        </p:nvSpPr>
        <p:spPr>
          <a:xfrm>
            <a:off x="8281677" y="504031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5" name="正方形/長方形 64"/>
          <p:cNvSpPr/>
          <p:nvPr/>
        </p:nvSpPr>
        <p:spPr>
          <a:xfrm>
            <a:off x="7931637" y="213061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66" name="正方形/長方形 65"/>
          <p:cNvSpPr/>
          <p:nvPr/>
        </p:nvSpPr>
        <p:spPr>
          <a:xfrm>
            <a:off x="9001049" y="253715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7" name="正方形/長方形 66"/>
          <p:cNvSpPr/>
          <p:nvPr/>
        </p:nvSpPr>
        <p:spPr>
          <a:xfrm>
            <a:off x="8008546" y="293751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68" name="正方形/長方形 67"/>
          <p:cNvSpPr/>
          <p:nvPr/>
        </p:nvSpPr>
        <p:spPr>
          <a:xfrm>
            <a:off x="8135246" y="229666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9" name="正方形/長方形 68"/>
          <p:cNvSpPr/>
          <p:nvPr/>
        </p:nvSpPr>
        <p:spPr>
          <a:xfrm>
            <a:off x="9230069" y="270949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0" name="正方形/長方形 69"/>
          <p:cNvSpPr/>
          <p:nvPr/>
        </p:nvSpPr>
        <p:spPr>
          <a:xfrm>
            <a:off x="8314575" y="309548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1" name="正方形/長方形 70"/>
          <p:cNvSpPr/>
          <p:nvPr/>
        </p:nvSpPr>
        <p:spPr>
          <a:xfrm>
            <a:off x="4766964" y="476124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2" name="正方形/長方形 71"/>
          <p:cNvSpPr/>
          <p:nvPr/>
        </p:nvSpPr>
        <p:spPr>
          <a:xfrm>
            <a:off x="6685639" y="482508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3" name="正方形/長方形 72"/>
          <p:cNvSpPr/>
          <p:nvPr/>
        </p:nvSpPr>
        <p:spPr>
          <a:xfrm>
            <a:off x="5682389" y="49012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4" name="正方形/長方形 73"/>
          <p:cNvSpPr/>
          <p:nvPr/>
        </p:nvSpPr>
        <p:spPr>
          <a:xfrm>
            <a:off x="4970573" y="49273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5" name="正方形/長方形 74"/>
          <p:cNvSpPr/>
          <p:nvPr/>
        </p:nvSpPr>
        <p:spPr>
          <a:xfrm>
            <a:off x="6859134" y="47155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76" name="正方形/長方形 75"/>
          <p:cNvSpPr/>
          <p:nvPr/>
        </p:nvSpPr>
        <p:spPr>
          <a:xfrm>
            <a:off x="5988418" y="5059255"/>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7" name="正方形/長方形 76"/>
          <p:cNvSpPr/>
          <p:nvPr/>
        </p:nvSpPr>
        <p:spPr>
          <a:xfrm>
            <a:off x="6244915" y="3451577"/>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78" name="正方形/長方形 77"/>
          <p:cNvSpPr/>
          <p:nvPr/>
        </p:nvSpPr>
        <p:spPr>
          <a:xfrm>
            <a:off x="5025133" y="345344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79" name="正方形/長方形 78"/>
          <p:cNvSpPr/>
          <p:nvPr/>
        </p:nvSpPr>
        <p:spPr>
          <a:xfrm>
            <a:off x="6448524" y="3617629"/>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0" name="正方形/長方形 79"/>
          <p:cNvSpPr/>
          <p:nvPr/>
        </p:nvSpPr>
        <p:spPr>
          <a:xfrm>
            <a:off x="5331162" y="361142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1" name="フリーフォーム 80"/>
          <p:cNvSpPr/>
          <p:nvPr/>
        </p:nvSpPr>
        <p:spPr>
          <a:xfrm>
            <a:off x="3341895" y="2292774"/>
            <a:ext cx="1161561" cy="1175856"/>
          </a:xfrm>
          <a:custGeom>
            <a:avLst/>
            <a:gdLst>
              <a:gd name="connsiteX0" fmla="*/ 480864 w 1161561"/>
              <a:gd name="connsiteY0" fmla="*/ 44026 h 1175856"/>
              <a:gd name="connsiteX1" fmla="*/ 43203 w 1161561"/>
              <a:gd name="connsiteY1" fmla="*/ 145626 h 1175856"/>
              <a:gd name="connsiteX2" fmla="*/ 121357 w 1161561"/>
              <a:gd name="connsiteY2" fmla="*/ 981872 h 1175856"/>
              <a:gd name="connsiteX3" fmla="*/ 973234 w 1161561"/>
              <a:gd name="connsiteY3" fmla="*/ 1153811 h 1175856"/>
              <a:gd name="connsiteX4" fmla="*/ 1129541 w 1161561"/>
              <a:gd name="connsiteY4" fmla="*/ 622364 h 1175856"/>
              <a:gd name="connsiteX5" fmla="*/ 480864 w 1161561"/>
              <a:gd name="connsiteY5" fmla="*/ 44026 h 11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561" h="1175856">
                <a:moveTo>
                  <a:pt x="480864" y="44026"/>
                </a:moveTo>
                <a:cubicBezTo>
                  <a:pt x="299808" y="-35430"/>
                  <a:pt x="103121" y="-10682"/>
                  <a:pt x="43203" y="145626"/>
                </a:cubicBezTo>
                <a:cubicBezTo>
                  <a:pt x="-16715" y="301934"/>
                  <a:pt x="-33648" y="813841"/>
                  <a:pt x="121357" y="981872"/>
                </a:cubicBezTo>
                <a:cubicBezTo>
                  <a:pt x="276362" y="1149903"/>
                  <a:pt x="805203" y="1213729"/>
                  <a:pt x="973234" y="1153811"/>
                </a:cubicBezTo>
                <a:cubicBezTo>
                  <a:pt x="1141265" y="1093893"/>
                  <a:pt x="1206392" y="803420"/>
                  <a:pt x="1129541" y="622364"/>
                </a:cubicBezTo>
                <a:cubicBezTo>
                  <a:pt x="1052690" y="441308"/>
                  <a:pt x="661920" y="123482"/>
                  <a:pt x="480864" y="44026"/>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フリーフォーム 81"/>
          <p:cNvSpPr/>
          <p:nvPr/>
        </p:nvSpPr>
        <p:spPr>
          <a:xfrm>
            <a:off x="4819637" y="3341787"/>
            <a:ext cx="1177535" cy="806348"/>
          </a:xfrm>
          <a:custGeom>
            <a:avLst/>
            <a:gdLst>
              <a:gd name="connsiteX0" fmla="*/ 894445 w 1177535"/>
              <a:gd name="connsiteY0" fmla="*/ 104798 h 918438"/>
              <a:gd name="connsiteX1" fmla="*/ 597461 w 1177535"/>
              <a:gd name="connsiteY1" fmla="*/ 11013 h 918438"/>
              <a:gd name="connsiteX2" fmla="*/ 19122 w 1177535"/>
              <a:gd name="connsiteY2" fmla="*/ 96982 h 918438"/>
              <a:gd name="connsiteX3" fmla="*/ 230138 w 1177535"/>
              <a:gd name="connsiteY3" fmla="*/ 855075 h 918438"/>
              <a:gd name="connsiteX4" fmla="*/ 1113276 w 1177535"/>
              <a:gd name="connsiteY4" fmla="*/ 808182 h 918438"/>
              <a:gd name="connsiteX5" fmla="*/ 1082015 w 1177535"/>
              <a:gd name="connsiteY5" fmla="*/ 261105 h 918438"/>
              <a:gd name="connsiteX6" fmla="*/ 894445 w 1177535"/>
              <a:gd name="connsiteY6" fmla="*/ 104798 h 91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7535" h="918438">
                <a:moveTo>
                  <a:pt x="894445" y="104798"/>
                </a:moveTo>
                <a:cubicBezTo>
                  <a:pt x="813686" y="63116"/>
                  <a:pt x="743348" y="12316"/>
                  <a:pt x="597461" y="11013"/>
                </a:cubicBezTo>
                <a:cubicBezTo>
                  <a:pt x="451574" y="9710"/>
                  <a:pt x="80343" y="-43695"/>
                  <a:pt x="19122" y="96982"/>
                </a:cubicBezTo>
                <a:cubicBezTo>
                  <a:pt x="-42099" y="237659"/>
                  <a:pt x="47779" y="736542"/>
                  <a:pt x="230138" y="855075"/>
                </a:cubicBezTo>
                <a:cubicBezTo>
                  <a:pt x="412497" y="973608"/>
                  <a:pt x="971297" y="907177"/>
                  <a:pt x="1113276" y="808182"/>
                </a:cubicBezTo>
                <a:cubicBezTo>
                  <a:pt x="1255255" y="709187"/>
                  <a:pt x="1123697" y="378336"/>
                  <a:pt x="1082015" y="261105"/>
                </a:cubicBezTo>
                <a:cubicBezTo>
                  <a:pt x="1040333" y="143874"/>
                  <a:pt x="975204" y="146480"/>
                  <a:pt x="894445" y="104798"/>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フリーフォーム 82"/>
          <p:cNvSpPr/>
          <p:nvPr/>
        </p:nvSpPr>
        <p:spPr>
          <a:xfrm>
            <a:off x="6669677" y="1982145"/>
            <a:ext cx="982750" cy="869867"/>
          </a:xfrm>
          <a:custGeom>
            <a:avLst/>
            <a:gdLst>
              <a:gd name="connsiteX0" fmla="*/ 701267 w 982750"/>
              <a:gd name="connsiteY0" fmla="*/ 18593 h 869867"/>
              <a:gd name="connsiteX1" fmla="*/ 107298 w 982750"/>
              <a:gd name="connsiteY1" fmla="*/ 104563 h 869867"/>
              <a:gd name="connsiteX2" fmla="*/ 60405 w 982750"/>
              <a:gd name="connsiteY2" fmla="*/ 800132 h 869867"/>
              <a:gd name="connsiteX3" fmla="*/ 748159 w 982750"/>
              <a:gd name="connsiteY3" fmla="*/ 784501 h 869867"/>
              <a:gd name="connsiteX4" fmla="*/ 982621 w 982750"/>
              <a:gd name="connsiteY4" fmla="*/ 260870 h 869867"/>
              <a:gd name="connsiteX5" fmla="*/ 701267 w 982750"/>
              <a:gd name="connsiteY5" fmla="*/ 18593 h 86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2750" h="869867">
                <a:moveTo>
                  <a:pt x="701267" y="18593"/>
                </a:moveTo>
                <a:cubicBezTo>
                  <a:pt x="555380" y="-7458"/>
                  <a:pt x="214108" y="-25694"/>
                  <a:pt x="107298" y="104563"/>
                </a:cubicBezTo>
                <a:cubicBezTo>
                  <a:pt x="488" y="234820"/>
                  <a:pt x="-46405" y="686809"/>
                  <a:pt x="60405" y="800132"/>
                </a:cubicBezTo>
                <a:cubicBezTo>
                  <a:pt x="167215" y="913455"/>
                  <a:pt x="594456" y="874378"/>
                  <a:pt x="748159" y="784501"/>
                </a:cubicBezTo>
                <a:cubicBezTo>
                  <a:pt x="901862" y="694624"/>
                  <a:pt x="986529" y="388521"/>
                  <a:pt x="982621" y="260870"/>
                </a:cubicBezTo>
                <a:cubicBezTo>
                  <a:pt x="978713" y="133219"/>
                  <a:pt x="847154" y="44644"/>
                  <a:pt x="701267" y="18593"/>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フリーフォーム 83"/>
          <p:cNvSpPr/>
          <p:nvPr/>
        </p:nvSpPr>
        <p:spPr>
          <a:xfrm>
            <a:off x="7756692" y="4225371"/>
            <a:ext cx="2007697" cy="1479960"/>
          </a:xfrm>
          <a:custGeom>
            <a:avLst/>
            <a:gdLst>
              <a:gd name="connsiteX0" fmla="*/ 1529021 w 2007697"/>
              <a:gd name="connsiteY0" fmla="*/ 10567 h 1479960"/>
              <a:gd name="connsiteX1" fmla="*/ 1138252 w 2007697"/>
              <a:gd name="connsiteY1" fmla="*/ 96537 h 1479960"/>
              <a:gd name="connsiteX2" fmla="*/ 919421 w 2007697"/>
              <a:gd name="connsiteY2" fmla="*/ 542014 h 1479960"/>
              <a:gd name="connsiteX3" fmla="*/ 130067 w 2007697"/>
              <a:gd name="connsiteY3" fmla="*/ 573275 h 1479960"/>
              <a:gd name="connsiteX4" fmla="*/ 90990 w 2007697"/>
              <a:gd name="connsiteY4" fmla="*/ 1135983 h 1479960"/>
              <a:gd name="connsiteX5" fmla="*/ 1028837 w 2007697"/>
              <a:gd name="connsiteY5" fmla="*/ 1479860 h 1479960"/>
              <a:gd name="connsiteX6" fmla="*/ 1747852 w 2007697"/>
              <a:gd name="connsiteY6" fmla="*/ 1104721 h 1479960"/>
              <a:gd name="connsiteX7" fmla="*/ 1966683 w 2007697"/>
              <a:gd name="connsiteY7" fmla="*/ 948414 h 1479960"/>
              <a:gd name="connsiteX8" fmla="*/ 1966683 w 2007697"/>
              <a:gd name="connsiteY8" fmla="*/ 260660 h 1479960"/>
              <a:gd name="connsiteX9" fmla="*/ 1529021 w 2007697"/>
              <a:gd name="connsiteY9" fmla="*/ 10567 h 147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7697" h="1479960">
                <a:moveTo>
                  <a:pt x="1529021" y="10567"/>
                </a:moveTo>
                <a:cubicBezTo>
                  <a:pt x="1390949" y="-16787"/>
                  <a:pt x="1239852" y="7963"/>
                  <a:pt x="1138252" y="96537"/>
                </a:cubicBezTo>
                <a:cubicBezTo>
                  <a:pt x="1036652" y="185111"/>
                  <a:pt x="1087452" y="462558"/>
                  <a:pt x="919421" y="542014"/>
                </a:cubicBezTo>
                <a:cubicBezTo>
                  <a:pt x="751390" y="621470"/>
                  <a:pt x="268139" y="474280"/>
                  <a:pt x="130067" y="573275"/>
                </a:cubicBezTo>
                <a:cubicBezTo>
                  <a:pt x="-8005" y="672270"/>
                  <a:pt x="-58805" y="984886"/>
                  <a:pt x="90990" y="1135983"/>
                </a:cubicBezTo>
                <a:cubicBezTo>
                  <a:pt x="240785" y="1287080"/>
                  <a:pt x="752693" y="1485070"/>
                  <a:pt x="1028837" y="1479860"/>
                </a:cubicBezTo>
                <a:cubicBezTo>
                  <a:pt x="1304981" y="1474650"/>
                  <a:pt x="1591544" y="1193295"/>
                  <a:pt x="1747852" y="1104721"/>
                </a:cubicBezTo>
                <a:cubicBezTo>
                  <a:pt x="1904160" y="1016147"/>
                  <a:pt x="1930211" y="1089091"/>
                  <a:pt x="1966683" y="948414"/>
                </a:cubicBezTo>
                <a:cubicBezTo>
                  <a:pt x="2003155" y="807737"/>
                  <a:pt x="2037021" y="418270"/>
                  <a:pt x="1966683" y="260660"/>
                </a:cubicBezTo>
                <a:cubicBezTo>
                  <a:pt x="1896345" y="103050"/>
                  <a:pt x="1667093" y="37921"/>
                  <a:pt x="1529021" y="10567"/>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フリーフォーム 84"/>
          <p:cNvSpPr/>
          <p:nvPr/>
        </p:nvSpPr>
        <p:spPr>
          <a:xfrm>
            <a:off x="4522942" y="4617091"/>
            <a:ext cx="2128297" cy="1079915"/>
          </a:xfrm>
          <a:custGeom>
            <a:avLst/>
            <a:gdLst>
              <a:gd name="connsiteX0" fmla="*/ 143879 w 2128297"/>
              <a:gd name="connsiteY0" fmla="*/ 64324 h 1079915"/>
              <a:gd name="connsiteX1" fmla="*/ 120433 w 2128297"/>
              <a:gd name="connsiteY1" fmla="*/ 728632 h 1079915"/>
              <a:gd name="connsiteX2" fmla="*/ 1386525 w 2128297"/>
              <a:gd name="connsiteY2" fmla="*/ 1064694 h 1079915"/>
              <a:gd name="connsiteX3" fmla="*/ 2089910 w 2128297"/>
              <a:gd name="connsiteY3" fmla="*/ 939647 h 1079915"/>
              <a:gd name="connsiteX4" fmla="*/ 1917971 w 2128297"/>
              <a:gd name="connsiteY4" fmla="*/ 220632 h 1079915"/>
              <a:gd name="connsiteX5" fmla="*/ 933233 w 2128297"/>
              <a:gd name="connsiteY5" fmla="*/ 40878 h 1079915"/>
              <a:gd name="connsiteX6" fmla="*/ 143879 w 2128297"/>
              <a:gd name="connsiteY6" fmla="*/ 64324 h 107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8297" h="1079915">
                <a:moveTo>
                  <a:pt x="143879" y="64324"/>
                </a:moveTo>
                <a:cubicBezTo>
                  <a:pt x="8412" y="178950"/>
                  <a:pt x="-86675" y="561904"/>
                  <a:pt x="120433" y="728632"/>
                </a:cubicBezTo>
                <a:cubicBezTo>
                  <a:pt x="327541" y="895360"/>
                  <a:pt x="1058279" y="1029525"/>
                  <a:pt x="1386525" y="1064694"/>
                </a:cubicBezTo>
                <a:cubicBezTo>
                  <a:pt x="1714771" y="1099863"/>
                  <a:pt x="2001336" y="1080324"/>
                  <a:pt x="2089910" y="939647"/>
                </a:cubicBezTo>
                <a:cubicBezTo>
                  <a:pt x="2178484" y="798970"/>
                  <a:pt x="2110751" y="370427"/>
                  <a:pt x="1917971" y="220632"/>
                </a:cubicBezTo>
                <a:cubicBezTo>
                  <a:pt x="1725191" y="70837"/>
                  <a:pt x="1231520" y="63021"/>
                  <a:pt x="933233" y="40878"/>
                </a:cubicBezTo>
                <a:cubicBezTo>
                  <a:pt x="634946" y="18735"/>
                  <a:pt x="279346" y="-50302"/>
                  <a:pt x="143879" y="6432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正方形/長方形 85"/>
          <p:cNvSpPr/>
          <p:nvPr/>
        </p:nvSpPr>
        <p:spPr>
          <a:xfrm>
            <a:off x="3202755" y="592995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p>
        </p:txBody>
      </p:sp>
      <p:sp>
        <p:nvSpPr>
          <p:cNvPr id="87" name="正方形/長方形 86"/>
          <p:cNvSpPr/>
          <p:nvPr/>
        </p:nvSpPr>
        <p:spPr>
          <a:xfrm>
            <a:off x="3406364" y="6096004"/>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あああ</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8" name="正方形/長方形 87"/>
          <p:cNvSpPr/>
          <p:nvPr/>
        </p:nvSpPr>
        <p:spPr>
          <a:xfrm>
            <a:off x="8551690" y="6002773"/>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9" name="正方形/長方形 88"/>
          <p:cNvSpPr/>
          <p:nvPr/>
        </p:nvSpPr>
        <p:spPr>
          <a:xfrm>
            <a:off x="7927884" y="5722682"/>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p>
        </p:txBody>
      </p:sp>
      <p:sp>
        <p:nvSpPr>
          <p:cNvPr id="90" name="正方形/長方形 89"/>
          <p:cNvSpPr/>
          <p:nvPr/>
        </p:nvSpPr>
        <p:spPr>
          <a:xfrm>
            <a:off x="8233913" y="5880660"/>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アアア</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1" name="正方形/長方形 90"/>
          <p:cNvSpPr/>
          <p:nvPr/>
        </p:nvSpPr>
        <p:spPr>
          <a:xfrm>
            <a:off x="5960617" y="5852401"/>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kumimoji="1"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endParaRPr kumimoji="1" lang="ja-JP" altLang="en-US"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2" name="正方形/長方形 91"/>
          <p:cNvSpPr/>
          <p:nvPr/>
        </p:nvSpPr>
        <p:spPr>
          <a:xfrm>
            <a:off x="6189637" y="6024736"/>
            <a:ext cx="474230" cy="438726"/>
          </a:xfrm>
          <a:prstGeom prst="rect">
            <a:avLst/>
          </a:prstGeom>
          <a:solidFill>
            <a:schemeClr val="accent5">
              <a:lumMod val="60000"/>
              <a:lumOff val="40000"/>
            </a:schemeClr>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a:p>
            <a:pPr algn="ctr"/>
            <a:r>
              <a:rPr lang="en-US" altLang="ja-JP" sz="600"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AAA</a:t>
            </a:r>
          </a:p>
        </p:txBody>
      </p:sp>
      <p:sp>
        <p:nvSpPr>
          <p:cNvPr id="93" name="フリーフォーム 92"/>
          <p:cNvSpPr/>
          <p:nvPr/>
        </p:nvSpPr>
        <p:spPr>
          <a:xfrm>
            <a:off x="2992160" y="5765749"/>
            <a:ext cx="1120989" cy="828849"/>
          </a:xfrm>
          <a:custGeom>
            <a:avLst/>
            <a:gdLst>
              <a:gd name="connsiteX0" fmla="*/ 1088507 w 1120989"/>
              <a:gd name="connsiteY0" fmla="*/ 298989 h 828849"/>
              <a:gd name="connsiteX1" fmla="*/ 650845 w 1120989"/>
              <a:gd name="connsiteY1" fmla="*/ 2005 h 828849"/>
              <a:gd name="connsiteX2" fmla="*/ 25615 w 1120989"/>
              <a:gd name="connsiteY2" fmla="*/ 197389 h 828849"/>
              <a:gd name="connsiteX3" fmla="*/ 174107 w 1120989"/>
              <a:gd name="connsiteY3" fmla="*/ 721020 h 828849"/>
              <a:gd name="connsiteX4" fmla="*/ 666476 w 1120989"/>
              <a:gd name="connsiteY4" fmla="*/ 791359 h 828849"/>
              <a:gd name="connsiteX5" fmla="*/ 1041615 w 1120989"/>
              <a:gd name="connsiteY5" fmla="*/ 791359 h 828849"/>
              <a:gd name="connsiteX6" fmla="*/ 1088507 w 1120989"/>
              <a:gd name="connsiteY6" fmla="*/ 298989 h 82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0989" h="828849">
                <a:moveTo>
                  <a:pt x="1088507" y="298989"/>
                </a:moveTo>
                <a:cubicBezTo>
                  <a:pt x="1023379" y="167430"/>
                  <a:pt x="827994" y="18938"/>
                  <a:pt x="650845" y="2005"/>
                </a:cubicBezTo>
                <a:cubicBezTo>
                  <a:pt x="473696" y="-14928"/>
                  <a:pt x="105071" y="77553"/>
                  <a:pt x="25615" y="197389"/>
                </a:cubicBezTo>
                <a:cubicBezTo>
                  <a:pt x="-53841" y="317225"/>
                  <a:pt x="67297" y="622025"/>
                  <a:pt x="174107" y="721020"/>
                </a:cubicBezTo>
                <a:cubicBezTo>
                  <a:pt x="280917" y="820015"/>
                  <a:pt x="521891" y="779636"/>
                  <a:pt x="666476" y="791359"/>
                </a:cubicBezTo>
                <a:cubicBezTo>
                  <a:pt x="811061" y="803082"/>
                  <a:pt x="971277" y="869513"/>
                  <a:pt x="1041615" y="791359"/>
                </a:cubicBezTo>
                <a:cubicBezTo>
                  <a:pt x="1111953" y="713205"/>
                  <a:pt x="1153635" y="430548"/>
                  <a:pt x="1088507" y="298989"/>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テキスト ボックス 93"/>
          <p:cNvSpPr txBox="1"/>
          <p:nvPr/>
        </p:nvSpPr>
        <p:spPr>
          <a:xfrm>
            <a:off x="3312874" y="3364248"/>
            <a:ext cx="1398348" cy="261610"/>
          </a:xfrm>
          <a:prstGeom prst="rect">
            <a:avLst/>
          </a:prstGeom>
          <a:noFill/>
        </p:spPr>
        <p:txBody>
          <a:bodyPr wrap="square" rtlCol="0">
            <a:spAutoFit/>
          </a:bodyPr>
          <a:lstStyle/>
          <a:p>
            <a:r>
              <a:rPr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承認プロセスが複雑</a:t>
            </a:r>
            <a:endPar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endParaRPr>
          </a:p>
        </p:txBody>
      </p:sp>
      <p:sp>
        <p:nvSpPr>
          <p:cNvPr id="95" name="テキスト ボックス 94"/>
          <p:cNvSpPr txBox="1"/>
          <p:nvPr/>
        </p:nvSpPr>
        <p:spPr>
          <a:xfrm>
            <a:off x="6553016" y="2782885"/>
            <a:ext cx="1613872"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戦略が伝わっていない</a:t>
            </a:r>
          </a:p>
        </p:txBody>
      </p:sp>
      <p:sp>
        <p:nvSpPr>
          <p:cNvPr id="96" name="テキスト ボックス 95"/>
          <p:cNvSpPr txBox="1"/>
          <p:nvPr/>
        </p:nvSpPr>
        <p:spPr>
          <a:xfrm>
            <a:off x="4670614" y="4488884"/>
            <a:ext cx="2082429"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メンバーの主体性が足りない</a:t>
            </a:r>
          </a:p>
        </p:txBody>
      </p:sp>
      <p:sp>
        <p:nvSpPr>
          <p:cNvPr id="97" name="フリーフォーム 96"/>
          <p:cNvSpPr/>
          <p:nvPr/>
        </p:nvSpPr>
        <p:spPr>
          <a:xfrm>
            <a:off x="2329485" y="4683043"/>
            <a:ext cx="1093370" cy="931824"/>
          </a:xfrm>
          <a:custGeom>
            <a:avLst/>
            <a:gdLst>
              <a:gd name="connsiteX0" fmla="*/ 657028 w 1093370"/>
              <a:gd name="connsiteY0" fmla="*/ 29634 h 931824"/>
              <a:gd name="connsiteX1" fmla="*/ 63059 w 1093370"/>
              <a:gd name="connsiteY1" fmla="*/ 99972 h 931824"/>
              <a:gd name="connsiteX2" fmla="*/ 117767 w 1093370"/>
              <a:gd name="connsiteY2" fmla="*/ 850249 h 931824"/>
              <a:gd name="connsiteX3" fmla="*/ 954013 w 1093370"/>
              <a:gd name="connsiteY3" fmla="*/ 850249 h 931824"/>
              <a:gd name="connsiteX4" fmla="*/ 1063428 w 1093370"/>
              <a:gd name="connsiteY4" fmla="*/ 303172 h 931824"/>
              <a:gd name="connsiteX5" fmla="*/ 657028 w 1093370"/>
              <a:gd name="connsiteY5" fmla="*/ 29634 h 93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370" h="931824">
                <a:moveTo>
                  <a:pt x="657028" y="29634"/>
                </a:moveTo>
                <a:cubicBezTo>
                  <a:pt x="490300" y="-4233"/>
                  <a:pt x="152936" y="-36797"/>
                  <a:pt x="63059" y="99972"/>
                </a:cubicBezTo>
                <a:cubicBezTo>
                  <a:pt x="-26818" y="236741"/>
                  <a:pt x="-30725" y="725203"/>
                  <a:pt x="117767" y="850249"/>
                </a:cubicBezTo>
                <a:cubicBezTo>
                  <a:pt x="266259" y="975295"/>
                  <a:pt x="796403" y="941428"/>
                  <a:pt x="954013" y="850249"/>
                </a:cubicBezTo>
                <a:cubicBezTo>
                  <a:pt x="1111623" y="759070"/>
                  <a:pt x="1115531" y="438639"/>
                  <a:pt x="1063428" y="303172"/>
                </a:cubicBezTo>
                <a:cubicBezTo>
                  <a:pt x="1011325" y="167705"/>
                  <a:pt x="823756" y="63501"/>
                  <a:pt x="657028" y="2963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テキスト ボックス 97"/>
          <p:cNvSpPr txBox="1"/>
          <p:nvPr/>
        </p:nvSpPr>
        <p:spPr>
          <a:xfrm>
            <a:off x="2759281" y="5360690"/>
            <a:ext cx="2082429"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マネジメントスキルがバラバラ</a:t>
            </a:r>
          </a:p>
        </p:txBody>
      </p:sp>
      <p:sp>
        <p:nvSpPr>
          <p:cNvPr id="99" name="テキスト ボックス 98"/>
          <p:cNvSpPr txBox="1"/>
          <p:nvPr/>
        </p:nvSpPr>
        <p:spPr>
          <a:xfrm>
            <a:off x="3670007" y="5861209"/>
            <a:ext cx="2082429" cy="261610"/>
          </a:xfrm>
          <a:prstGeom prst="rect">
            <a:avLst/>
          </a:prstGeom>
          <a:noFill/>
        </p:spPr>
        <p:txBody>
          <a:bodyPr wrap="square" rtlCol="0">
            <a:spAutoFit/>
          </a:bodyPr>
          <a:lstStyle/>
          <a:p>
            <a:r>
              <a:rPr kumimoji="1" lang="ja-JP" altLang="en-US" sz="1100" dirty="0">
                <a:solidFill>
                  <a:srgbClr val="FF0000"/>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rPr>
              <a:t>マネージャーが信頼されていない</a:t>
            </a:r>
          </a:p>
        </p:txBody>
      </p:sp>
      <p:sp>
        <p:nvSpPr>
          <p:cNvPr id="100" name="フリーフォーム 99"/>
          <p:cNvSpPr/>
          <p:nvPr/>
        </p:nvSpPr>
        <p:spPr>
          <a:xfrm>
            <a:off x="3402618" y="5080000"/>
            <a:ext cx="1109785" cy="117231"/>
          </a:xfrm>
          <a:custGeom>
            <a:avLst/>
            <a:gdLst>
              <a:gd name="connsiteX0" fmla="*/ 0 w 1109785"/>
              <a:gd name="connsiteY0" fmla="*/ 0 h 117231"/>
              <a:gd name="connsiteX1" fmla="*/ 39077 w 1109785"/>
              <a:gd name="connsiteY1" fmla="*/ 23446 h 117231"/>
              <a:gd name="connsiteX2" fmla="*/ 164123 w 1109785"/>
              <a:gd name="connsiteY2" fmla="*/ 39077 h 117231"/>
              <a:gd name="connsiteX3" fmla="*/ 234461 w 1109785"/>
              <a:gd name="connsiteY3" fmla="*/ 62523 h 117231"/>
              <a:gd name="connsiteX4" fmla="*/ 312615 w 1109785"/>
              <a:gd name="connsiteY4" fmla="*/ 70338 h 117231"/>
              <a:gd name="connsiteX5" fmla="*/ 343877 w 1109785"/>
              <a:gd name="connsiteY5" fmla="*/ 78154 h 117231"/>
              <a:gd name="connsiteX6" fmla="*/ 398585 w 1109785"/>
              <a:gd name="connsiteY6" fmla="*/ 85969 h 117231"/>
              <a:gd name="connsiteX7" fmla="*/ 429846 w 1109785"/>
              <a:gd name="connsiteY7" fmla="*/ 93785 h 117231"/>
              <a:gd name="connsiteX8" fmla="*/ 468923 w 1109785"/>
              <a:gd name="connsiteY8" fmla="*/ 101600 h 117231"/>
              <a:gd name="connsiteX9" fmla="*/ 531446 w 1109785"/>
              <a:gd name="connsiteY9" fmla="*/ 117231 h 117231"/>
              <a:gd name="connsiteX10" fmla="*/ 828431 w 1109785"/>
              <a:gd name="connsiteY10" fmla="*/ 109415 h 117231"/>
              <a:gd name="connsiteX11" fmla="*/ 883138 w 1109785"/>
              <a:gd name="connsiteY11" fmla="*/ 101600 h 117231"/>
              <a:gd name="connsiteX12" fmla="*/ 945661 w 1109785"/>
              <a:gd name="connsiteY12" fmla="*/ 93785 h 117231"/>
              <a:gd name="connsiteX13" fmla="*/ 1000369 w 1109785"/>
              <a:gd name="connsiteY13" fmla="*/ 78154 h 117231"/>
              <a:gd name="connsiteX14" fmla="*/ 1031631 w 1109785"/>
              <a:gd name="connsiteY14" fmla="*/ 70338 h 117231"/>
              <a:gd name="connsiteX15" fmla="*/ 1078523 w 1109785"/>
              <a:gd name="connsiteY15" fmla="*/ 39077 h 117231"/>
              <a:gd name="connsiteX16" fmla="*/ 1109785 w 1109785"/>
              <a:gd name="connsiteY16" fmla="*/ 23446 h 11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09785" h="117231">
                <a:moveTo>
                  <a:pt x="0" y="0"/>
                </a:moveTo>
                <a:cubicBezTo>
                  <a:pt x="13026" y="7815"/>
                  <a:pt x="24666" y="18642"/>
                  <a:pt x="39077" y="23446"/>
                </a:cubicBezTo>
                <a:cubicBezTo>
                  <a:pt x="50234" y="27165"/>
                  <a:pt x="161155" y="38747"/>
                  <a:pt x="164123" y="39077"/>
                </a:cubicBezTo>
                <a:cubicBezTo>
                  <a:pt x="187569" y="46892"/>
                  <a:pt x="210277" y="57432"/>
                  <a:pt x="234461" y="62523"/>
                </a:cubicBezTo>
                <a:cubicBezTo>
                  <a:pt x="260081" y="67917"/>
                  <a:pt x="286697" y="66635"/>
                  <a:pt x="312615" y="70338"/>
                </a:cubicBezTo>
                <a:cubicBezTo>
                  <a:pt x="323248" y="71857"/>
                  <a:pt x="333309" y="76233"/>
                  <a:pt x="343877" y="78154"/>
                </a:cubicBezTo>
                <a:cubicBezTo>
                  <a:pt x="362001" y="81449"/>
                  <a:pt x="380461" y="82674"/>
                  <a:pt x="398585" y="85969"/>
                </a:cubicBezTo>
                <a:cubicBezTo>
                  <a:pt x="409153" y="87890"/>
                  <a:pt x="419361" y="91455"/>
                  <a:pt x="429846" y="93785"/>
                </a:cubicBezTo>
                <a:cubicBezTo>
                  <a:pt x="442813" y="96667"/>
                  <a:pt x="455980" y="98613"/>
                  <a:pt x="468923" y="101600"/>
                </a:cubicBezTo>
                <a:cubicBezTo>
                  <a:pt x="489855" y="106430"/>
                  <a:pt x="531446" y="117231"/>
                  <a:pt x="531446" y="117231"/>
                </a:cubicBezTo>
                <a:lnTo>
                  <a:pt x="828431" y="109415"/>
                </a:lnTo>
                <a:cubicBezTo>
                  <a:pt x="846834" y="108597"/>
                  <a:pt x="864879" y="104034"/>
                  <a:pt x="883138" y="101600"/>
                </a:cubicBezTo>
                <a:lnTo>
                  <a:pt x="945661" y="93785"/>
                </a:lnTo>
                <a:cubicBezTo>
                  <a:pt x="1043393" y="69350"/>
                  <a:pt x="921883" y="100579"/>
                  <a:pt x="1000369" y="78154"/>
                </a:cubicBezTo>
                <a:cubicBezTo>
                  <a:pt x="1010697" y="75203"/>
                  <a:pt x="1021210" y="72943"/>
                  <a:pt x="1031631" y="70338"/>
                </a:cubicBezTo>
                <a:lnTo>
                  <a:pt x="1078523" y="39077"/>
                </a:lnTo>
                <a:cubicBezTo>
                  <a:pt x="1104137" y="22001"/>
                  <a:pt x="1092576" y="23446"/>
                  <a:pt x="1109785" y="2344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フリーフォーム 100"/>
          <p:cNvSpPr/>
          <p:nvPr/>
        </p:nvSpPr>
        <p:spPr>
          <a:xfrm>
            <a:off x="4113818" y="5689600"/>
            <a:ext cx="1711718" cy="679938"/>
          </a:xfrm>
          <a:custGeom>
            <a:avLst/>
            <a:gdLst>
              <a:gd name="connsiteX0" fmla="*/ 0 w 1711718"/>
              <a:gd name="connsiteY0" fmla="*/ 625231 h 679938"/>
              <a:gd name="connsiteX1" fmla="*/ 46892 w 1711718"/>
              <a:gd name="connsiteY1" fmla="*/ 633046 h 679938"/>
              <a:gd name="connsiteX2" fmla="*/ 132861 w 1711718"/>
              <a:gd name="connsiteY2" fmla="*/ 648677 h 679938"/>
              <a:gd name="connsiteX3" fmla="*/ 211015 w 1711718"/>
              <a:gd name="connsiteY3" fmla="*/ 656492 h 679938"/>
              <a:gd name="connsiteX4" fmla="*/ 257908 w 1711718"/>
              <a:gd name="connsiteY4" fmla="*/ 664308 h 679938"/>
              <a:gd name="connsiteX5" fmla="*/ 304800 w 1711718"/>
              <a:gd name="connsiteY5" fmla="*/ 679938 h 679938"/>
              <a:gd name="connsiteX6" fmla="*/ 648677 w 1711718"/>
              <a:gd name="connsiteY6" fmla="*/ 672123 h 679938"/>
              <a:gd name="connsiteX7" fmla="*/ 695569 w 1711718"/>
              <a:gd name="connsiteY7" fmla="*/ 664308 h 679938"/>
              <a:gd name="connsiteX8" fmla="*/ 742461 w 1711718"/>
              <a:gd name="connsiteY8" fmla="*/ 648677 h 679938"/>
              <a:gd name="connsiteX9" fmla="*/ 765908 w 1711718"/>
              <a:gd name="connsiteY9" fmla="*/ 640862 h 679938"/>
              <a:gd name="connsiteX10" fmla="*/ 804985 w 1711718"/>
              <a:gd name="connsiteY10" fmla="*/ 625231 h 679938"/>
              <a:gd name="connsiteX11" fmla="*/ 836246 w 1711718"/>
              <a:gd name="connsiteY11" fmla="*/ 617415 h 679938"/>
              <a:gd name="connsiteX12" fmla="*/ 867508 w 1711718"/>
              <a:gd name="connsiteY12" fmla="*/ 601785 h 679938"/>
              <a:gd name="connsiteX13" fmla="*/ 914400 w 1711718"/>
              <a:gd name="connsiteY13" fmla="*/ 586154 h 679938"/>
              <a:gd name="connsiteX14" fmla="*/ 961292 w 1711718"/>
              <a:gd name="connsiteY14" fmla="*/ 570523 h 679938"/>
              <a:gd name="connsiteX15" fmla="*/ 984738 w 1711718"/>
              <a:gd name="connsiteY15" fmla="*/ 562708 h 679938"/>
              <a:gd name="connsiteX16" fmla="*/ 1016000 w 1711718"/>
              <a:gd name="connsiteY16" fmla="*/ 547077 h 679938"/>
              <a:gd name="connsiteX17" fmla="*/ 1117600 w 1711718"/>
              <a:gd name="connsiteY17" fmla="*/ 531446 h 679938"/>
              <a:gd name="connsiteX18" fmla="*/ 1172308 w 1711718"/>
              <a:gd name="connsiteY18" fmla="*/ 515815 h 679938"/>
              <a:gd name="connsiteX19" fmla="*/ 1195754 w 1711718"/>
              <a:gd name="connsiteY19" fmla="*/ 508000 h 679938"/>
              <a:gd name="connsiteX20" fmla="*/ 1227015 w 1711718"/>
              <a:gd name="connsiteY20" fmla="*/ 500185 h 679938"/>
              <a:gd name="connsiteX21" fmla="*/ 1250461 w 1711718"/>
              <a:gd name="connsiteY21" fmla="*/ 492369 h 679938"/>
              <a:gd name="connsiteX22" fmla="*/ 1367692 w 1711718"/>
              <a:gd name="connsiteY22" fmla="*/ 476738 h 679938"/>
              <a:gd name="connsiteX23" fmla="*/ 1430215 w 1711718"/>
              <a:gd name="connsiteY23" fmla="*/ 461108 h 679938"/>
              <a:gd name="connsiteX24" fmla="*/ 1500554 w 1711718"/>
              <a:gd name="connsiteY24" fmla="*/ 437662 h 679938"/>
              <a:gd name="connsiteX25" fmla="*/ 1524000 w 1711718"/>
              <a:gd name="connsiteY25" fmla="*/ 429846 h 679938"/>
              <a:gd name="connsiteX26" fmla="*/ 1547446 w 1711718"/>
              <a:gd name="connsiteY26" fmla="*/ 422031 h 679938"/>
              <a:gd name="connsiteX27" fmla="*/ 1594338 w 1711718"/>
              <a:gd name="connsiteY27" fmla="*/ 382954 h 679938"/>
              <a:gd name="connsiteX28" fmla="*/ 1617785 w 1711718"/>
              <a:gd name="connsiteY28" fmla="*/ 367323 h 679938"/>
              <a:gd name="connsiteX29" fmla="*/ 1633415 w 1711718"/>
              <a:gd name="connsiteY29" fmla="*/ 336062 h 679938"/>
              <a:gd name="connsiteX30" fmla="*/ 1656861 w 1711718"/>
              <a:gd name="connsiteY30" fmla="*/ 320431 h 679938"/>
              <a:gd name="connsiteX31" fmla="*/ 1664677 w 1711718"/>
              <a:gd name="connsiteY31" fmla="*/ 296985 h 679938"/>
              <a:gd name="connsiteX32" fmla="*/ 1680308 w 1711718"/>
              <a:gd name="connsiteY32" fmla="*/ 242277 h 679938"/>
              <a:gd name="connsiteX33" fmla="*/ 1688123 w 1711718"/>
              <a:gd name="connsiteY33" fmla="*/ 109415 h 679938"/>
              <a:gd name="connsiteX34" fmla="*/ 1703754 w 1711718"/>
              <a:gd name="connsiteY34" fmla="*/ 54708 h 679938"/>
              <a:gd name="connsiteX35" fmla="*/ 1711569 w 1711718"/>
              <a:gd name="connsiteY35" fmla="*/ 0 h 67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11718" h="679938">
                <a:moveTo>
                  <a:pt x="0" y="625231"/>
                </a:moveTo>
                <a:lnTo>
                  <a:pt x="46892" y="633046"/>
                </a:lnTo>
                <a:cubicBezTo>
                  <a:pt x="82119" y="639451"/>
                  <a:pt x="95995" y="644069"/>
                  <a:pt x="132861" y="648677"/>
                </a:cubicBezTo>
                <a:cubicBezTo>
                  <a:pt x="158840" y="651924"/>
                  <a:pt x="185036" y="653245"/>
                  <a:pt x="211015" y="656492"/>
                </a:cubicBezTo>
                <a:cubicBezTo>
                  <a:pt x="226739" y="658458"/>
                  <a:pt x="242534" y="660465"/>
                  <a:pt x="257908" y="664308"/>
                </a:cubicBezTo>
                <a:cubicBezTo>
                  <a:pt x="273892" y="668304"/>
                  <a:pt x="304800" y="679938"/>
                  <a:pt x="304800" y="679938"/>
                </a:cubicBezTo>
                <a:lnTo>
                  <a:pt x="648677" y="672123"/>
                </a:lnTo>
                <a:cubicBezTo>
                  <a:pt x="664511" y="671490"/>
                  <a:pt x="680196" y="668151"/>
                  <a:pt x="695569" y="664308"/>
                </a:cubicBezTo>
                <a:cubicBezTo>
                  <a:pt x="711553" y="660312"/>
                  <a:pt x="726830" y="653887"/>
                  <a:pt x="742461" y="648677"/>
                </a:cubicBezTo>
                <a:cubicBezTo>
                  <a:pt x="750277" y="646072"/>
                  <a:pt x="758259" y="643922"/>
                  <a:pt x="765908" y="640862"/>
                </a:cubicBezTo>
                <a:cubicBezTo>
                  <a:pt x="778934" y="635652"/>
                  <a:pt x="791676" y="629668"/>
                  <a:pt x="804985" y="625231"/>
                </a:cubicBezTo>
                <a:cubicBezTo>
                  <a:pt x="815175" y="621834"/>
                  <a:pt x="826189" y="621186"/>
                  <a:pt x="836246" y="617415"/>
                </a:cubicBezTo>
                <a:cubicBezTo>
                  <a:pt x="847155" y="613324"/>
                  <a:pt x="856691" y="606112"/>
                  <a:pt x="867508" y="601785"/>
                </a:cubicBezTo>
                <a:cubicBezTo>
                  <a:pt x="882806" y="595666"/>
                  <a:pt x="898769" y="591364"/>
                  <a:pt x="914400" y="586154"/>
                </a:cubicBezTo>
                <a:lnTo>
                  <a:pt x="961292" y="570523"/>
                </a:lnTo>
                <a:cubicBezTo>
                  <a:pt x="969107" y="567918"/>
                  <a:pt x="977370" y="566392"/>
                  <a:pt x="984738" y="562708"/>
                </a:cubicBezTo>
                <a:cubicBezTo>
                  <a:pt x="995159" y="557498"/>
                  <a:pt x="1004841" y="550425"/>
                  <a:pt x="1016000" y="547077"/>
                </a:cubicBezTo>
                <a:cubicBezTo>
                  <a:pt x="1025852" y="544122"/>
                  <a:pt x="1111388" y="532334"/>
                  <a:pt x="1117600" y="531446"/>
                </a:cubicBezTo>
                <a:cubicBezTo>
                  <a:pt x="1173815" y="512708"/>
                  <a:pt x="1103614" y="535442"/>
                  <a:pt x="1172308" y="515815"/>
                </a:cubicBezTo>
                <a:cubicBezTo>
                  <a:pt x="1180229" y="513552"/>
                  <a:pt x="1187833" y="510263"/>
                  <a:pt x="1195754" y="508000"/>
                </a:cubicBezTo>
                <a:cubicBezTo>
                  <a:pt x="1206082" y="505049"/>
                  <a:pt x="1216687" y="503136"/>
                  <a:pt x="1227015" y="500185"/>
                </a:cubicBezTo>
                <a:cubicBezTo>
                  <a:pt x="1234936" y="497922"/>
                  <a:pt x="1242383" y="493985"/>
                  <a:pt x="1250461" y="492369"/>
                </a:cubicBezTo>
                <a:cubicBezTo>
                  <a:pt x="1335031" y="475455"/>
                  <a:pt x="1276549" y="493827"/>
                  <a:pt x="1367692" y="476738"/>
                </a:cubicBezTo>
                <a:cubicBezTo>
                  <a:pt x="1388806" y="472779"/>
                  <a:pt x="1409835" y="467901"/>
                  <a:pt x="1430215" y="461108"/>
                </a:cubicBezTo>
                <a:lnTo>
                  <a:pt x="1500554" y="437662"/>
                </a:lnTo>
                <a:lnTo>
                  <a:pt x="1524000" y="429846"/>
                </a:lnTo>
                <a:lnTo>
                  <a:pt x="1547446" y="422031"/>
                </a:lnTo>
                <a:cubicBezTo>
                  <a:pt x="1605664" y="383218"/>
                  <a:pt x="1534156" y="433105"/>
                  <a:pt x="1594338" y="382954"/>
                </a:cubicBezTo>
                <a:cubicBezTo>
                  <a:pt x="1601554" y="376941"/>
                  <a:pt x="1609969" y="372533"/>
                  <a:pt x="1617785" y="367323"/>
                </a:cubicBezTo>
                <a:cubicBezTo>
                  <a:pt x="1622995" y="356903"/>
                  <a:pt x="1625957" y="345012"/>
                  <a:pt x="1633415" y="336062"/>
                </a:cubicBezTo>
                <a:cubicBezTo>
                  <a:pt x="1639428" y="328846"/>
                  <a:pt x="1650993" y="327766"/>
                  <a:pt x="1656861" y="320431"/>
                </a:cubicBezTo>
                <a:cubicBezTo>
                  <a:pt x="1662007" y="313998"/>
                  <a:pt x="1662414" y="304906"/>
                  <a:pt x="1664677" y="296985"/>
                </a:cubicBezTo>
                <a:cubicBezTo>
                  <a:pt x="1684304" y="228291"/>
                  <a:pt x="1661568" y="298492"/>
                  <a:pt x="1680308" y="242277"/>
                </a:cubicBezTo>
                <a:cubicBezTo>
                  <a:pt x="1682913" y="197990"/>
                  <a:pt x="1683917" y="153579"/>
                  <a:pt x="1688123" y="109415"/>
                </a:cubicBezTo>
                <a:cubicBezTo>
                  <a:pt x="1689869" y="91084"/>
                  <a:pt x="1698729" y="72297"/>
                  <a:pt x="1703754" y="54708"/>
                </a:cubicBezTo>
                <a:cubicBezTo>
                  <a:pt x="1713464" y="20722"/>
                  <a:pt x="1711569" y="30653"/>
                  <a:pt x="171156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フリーフォーム 101"/>
          <p:cNvSpPr/>
          <p:nvPr/>
        </p:nvSpPr>
        <p:spPr>
          <a:xfrm>
            <a:off x="3082187" y="2844800"/>
            <a:ext cx="4118708" cy="1899138"/>
          </a:xfrm>
          <a:custGeom>
            <a:avLst/>
            <a:gdLst>
              <a:gd name="connsiteX0" fmla="*/ 0 w 4118708"/>
              <a:gd name="connsiteY0" fmla="*/ 1899138 h 1899138"/>
              <a:gd name="connsiteX1" fmla="*/ 500185 w 4118708"/>
              <a:gd name="connsiteY1" fmla="*/ 1344246 h 1899138"/>
              <a:gd name="connsiteX2" fmla="*/ 523631 w 4118708"/>
              <a:gd name="connsiteY2" fmla="*/ 1312985 h 1899138"/>
              <a:gd name="connsiteX3" fmla="*/ 547077 w 4118708"/>
              <a:gd name="connsiteY3" fmla="*/ 1297354 h 1899138"/>
              <a:gd name="connsiteX4" fmla="*/ 578339 w 4118708"/>
              <a:gd name="connsiteY4" fmla="*/ 1266092 h 1899138"/>
              <a:gd name="connsiteX5" fmla="*/ 640862 w 4118708"/>
              <a:gd name="connsiteY5" fmla="*/ 1219200 h 1899138"/>
              <a:gd name="connsiteX6" fmla="*/ 687754 w 4118708"/>
              <a:gd name="connsiteY6" fmla="*/ 1180123 h 1899138"/>
              <a:gd name="connsiteX7" fmla="*/ 742462 w 4118708"/>
              <a:gd name="connsiteY7" fmla="*/ 1133231 h 1899138"/>
              <a:gd name="connsiteX8" fmla="*/ 773723 w 4118708"/>
              <a:gd name="connsiteY8" fmla="*/ 1125415 h 1899138"/>
              <a:gd name="connsiteX9" fmla="*/ 797169 w 4118708"/>
              <a:gd name="connsiteY9" fmla="*/ 1101969 h 1899138"/>
              <a:gd name="connsiteX10" fmla="*/ 898769 w 4118708"/>
              <a:gd name="connsiteY10" fmla="*/ 1031631 h 1899138"/>
              <a:gd name="connsiteX11" fmla="*/ 922216 w 4118708"/>
              <a:gd name="connsiteY11" fmla="*/ 1000369 h 1899138"/>
              <a:gd name="connsiteX12" fmla="*/ 953477 w 4118708"/>
              <a:gd name="connsiteY12" fmla="*/ 976923 h 1899138"/>
              <a:gd name="connsiteX13" fmla="*/ 976923 w 4118708"/>
              <a:gd name="connsiteY13" fmla="*/ 953477 h 1899138"/>
              <a:gd name="connsiteX14" fmla="*/ 1008185 w 4118708"/>
              <a:gd name="connsiteY14" fmla="*/ 930031 h 1899138"/>
              <a:gd name="connsiteX15" fmla="*/ 1031631 w 4118708"/>
              <a:gd name="connsiteY15" fmla="*/ 914400 h 1899138"/>
              <a:gd name="connsiteX16" fmla="*/ 1062892 w 4118708"/>
              <a:gd name="connsiteY16" fmla="*/ 883138 h 1899138"/>
              <a:gd name="connsiteX17" fmla="*/ 1094154 w 4118708"/>
              <a:gd name="connsiteY17" fmla="*/ 859692 h 1899138"/>
              <a:gd name="connsiteX18" fmla="*/ 1117600 w 4118708"/>
              <a:gd name="connsiteY18" fmla="*/ 836246 h 1899138"/>
              <a:gd name="connsiteX19" fmla="*/ 1148862 w 4118708"/>
              <a:gd name="connsiteY19" fmla="*/ 812800 h 1899138"/>
              <a:gd name="connsiteX20" fmla="*/ 1172308 w 4118708"/>
              <a:gd name="connsiteY20" fmla="*/ 797169 h 1899138"/>
              <a:gd name="connsiteX21" fmla="*/ 1195754 w 4118708"/>
              <a:gd name="connsiteY21" fmla="*/ 773723 h 1899138"/>
              <a:gd name="connsiteX22" fmla="*/ 1211385 w 4118708"/>
              <a:gd name="connsiteY22" fmla="*/ 750277 h 1899138"/>
              <a:gd name="connsiteX23" fmla="*/ 1242646 w 4118708"/>
              <a:gd name="connsiteY23" fmla="*/ 734646 h 1899138"/>
              <a:gd name="connsiteX24" fmla="*/ 1266092 w 4118708"/>
              <a:gd name="connsiteY24" fmla="*/ 711200 h 1899138"/>
              <a:gd name="connsiteX25" fmla="*/ 1297354 w 4118708"/>
              <a:gd name="connsiteY25" fmla="*/ 672123 h 1899138"/>
              <a:gd name="connsiteX26" fmla="*/ 1344246 w 4118708"/>
              <a:gd name="connsiteY26" fmla="*/ 617415 h 1899138"/>
              <a:gd name="connsiteX27" fmla="*/ 1375508 w 4118708"/>
              <a:gd name="connsiteY27" fmla="*/ 601785 h 1899138"/>
              <a:gd name="connsiteX28" fmla="*/ 1391139 w 4118708"/>
              <a:gd name="connsiteY28" fmla="*/ 578338 h 1899138"/>
              <a:gd name="connsiteX29" fmla="*/ 1438031 w 4118708"/>
              <a:gd name="connsiteY29" fmla="*/ 554892 h 1899138"/>
              <a:gd name="connsiteX30" fmla="*/ 1461477 w 4118708"/>
              <a:gd name="connsiteY30" fmla="*/ 539262 h 1899138"/>
              <a:gd name="connsiteX31" fmla="*/ 1492739 w 4118708"/>
              <a:gd name="connsiteY31" fmla="*/ 523631 h 1899138"/>
              <a:gd name="connsiteX32" fmla="*/ 1563077 w 4118708"/>
              <a:gd name="connsiteY32" fmla="*/ 476738 h 1899138"/>
              <a:gd name="connsiteX33" fmla="*/ 1586523 w 4118708"/>
              <a:gd name="connsiteY33" fmla="*/ 461108 h 1899138"/>
              <a:gd name="connsiteX34" fmla="*/ 1602154 w 4118708"/>
              <a:gd name="connsiteY34" fmla="*/ 437662 h 1899138"/>
              <a:gd name="connsiteX35" fmla="*/ 1625600 w 4118708"/>
              <a:gd name="connsiteY35" fmla="*/ 429846 h 1899138"/>
              <a:gd name="connsiteX36" fmla="*/ 1672492 w 4118708"/>
              <a:gd name="connsiteY36" fmla="*/ 406400 h 1899138"/>
              <a:gd name="connsiteX37" fmla="*/ 1719385 w 4118708"/>
              <a:gd name="connsiteY37" fmla="*/ 382954 h 1899138"/>
              <a:gd name="connsiteX38" fmla="*/ 1766277 w 4118708"/>
              <a:gd name="connsiteY38" fmla="*/ 351692 h 1899138"/>
              <a:gd name="connsiteX39" fmla="*/ 1820985 w 4118708"/>
              <a:gd name="connsiteY39" fmla="*/ 328246 h 1899138"/>
              <a:gd name="connsiteX40" fmla="*/ 1852246 w 4118708"/>
              <a:gd name="connsiteY40" fmla="*/ 312615 h 1899138"/>
              <a:gd name="connsiteX41" fmla="*/ 1899139 w 4118708"/>
              <a:gd name="connsiteY41" fmla="*/ 304800 h 1899138"/>
              <a:gd name="connsiteX42" fmla="*/ 1953846 w 4118708"/>
              <a:gd name="connsiteY42" fmla="*/ 289169 h 1899138"/>
              <a:gd name="connsiteX43" fmla="*/ 2000739 w 4118708"/>
              <a:gd name="connsiteY43" fmla="*/ 273538 h 1899138"/>
              <a:gd name="connsiteX44" fmla="*/ 2024185 w 4118708"/>
              <a:gd name="connsiteY44" fmla="*/ 265723 h 1899138"/>
              <a:gd name="connsiteX45" fmla="*/ 2086708 w 4118708"/>
              <a:gd name="connsiteY45" fmla="*/ 257908 h 1899138"/>
              <a:gd name="connsiteX46" fmla="*/ 2180492 w 4118708"/>
              <a:gd name="connsiteY46" fmla="*/ 250092 h 1899138"/>
              <a:gd name="connsiteX47" fmla="*/ 2235200 w 4118708"/>
              <a:gd name="connsiteY47" fmla="*/ 242277 h 1899138"/>
              <a:gd name="connsiteX48" fmla="*/ 2352431 w 4118708"/>
              <a:gd name="connsiteY48" fmla="*/ 234462 h 1899138"/>
              <a:gd name="connsiteX49" fmla="*/ 2407139 w 4118708"/>
              <a:gd name="connsiteY49" fmla="*/ 218831 h 1899138"/>
              <a:gd name="connsiteX50" fmla="*/ 2500923 w 4118708"/>
              <a:gd name="connsiteY50" fmla="*/ 211015 h 1899138"/>
              <a:gd name="connsiteX51" fmla="*/ 2571262 w 4118708"/>
              <a:gd name="connsiteY51" fmla="*/ 203200 h 1899138"/>
              <a:gd name="connsiteX52" fmla="*/ 3235569 w 4118708"/>
              <a:gd name="connsiteY52" fmla="*/ 211015 h 1899138"/>
              <a:gd name="connsiteX53" fmla="*/ 3305908 w 4118708"/>
              <a:gd name="connsiteY53" fmla="*/ 226646 h 1899138"/>
              <a:gd name="connsiteX54" fmla="*/ 3360616 w 4118708"/>
              <a:gd name="connsiteY54" fmla="*/ 234462 h 1899138"/>
              <a:gd name="connsiteX55" fmla="*/ 3407508 w 4118708"/>
              <a:gd name="connsiteY55" fmla="*/ 250092 h 1899138"/>
              <a:gd name="connsiteX56" fmla="*/ 3540369 w 4118708"/>
              <a:gd name="connsiteY56" fmla="*/ 265723 h 1899138"/>
              <a:gd name="connsiteX57" fmla="*/ 3563816 w 4118708"/>
              <a:gd name="connsiteY57" fmla="*/ 273538 h 1899138"/>
              <a:gd name="connsiteX58" fmla="*/ 3657600 w 4118708"/>
              <a:gd name="connsiteY58" fmla="*/ 289169 h 1899138"/>
              <a:gd name="connsiteX59" fmla="*/ 3782646 w 4118708"/>
              <a:gd name="connsiteY59" fmla="*/ 281354 h 1899138"/>
              <a:gd name="connsiteX60" fmla="*/ 3813908 w 4118708"/>
              <a:gd name="connsiteY60" fmla="*/ 273538 h 1899138"/>
              <a:gd name="connsiteX61" fmla="*/ 3852985 w 4118708"/>
              <a:gd name="connsiteY61" fmla="*/ 265723 h 1899138"/>
              <a:gd name="connsiteX62" fmla="*/ 3899877 w 4118708"/>
              <a:gd name="connsiteY62" fmla="*/ 250092 h 1899138"/>
              <a:gd name="connsiteX63" fmla="*/ 3923323 w 4118708"/>
              <a:gd name="connsiteY63" fmla="*/ 242277 h 1899138"/>
              <a:gd name="connsiteX64" fmla="*/ 3970216 w 4118708"/>
              <a:gd name="connsiteY64" fmla="*/ 211015 h 1899138"/>
              <a:gd name="connsiteX65" fmla="*/ 4009292 w 4118708"/>
              <a:gd name="connsiteY65" fmla="*/ 171938 h 1899138"/>
              <a:gd name="connsiteX66" fmla="*/ 4024923 w 4118708"/>
              <a:gd name="connsiteY66" fmla="*/ 148492 h 1899138"/>
              <a:gd name="connsiteX67" fmla="*/ 4048369 w 4118708"/>
              <a:gd name="connsiteY67" fmla="*/ 132862 h 1899138"/>
              <a:gd name="connsiteX68" fmla="*/ 4079631 w 4118708"/>
              <a:gd name="connsiteY68" fmla="*/ 85969 h 1899138"/>
              <a:gd name="connsiteX69" fmla="*/ 4103077 w 4118708"/>
              <a:gd name="connsiteY69" fmla="*/ 31262 h 1899138"/>
              <a:gd name="connsiteX70" fmla="*/ 4118708 w 4118708"/>
              <a:gd name="connsiteY70" fmla="*/ 0 h 189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118708" h="1899138">
                <a:moveTo>
                  <a:pt x="0" y="1899138"/>
                </a:moveTo>
                <a:lnTo>
                  <a:pt x="500185" y="1344246"/>
                </a:lnTo>
                <a:cubicBezTo>
                  <a:pt x="508863" y="1334532"/>
                  <a:pt x="514421" y="1322195"/>
                  <a:pt x="523631" y="1312985"/>
                </a:cubicBezTo>
                <a:cubicBezTo>
                  <a:pt x="530273" y="1306343"/>
                  <a:pt x="539945" y="1303467"/>
                  <a:pt x="547077" y="1297354"/>
                </a:cubicBezTo>
                <a:cubicBezTo>
                  <a:pt x="558266" y="1287763"/>
                  <a:pt x="567018" y="1275526"/>
                  <a:pt x="578339" y="1266092"/>
                </a:cubicBezTo>
                <a:cubicBezTo>
                  <a:pt x="598352" y="1249414"/>
                  <a:pt x="622441" y="1237621"/>
                  <a:pt x="640862" y="1219200"/>
                </a:cubicBezTo>
                <a:cubicBezTo>
                  <a:pt x="709360" y="1150702"/>
                  <a:pt x="622470" y="1234527"/>
                  <a:pt x="687754" y="1180123"/>
                </a:cubicBezTo>
                <a:cubicBezTo>
                  <a:pt x="711219" y="1160569"/>
                  <a:pt x="713191" y="1147867"/>
                  <a:pt x="742462" y="1133231"/>
                </a:cubicBezTo>
                <a:cubicBezTo>
                  <a:pt x="752069" y="1128427"/>
                  <a:pt x="763303" y="1128020"/>
                  <a:pt x="773723" y="1125415"/>
                </a:cubicBezTo>
                <a:cubicBezTo>
                  <a:pt x="781538" y="1117600"/>
                  <a:pt x="788615" y="1108968"/>
                  <a:pt x="797169" y="1101969"/>
                </a:cubicBezTo>
                <a:cubicBezTo>
                  <a:pt x="848508" y="1059964"/>
                  <a:pt x="850960" y="1060316"/>
                  <a:pt x="898769" y="1031631"/>
                </a:cubicBezTo>
                <a:cubicBezTo>
                  <a:pt x="906585" y="1021210"/>
                  <a:pt x="913005" y="1009580"/>
                  <a:pt x="922216" y="1000369"/>
                </a:cubicBezTo>
                <a:cubicBezTo>
                  <a:pt x="931426" y="991159"/>
                  <a:pt x="943587" y="985400"/>
                  <a:pt x="953477" y="976923"/>
                </a:cubicBezTo>
                <a:cubicBezTo>
                  <a:pt x="961869" y="969730"/>
                  <a:pt x="968531" y="960670"/>
                  <a:pt x="976923" y="953477"/>
                </a:cubicBezTo>
                <a:cubicBezTo>
                  <a:pt x="986813" y="945000"/>
                  <a:pt x="997586" y="937602"/>
                  <a:pt x="1008185" y="930031"/>
                </a:cubicBezTo>
                <a:cubicBezTo>
                  <a:pt x="1015828" y="924571"/>
                  <a:pt x="1024499" y="920513"/>
                  <a:pt x="1031631" y="914400"/>
                </a:cubicBezTo>
                <a:cubicBezTo>
                  <a:pt x="1042820" y="904809"/>
                  <a:pt x="1051801" y="892842"/>
                  <a:pt x="1062892" y="883138"/>
                </a:cubicBezTo>
                <a:cubicBezTo>
                  <a:pt x="1072695" y="874560"/>
                  <a:pt x="1084264" y="868169"/>
                  <a:pt x="1094154" y="859692"/>
                </a:cubicBezTo>
                <a:cubicBezTo>
                  <a:pt x="1102546" y="852499"/>
                  <a:pt x="1109208" y="843439"/>
                  <a:pt x="1117600" y="836246"/>
                </a:cubicBezTo>
                <a:cubicBezTo>
                  <a:pt x="1127490" y="827769"/>
                  <a:pt x="1138263" y="820371"/>
                  <a:pt x="1148862" y="812800"/>
                </a:cubicBezTo>
                <a:cubicBezTo>
                  <a:pt x="1156505" y="807340"/>
                  <a:pt x="1165092" y="803182"/>
                  <a:pt x="1172308" y="797169"/>
                </a:cubicBezTo>
                <a:cubicBezTo>
                  <a:pt x="1180799" y="790093"/>
                  <a:pt x="1188678" y="782214"/>
                  <a:pt x="1195754" y="773723"/>
                </a:cubicBezTo>
                <a:cubicBezTo>
                  <a:pt x="1201767" y="766507"/>
                  <a:pt x="1204169" y="756290"/>
                  <a:pt x="1211385" y="750277"/>
                </a:cubicBezTo>
                <a:cubicBezTo>
                  <a:pt x="1220335" y="742819"/>
                  <a:pt x="1233166" y="741418"/>
                  <a:pt x="1242646" y="734646"/>
                </a:cubicBezTo>
                <a:cubicBezTo>
                  <a:pt x="1251640" y="728222"/>
                  <a:pt x="1258277" y="719015"/>
                  <a:pt x="1266092" y="711200"/>
                </a:cubicBezTo>
                <a:cubicBezTo>
                  <a:pt x="1281308" y="665555"/>
                  <a:pt x="1262003" y="707474"/>
                  <a:pt x="1297354" y="672123"/>
                </a:cubicBezTo>
                <a:cubicBezTo>
                  <a:pt x="1324030" y="645447"/>
                  <a:pt x="1314476" y="638679"/>
                  <a:pt x="1344246" y="617415"/>
                </a:cubicBezTo>
                <a:cubicBezTo>
                  <a:pt x="1353726" y="610643"/>
                  <a:pt x="1365087" y="606995"/>
                  <a:pt x="1375508" y="601785"/>
                </a:cubicBezTo>
                <a:cubicBezTo>
                  <a:pt x="1380718" y="593969"/>
                  <a:pt x="1384497" y="584980"/>
                  <a:pt x="1391139" y="578338"/>
                </a:cubicBezTo>
                <a:cubicBezTo>
                  <a:pt x="1413533" y="555944"/>
                  <a:pt x="1412609" y="567603"/>
                  <a:pt x="1438031" y="554892"/>
                </a:cubicBezTo>
                <a:cubicBezTo>
                  <a:pt x="1446432" y="550691"/>
                  <a:pt x="1453322" y="543922"/>
                  <a:pt x="1461477" y="539262"/>
                </a:cubicBezTo>
                <a:cubicBezTo>
                  <a:pt x="1471593" y="533482"/>
                  <a:pt x="1482817" y="529737"/>
                  <a:pt x="1492739" y="523631"/>
                </a:cubicBezTo>
                <a:cubicBezTo>
                  <a:pt x="1516738" y="508862"/>
                  <a:pt x="1539631" y="492369"/>
                  <a:pt x="1563077" y="476738"/>
                </a:cubicBezTo>
                <a:lnTo>
                  <a:pt x="1586523" y="461108"/>
                </a:lnTo>
                <a:cubicBezTo>
                  <a:pt x="1591733" y="453293"/>
                  <a:pt x="1594819" y="443530"/>
                  <a:pt x="1602154" y="437662"/>
                </a:cubicBezTo>
                <a:cubicBezTo>
                  <a:pt x="1608587" y="432516"/>
                  <a:pt x="1618232" y="433530"/>
                  <a:pt x="1625600" y="429846"/>
                </a:cubicBezTo>
                <a:cubicBezTo>
                  <a:pt x="1686193" y="399548"/>
                  <a:pt x="1613567" y="426041"/>
                  <a:pt x="1672492" y="406400"/>
                </a:cubicBezTo>
                <a:cubicBezTo>
                  <a:pt x="1776601" y="336995"/>
                  <a:pt x="1622297" y="436892"/>
                  <a:pt x="1719385" y="382954"/>
                </a:cubicBezTo>
                <a:cubicBezTo>
                  <a:pt x="1735807" y="373831"/>
                  <a:pt x="1749474" y="360093"/>
                  <a:pt x="1766277" y="351692"/>
                </a:cubicBezTo>
                <a:cubicBezTo>
                  <a:pt x="1870002" y="299833"/>
                  <a:pt x="1740458" y="362759"/>
                  <a:pt x="1820985" y="328246"/>
                </a:cubicBezTo>
                <a:cubicBezTo>
                  <a:pt x="1831693" y="323657"/>
                  <a:pt x="1841087" y="315963"/>
                  <a:pt x="1852246" y="312615"/>
                </a:cubicBezTo>
                <a:cubicBezTo>
                  <a:pt x="1867424" y="308062"/>
                  <a:pt x="1883698" y="308363"/>
                  <a:pt x="1899139" y="304800"/>
                </a:cubicBezTo>
                <a:cubicBezTo>
                  <a:pt x="1917619" y="300535"/>
                  <a:pt x="1935719" y="294747"/>
                  <a:pt x="1953846" y="289169"/>
                </a:cubicBezTo>
                <a:cubicBezTo>
                  <a:pt x="1969594" y="284323"/>
                  <a:pt x="1985108" y="278748"/>
                  <a:pt x="2000739" y="273538"/>
                </a:cubicBezTo>
                <a:cubicBezTo>
                  <a:pt x="2008554" y="270933"/>
                  <a:pt x="2016011" y="266745"/>
                  <a:pt x="2024185" y="265723"/>
                </a:cubicBezTo>
                <a:cubicBezTo>
                  <a:pt x="2045026" y="263118"/>
                  <a:pt x="2065809" y="259998"/>
                  <a:pt x="2086708" y="257908"/>
                </a:cubicBezTo>
                <a:cubicBezTo>
                  <a:pt x="2117922" y="254787"/>
                  <a:pt x="2149295" y="253376"/>
                  <a:pt x="2180492" y="250092"/>
                </a:cubicBezTo>
                <a:cubicBezTo>
                  <a:pt x="2198812" y="248164"/>
                  <a:pt x="2216855" y="243945"/>
                  <a:pt x="2235200" y="242277"/>
                </a:cubicBezTo>
                <a:cubicBezTo>
                  <a:pt x="2274203" y="238731"/>
                  <a:pt x="2313354" y="237067"/>
                  <a:pt x="2352431" y="234462"/>
                </a:cubicBezTo>
                <a:cubicBezTo>
                  <a:pt x="2368008" y="229269"/>
                  <a:pt x="2391431" y="220795"/>
                  <a:pt x="2407139" y="218831"/>
                </a:cubicBezTo>
                <a:cubicBezTo>
                  <a:pt x="2438266" y="214940"/>
                  <a:pt x="2469695" y="213989"/>
                  <a:pt x="2500923" y="211015"/>
                </a:cubicBezTo>
                <a:cubicBezTo>
                  <a:pt x="2524407" y="208778"/>
                  <a:pt x="2547816" y="205805"/>
                  <a:pt x="2571262" y="203200"/>
                </a:cubicBezTo>
                <a:lnTo>
                  <a:pt x="3235569" y="211015"/>
                </a:lnTo>
                <a:cubicBezTo>
                  <a:pt x="3253232" y="211408"/>
                  <a:pt x="3287591" y="223316"/>
                  <a:pt x="3305908" y="226646"/>
                </a:cubicBezTo>
                <a:cubicBezTo>
                  <a:pt x="3324032" y="229941"/>
                  <a:pt x="3342380" y="231857"/>
                  <a:pt x="3360616" y="234462"/>
                </a:cubicBezTo>
                <a:cubicBezTo>
                  <a:pt x="3376247" y="239672"/>
                  <a:pt x="3391159" y="248048"/>
                  <a:pt x="3407508" y="250092"/>
                </a:cubicBezTo>
                <a:cubicBezTo>
                  <a:pt x="3493439" y="260834"/>
                  <a:pt x="3449156" y="255589"/>
                  <a:pt x="3540369" y="265723"/>
                </a:cubicBezTo>
                <a:cubicBezTo>
                  <a:pt x="3548185" y="268328"/>
                  <a:pt x="3555690" y="272184"/>
                  <a:pt x="3563816" y="273538"/>
                </a:cubicBezTo>
                <a:cubicBezTo>
                  <a:pt x="3668516" y="290988"/>
                  <a:pt x="3602634" y="270848"/>
                  <a:pt x="3657600" y="289169"/>
                </a:cubicBezTo>
                <a:cubicBezTo>
                  <a:pt x="3699282" y="286564"/>
                  <a:pt x="3741090" y="285510"/>
                  <a:pt x="3782646" y="281354"/>
                </a:cubicBezTo>
                <a:cubicBezTo>
                  <a:pt x="3793334" y="280285"/>
                  <a:pt x="3803422" y="275868"/>
                  <a:pt x="3813908" y="273538"/>
                </a:cubicBezTo>
                <a:cubicBezTo>
                  <a:pt x="3826875" y="270656"/>
                  <a:pt x="3840169" y="269218"/>
                  <a:pt x="3852985" y="265723"/>
                </a:cubicBezTo>
                <a:cubicBezTo>
                  <a:pt x="3868881" y="261388"/>
                  <a:pt x="3884246" y="255302"/>
                  <a:pt x="3899877" y="250092"/>
                </a:cubicBezTo>
                <a:lnTo>
                  <a:pt x="3923323" y="242277"/>
                </a:lnTo>
                <a:cubicBezTo>
                  <a:pt x="3938954" y="231856"/>
                  <a:pt x="3959796" y="226646"/>
                  <a:pt x="3970216" y="211015"/>
                </a:cubicBezTo>
                <a:cubicBezTo>
                  <a:pt x="3991056" y="179754"/>
                  <a:pt x="3978031" y="192779"/>
                  <a:pt x="4009292" y="171938"/>
                </a:cubicBezTo>
                <a:cubicBezTo>
                  <a:pt x="4014502" y="164123"/>
                  <a:pt x="4018281" y="155134"/>
                  <a:pt x="4024923" y="148492"/>
                </a:cubicBezTo>
                <a:cubicBezTo>
                  <a:pt x="4031565" y="141850"/>
                  <a:pt x="4042184" y="139931"/>
                  <a:pt x="4048369" y="132862"/>
                </a:cubicBezTo>
                <a:cubicBezTo>
                  <a:pt x="4060740" y="118724"/>
                  <a:pt x="4079631" y="85969"/>
                  <a:pt x="4079631" y="85969"/>
                </a:cubicBezTo>
                <a:cubicBezTo>
                  <a:pt x="4097960" y="30980"/>
                  <a:pt x="4074103" y="98869"/>
                  <a:pt x="4103077" y="31262"/>
                </a:cubicBezTo>
                <a:cubicBezTo>
                  <a:pt x="4116548" y="-171"/>
                  <a:pt x="4103058" y="15648"/>
                  <a:pt x="4118708"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フリーフォーム 102"/>
          <p:cNvSpPr/>
          <p:nvPr/>
        </p:nvSpPr>
        <p:spPr>
          <a:xfrm>
            <a:off x="4082556" y="2039815"/>
            <a:ext cx="2633785" cy="468923"/>
          </a:xfrm>
          <a:custGeom>
            <a:avLst/>
            <a:gdLst>
              <a:gd name="connsiteX0" fmla="*/ 0 w 2633785"/>
              <a:gd name="connsiteY0" fmla="*/ 468923 h 468923"/>
              <a:gd name="connsiteX1" fmla="*/ 15631 w 2633785"/>
              <a:gd name="connsiteY1" fmla="*/ 406400 h 468923"/>
              <a:gd name="connsiteX2" fmla="*/ 39077 w 2633785"/>
              <a:gd name="connsiteY2" fmla="*/ 390770 h 468923"/>
              <a:gd name="connsiteX3" fmla="*/ 62523 w 2633785"/>
              <a:gd name="connsiteY3" fmla="*/ 367323 h 468923"/>
              <a:gd name="connsiteX4" fmla="*/ 109416 w 2633785"/>
              <a:gd name="connsiteY4" fmla="*/ 336062 h 468923"/>
              <a:gd name="connsiteX5" fmla="*/ 132862 w 2633785"/>
              <a:gd name="connsiteY5" fmla="*/ 320431 h 468923"/>
              <a:gd name="connsiteX6" fmla="*/ 164123 w 2633785"/>
              <a:gd name="connsiteY6" fmla="*/ 312616 h 468923"/>
              <a:gd name="connsiteX7" fmla="*/ 187570 w 2633785"/>
              <a:gd name="connsiteY7" fmla="*/ 289170 h 468923"/>
              <a:gd name="connsiteX8" fmla="*/ 242277 w 2633785"/>
              <a:gd name="connsiteY8" fmla="*/ 257908 h 468923"/>
              <a:gd name="connsiteX9" fmla="*/ 265723 w 2633785"/>
              <a:gd name="connsiteY9" fmla="*/ 242277 h 468923"/>
              <a:gd name="connsiteX10" fmla="*/ 289170 w 2633785"/>
              <a:gd name="connsiteY10" fmla="*/ 234462 h 468923"/>
              <a:gd name="connsiteX11" fmla="*/ 343877 w 2633785"/>
              <a:gd name="connsiteY11" fmla="*/ 203200 h 468923"/>
              <a:gd name="connsiteX12" fmla="*/ 367323 w 2633785"/>
              <a:gd name="connsiteY12" fmla="*/ 195385 h 468923"/>
              <a:gd name="connsiteX13" fmla="*/ 398585 w 2633785"/>
              <a:gd name="connsiteY13" fmla="*/ 179754 h 468923"/>
              <a:gd name="connsiteX14" fmla="*/ 422031 w 2633785"/>
              <a:gd name="connsiteY14" fmla="*/ 164123 h 468923"/>
              <a:gd name="connsiteX15" fmla="*/ 453293 w 2633785"/>
              <a:gd name="connsiteY15" fmla="*/ 156308 h 468923"/>
              <a:gd name="connsiteX16" fmla="*/ 523631 w 2633785"/>
              <a:gd name="connsiteY16" fmla="*/ 132862 h 468923"/>
              <a:gd name="connsiteX17" fmla="*/ 547077 w 2633785"/>
              <a:gd name="connsiteY17" fmla="*/ 125047 h 468923"/>
              <a:gd name="connsiteX18" fmla="*/ 578339 w 2633785"/>
              <a:gd name="connsiteY18" fmla="*/ 109416 h 468923"/>
              <a:gd name="connsiteX19" fmla="*/ 672123 w 2633785"/>
              <a:gd name="connsiteY19" fmla="*/ 93785 h 468923"/>
              <a:gd name="connsiteX20" fmla="*/ 719016 w 2633785"/>
              <a:gd name="connsiteY20" fmla="*/ 78154 h 468923"/>
              <a:gd name="connsiteX21" fmla="*/ 742462 w 2633785"/>
              <a:gd name="connsiteY21" fmla="*/ 70339 h 468923"/>
              <a:gd name="connsiteX22" fmla="*/ 867508 w 2633785"/>
              <a:gd name="connsiteY22" fmla="*/ 54708 h 468923"/>
              <a:gd name="connsiteX23" fmla="*/ 898770 w 2633785"/>
              <a:gd name="connsiteY23" fmla="*/ 46893 h 468923"/>
              <a:gd name="connsiteX24" fmla="*/ 953477 w 2633785"/>
              <a:gd name="connsiteY24" fmla="*/ 39077 h 468923"/>
              <a:gd name="connsiteX25" fmla="*/ 984739 w 2633785"/>
              <a:gd name="connsiteY25" fmla="*/ 31262 h 468923"/>
              <a:gd name="connsiteX26" fmla="*/ 1070708 w 2633785"/>
              <a:gd name="connsiteY26" fmla="*/ 23447 h 468923"/>
              <a:gd name="connsiteX27" fmla="*/ 1125416 w 2633785"/>
              <a:gd name="connsiteY27" fmla="*/ 15631 h 468923"/>
              <a:gd name="connsiteX28" fmla="*/ 1211385 w 2633785"/>
              <a:gd name="connsiteY28" fmla="*/ 0 h 468923"/>
              <a:gd name="connsiteX29" fmla="*/ 1438031 w 2633785"/>
              <a:gd name="connsiteY29" fmla="*/ 7816 h 468923"/>
              <a:gd name="connsiteX30" fmla="*/ 1492739 w 2633785"/>
              <a:gd name="connsiteY30" fmla="*/ 15631 h 468923"/>
              <a:gd name="connsiteX31" fmla="*/ 1586523 w 2633785"/>
              <a:gd name="connsiteY31" fmla="*/ 23447 h 468923"/>
              <a:gd name="connsiteX32" fmla="*/ 1656862 w 2633785"/>
              <a:gd name="connsiteY32" fmla="*/ 39077 h 468923"/>
              <a:gd name="connsiteX33" fmla="*/ 1688123 w 2633785"/>
              <a:gd name="connsiteY33" fmla="*/ 46893 h 468923"/>
              <a:gd name="connsiteX34" fmla="*/ 1820985 w 2633785"/>
              <a:gd name="connsiteY34" fmla="*/ 62523 h 468923"/>
              <a:gd name="connsiteX35" fmla="*/ 1883508 w 2633785"/>
              <a:gd name="connsiteY35" fmla="*/ 78154 h 468923"/>
              <a:gd name="connsiteX36" fmla="*/ 1938216 w 2633785"/>
              <a:gd name="connsiteY36" fmla="*/ 93785 h 468923"/>
              <a:gd name="connsiteX37" fmla="*/ 1985108 w 2633785"/>
              <a:gd name="connsiteY37" fmla="*/ 101600 h 468923"/>
              <a:gd name="connsiteX38" fmla="*/ 2047631 w 2633785"/>
              <a:gd name="connsiteY38" fmla="*/ 117231 h 468923"/>
              <a:gd name="connsiteX39" fmla="*/ 2141416 w 2633785"/>
              <a:gd name="connsiteY39" fmla="*/ 132862 h 468923"/>
              <a:gd name="connsiteX40" fmla="*/ 2430585 w 2633785"/>
              <a:gd name="connsiteY40" fmla="*/ 148493 h 468923"/>
              <a:gd name="connsiteX41" fmla="*/ 2493108 w 2633785"/>
              <a:gd name="connsiteY41" fmla="*/ 156308 h 468923"/>
              <a:gd name="connsiteX42" fmla="*/ 2571262 w 2633785"/>
              <a:gd name="connsiteY42" fmla="*/ 171939 h 468923"/>
              <a:gd name="connsiteX43" fmla="*/ 2633785 w 2633785"/>
              <a:gd name="connsiteY43" fmla="*/ 171939 h 46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633785" h="468923">
                <a:moveTo>
                  <a:pt x="0" y="468923"/>
                </a:moveTo>
                <a:cubicBezTo>
                  <a:pt x="389" y="466980"/>
                  <a:pt x="9224" y="414408"/>
                  <a:pt x="15631" y="406400"/>
                </a:cubicBezTo>
                <a:cubicBezTo>
                  <a:pt x="21499" y="399065"/>
                  <a:pt x="31861" y="396783"/>
                  <a:pt x="39077" y="390770"/>
                </a:cubicBezTo>
                <a:cubicBezTo>
                  <a:pt x="47568" y="383694"/>
                  <a:pt x="53798" y="374109"/>
                  <a:pt x="62523" y="367323"/>
                </a:cubicBezTo>
                <a:cubicBezTo>
                  <a:pt x="77352" y="355790"/>
                  <a:pt x="93785" y="346482"/>
                  <a:pt x="109416" y="336062"/>
                </a:cubicBezTo>
                <a:cubicBezTo>
                  <a:pt x="117231" y="330852"/>
                  <a:pt x="123750" y="322709"/>
                  <a:pt x="132862" y="320431"/>
                </a:cubicBezTo>
                <a:lnTo>
                  <a:pt x="164123" y="312616"/>
                </a:lnTo>
                <a:cubicBezTo>
                  <a:pt x="171939" y="304801"/>
                  <a:pt x="179079" y="296246"/>
                  <a:pt x="187570" y="289170"/>
                </a:cubicBezTo>
                <a:cubicBezTo>
                  <a:pt x="208344" y="271859"/>
                  <a:pt x="217953" y="271808"/>
                  <a:pt x="242277" y="257908"/>
                </a:cubicBezTo>
                <a:cubicBezTo>
                  <a:pt x="250432" y="253248"/>
                  <a:pt x="257322" y="246478"/>
                  <a:pt x="265723" y="242277"/>
                </a:cubicBezTo>
                <a:cubicBezTo>
                  <a:pt x="273092" y="238593"/>
                  <a:pt x="281598" y="237707"/>
                  <a:pt x="289170" y="234462"/>
                </a:cubicBezTo>
                <a:cubicBezTo>
                  <a:pt x="385072" y="193362"/>
                  <a:pt x="265395" y="242441"/>
                  <a:pt x="343877" y="203200"/>
                </a:cubicBezTo>
                <a:cubicBezTo>
                  <a:pt x="351245" y="199516"/>
                  <a:pt x="359751" y="198630"/>
                  <a:pt x="367323" y="195385"/>
                </a:cubicBezTo>
                <a:cubicBezTo>
                  <a:pt x="378032" y="190796"/>
                  <a:pt x="388469" y="185534"/>
                  <a:pt x="398585" y="179754"/>
                </a:cubicBezTo>
                <a:cubicBezTo>
                  <a:pt x="406740" y="175094"/>
                  <a:pt x="413398" y="167823"/>
                  <a:pt x="422031" y="164123"/>
                </a:cubicBezTo>
                <a:cubicBezTo>
                  <a:pt x="431904" y="159892"/>
                  <a:pt x="443005" y="159394"/>
                  <a:pt x="453293" y="156308"/>
                </a:cubicBezTo>
                <a:cubicBezTo>
                  <a:pt x="476965" y="149206"/>
                  <a:pt x="500185" y="140677"/>
                  <a:pt x="523631" y="132862"/>
                </a:cubicBezTo>
                <a:cubicBezTo>
                  <a:pt x="531446" y="130257"/>
                  <a:pt x="539709" y="128731"/>
                  <a:pt x="547077" y="125047"/>
                </a:cubicBezTo>
                <a:cubicBezTo>
                  <a:pt x="557498" y="119837"/>
                  <a:pt x="567036" y="112242"/>
                  <a:pt x="578339" y="109416"/>
                </a:cubicBezTo>
                <a:cubicBezTo>
                  <a:pt x="733504" y="70624"/>
                  <a:pt x="578560" y="121854"/>
                  <a:pt x="672123" y="93785"/>
                </a:cubicBezTo>
                <a:cubicBezTo>
                  <a:pt x="687905" y="89051"/>
                  <a:pt x="703385" y="83364"/>
                  <a:pt x="719016" y="78154"/>
                </a:cubicBezTo>
                <a:cubicBezTo>
                  <a:pt x="726831" y="75549"/>
                  <a:pt x="734265" y="71159"/>
                  <a:pt x="742462" y="70339"/>
                </a:cubicBezTo>
                <a:cubicBezTo>
                  <a:pt x="796332" y="64952"/>
                  <a:pt x="819032" y="64403"/>
                  <a:pt x="867508" y="54708"/>
                </a:cubicBezTo>
                <a:cubicBezTo>
                  <a:pt x="878041" y="52602"/>
                  <a:pt x="888202" y="48815"/>
                  <a:pt x="898770" y="46893"/>
                </a:cubicBezTo>
                <a:cubicBezTo>
                  <a:pt x="916894" y="43598"/>
                  <a:pt x="935353" y="42372"/>
                  <a:pt x="953477" y="39077"/>
                </a:cubicBezTo>
                <a:cubicBezTo>
                  <a:pt x="964045" y="37155"/>
                  <a:pt x="974092" y="32682"/>
                  <a:pt x="984739" y="31262"/>
                </a:cubicBezTo>
                <a:cubicBezTo>
                  <a:pt x="1013261" y="27459"/>
                  <a:pt x="1042110" y="26625"/>
                  <a:pt x="1070708" y="23447"/>
                </a:cubicBezTo>
                <a:cubicBezTo>
                  <a:pt x="1089016" y="21413"/>
                  <a:pt x="1107209" y="18432"/>
                  <a:pt x="1125416" y="15631"/>
                </a:cubicBezTo>
                <a:cubicBezTo>
                  <a:pt x="1168763" y="8962"/>
                  <a:pt x="1170726" y="8133"/>
                  <a:pt x="1211385" y="0"/>
                </a:cubicBezTo>
                <a:cubicBezTo>
                  <a:pt x="1286934" y="2605"/>
                  <a:pt x="1362554" y="3623"/>
                  <a:pt x="1438031" y="7816"/>
                </a:cubicBezTo>
                <a:cubicBezTo>
                  <a:pt x="1456424" y="8838"/>
                  <a:pt x="1474419" y="13703"/>
                  <a:pt x="1492739" y="15631"/>
                </a:cubicBezTo>
                <a:cubicBezTo>
                  <a:pt x="1523936" y="18915"/>
                  <a:pt x="1555262" y="20842"/>
                  <a:pt x="1586523" y="23447"/>
                </a:cubicBezTo>
                <a:cubicBezTo>
                  <a:pt x="1662810" y="42517"/>
                  <a:pt x="1567508" y="19220"/>
                  <a:pt x="1656862" y="39077"/>
                </a:cubicBezTo>
                <a:cubicBezTo>
                  <a:pt x="1667347" y="41407"/>
                  <a:pt x="1677555" y="44972"/>
                  <a:pt x="1688123" y="46893"/>
                </a:cubicBezTo>
                <a:cubicBezTo>
                  <a:pt x="1730349" y="54571"/>
                  <a:pt x="1779078" y="58333"/>
                  <a:pt x="1820985" y="62523"/>
                </a:cubicBezTo>
                <a:cubicBezTo>
                  <a:pt x="1874579" y="80389"/>
                  <a:pt x="1808060" y="59292"/>
                  <a:pt x="1883508" y="78154"/>
                </a:cubicBezTo>
                <a:cubicBezTo>
                  <a:pt x="1943110" y="93055"/>
                  <a:pt x="1865106" y="79164"/>
                  <a:pt x="1938216" y="93785"/>
                </a:cubicBezTo>
                <a:cubicBezTo>
                  <a:pt x="1953755" y="96893"/>
                  <a:pt x="1969613" y="98280"/>
                  <a:pt x="1985108" y="101600"/>
                </a:cubicBezTo>
                <a:cubicBezTo>
                  <a:pt x="2006114" y="106101"/>
                  <a:pt x="2026566" y="113018"/>
                  <a:pt x="2047631" y="117231"/>
                </a:cubicBezTo>
                <a:cubicBezTo>
                  <a:pt x="2082535" y="124212"/>
                  <a:pt x="2104394" y="129336"/>
                  <a:pt x="2141416" y="132862"/>
                </a:cubicBezTo>
                <a:cubicBezTo>
                  <a:pt x="2232797" y="141564"/>
                  <a:pt x="2342004" y="144641"/>
                  <a:pt x="2430585" y="148493"/>
                </a:cubicBezTo>
                <a:cubicBezTo>
                  <a:pt x="2451426" y="151098"/>
                  <a:pt x="2472391" y="152855"/>
                  <a:pt x="2493108" y="156308"/>
                </a:cubicBezTo>
                <a:cubicBezTo>
                  <a:pt x="2519314" y="160676"/>
                  <a:pt x="2544857" y="169005"/>
                  <a:pt x="2571262" y="171939"/>
                </a:cubicBezTo>
                <a:cubicBezTo>
                  <a:pt x="2591976" y="174241"/>
                  <a:pt x="2612944" y="171939"/>
                  <a:pt x="2633785" y="1719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フリーフォーム 103"/>
          <p:cNvSpPr/>
          <p:nvPr/>
        </p:nvSpPr>
        <p:spPr>
          <a:xfrm>
            <a:off x="5966064" y="4017108"/>
            <a:ext cx="1797584" cy="963082"/>
          </a:xfrm>
          <a:custGeom>
            <a:avLst/>
            <a:gdLst>
              <a:gd name="connsiteX0" fmla="*/ 0 w 1797584"/>
              <a:gd name="connsiteY0" fmla="*/ 0 h 963082"/>
              <a:gd name="connsiteX1" fmla="*/ 39077 w 1797584"/>
              <a:gd name="connsiteY1" fmla="*/ 23446 h 963082"/>
              <a:gd name="connsiteX2" fmla="*/ 93785 w 1797584"/>
              <a:gd name="connsiteY2" fmla="*/ 39077 h 963082"/>
              <a:gd name="connsiteX3" fmla="*/ 117231 w 1797584"/>
              <a:gd name="connsiteY3" fmla="*/ 54707 h 963082"/>
              <a:gd name="connsiteX4" fmla="*/ 195385 w 1797584"/>
              <a:gd name="connsiteY4" fmla="*/ 78154 h 963082"/>
              <a:gd name="connsiteX5" fmla="*/ 281354 w 1797584"/>
              <a:gd name="connsiteY5" fmla="*/ 109415 h 963082"/>
              <a:gd name="connsiteX6" fmla="*/ 328246 w 1797584"/>
              <a:gd name="connsiteY6" fmla="*/ 125046 h 963082"/>
              <a:gd name="connsiteX7" fmla="*/ 398585 w 1797584"/>
              <a:gd name="connsiteY7" fmla="*/ 140677 h 963082"/>
              <a:gd name="connsiteX8" fmla="*/ 468923 w 1797584"/>
              <a:gd name="connsiteY8" fmla="*/ 164123 h 963082"/>
              <a:gd name="connsiteX9" fmla="*/ 492369 w 1797584"/>
              <a:gd name="connsiteY9" fmla="*/ 171938 h 963082"/>
              <a:gd name="connsiteX10" fmla="*/ 625231 w 1797584"/>
              <a:gd name="connsiteY10" fmla="*/ 195384 h 963082"/>
              <a:gd name="connsiteX11" fmla="*/ 679939 w 1797584"/>
              <a:gd name="connsiteY11" fmla="*/ 211015 h 963082"/>
              <a:gd name="connsiteX12" fmla="*/ 758092 w 1797584"/>
              <a:gd name="connsiteY12" fmla="*/ 226646 h 963082"/>
              <a:gd name="connsiteX13" fmla="*/ 781539 w 1797584"/>
              <a:gd name="connsiteY13" fmla="*/ 234461 h 963082"/>
              <a:gd name="connsiteX14" fmla="*/ 812800 w 1797584"/>
              <a:gd name="connsiteY14" fmla="*/ 242277 h 963082"/>
              <a:gd name="connsiteX15" fmla="*/ 844062 w 1797584"/>
              <a:gd name="connsiteY15" fmla="*/ 257907 h 963082"/>
              <a:gd name="connsiteX16" fmla="*/ 898769 w 1797584"/>
              <a:gd name="connsiteY16" fmla="*/ 273538 h 963082"/>
              <a:gd name="connsiteX17" fmla="*/ 930031 w 1797584"/>
              <a:gd name="connsiteY17" fmla="*/ 289169 h 963082"/>
              <a:gd name="connsiteX18" fmla="*/ 992554 w 1797584"/>
              <a:gd name="connsiteY18" fmla="*/ 304800 h 963082"/>
              <a:gd name="connsiteX19" fmla="*/ 1023815 w 1797584"/>
              <a:gd name="connsiteY19" fmla="*/ 320430 h 963082"/>
              <a:gd name="connsiteX20" fmla="*/ 1047262 w 1797584"/>
              <a:gd name="connsiteY20" fmla="*/ 328246 h 963082"/>
              <a:gd name="connsiteX21" fmla="*/ 1070708 w 1797584"/>
              <a:gd name="connsiteY21" fmla="*/ 343877 h 963082"/>
              <a:gd name="connsiteX22" fmla="*/ 1101969 w 1797584"/>
              <a:gd name="connsiteY22" fmla="*/ 351692 h 963082"/>
              <a:gd name="connsiteX23" fmla="*/ 1125415 w 1797584"/>
              <a:gd name="connsiteY23" fmla="*/ 359507 h 963082"/>
              <a:gd name="connsiteX24" fmla="*/ 1180123 w 1797584"/>
              <a:gd name="connsiteY24" fmla="*/ 390769 h 963082"/>
              <a:gd name="connsiteX25" fmla="*/ 1227015 w 1797584"/>
              <a:gd name="connsiteY25" fmla="*/ 406400 h 963082"/>
              <a:gd name="connsiteX26" fmla="*/ 1273908 w 1797584"/>
              <a:gd name="connsiteY26" fmla="*/ 429846 h 963082"/>
              <a:gd name="connsiteX27" fmla="*/ 1297354 w 1797584"/>
              <a:gd name="connsiteY27" fmla="*/ 445477 h 963082"/>
              <a:gd name="connsiteX28" fmla="*/ 1328615 w 1797584"/>
              <a:gd name="connsiteY28" fmla="*/ 461107 h 963082"/>
              <a:gd name="connsiteX29" fmla="*/ 1352062 w 1797584"/>
              <a:gd name="connsiteY29" fmla="*/ 476738 h 963082"/>
              <a:gd name="connsiteX30" fmla="*/ 1383323 w 1797584"/>
              <a:gd name="connsiteY30" fmla="*/ 492369 h 963082"/>
              <a:gd name="connsiteX31" fmla="*/ 1430215 w 1797584"/>
              <a:gd name="connsiteY31" fmla="*/ 523630 h 963082"/>
              <a:gd name="connsiteX32" fmla="*/ 1453662 w 1797584"/>
              <a:gd name="connsiteY32" fmla="*/ 539261 h 963082"/>
              <a:gd name="connsiteX33" fmla="*/ 1477108 w 1797584"/>
              <a:gd name="connsiteY33" fmla="*/ 554892 h 963082"/>
              <a:gd name="connsiteX34" fmla="*/ 1500554 w 1797584"/>
              <a:gd name="connsiteY34" fmla="*/ 578338 h 963082"/>
              <a:gd name="connsiteX35" fmla="*/ 1508369 w 1797584"/>
              <a:gd name="connsiteY35" fmla="*/ 601784 h 963082"/>
              <a:gd name="connsiteX36" fmla="*/ 1547446 w 1797584"/>
              <a:gd name="connsiteY36" fmla="*/ 648677 h 963082"/>
              <a:gd name="connsiteX37" fmla="*/ 1555262 w 1797584"/>
              <a:gd name="connsiteY37" fmla="*/ 679938 h 963082"/>
              <a:gd name="connsiteX38" fmla="*/ 1578708 w 1797584"/>
              <a:gd name="connsiteY38" fmla="*/ 703384 h 963082"/>
              <a:gd name="connsiteX39" fmla="*/ 1594339 w 1797584"/>
              <a:gd name="connsiteY39" fmla="*/ 726830 h 963082"/>
              <a:gd name="connsiteX40" fmla="*/ 1617785 w 1797584"/>
              <a:gd name="connsiteY40" fmla="*/ 773723 h 963082"/>
              <a:gd name="connsiteX41" fmla="*/ 1625600 w 1797584"/>
              <a:gd name="connsiteY41" fmla="*/ 797169 h 963082"/>
              <a:gd name="connsiteX42" fmla="*/ 1656862 w 1797584"/>
              <a:gd name="connsiteY42" fmla="*/ 844061 h 963082"/>
              <a:gd name="connsiteX43" fmla="*/ 1672492 w 1797584"/>
              <a:gd name="connsiteY43" fmla="*/ 867507 h 963082"/>
              <a:gd name="connsiteX44" fmla="*/ 1703754 w 1797584"/>
              <a:gd name="connsiteY44" fmla="*/ 890954 h 963082"/>
              <a:gd name="connsiteX45" fmla="*/ 1774092 w 1797584"/>
              <a:gd name="connsiteY45" fmla="*/ 945661 h 963082"/>
              <a:gd name="connsiteX46" fmla="*/ 1797539 w 1797584"/>
              <a:gd name="connsiteY46" fmla="*/ 953477 h 963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797584" h="963082">
                <a:moveTo>
                  <a:pt x="0" y="0"/>
                </a:moveTo>
                <a:cubicBezTo>
                  <a:pt x="13026" y="7815"/>
                  <a:pt x="25490" y="16653"/>
                  <a:pt x="39077" y="23446"/>
                </a:cubicBezTo>
                <a:cubicBezTo>
                  <a:pt x="50286" y="29050"/>
                  <a:pt x="83773" y="36574"/>
                  <a:pt x="93785" y="39077"/>
                </a:cubicBezTo>
                <a:cubicBezTo>
                  <a:pt x="101600" y="44287"/>
                  <a:pt x="108598" y="51007"/>
                  <a:pt x="117231" y="54707"/>
                </a:cubicBezTo>
                <a:cubicBezTo>
                  <a:pt x="147811" y="67813"/>
                  <a:pt x="163866" y="57142"/>
                  <a:pt x="195385" y="78154"/>
                </a:cubicBezTo>
                <a:cubicBezTo>
                  <a:pt x="244537" y="110921"/>
                  <a:pt x="191807" y="79565"/>
                  <a:pt x="281354" y="109415"/>
                </a:cubicBezTo>
                <a:cubicBezTo>
                  <a:pt x="296985" y="114625"/>
                  <a:pt x="312090" y="121815"/>
                  <a:pt x="328246" y="125046"/>
                </a:cubicBezTo>
                <a:cubicBezTo>
                  <a:pt x="377856" y="134967"/>
                  <a:pt x="354436" y="129639"/>
                  <a:pt x="398585" y="140677"/>
                </a:cubicBezTo>
                <a:cubicBezTo>
                  <a:pt x="439377" y="167870"/>
                  <a:pt x="405747" y="150084"/>
                  <a:pt x="468923" y="164123"/>
                </a:cubicBezTo>
                <a:cubicBezTo>
                  <a:pt x="476965" y="165910"/>
                  <a:pt x="484342" y="170086"/>
                  <a:pt x="492369" y="171938"/>
                </a:cubicBezTo>
                <a:cubicBezTo>
                  <a:pt x="554917" y="186372"/>
                  <a:pt x="567568" y="187147"/>
                  <a:pt x="625231" y="195384"/>
                </a:cubicBezTo>
                <a:cubicBezTo>
                  <a:pt x="649841" y="203588"/>
                  <a:pt x="652453" y="205125"/>
                  <a:pt x="679939" y="211015"/>
                </a:cubicBezTo>
                <a:cubicBezTo>
                  <a:pt x="705916" y="216582"/>
                  <a:pt x="732888" y="218245"/>
                  <a:pt x="758092" y="226646"/>
                </a:cubicBezTo>
                <a:cubicBezTo>
                  <a:pt x="765908" y="229251"/>
                  <a:pt x="773618" y="232198"/>
                  <a:pt x="781539" y="234461"/>
                </a:cubicBezTo>
                <a:cubicBezTo>
                  <a:pt x="791867" y="237412"/>
                  <a:pt x="802743" y="238506"/>
                  <a:pt x="812800" y="242277"/>
                </a:cubicBezTo>
                <a:cubicBezTo>
                  <a:pt x="823709" y="246368"/>
                  <a:pt x="833353" y="253318"/>
                  <a:pt x="844062" y="257907"/>
                </a:cubicBezTo>
                <a:cubicBezTo>
                  <a:pt x="859765" y="264637"/>
                  <a:pt x="882896" y="269570"/>
                  <a:pt x="898769" y="273538"/>
                </a:cubicBezTo>
                <a:cubicBezTo>
                  <a:pt x="909190" y="278748"/>
                  <a:pt x="918978" y="285485"/>
                  <a:pt x="930031" y="289169"/>
                </a:cubicBezTo>
                <a:cubicBezTo>
                  <a:pt x="985096" y="307524"/>
                  <a:pt x="951601" y="287248"/>
                  <a:pt x="992554" y="304800"/>
                </a:cubicBezTo>
                <a:cubicBezTo>
                  <a:pt x="1003262" y="309389"/>
                  <a:pt x="1013107" y="315841"/>
                  <a:pt x="1023815" y="320430"/>
                </a:cubicBezTo>
                <a:cubicBezTo>
                  <a:pt x="1031387" y="323675"/>
                  <a:pt x="1039893" y="324562"/>
                  <a:pt x="1047262" y="328246"/>
                </a:cubicBezTo>
                <a:cubicBezTo>
                  <a:pt x="1055663" y="332447"/>
                  <a:pt x="1062075" y="340177"/>
                  <a:pt x="1070708" y="343877"/>
                </a:cubicBezTo>
                <a:cubicBezTo>
                  <a:pt x="1080581" y="348108"/>
                  <a:pt x="1091641" y="348741"/>
                  <a:pt x="1101969" y="351692"/>
                </a:cubicBezTo>
                <a:cubicBezTo>
                  <a:pt x="1109890" y="353955"/>
                  <a:pt x="1117600" y="356902"/>
                  <a:pt x="1125415" y="359507"/>
                </a:cubicBezTo>
                <a:cubicBezTo>
                  <a:pt x="1146562" y="373605"/>
                  <a:pt x="1155336" y="380854"/>
                  <a:pt x="1180123" y="390769"/>
                </a:cubicBezTo>
                <a:cubicBezTo>
                  <a:pt x="1195421" y="396888"/>
                  <a:pt x="1213306" y="397261"/>
                  <a:pt x="1227015" y="406400"/>
                </a:cubicBezTo>
                <a:cubicBezTo>
                  <a:pt x="1294225" y="451203"/>
                  <a:pt x="1209180" y="397481"/>
                  <a:pt x="1273908" y="429846"/>
                </a:cubicBezTo>
                <a:cubicBezTo>
                  <a:pt x="1282309" y="434047"/>
                  <a:pt x="1289199" y="440817"/>
                  <a:pt x="1297354" y="445477"/>
                </a:cubicBezTo>
                <a:cubicBezTo>
                  <a:pt x="1307469" y="451257"/>
                  <a:pt x="1318500" y="455327"/>
                  <a:pt x="1328615" y="461107"/>
                </a:cubicBezTo>
                <a:cubicBezTo>
                  <a:pt x="1336771" y="465767"/>
                  <a:pt x="1343906" y="472078"/>
                  <a:pt x="1352062" y="476738"/>
                </a:cubicBezTo>
                <a:cubicBezTo>
                  <a:pt x="1362177" y="482518"/>
                  <a:pt x="1373333" y="486375"/>
                  <a:pt x="1383323" y="492369"/>
                </a:cubicBezTo>
                <a:cubicBezTo>
                  <a:pt x="1399432" y="502034"/>
                  <a:pt x="1414584" y="513210"/>
                  <a:pt x="1430215" y="523630"/>
                </a:cubicBezTo>
                <a:lnTo>
                  <a:pt x="1453662" y="539261"/>
                </a:lnTo>
                <a:cubicBezTo>
                  <a:pt x="1461477" y="544471"/>
                  <a:pt x="1470466" y="548250"/>
                  <a:pt x="1477108" y="554892"/>
                </a:cubicBezTo>
                <a:lnTo>
                  <a:pt x="1500554" y="578338"/>
                </a:lnTo>
                <a:cubicBezTo>
                  <a:pt x="1503159" y="586153"/>
                  <a:pt x="1504685" y="594416"/>
                  <a:pt x="1508369" y="601784"/>
                </a:cubicBezTo>
                <a:cubicBezTo>
                  <a:pt x="1519249" y="623544"/>
                  <a:pt x="1530164" y="631394"/>
                  <a:pt x="1547446" y="648677"/>
                </a:cubicBezTo>
                <a:cubicBezTo>
                  <a:pt x="1550051" y="659097"/>
                  <a:pt x="1549933" y="670612"/>
                  <a:pt x="1555262" y="679938"/>
                </a:cubicBezTo>
                <a:cubicBezTo>
                  <a:pt x="1560746" y="689534"/>
                  <a:pt x="1571632" y="694893"/>
                  <a:pt x="1578708" y="703384"/>
                </a:cubicBezTo>
                <a:cubicBezTo>
                  <a:pt x="1584721" y="710600"/>
                  <a:pt x="1589129" y="719015"/>
                  <a:pt x="1594339" y="726830"/>
                </a:cubicBezTo>
                <a:cubicBezTo>
                  <a:pt x="1613981" y="785762"/>
                  <a:pt x="1587486" y="713124"/>
                  <a:pt x="1617785" y="773723"/>
                </a:cubicBezTo>
                <a:cubicBezTo>
                  <a:pt x="1621469" y="781091"/>
                  <a:pt x="1621599" y="789968"/>
                  <a:pt x="1625600" y="797169"/>
                </a:cubicBezTo>
                <a:cubicBezTo>
                  <a:pt x="1634723" y="813591"/>
                  <a:pt x="1646441" y="828430"/>
                  <a:pt x="1656862" y="844061"/>
                </a:cubicBezTo>
                <a:cubicBezTo>
                  <a:pt x="1662072" y="851876"/>
                  <a:pt x="1664978" y="861871"/>
                  <a:pt x="1672492" y="867507"/>
                </a:cubicBezTo>
                <a:cubicBezTo>
                  <a:pt x="1682913" y="875323"/>
                  <a:pt x="1694072" y="882240"/>
                  <a:pt x="1703754" y="890954"/>
                </a:cubicBezTo>
                <a:cubicBezTo>
                  <a:pt x="1765773" y="946772"/>
                  <a:pt x="1726208" y="929700"/>
                  <a:pt x="1774092" y="945661"/>
                </a:cubicBezTo>
                <a:cubicBezTo>
                  <a:pt x="1799707" y="962737"/>
                  <a:pt x="1797539" y="970685"/>
                  <a:pt x="1797539" y="95347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フリーフォーム 104"/>
          <p:cNvSpPr/>
          <p:nvPr/>
        </p:nvSpPr>
        <p:spPr>
          <a:xfrm>
            <a:off x="4324833" y="3767015"/>
            <a:ext cx="531446" cy="992554"/>
          </a:xfrm>
          <a:custGeom>
            <a:avLst/>
            <a:gdLst>
              <a:gd name="connsiteX0" fmla="*/ 273539 w 531446"/>
              <a:gd name="connsiteY0" fmla="*/ 992554 h 992554"/>
              <a:gd name="connsiteX1" fmla="*/ 234462 w 531446"/>
              <a:gd name="connsiteY1" fmla="*/ 961293 h 992554"/>
              <a:gd name="connsiteX2" fmla="*/ 187570 w 531446"/>
              <a:gd name="connsiteY2" fmla="*/ 914400 h 992554"/>
              <a:gd name="connsiteX3" fmla="*/ 156308 w 531446"/>
              <a:gd name="connsiteY3" fmla="*/ 890954 h 992554"/>
              <a:gd name="connsiteX4" fmla="*/ 109416 w 531446"/>
              <a:gd name="connsiteY4" fmla="*/ 851877 h 992554"/>
              <a:gd name="connsiteX5" fmla="*/ 101600 w 531446"/>
              <a:gd name="connsiteY5" fmla="*/ 828431 h 992554"/>
              <a:gd name="connsiteX6" fmla="*/ 62523 w 531446"/>
              <a:gd name="connsiteY6" fmla="*/ 789354 h 992554"/>
              <a:gd name="connsiteX7" fmla="*/ 46893 w 531446"/>
              <a:gd name="connsiteY7" fmla="*/ 758093 h 992554"/>
              <a:gd name="connsiteX8" fmla="*/ 31262 w 531446"/>
              <a:gd name="connsiteY8" fmla="*/ 734647 h 992554"/>
              <a:gd name="connsiteX9" fmla="*/ 23446 w 531446"/>
              <a:gd name="connsiteY9" fmla="*/ 711200 h 992554"/>
              <a:gd name="connsiteX10" fmla="*/ 7816 w 531446"/>
              <a:gd name="connsiteY10" fmla="*/ 679939 h 992554"/>
              <a:gd name="connsiteX11" fmla="*/ 0 w 531446"/>
              <a:gd name="connsiteY11" fmla="*/ 625231 h 992554"/>
              <a:gd name="connsiteX12" fmla="*/ 7816 w 531446"/>
              <a:gd name="connsiteY12" fmla="*/ 382954 h 992554"/>
              <a:gd name="connsiteX13" fmla="*/ 15631 w 531446"/>
              <a:gd name="connsiteY13" fmla="*/ 359508 h 992554"/>
              <a:gd name="connsiteX14" fmla="*/ 23446 w 531446"/>
              <a:gd name="connsiteY14" fmla="*/ 320431 h 992554"/>
              <a:gd name="connsiteX15" fmla="*/ 39077 w 531446"/>
              <a:gd name="connsiteY15" fmla="*/ 273539 h 992554"/>
              <a:gd name="connsiteX16" fmla="*/ 62523 w 531446"/>
              <a:gd name="connsiteY16" fmla="*/ 218831 h 992554"/>
              <a:gd name="connsiteX17" fmla="*/ 101600 w 531446"/>
              <a:gd name="connsiteY17" fmla="*/ 171939 h 992554"/>
              <a:gd name="connsiteX18" fmla="*/ 117231 w 531446"/>
              <a:gd name="connsiteY18" fmla="*/ 148493 h 992554"/>
              <a:gd name="connsiteX19" fmla="*/ 140677 w 531446"/>
              <a:gd name="connsiteY19" fmla="*/ 140677 h 992554"/>
              <a:gd name="connsiteX20" fmla="*/ 171939 w 531446"/>
              <a:gd name="connsiteY20" fmla="*/ 125047 h 992554"/>
              <a:gd name="connsiteX21" fmla="*/ 195385 w 531446"/>
              <a:gd name="connsiteY21" fmla="*/ 109416 h 992554"/>
              <a:gd name="connsiteX22" fmla="*/ 242277 w 531446"/>
              <a:gd name="connsiteY22" fmla="*/ 93785 h 992554"/>
              <a:gd name="connsiteX23" fmla="*/ 265723 w 531446"/>
              <a:gd name="connsiteY23" fmla="*/ 85970 h 992554"/>
              <a:gd name="connsiteX24" fmla="*/ 320431 w 531446"/>
              <a:gd name="connsiteY24" fmla="*/ 70339 h 992554"/>
              <a:gd name="connsiteX25" fmla="*/ 351693 w 531446"/>
              <a:gd name="connsiteY25" fmla="*/ 54708 h 992554"/>
              <a:gd name="connsiteX26" fmla="*/ 375139 w 531446"/>
              <a:gd name="connsiteY26" fmla="*/ 46893 h 992554"/>
              <a:gd name="connsiteX27" fmla="*/ 406400 w 531446"/>
              <a:gd name="connsiteY27" fmla="*/ 31262 h 992554"/>
              <a:gd name="connsiteX28" fmla="*/ 453293 w 531446"/>
              <a:gd name="connsiteY28" fmla="*/ 23447 h 992554"/>
              <a:gd name="connsiteX29" fmla="*/ 484554 w 531446"/>
              <a:gd name="connsiteY29" fmla="*/ 15631 h 992554"/>
              <a:gd name="connsiteX30" fmla="*/ 531446 w 531446"/>
              <a:gd name="connsiteY30" fmla="*/ 0 h 99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1446" h="992554">
                <a:moveTo>
                  <a:pt x="273539" y="992554"/>
                </a:moveTo>
                <a:cubicBezTo>
                  <a:pt x="260513" y="982134"/>
                  <a:pt x="246805" y="972514"/>
                  <a:pt x="234462" y="961293"/>
                </a:cubicBezTo>
                <a:cubicBezTo>
                  <a:pt x="218105" y="946423"/>
                  <a:pt x="205254" y="927663"/>
                  <a:pt x="187570" y="914400"/>
                </a:cubicBezTo>
                <a:cubicBezTo>
                  <a:pt x="177149" y="906585"/>
                  <a:pt x="165519" y="900165"/>
                  <a:pt x="156308" y="890954"/>
                </a:cubicBezTo>
                <a:cubicBezTo>
                  <a:pt x="113723" y="848370"/>
                  <a:pt x="154197" y="866805"/>
                  <a:pt x="109416" y="851877"/>
                </a:cubicBezTo>
                <a:cubicBezTo>
                  <a:pt x="106811" y="844062"/>
                  <a:pt x="106746" y="834864"/>
                  <a:pt x="101600" y="828431"/>
                </a:cubicBezTo>
                <a:cubicBezTo>
                  <a:pt x="44293" y="756798"/>
                  <a:pt x="109410" y="871407"/>
                  <a:pt x="62523" y="789354"/>
                </a:cubicBezTo>
                <a:cubicBezTo>
                  <a:pt x="56743" y="779239"/>
                  <a:pt x="52673" y="768208"/>
                  <a:pt x="46893" y="758093"/>
                </a:cubicBezTo>
                <a:cubicBezTo>
                  <a:pt x="42233" y="749938"/>
                  <a:pt x="35463" y="743048"/>
                  <a:pt x="31262" y="734647"/>
                </a:cubicBezTo>
                <a:cubicBezTo>
                  <a:pt x="27578" y="727278"/>
                  <a:pt x="26691" y="718772"/>
                  <a:pt x="23446" y="711200"/>
                </a:cubicBezTo>
                <a:cubicBezTo>
                  <a:pt x="18857" y="700492"/>
                  <a:pt x="13026" y="690359"/>
                  <a:pt x="7816" y="679939"/>
                </a:cubicBezTo>
                <a:cubicBezTo>
                  <a:pt x="5211" y="661703"/>
                  <a:pt x="0" y="643652"/>
                  <a:pt x="0" y="625231"/>
                </a:cubicBezTo>
                <a:cubicBezTo>
                  <a:pt x="0" y="544430"/>
                  <a:pt x="3071" y="463616"/>
                  <a:pt x="7816" y="382954"/>
                </a:cubicBezTo>
                <a:cubicBezTo>
                  <a:pt x="8300" y="374730"/>
                  <a:pt x="13633" y="367500"/>
                  <a:pt x="15631" y="359508"/>
                </a:cubicBezTo>
                <a:cubicBezTo>
                  <a:pt x="18853" y="346621"/>
                  <a:pt x="19951" y="333247"/>
                  <a:pt x="23446" y="320431"/>
                </a:cubicBezTo>
                <a:cubicBezTo>
                  <a:pt x="27781" y="304535"/>
                  <a:pt x="33867" y="289170"/>
                  <a:pt x="39077" y="273539"/>
                </a:cubicBezTo>
                <a:cubicBezTo>
                  <a:pt x="47844" y="247240"/>
                  <a:pt x="47075" y="245865"/>
                  <a:pt x="62523" y="218831"/>
                </a:cubicBezTo>
                <a:cubicBezTo>
                  <a:pt x="83688" y="181791"/>
                  <a:pt x="72215" y="207201"/>
                  <a:pt x="101600" y="171939"/>
                </a:cubicBezTo>
                <a:cubicBezTo>
                  <a:pt x="107613" y="164723"/>
                  <a:pt x="109896" y="154361"/>
                  <a:pt x="117231" y="148493"/>
                </a:cubicBezTo>
                <a:cubicBezTo>
                  <a:pt x="123664" y="143347"/>
                  <a:pt x="133105" y="143922"/>
                  <a:pt x="140677" y="140677"/>
                </a:cubicBezTo>
                <a:cubicBezTo>
                  <a:pt x="151386" y="136088"/>
                  <a:pt x="161823" y="130827"/>
                  <a:pt x="171939" y="125047"/>
                </a:cubicBezTo>
                <a:cubicBezTo>
                  <a:pt x="180094" y="120387"/>
                  <a:pt x="186802" y="113231"/>
                  <a:pt x="195385" y="109416"/>
                </a:cubicBezTo>
                <a:cubicBezTo>
                  <a:pt x="210441" y="102724"/>
                  <a:pt x="226646" y="98995"/>
                  <a:pt x="242277" y="93785"/>
                </a:cubicBezTo>
                <a:cubicBezTo>
                  <a:pt x="250092" y="91180"/>
                  <a:pt x="257731" y="87968"/>
                  <a:pt x="265723" y="85970"/>
                </a:cubicBezTo>
                <a:cubicBezTo>
                  <a:pt x="281581" y="82005"/>
                  <a:pt x="304738" y="77065"/>
                  <a:pt x="320431" y="70339"/>
                </a:cubicBezTo>
                <a:cubicBezTo>
                  <a:pt x="331140" y="65750"/>
                  <a:pt x="340984" y="59297"/>
                  <a:pt x="351693" y="54708"/>
                </a:cubicBezTo>
                <a:cubicBezTo>
                  <a:pt x="359265" y="51463"/>
                  <a:pt x="367567" y="50138"/>
                  <a:pt x="375139" y="46893"/>
                </a:cubicBezTo>
                <a:cubicBezTo>
                  <a:pt x="385847" y="42304"/>
                  <a:pt x="395241" y="34610"/>
                  <a:pt x="406400" y="31262"/>
                </a:cubicBezTo>
                <a:cubicBezTo>
                  <a:pt x="421578" y="26709"/>
                  <a:pt x="437754" y="26555"/>
                  <a:pt x="453293" y="23447"/>
                </a:cubicBezTo>
                <a:cubicBezTo>
                  <a:pt x="463826" y="21340"/>
                  <a:pt x="474266" y="18718"/>
                  <a:pt x="484554" y="15631"/>
                </a:cubicBezTo>
                <a:cubicBezTo>
                  <a:pt x="500335" y="10896"/>
                  <a:pt x="531446" y="0"/>
                  <a:pt x="531446"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26748690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54</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ワークショップなどの対話の場面で活用する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92" name="図 9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4" y="1693542"/>
            <a:ext cx="6002217" cy="4501663"/>
          </a:xfrm>
          <a:prstGeom prst="rect">
            <a:avLst/>
          </a:prstGeom>
        </p:spPr>
      </p:pic>
      <p:pic>
        <p:nvPicPr>
          <p:cNvPr id="93" name="図 9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7721" y="1693543"/>
            <a:ext cx="6002216" cy="4501662"/>
          </a:xfrm>
          <a:prstGeom prst="rect">
            <a:avLst/>
          </a:prstGeom>
        </p:spPr>
      </p:pic>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3632349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55</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レバレッジポイントを決める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8" name="図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4746" y="1608991"/>
            <a:ext cx="6447692" cy="4835769"/>
          </a:xfrm>
          <a:prstGeom prst="rect">
            <a:avLst/>
          </a:prstGeom>
        </p:spPr>
      </p:pic>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35323938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5" y="127937"/>
            <a:ext cx="10139995"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レバレッジポイントを探しに行く（７</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S</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＋１</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2800" b="1" dirty="0">
                <a:latin typeface="メイリオ" panose="020B0604030504040204" pitchFamily="50" charset="-128"/>
                <a:ea typeface="メイリオ" panose="020B0604030504040204" pitchFamily="50" charset="-128"/>
                <a:cs typeface="メイリオ" panose="020B0604030504040204" pitchFamily="50" charset="-128"/>
              </a:rPr>
              <a:t>GRPI</a:t>
            </a:r>
            <a:r>
              <a:rPr lang="ja-JP" altLang="en-US" sz="2800" b="1"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2800" b="1"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56</a:t>
            </a:fld>
            <a:endParaRPr lang="ja-JP" altLang="en-US">
              <a:uFillTx/>
            </a:endParaRPr>
          </a:p>
        </p:txBody>
      </p:sp>
      <p:sp>
        <p:nvSpPr>
          <p:cNvPr id="11" name="テキスト ボックス 10"/>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cs typeface="メイリオ" panose="020B0604030504040204" pitchFamily="50" charset="-128"/>
              </a:rPr>
              <a:t>GRPI</a:t>
            </a:r>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」でゴールにつながる課題なのかを確認する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2" name="二等辺三角形 91"/>
          <p:cNvSpPr/>
          <p:nvPr/>
        </p:nvSpPr>
        <p:spPr>
          <a:xfrm>
            <a:off x="1821393" y="2837982"/>
            <a:ext cx="2760036" cy="246999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solidFill>
                <a:schemeClr val="tx1"/>
              </a:solidFill>
            </a:endParaRPr>
          </a:p>
        </p:txBody>
      </p:sp>
      <p:cxnSp>
        <p:nvCxnSpPr>
          <p:cNvPr id="93" name="直線コネクタ 92"/>
          <p:cNvCxnSpPr>
            <a:stCxn id="92" idx="1"/>
            <a:endCxn id="92" idx="5"/>
          </p:cNvCxnSpPr>
          <p:nvPr/>
        </p:nvCxnSpPr>
        <p:spPr>
          <a:xfrm>
            <a:off x="2511402" y="4072980"/>
            <a:ext cx="1380018"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p:nvCxnSpPr>
        <p:spPr>
          <a:xfrm>
            <a:off x="2168700" y="4674186"/>
            <a:ext cx="2054358"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a:off x="2799851" y="3540060"/>
            <a:ext cx="783000"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96" name="テキスト ボックス 95"/>
          <p:cNvSpPr txBox="1"/>
          <p:nvPr/>
        </p:nvSpPr>
        <p:spPr>
          <a:xfrm>
            <a:off x="2718222" y="3158830"/>
            <a:ext cx="966378" cy="276999"/>
          </a:xfrm>
          <a:prstGeom prst="rect">
            <a:avLst/>
          </a:prstGeom>
          <a:noFill/>
        </p:spPr>
        <p:txBody>
          <a:bodyPr wrap="square" rtlCol="0">
            <a:spAutoFit/>
          </a:bodyPr>
          <a:lstStyle/>
          <a:p>
            <a:pPr algn="ctr"/>
            <a:r>
              <a:rPr lang="en-US" altLang="ja-JP" sz="1200" dirty="0">
                <a:latin typeface="Meiryo UI" panose="020B0604030504040204" pitchFamily="50" charset="-128"/>
                <a:ea typeface="Meiryo UI" panose="020B0604030504040204" pitchFamily="50" charset="-128"/>
                <a:cs typeface="Meiryo UI" panose="020B0604030504040204" pitchFamily="50" charset="-128"/>
              </a:rPr>
              <a:t>Goal</a:t>
            </a:r>
            <a:endParaRPr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97" name="テキスト ボックス 96"/>
          <p:cNvSpPr txBox="1"/>
          <p:nvPr/>
        </p:nvSpPr>
        <p:spPr>
          <a:xfrm>
            <a:off x="2712690" y="3698223"/>
            <a:ext cx="966378" cy="276999"/>
          </a:xfrm>
          <a:prstGeom prst="rect">
            <a:avLst/>
          </a:prstGeom>
          <a:noFill/>
        </p:spPr>
        <p:txBody>
          <a:bodyPr wrap="square" rtlCol="0">
            <a:spAutoFit/>
          </a:bodyPr>
          <a:lstStyle/>
          <a:p>
            <a:pPr algn="ctr"/>
            <a:r>
              <a:rPr lang="en-US" altLang="ja-JP" sz="1200" dirty="0">
                <a:latin typeface="Meiryo UI" panose="020B0604030504040204" pitchFamily="50" charset="-128"/>
                <a:ea typeface="Meiryo UI" panose="020B0604030504040204" pitchFamily="50" charset="-128"/>
                <a:cs typeface="Meiryo UI" panose="020B0604030504040204" pitchFamily="50" charset="-128"/>
              </a:rPr>
              <a:t>Role</a:t>
            </a:r>
            <a:endParaRPr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98" name="テキスト ボックス 97"/>
          <p:cNvSpPr txBox="1"/>
          <p:nvPr/>
        </p:nvSpPr>
        <p:spPr>
          <a:xfrm>
            <a:off x="2718222" y="4270059"/>
            <a:ext cx="966378" cy="276999"/>
          </a:xfrm>
          <a:prstGeom prst="rect">
            <a:avLst/>
          </a:prstGeom>
          <a:noFill/>
        </p:spPr>
        <p:txBody>
          <a:bodyPr wrap="square" rtlCol="0">
            <a:spAutoFit/>
          </a:bodyPr>
          <a:lstStyle/>
          <a:p>
            <a:pPr algn="ctr"/>
            <a:r>
              <a:rPr lang="en-US" altLang="ja-JP" sz="1200" dirty="0">
                <a:latin typeface="Meiryo UI" panose="020B0604030504040204" pitchFamily="50" charset="-128"/>
                <a:ea typeface="Meiryo UI" panose="020B0604030504040204" pitchFamily="50" charset="-128"/>
                <a:cs typeface="Meiryo UI" panose="020B0604030504040204" pitchFamily="50" charset="-128"/>
              </a:rPr>
              <a:t>Process</a:t>
            </a:r>
            <a:endParaRPr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99" name="テキスト ボックス 98"/>
          <p:cNvSpPr txBox="1"/>
          <p:nvPr/>
        </p:nvSpPr>
        <p:spPr>
          <a:xfrm>
            <a:off x="2596637" y="4885757"/>
            <a:ext cx="1114925" cy="276999"/>
          </a:xfrm>
          <a:prstGeom prst="rect">
            <a:avLst/>
          </a:prstGeom>
          <a:noFill/>
        </p:spPr>
        <p:txBody>
          <a:bodyPr wrap="square" rtlCol="0">
            <a:spAutoFit/>
          </a:bodyPr>
          <a:lstStyle/>
          <a:p>
            <a:pPr algn="ctr"/>
            <a:r>
              <a:rPr lang="en-US" altLang="ja-JP" sz="1200" dirty="0">
                <a:latin typeface="Meiryo UI" panose="020B0604030504040204" pitchFamily="50" charset="-128"/>
                <a:ea typeface="Meiryo UI" panose="020B0604030504040204" pitchFamily="50" charset="-128"/>
                <a:cs typeface="Meiryo UI" panose="020B0604030504040204" pitchFamily="50" charset="-128"/>
              </a:rPr>
              <a:t>Interaction</a:t>
            </a:r>
            <a:endParaRPr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0" name="テキスト ボックス 99"/>
          <p:cNvSpPr txBox="1"/>
          <p:nvPr/>
        </p:nvSpPr>
        <p:spPr>
          <a:xfrm>
            <a:off x="4822009" y="2016253"/>
            <a:ext cx="5516880" cy="1061829"/>
          </a:xfrm>
          <a:prstGeom prst="rect">
            <a:avLst/>
          </a:prstGeom>
          <a:noFill/>
        </p:spPr>
        <p:txBody>
          <a:bodyPr wrap="square" rtlCol="0">
            <a:spAutoFit/>
          </a:bodyPr>
          <a:lstStyle/>
          <a:p>
            <a:r>
              <a:rPr lang="ja-JP" altLang="en-US" sz="900" b="1" dirty="0">
                <a:latin typeface="Meiryo UI" panose="020B0604030504040204" pitchFamily="50" charset="-128"/>
                <a:ea typeface="Meiryo UI" panose="020B0604030504040204" pitchFamily="50" charset="-128"/>
                <a:cs typeface="Meiryo UI" panose="020B0604030504040204" pitchFamily="50" charset="-128"/>
              </a:rPr>
              <a:t>＜見えないことによる先行き不透明感が不安を招いている＞</a:t>
            </a:r>
            <a:endParaRPr lang="en-US" altLang="ja-JP" sz="9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IT</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を使って日本の企業を元気にする」というミッションはあるが、その結果実現する魅力的なビジョンが見えない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・メッセージが十分に伝わっていない、もしくは理解されていないので会社の向かう方向性が見えなくて不安</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・具体的にどうやってミッションを実現するのかという骨子が見えないので不安</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この事業ならではの価値・強みが必要だということはトップも理解しているが、それを何にしようとしているのかが分からないのでどんな人を採用すればよいか、どんな人に残ってほしいか、どんな人に育ってほしいかが見え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・先は見えないが、コミット、推進力を求められることによる窮屈さ</a:t>
            </a:r>
          </a:p>
        </p:txBody>
      </p:sp>
      <p:sp>
        <p:nvSpPr>
          <p:cNvPr id="101" name="テキスト ボックス 100"/>
          <p:cNvSpPr txBox="1"/>
          <p:nvPr/>
        </p:nvSpPr>
        <p:spPr>
          <a:xfrm>
            <a:off x="4822009" y="3129860"/>
            <a:ext cx="5212080" cy="1061829"/>
          </a:xfrm>
          <a:prstGeom prst="rect">
            <a:avLst/>
          </a:prstGeom>
          <a:noFill/>
        </p:spPr>
        <p:txBody>
          <a:bodyPr wrap="square" rtlCol="0">
            <a:spAutoFit/>
          </a:bodyPr>
          <a:lstStyle/>
          <a:p>
            <a:r>
              <a:rPr lang="ja-JP" altLang="en-US" sz="900" b="1" dirty="0">
                <a:latin typeface="Meiryo UI" panose="020B0604030504040204" pitchFamily="50" charset="-128"/>
                <a:ea typeface="Meiryo UI" panose="020B0604030504040204" pitchFamily="50" charset="-128"/>
                <a:cs typeface="Meiryo UI" panose="020B0604030504040204" pitchFamily="50" charset="-128"/>
              </a:rPr>
              <a:t>＜経営層、管理職、メンバーの間の「こうするべき」という暗黙の意見が蓄積されている＞</a:t>
            </a:r>
            <a:endParaRPr lang="en-US" altLang="ja-JP" sz="9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・管理職、上司は戦略をつくって落とすべきなんじゃないの？という部下からの突き上げ</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・目指すべきビジョンが無いのにボトムアップを求められる部下の不満</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・管理職はそれぞれどんな役割で、どんな責任を持ち、そのために何をしているのかがわからない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・メンバーにはどんな知識、経験、スキルを求めているのかがわからない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・「任せる」というのに、数値目標管理は「指示型」であることを矛盾と感じている</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2" name="テキスト ボックス 101"/>
          <p:cNvSpPr txBox="1"/>
          <p:nvPr/>
        </p:nvSpPr>
        <p:spPr>
          <a:xfrm>
            <a:off x="4822009" y="4092212"/>
            <a:ext cx="5516880" cy="923330"/>
          </a:xfrm>
          <a:prstGeom prst="rect">
            <a:avLst/>
          </a:prstGeom>
          <a:noFill/>
        </p:spPr>
        <p:txBody>
          <a:bodyPr wrap="square" rtlCol="0">
            <a:spAutoFit/>
          </a:bodyPr>
          <a:lstStyle/>
          <a:p>
            <a:r>
              <a:rPr lang="ja-JP" altLang="en-US" sz="900" b="1" dirty="0">
                <a:latin typeface="Meiryo UI" panose="020B0604030504040204" pitchFamily="50" charset="-128"/>
                <a:ea typeface="Meiryo UI" panose="020B0604030504040204" pitchFamily="50" charset="-128"/>
                <a:cs typeface="Meiryo UI" panose="020B0604030504040204" pitchFamily="50" charset="-128"/>
              </a:rPr>
              <a:t>＜仕組み・仕掛けではなく、マインドにたよりがちな文化＞</a:t>
            </a:r>
            <a:endParaRPr lang="en-US" altLang="ja-JP" sz="9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・自ら行動計画を立てられないメンバー、それを生み出すスキルのインプットや仕組みはない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・会議は進捗報告になっており、ボトムアップを生み出す仕組みはない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・ノウハウを蓄積し、次代に展開していくための仕組みがない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・努力した人が報われる仕組みがない</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・コミットが足りない、推進力が足りない、意見を言い合わない、仕事が俗人的</a:t>
            </a:r>
            <a:r>
              <a:rPr lang="ja-JP" altLang="en-US" sz="900" dirty="0" err="1">
                <a:latin typeface="Meiryo UI" panose="020B0604030504040204" pitchFamily="50" charset="-128"/>
                <a:ea typeface="Meiryo UI" panose="020B0604030504040204" pitchFamily="50" charset="-128"/>
                <a:cs typeface="Meiryo UI" panose="020B0604030504040204" pitchFamily="50" charset="-128"/>
              </a:rPr>
              <a:t>、、、</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仕組みで解決できることもありそう</a:t>
            </a:r>
          </a:p>
        </p:txBody>
      </p:sp>
      <p:sp>
        <p:nvSpPr>
          <p:cNvPr id="103" name="テキスト ボックス 102"/>
          <p:cNvSpPr txBox="1"/>
          <p:nvPr/>
        </p:nvSpPr>
        <p:spPr>
          <a:xfrm>
            <a:off x="4822009" y="5062186"/>
            <a:ext cx="5074920" cy="1061829"/>
          </a:xfrm>
          <a:prstGeom prst="rect">
            <a:avLst/>
          </a:prstGeom>
          <a:noFill/>
        </p:spPr>
        <p:txBody>
          <a:bodyPr wrap="square" rtlCol="0">
            <a:spAutoFit/>
          </a:bodyPr>
          <a:lstStyle/>
          <a:p>
            <a:r>
              <a:rPr lang="ja-JP" altLang="en-US" sz="900" b="1" dirty="0">
                <a:latin typeface="Meiryo UI" panose="020B0604030504040204" pitchFamily="50" charset="-128"/>
                <a:ea typeface="Meiryo UI" panose="020B0604030504040204" pitchFamily="50" charset="-128"/>
                <a:cs typeface="Meiryo UI" panose="020B0604030504040204" pitchFamily="50" charset="-128"/>
              </a:rPr>
              <a:t>＜レイヤーそれぞれに感じる壁／居心地のよい友達関係＞</a:t>
            </a:r>
            <a:endParaRPr lang="en-US" altLang="ja-JP" sz="9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・経営層⇔管理職　で伝えるべきことはないか</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・管理職⇔メンバー　で伝えるべきことはないか</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・管理職⇔管理職、メンバー⇔メンバーで伝えるべきことはないか</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・どことなく感じるトップダウンの強さと同時にトップが部下に弱みを見せられない文化</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・ミッション達成のために集っている仲間だとしたら、理想的な関係性とはどんな状態なのか</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900" dirty="0">
                <a:latin typeface="Meiryo UI" panose="020B0604030504040204" pitchFamily="50" charset="-128"/>
                <a:ea typeface="Meiryo UI" panose="020B0604030504040204" pitchFamily="50" charset="-128"/>
                <a:cs typeface="Meiryo UI" panose="020B0604030504040204" pitchFamily="50" charset="-128"/>
              </a:rPr>
              <a:t>・会社に「仲間」ではなく「友達」に会いに来ていないか</a:t>
            </a:r>
            <a:endParaRPr lang="en-US" altLang="ja-JP" sz="9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04" name="直線コネクタ 103"/>
          <p:cNvCxnSpPr/>
          <p:nvPr/>
        </p:nvCxnSpPr>
        <p:spPr>
          <a:xfrm>
            <a:off x="4898209" y="3093099"/>
            <a:ext cx="513588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a:off x="4898209" y="4052546"/>
            <a:ext cx="513588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a:off x="4898209" y="5026512"/>
            <a:ext cx="513588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線コネクタ 106"/>
          <p:cNvCxnSpPr/>
          <p:nvPr/>
        </p:nvCxnSpPr>
        <p:spPr>
          <a:xfrm>
            <a:off x="4898209" y="6100932"/>
            <a:ext cx="513588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線コネクタ 107"/>
          <p:cNvCxnSpPr/>
          <p:nvPr/>
        </p:nvCxnSpPr>
        <p:spPr>
          <a:xfrm>
            <a:off x="4898209" y="1988199"/>
            <a:ext cx="513588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p:cNvCxnSpPr>
            <a:stCxn id="92" idx="0"/>
          </p:cNvCxnSpPr>
          <p:nvPr/>
        </p:nvCxnSpPr>
        <p:spPr>
          <a:xfrm flipV="1">
            <a:off x="3201410" y="1988200"/>
            <a:ext cx="1696799" cy="849782"/>
          </a:xfrm>
          <a:prstGeom prst="line">
            <a:avLst/>
          </a:prstGeom>
          <a:ln w="31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0" name="直線コネクタ 109"/>
          <p:cNvCxnSpPr/>
          <p:nvPr/>
        </p:nvCxnSpPr>
        <p:spPr>
          <a:xfrm flipV="1">
            <a:off x="3582851" y="3108282"/>
            <a:ext cx="1315358" cy="431779"/>
          </a:xfrm>
          <a:prstGeom prst="line">
            <a:avLst/>
          </a:prstGeom>
          <a:ln w="31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1" name="直線コネクタ 110"/>
          <p:cNvCxnSpPr/>
          <p:nvPr/>
        </p:nvCxnSpPr>
        <p:spPr>
          <a:xfrm flipV="1">
            <a:off x="3891419" y="4058161"/>
            <a:ext cx="1006790" cy="14234"/>
          </a:xfrm>
          <a:prstGeom prst="line">
            <a:avLst/>
          </a:prstGeom>
          <a:ln w="31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2" name="直線コネクタ 111"/>
          <p:cNvCxnSpPr/>
          <p:nvPr/>
        </p:nvCxnSpPr>
        <p:spPr>
          <a:xfrm>
            <a:off x="4223058" y="4686954"/>
            <a:ext cx="705678" cy="345172"/>
          </a:xfrm>
          <a:prstGeom prst="line">
            <a:avLst/>
          </a:prstGeom>
          <a:ln w="31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3" name="直線コネクタ 112"/>
          <p:cNvCxnSpPr/>
          <p:nvPr/>
        </p:nvCxnSpPr>
        <p:spPr>
          <a:xfrm>
            <a:off x="4588908" y="5312530"/>
            <a:ext cx="339828" cy="788402"/>
          </a:xfrm>
          <a:prstGeom prst="line">
            <a:avLst/>
          </a:prstGeom>
          <a:ln w="31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 name="フッター プレースホルダー 1"/>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141982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57</a:t>
            </a:fld>
            <a:endParaRPr lang="ja-JP" altLang="en-US">
              <a:uFillTx/>
            </a:endParaRPr>
          </a:p>
        </p:txBody>
      </p:sp>
      <p:sp>
        <p:nvSpPr>
          <p:cNvPr id="9" name="タイトル 1"/>
          <p:cNvSpPr txBox="1">
            <a:spLocks/>
          </p:cNvSpPr>
          <p:nvPr/>
        </p:nvSpPr>
        <p:spPr>
          <a:xfrm>
            <a:off x="0" y="3013546"/>
            <a:ext cx="1219200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ここから先は</a:t>
            </a:r>
            <a:endParaRPr lang="en-US" altLang="ja-JP" sz="4000" b="1"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参考情報として</a:t>
            </a:r>
          </a:p>
        </p:txBody>
      </p:sp>
    </p:spTree>
    <p:extLst>
      <p:ext uri="{BB962C8B-B14F-4D97-AF65-F5344CB8AC3E}">
        <p14:creationId xmlns:p14="http://schemas.microsoft.com/office/powerpoint/2010/main" val="9323062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ワークショップの事例</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58</a:t>
            </a:fld>
            <a:endParaRPr lang="ja-JP" altLang="en-US">
              <a:uFillTx/>
            </a:endParaRPr>
          </a:p>
        </p:txBody>
      </p:sp>
      <p:sp>
        <p:nvSpPr>
          <p:cNvPr id="2" name="フッター プレースホルダー 1"/>
          <p:cNvSpPr>
            <a:spLocks noGrp="1"/>
          </p:cNvSpPr>
          <p:nvPr>
            <p:ph type="ftr" idx="11"/>
          </p:nvPr>
        </p:nvSpPr>
        <p:spPr/>
        <p:txBody>
          <a:bodyPr/>
          <a:lstStyle/>
          <a:p>
            <a:r>
              <a:rPr lang="en-US"/>
              <a:t>©2022 LINE</a:t>
            </a:r>
          </a:p>
        </p:txBody>
      </p:sp>
      <p:sp>
        <p:nvSpPr>
          <p:cNvPr id="30" name="タイトル 1">
            <a:extLst>
              <a:ext uri="{FF2B5EF4-FFF2-40B4-BE49-F238E27FC236}">
                <a16:creationId xmlns:a16="http://schemas.microsoft.com/office/drawing/2014/main" id="{7F084C80-69DA-F7FE-E707-8860197FBA23}"/>
              </a:ext>
            </a:extLst>
          </p:cNvPr>
          <p:cNvSpPr txBox="1">
            <a:spLocks/>
          </p:cNvSpPr>
          <p:nvPr/>
        </p:nvSpPr>
        <p:spPr>
          <a:xfrm>
            <a:off x="1793428" y="4766290"/>
            <a:ext cx="8352928" cy="936104"/>
          </a:xfrm>
          <a:prstGeom prst="rect">
            <a:avLst/>
          </a:prstGeom>
          <a:noFill/>
          <a:ln>
            <a:noFill/>
          </a:ln>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algn="r"/>
            <a:r>
              <a:rPr lang="ja-JP" altLang="en-US" sz="6000" b="1" dirty="0">
                <a:latin typeface="メイリオ" panose="020B0604030504040204" pitchFamily="50" charset="-128"/>
                <a:ea typeface="メイリオ" panose="020B0604030504040204" pitchFamily="50" charset="-128"/>
                <a:cs typeface="メイリオ" panose="020B0604030504040204" pitchFamily="50" charset="-128"/>
              </a:rPr>
              <a:t>並んでみる</a:t>
            </a:r>
          </a:p>
        </p:txBody>
      </p:sp>
      <p:pic>
        <p:nvPicPr>
          <p:cNvPr id="31" name="図 30" descr="挿絵 が含まれている画像&#10;&#10;自動的に生成された説明">
            <a:extLst>
              <a:ext uri="{FF2B5EF4-FFF2-40B4-BE49-F238E27FC236}">
                <a16:creationId xmlns:a16="http://schemas.microsoft.com/office/drawing/2014/main" id="{54D27DA2-7179-9076-32E6-7A810ED46C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628" y="1669946"/>
            <a:ext cx="8388744" cy="2750408"/>
          </a:xfrm>
          <a:prstGeom prst="rect">
            <a:avLst/>
          </a:prstGeom>
        </p:spPr>
      </p:pic>
    </p:spTree>
    <p:extLst>
      <p:ext uri="{BB962C8B-B14F-4D97-AF65-F5344CB8AC3E}">
        <p14:creationId xmlns:p14="http://schemas.microsoft.com/office/powerpoint/2010/main" val="3562643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5" y="127937"/>
            <a:ext cx="9487157" cy="523220"/>
          </a:xfrm>
          <a:prstGeom prst="rect">
            <a:avLst/>
          </a:prstGeom>
          <a:noFill/>
        </p:spPr>
        <p:txBody>
          <a:bodyPr wrap="square" rtlCol="0">
            <a:spAutoFit/>
          </a:bodyPr>
          <a:lstStyle/>
          <a:p>
            <a:r>
              <a:rPr lang="ja-JP" altLang="en-US" sz="2800" b="1" dirty="0">
                <a:latin typeface="Meiryo" charset="-128"/>
                <a:ea typeface="Meiryo" charset="-128"/>
                <a:cs typeface="Meiryo" charset="-128"/>
              </a:rPr>
              <a:t>ワークショップの事例（アイスブレイク）</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74" name="テキスト ボックス 73">
            <a:extLst>
              <a:ext uri="{FF2B5EF4-FFF2-40B4-BE49-F238E27FC236}">
                <a16:creationId xmlns:a16="http://schemas.microsoft.com/office/drawing/2014/main" id="{2770777D-5F11-3CBB-3355-7978418246C7}"/>
              </a:ext>
            </a:extLst>
          </p:cNvPr>
          <p:cNvSpPr txBox="1"/>
          <p:nvPr/>
        </p:nvSpPr>
        <p:spPr>
          <a:xfrm>
            <a:off x="514434" y="1928791"/>
            <a:ext cx="7793598" cy="523220"/>
          </a:xfrm>
          <a:prstGeom prst="rect">
            <a:avLst/>
          </a:prstGeom>
          <a:noFill/>
        </p:spPr>
        <p:txBody>
          <a:bodyPr wrap="square" rtlCol="0">
            <a:spAutoFit/>
          </a:bodyPr>
          <a:lstStyle/>
          <a:p>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・出身地（北から南）</a:t>
            </a:r>
            <a:endParaRPr lang="en-US" altLang="ja-JP"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5" name="テキスト ボックス 74">
            <a:extLst>
              <a:ext uri="{FF2B5EF4-FFF2-40B4-BE49-F238E27FC236}">
                <a16:creationId xmlns:a16="http://schemas.microsoft.com/office/drawing/2014/main" id="{BBACCF53-5221-3D44-7300-4480287DF712}"/>
              </a:ext>
            </a:extLst>
          </p:cNvPr>
          <p:cNvSpPr txBox="1"/>
          <p:nvPr/>
        </p:nvSpPr>
        <p:spPr>
          <a:xfrm>
            <a:off x="518344" y="3159527"/>
            <a:ext cx="7793598" cy="523220"/>
          </a:xfrm>
          <a:prstGeom prst="rect">
            <a:avLst/>
          </a:prstGeom>
          <a:noFill/>
        </p:spPr>
        <p:txBody>
          <a:bodyPr wrap="square" rtlCol="0">
            <a:spAutoFit/>
          </a:bodyPr>
          <a:lstStyle/>
          <a:p>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・入社順</a:t>
            </a:r>
            <a:endParaRPr lang="en-US" altLang="ja-JP"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6" name="テキスト ボックス 75">
            <a:extLst>
              <a:ext uri="{FF2B5EF4-FFF2-40B4-BE49-F238E27FC236}">
                <a16:creationId xmlns:a16="http://schemas.microsoft.com/office/drawing/2014/main" id="{7EDA38CB-2502-30CD-2444-A4B4EC12B6DB}"/>
              </a:ext>
            </a:extLst>
          </p:cNvPr>
          <p:cNvSpPr txBox="1"/>
          <p:nvPr/>
        </p:nvSpPr>
        <p:spPr>
          <a:xfrm>
            <a:off x="522017" y="5046855"/>
            <a:ext cx="8263668" cy="523220"/>
          </a:xfrm>
          <a:prstGeom prst="rect">
            <a:avLst/>
          </a:prstGeom>
          <a:noFill/>
        </p:spPr>
        <p:txBody>
          <a:bodyPr wrap="square" rtlCol="0">
            <a:spAutoFit/>
          </a:bodyPr>
          <a:lstStyle/>
          <a:p>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・組織に課題を感じている順</a:t>
            </a:r>
            <a:endParaRPr lang="en-US" altLang="ja-JP"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7" name="テキスト ボックス 76">
            <a:extLst>
              <a:ext uri="{FF2B5EF4-FFF2-40B4-BE49-F238E27FC236}">
                <a16:creationId xmlns:a16="http://schemas.microsoft.com/office/drawing/2014/main" id="{C12B1919-F669-9B9B-2B2C-9FB18F9D2D33}"/>
              </a:ext>
            </a:extLst>
          </p:cNvPr>
          <p:cNvSpPr txBox="1"/>
          <p:nvPr/>
        </p:nvSpPr>
        <p:spPr>
          <a:xfrm>
            <a:off x="529968" y="4413332"/>
            <a:ext cx="7793598" cy="523220"/>
          </a:xfrm>
          <a:prstGeom prst="rect">
            <a:avLst/>
          </a:prstGeom>
          <a:noFill/>
        </p:spPr>
        <p:txBody>
          <a:bodyPr wrap="square" rtlCol="0">
            <a:spAutoFit/>
          </a:bodyPr>
          <a:lstStyle/>
          <a:p>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・事業に危機感を感じている順</a:t>
            </a:r>
            <a:endParaRPr lang="en-US" altLang="ja-JP"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8" name="テキスト ボックス 77">
            <a:extLst>
              <a:ext uri="{FF2B5EF4-FFF2-40B4-BE49-F238E27FC236}">
                <a16:creationId xmlns:a16="http://schemas.microsoft.com/office/drawing/2014/main" id="{544D6833-7A1F-CCB7-9F69-D61FC189DF15}"/>
              </a:ext>
            </a:extLst>
          </p:cNvPr>
          <p:cNvSpPr txBox="1"/>
          <p:nvPr/>
        </p:nvSpPr>
        <p:spPr>
          <a:xfrm>
            <a:off x="529968" y="3779809"/>
            <a:ext cx="7793598" cy="523220"/>
          </a:xfrm>
          <a:prstGeom prst="rect">
            <a:avLst/>
          </a:prstGeom>
          <a:noFill/>
        </p:spPr>
        <p:txBody>
          <a:bodyPr wrap="square" rtlCol="0">
            <a:spAutoFit/>
          </a:bodyPr>
          <a:lstStyle/>
          <a:p>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・事業に詳しい順</a:t>
            </a:r>
            <a:endParaRPr lang="en-US" altLang="ja-JP"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9" name="テキスト ボックス 78">
            <a:extLst>
              <a:ext uri="{FF2B5EF4-FFF2-40B4-BE49-F238E27FC236}">
                <a16:creationId xmlns:a16="http://schemas.microsoft.com/office/drawing/2014/main" id="{DE35CDCE-EA38-1AEA-64C1-41138EA44860}"/>
              </a:ext>
            </a:extLst>
          </p:cNvPr>
          <p:cNvSpPr txBox="1"/>
          <p:nvPr/>
        </p:nvSpPr>
        <p:spPr>
          <a:xfrm>
            <a:off x="518734" y="2544159"/>
            <a:ext cx="7793598" cy="523220"/>
          </a:xfrm>
          <a:prstGeom prst="rect">
            <a:avLst/>
          </a:prstGeom>
          <a:noFill/>
        </p:spPr>
        <p:txBody>
          <a:bodyPr wrap="square" rtlCol="0">
            <a:spAutoFit/>
          </a:bodyPr>
          <a:lstStyle/>
          <a:p>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・誕生日（</a:t>
            </a:r>
            <a:r>
              <a:rPr lang="en-US" altLang="ja-JP" sz="28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月から</a:t>
            </a:r>
            <a:r>
              <a:rPr lang="en-US" altLang="ja-JP" sz="2800" dirty="0">
                <a:latin typeface="メイリオ" panose="020B0604030504040204" pitchFamily="50" charset="-128"/>
                <a:ea typeface="メイリオ" panose="020B0604030504040204" pitchFamily="50" charset="-128"/>
                <a:cs typeface="メイリオ" panose="020B0604030504040204" pitchFamily="50" charset="-128"/>
              </a:rPr>
              <a:t>12</a:t>
            </a:r>
            <a:r>
              <a:rPr lang="ja-JP" altLang="en-US" sz="2800" dirty="0">
                <a:latin typeface="メイリオ" panose="020B0604030504040204" pitchFamily="50" charset="-128"/>
                <a:ea typeface="メイリオ" panose="020B0604030504040204" pitchFamily="50" charset="-128"/>
                <a:cs typeface="メイリオ" panose="020B0604030504040204" pitchFamily="50" charset="-128"/>
              </a:rPr>
              <a:t>月）</a:t>
            </a:r>
            <a:endParaRPr lang="en-US" altLang="ja-JP"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0" name="テキスト ボックス 79">
            <a:extLst>
              <a:ext uri="{FF2B5EF4-FFF2-40B4-BE49-F238E27FC236}">
                <a16:creationId xmlns:a16="http://schemas.microsoft.com/office/drawing/2014/main" id="{E416701B-074A-57DA-3AC0-69680D198492}"/>
              </a:ext>
            </a:extLst>
          </p:cNvPr>
          <p:cNvSpPr txBox="1"/>
          <p:nvPr/>
        </p:nvSpPr>
        <p:spPr>
          <a:xfrm>
            <a:off x="500134" y="980728"/>
            <a:ext cx="8934152"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cs typeface="メイリオ" panose="020B0604030504040204" pitchFamily="50" charset="-128"/>
              </a:rPr>
              <a:t>アイスブレイクを組織課題にどうつなげるか</a:t>
            </a:r>
            <a:endParaRPr lang="en-US" altLang="ja-JP" sz="2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フッター プレースホルダー 7">
            <a:extLst>
              <a:ext uri="{FF2B5EF4-FFF2-40B4-BE49-F238E27FC236}">
                <a16:creationId xmlns:a16="http://schemas.microsoft.com/office/drawing/2014/main" id="{AD3C5B25-782C-6783-BA2C-1EF189EDA429}"/>
              </a:ext>
            </a:extLst>
          </p:cNvPr>
          <p:cNvSpPr>
            <a:spLocks noGrp="1"/>
          </p:cNvSpPr>
          <p:nvPr>
            <p:ph type="ftr" idx="11"/>
          </p:nvPr>
        </p:nvSpPr>
        <p:spPr/>
        <p:txBody>
          <a:bodyPr/>
          <a:lstStyle/>
          <a:p>
            <a:r>
              <a:rPr lang="en-US"/>
              <a:t>©2022 LINE</a:t>
            </a:r>
          </a:p>
        </p:txBody>
      </p:sp>
      <p:sp>
        <p:nvSpPr>
          <p:cNvPr id="9" name="スライド番号プレースホルダー 8">
            <a:extLst>
              <a:ext uri="{FF2B5EF4-FFF2-40B4-BE49-F238E27FC236}">
                <a16:creationId xmlns:a16="http://schemas.microsoft.com/office/drawing/2014/main" id="{5920F26F-E158-C124-1390-8EA615A5B8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59</a:t>
            </a:fld>
            <a:endParaRPr lang="ja-JP" altLang="en-US">
              <a:uFillTx/>
            </a:endParaRPr>
          </a:p>
        </p:txBody>
      </p:sp>
    </p:spTree>
    <p:extLst>
      <p:ext uri="{BB962C8B-B14F-4D97-AF65-F5344CB8AC3E}">
        <p14:creationId xmlns:p14="http://schemas.microsoft.com/office/powerpoint/2010/main" val="26653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fade">
                                      <p:cBhvr>
                                        <p:cTn id="17" dur="500"/>
                                        <p:tgtEl>
                                          <p:spTgt spid="7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500"/>
                                        <p:tgtEl>
                                          <p:spTgt spid="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fade">
                                      <p:cBhvr>
                                        <p:cTn id="27" dur="500"/>
                                        <p:tgtEl>
                                          <p:spTgt spid="7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fade">
                                      <p:cBhvr>
                                        <p:cTn id="32"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P spid="76" grpId="0"/>
      <p:bldP spid="77" grpId="0"/>
      <p:bldP spid="78" grpId="0"/>
      <p:bldP spid="7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5" y="127937"/>
            <a:ext cx="9487157" cy="523220"/>
          </a:xfrm>
          <a:prstGeom prst="rect">
            <a:avLst/>
          </a:prstGeom>
          <a:noFill/>
        </p:spPr>
        <p:txBody>
          <a:bodyPr wrap="square" rtlCol="0">
            <a:spAutoFit/>
          </a:bodyPr>
          <a:lstStyle/>
          <a:p>
            <a:r>
              <a:rPr lang="ja-JP" altLang="en-US" sz="2800" b="1" dirty="0">
                <a:latin typeface="Meiryo" charset="-128"/>
                <a:ea typeface="Meiryo" charset="-128"/>
                <a:cs typeface="Meiryo" charset="-128"/>
              </a:rPr>
              <a:t>出身地</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8" name="フッター プレースホルダー 7">
            <a:extLst>
              <a:ext uri="{FF2B5EF4-FFF2-40B4-BE49-F238E27FC236}">
                <a16:creationId xmlns:a16="http://schemas.microsoft.com/office/drawing/2014/main" id="{AD3C5B25-782C-6783-BA2C-1EF189EDA429}"/>
              </a:ext>
            </a:extLst>
          </p:cNvPr>
          <p:cNvSpPr>
            <a:spLocks noGrp="1"/>
          </p:cNvSpPr>
          <p:nvPr>
            <p:ph type="ftr" idx="11"/>
          </p:nvPr>
        </p:nvSpPr>
        <p:spPr/>
        <p:txBody>
          <a:bodyPr/>
          <a:lstStyle/>
          <a:p>
            <a:r>
              <a:rPr lang="en-US"/>
              <a:t>©2022 LINE</a:t>
            </a:r>
          </a:p>
        </p:txBody>
      </p:sp>
      <p:sp>
        <p:nvSpPr>
          <p:cNvPr id="9" name="スライド番号プレースホルダー 8">
            <a:extLst>
              <a:ext uri="{FF2B5EF4-FFF2-40B4-BE49-F238E27FC236}">
                <a16:creationId xmlns:a16="http://schemas.microsoft.com/office/drawing/2014/main" id="{5920F26F-E158-C124-1390-8EA615A5B8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60</a:t>
            </a:fld>
            <a:endParaRPr lang="ja-JP" altLang="en-US">
              <a:uFillTx/>
            </a:endParaRPr>
          </a:p>
        </p:txBody>
      </p:sp>
      <p:pic>
        <p:nvPicPr>
          <p:cNvPr id="14" name="図 13">
            <a:extLst>
              <a:ext uri="{FF2B5EF4-FFF2-40B4-BE49-F238E27FC236}">
                <a16:creationId xmlns:a16="http://schemas.microsoft.com/office/drawing/2014/main" id="{9BABD93B-A123-04D5-6DB7-3145DC4437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6075" y="924523"/>
            <a:ext cx="7591245" cy="5693434"/>
          </a:xfrm>
          <a:prstGeom prst="rect">
            <a:avLst/>
          </a:prstGeom>
        </p:spPr>
      </p:pic>
    </p:spTree>
    <p:extLst>
      <p:ext uri="{BB962C8B-B14F-4D97-AF65-F5344CB8AC3E}">
        <p14:creationId xmlns:p14="http://schemas.microsoft.com/office/powerpoint/2010/main" val="133211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5" y="127937"/>
            <a:ext cx="9487157" cy="523220"/>
          </a:xfrm>
          <a:prstGeom prst="rect">
            <a:avLst/>
          </a:prstGeom>
          <a:noFill/>
        </p:spPr>
        <p:txBody>
          <a:bodyPr wrap="square" rtlCol="0">
            <a:spAutoFit/>
          </a:bodyPr>
          <a:lstStyle/>
          <a:p>
            <a:r>
              <a:rPr lang="ja-JP" altLang="en-US" sz="2800" b="1" dirty="0">
                <a:latin typeface="Meiryo" charset="-128"/>
                <a:ea typeface="Meiryo" charset="-128"/>
                <a:cs typeface="Meiryo" charset="-128"/>
              </a:rPr>
              <a:t>事業に危機感を感じている順</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8" name="フッター プレースホルダー 7">
            <a:extLst>
              <a:ext uri="{FF2B5EF4-FFF2-40B4-BE49-F238E27FC236}">
                <a16:creationId xmlns:a16="http://schemas.microsoft.com/office/drawing/2014/main" id="{AD3C5B25-782C-6783-BA2C-1EF189EDA429}"/>
              </a:ext>
            </a:extLst>
          </p:cNvPr>
          <p:cNvSpPr>
            <a:spLocks noGrp="1"/>
          </p:cNvSpPr>
          <p:nvPr>
            <p:ph type="ftr" idx="11"/>
          </p:nvPr>
        </p:nvSpPr>
        <p:spPr/>
        <p:txBody>
          <a:bodyPr/>
          <a:lstStyle/>
          <a:p>
            <a:r>
              <a:rPr lang="en-US"/>
              <a:t>©2022 LINE</a:t>
            </a:r>
          </a:p>
        </p:txBody>
      </p:sp>
      <p:sp>
        <p:nvSpPr>
          <p:cNvPr id="9" name="スライド番号プレースホルダー 8">
            <a:extLst>
              <a:ext uri="{FF2B5EF4-FFF2-40B4-BE49-F238E27FC236}">
                <a16:creationId xmlns:a16="http://schemas.microsoft.com/office/drawing/2014/main" id="{5920F26F-E158-C124-1390-8EA615A5B8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61</a:t>
            </a:fld>
            <a:endParaRPr lang="ja-JP" altLang="en-US">
              <a:uFillTx/>
            </a:endParaRPr>
          </a:p>
        </p:txBody>
      </p:sp>
      <p:pic>
        <p:nvPicPr>
          <p:cNvPr id="7" name="図 6">
            <a:extLst>
              <a:ext uri="{FF2B5EF4-FFF2-40B4-BE49-F238E27FC236}">
                <a16:creationId xmlns:a16="http://schemas.microsoft.com/office/drawing/2014/main" id="{FEA37592-D37D-DF01-55EE-2A31505601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61402" y="895807"/>
            <a:ext cx="7812330" cy="5859247"/>
          </a:xfrm>
          <a:prstGeom prst="rect">
            <a:avLst/>
          </a:prstGeom>
        </p:spPr>
      </p:pic>
    </p:spTree>
    <p:extLst>
      <p:ext uri="{BB962C8B-B14F-4D97-AF65-F5344CB8AC3E}">
        <p14:creationId xmlns:p14="http://schemas.microsoft.com/office/powerpoint/2010/main" val="20952541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5" y="127937"/>
            <a:ext cx="9487157"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組織の溝について対話（ダイアログ）</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8" name="フッター プレースホルダー 7">
            <a:extLst>
              <a:ext uri="{FF2B5EF4-FFF2-40B4-BE49-F238E27FC236}">
                <a16:creationId xmlns:a16="http://schemas.microsoft.com/office/drawing/2014/main" id="{AD3C5B25-782C-6783-BA2C-1EF189EDA429}"/>
              </a:ext>
            </a:extLst>
          </p:cNvPr>
          <p:cNvSpPr>
            <a:spLocks noGrp="1"/>
          </p:cNvSpPr>
          <p:nvPr>
            <p:ph type="ftr" idx="11"/>
          </p:nvPr>
        </p:nvSpPr>
        <p:spPr/>
        <p:txBody>
          <a:bodyPr/>
          <a:lstStyle/>
          <a:p>
            <a:r>
              <a:rPr lang="en-US"/>
              <a:t>©2022 LINE</a:t>
            </a:r>
          </a:p>
        </p:txBody>
      </p:sp>
      <p:sp>
        <p:nvSpPr>
          <p:cNvPr id="9" name="スライド番号プレースホルダー 8">
            <a:extLst>
              <a:ext uri="{FF2B5EF4-FFF2-40B4-BE49-F238E27FC236}">
                <a16:creationId xmlns:a16="http://schemas.microsoft.com/office/drawing/2014/main" id="{5920F26F-E158-C124-1390-8EA615A5B8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62</a:t>
            </a:fld>
            <a:endParaRPr lang="ja-JP" altLang="en-US">
              <a:uFillTx/>
            </a:endParaRPr>
          </a:p>
        </p:txBody>
      </p:sp>
      <p:pic>
        <p:nvPicPr>
          <p:cNvPr id="7" name="図 6">
            <a:extLst>
              <a:ext uri="{FF2B5EF4-FFF2-40B4-BE49-F238E27FC236}">
                <a16:creationId xmlns:a16="http://schemas.microsoft.com/office/drawing/2014/main" id="{C99D8FB2-B957-6025-D60D-CAD8BF0893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52944" y="963344"/>
            <a:ext cx="7677508" cy="5758131"/>
          </a:xfrm>
          <a:prstGeom prst="rect">
            <a:avLst/>
          </a:prstGeom>
        </p:spPr>
      </p:pic>
    </p:spTree>
    <p:extLst>
      <p:ext uri="{BB962C8B-B14F-4D97-AF65-F5344CB8AC3E}">
        <p14:creationId xmlns:p14="http://schemas.microsoft.com/office/powerpoint/2010/main" val="36813698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5" y="127937"/>
            <a:ext cx="9360809"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組織課題の見立て（私の場合）</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63</a:t>
            </a:fld>
            <a:endParaRPr lang="ja-JP" altLang="en-US">
              <a:uFillTx/>
            </a:endParaRPr>
          </a:p>
        </p:txBody>
      </p:sp>
      <p:sp>
        <p:nvSpPr>
          <p:cNvPr id="2" name="正方形/長方形 1"/>
          <p:cNvSpPr/>
          <p:nvPr/>
        </p:nvSpPr>
        <p:spPr>
          <a:xfrm>
            <a:off x="5383618"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ミッション・ビジョンへの課題</a:t>
            </a:r>
          </a:p>
        </p:txBody>
      </p:sp>
      <p:sp>
        <p:nvSpPr>
          <p:cNvPr id="30" name="テキスト ボックス 29"/>
          <p:cNvSpPr txBox="1"/>
          <p:nvPr/>
        </p:nvSpPr>
        <p:spPr>
          <a:xfrm>
            <a:off x="6476055" y="769893"/>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err="1">
                <a:latin typeface="Meiryo" charset="-128"/>
                <a:ea typeface="Meiryo" charset="-128"/>
                <a:cs typeface="Meiryo" charset="-128"/>
              </a:rPr>
              <a:t>に納</a:t>
            </a:r>
            <a:r>
              <a:rPr lang="ja-JP" altLang="en-US" sz="900" dirty="0">
                <a:latin typeface="Meiryo" charset="-128"/>
                <a:ea typeface="Meiryo" charset="-128"/>
                <a:cs typeface="Meiryo" charset="-128"/>
              </a:rPr>
              <a:t>得いかない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が浸透していない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MVV</a:t>
            </a:r>
            <a:r>
              <a:rPr lang="ja-JP" altLang="en-US" sz="900" dirty="0">
                <a:latin typeface="Meiryo" charset="-128"/>
                <a:ea typeface="Meiryo" charset="-128"/>
                <a:cs typeface="Meiryo" charset="-128"/>
              </a:rPr>
              <a:t>伝わっていない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伝えられていない</a:t>
            </a:r>
          </a:p>
        </p:txBody>
      </p:sp>
      <p:sp>
        <p:nvSpPr>
          <p:cNvPr id="31" name="正方形/長方形 30"/>
          <p:cNvSpPr/>
          <p:nvPr/>
        </p:nvSpPr>
        <p:spPr>
          <a:xfrm>
            <a:off x="5383618" y="1663075"/>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戦略への課題</a:t>
            </a:r>
          </a:p>
        </p:txBody>
      </p:sp>
      <p:sp>
        <p:nvSpPr>
          <p:cNvPr id="32" name="テキスト ボックス 31"/>
          <p:cNvSpPr txBox="1"/>
          <p:nvPr/>
        </p:nvSpPr>
        <p:spPr>
          <a:xfrm>
            <a:off x="6476055" y="1663075"/>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実現のやり方が見えない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実現のやり方が現実的じゃない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納得感が無い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・目指す指標がわからない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33" name="正方形/長方形 32"/>
          <p:cNvSpPr/>
          <p:nvPr/>
        </p:nvSpPr>
        <p:spPr>
          <a:xfrm>
            <a:off x="888046"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人の課題</a:t>
            </a:r>
          </a:p>
        </p:txBody>
      </p:sp>
      <p:sp>
        <p:nvSpPr>
          <p:cNvPr id="34" name="正方形/長方形 33"/>
          <p:cNvSpPr/>
          <p:nvPr/>
        </p:nvSpPr>
        <p:spPr>
          <a:xfrm>
            <a:off x="4512401"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業務推進の課題</a:t>
            </a:r>
          </a:p>
        </p:txBody>
      </p:sp>
      <p:sp>
        <p:nvSpPr>
          <p:cNvPr id="35" name="正方形/長方形 34"/>
          <p:cNvSpPr/>
          <p:nvPr/>
        </p:nvSpPr>
        <p:spPr>
          <a:xfrm>
            <a:off x="8248553" y="2763109"/>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組織の課題</a:t>
            </a:r>
          </a:p>
        </p:txBody>
      </p:sp>
      <p:sp>
        <p:nvSpPr>
          <p:cNvPr id="38" name="正方形/長方形 37"/>
          <p:cNvSpPr/>
          <p:nvPr/>
        </p:nvSpPr>
        <p:spPr>
          <a:xfrm>
            <a:off x="1903641"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人材要件</a:t>
            </a:r>
          </a:p>
        </p:txBody>
      </p:sp>
      <p:sp>
        <p:nvSpPr>
          <p:cNvPr id="40" name="正方形/長方形 39"/>
          <p:cNvSpPr/>
          <p:nvPr/>
        </p:nvSpPr>
        <p:spPr>
          <a:xfrm>
            <a:off x="552969"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要員計画</a:t>
            </a:r>
          </a:p>
        </p:txBody>
      </p:sp>
      <p:cxnSp>
        <p:nvCxnSpPr>
          <p:cNvPr id="13" name="直線矢印コネクタ 12"/>
          <p:cNvCxnSpPr>
            <a:stCxn id="33" idx="2"/>
            <a:endCxn id="38" idx="0"/>
          </p:cNvCxnSpPr>
          <p:nvPr/>
        </p:nvCxnSpPr>
        <p:spPr>
          <a:xfrm>
            <a:off x="2095943" y="3202002"/>
            <a:ext cx="314842"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a:stCxn id="33" idx="2"/>
            <a:endCxn id="40" idx="0"/>
          </p:cNvCxnSpPr>
          <p:nvPr/>
        </p:nvCxnSpPr>
        <p:spPr>
          <a:xfrm flipH="1">
            <a:off x="1060113" y="3202002"/>
            <a:ext cx="1035830"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テキスト ボックス 50"/>
          <p:cNvSpPr txBox="1"/>
          <p:nvPr/>
        </p:nvSpPr>
        <p:spPr>
          <a:xfrm>
            <a:off x="2483389" y="3312283"/>
            <a:ext cx="820450" cy="230832"/>
          </a:xfrm>
          <a:prstGeom prst="rect">
            <a:avLst/>
          </a:prstGeom>
          <a:noFill/>
        </p:spPr>
        <p:txBody>
          <a:bodyPr wrap="square" rtlCol="0">
            <a:spAutoFit/>
          </a:bodyPr>
          <a:lstStyle/>
          <a:p>
            <a:r>
              <a:rPr lang="ja-JP" altLang="en-US" sz="900" dirty="0">
                <a:latin typeface="Meiryo" charset="-128"/>
                <a:ea typeface="Meiryo" charset="-128"/>
                <a:cs typeface="Meiryo" charset="-128"/>
              </a:rPr>
              <a:t>質の課題</a:t>
            </a:r>
          </a:p>
        </p:txBody>
      </p:sp>
      <p:sp>
        <p:nvSpPr>
          <p:cNvPr id="52" name="テキスト ボックス 51"/>
          <p:cNvSpPr txBox="1"/>
          <p:nvPr/>
        </p:nvSpPr>
        <p:spPr>
          <a:xfrm>
            <a:off x="777495" y="3312283"/>
            <a:ext cx="834554" cy="230832"/>
          </a:xfrm>
          <a:prstGeom prst="rect">
            <a:avLst/>
          </a:prstGeom>
          <a:noFill/>
        </p:spPr>
        <p:txBody>
          <a:bodyPr wrap="square" rtlCol="0">
            <a:spAutoFit/>
          </a:bodyPr>
          <a:lstStyle/>
          <a:p>
            <a:r>
              <a:rPr lang="ja-JP" altLang="en-US" sz="900" dirty="0">
                <a:latin typeface="Meiryo" charset="-128"/>
                <a:ea typeface="Meiryo" charset="-128"/>
                <a:cs typeface="Meiryo" charset="-128"/>
              </a:rPr>
              <a:t>量の課題</a:t>
            </a:r>
          </a:p>
        </p:txBody>
      </p:sp>
      <p:sp>
        <p:nvSpPr>
          <p:cNvPr id="55" name="正方形/長方形 54"/>
          <p:cNvSpPr/>
          <p:nvPr/>
        </p:nvSpPr>
        <p:spPr>
          <a:xfrm>
            <a:off x="3744853"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トップレイヤ</a:t>
            </a:r>
          </a:p>
        </p:txBody>
      </p:sp>
      <p:sp>
        <p:nvSpPr>
          <p:cNvPr id="56" name="正方形/長方形 55"/>
          <p:cNvSpPr/>
          <p:nvPr/>
        </p:nvSpPr>
        <p:spPr>
          <a:xfrm>
            <a:off x="4950719"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ミドルレイヤ</a:t>
            </a:r>
          </a:p>
        </p:txBody>
      </p:sp>
      <p:sp>
        <p:nvSpPr>
          <p:cNvPr id="57" name="正方形/長方形 56"/>
          <p:cNvSpPr/>
          <p:nvPr/>
        </p:nvSpPr>
        <p:spPr>
          <a:xfrm>
            <a:off x="6156588"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ボトムレイヤ</a:t>
            </a:r>
          </a:p>
        </p:txBody>
      </p:sp>
      <p:cxnSp>
        <p:nvCxnSpPr>
          <p:cNvPr id="61" name="直線矢印コネクタ 60"/>
          <p:cNvCxnSpPr>
            <a:stCxn id="34" idx="2"/>
            <a:endCxn id="55" idx="0"/>
          </p:cNvCxnSpPr>
          <p:nvPr/>
        </p:nvCxnSpPr>
        <p:spPr>
          <a:xfrm flipH="1">
            <a:off x="4251997" y="3202002"/>
            <a:ext cx="1468301"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直線矢印コネクタ 63"/>
          <p:cNvCxnSpPr>
            <a:stCxn id="34" idx="2"/>
            <a:endCxn id="56" idx="0"/>
          </p:cNvCxnSpPr>
          <p:nvPr/>
        </p:nvCxnSpPr>
        <p:spPr>
          <a:xfrm flipH="1">
            <a:off x="5457863" y="3202002"/>
            <a:ext cx="262435"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矢印コネクタ 66"/>
          <p:cNvCxnSpPr>
            <a:stCxn id="34" idx="2"/>
            <a:endCxn id="57" idx="0"/>
          </p:cNvCxnSpPr>
          <p:nvPr/>
        </p:nvCxnSpPr>
        <p:spPr>
          <a:xfrm>
            <a:off x="5720298" y="3202002"/>
            <a:ext cx="943434"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852430" y="3250259"/>
            <a:ext cx="820450" cy="369332"/>
          </a:xfrm>
          <a:prstGeom prst="rect">
            <a:avLst/>
          </a:prstGeom>
          <a:noFill/>
        </p:spPr>
        <p:txBody>
          <a:bodyPr wrap="square" rtlCol="0">
            <a:spAutoFit/>
          </a:bodyPr>
          <a:lstStyle/>
          <a:p>
            <a:r>
              <a:rPr lang="ja-JP" altLang="en-US" sz="900" dirty="0">
                <a:latin typeface="Meiryo" charset="-128"/>
                <a:ea typeface="Meiryo" charset="-128"/>
                <a:cs typeface="Meiryo" charset="-128"/>
              </a:rPr>
              <a:t>意思決定者の課題</a:t>
            </a:r>
          </a:p>
        </p:txBody>
      </p:sp>
      <p:sp>
        <p:nvSpPr>
          <p:cNvPr id="71" name="テキスト ボックス 70"/>
          <p:cNvSpPr txBox="1"/>
          <p:nvPr/>
        </p:nvSpPr>
        <p:spPr>
          <a:xfrm>
            <a:off x="4752315" y="3250259"/>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マネジメントの課題</a:t>
            </a:r>
          </a:p>
        </p:txBody>
      </p:sp>
      <p:sp>
        <p:nvSpPr>
          <p:cNvPr id="72" name="テキスト ボックス 71"/>
          <p:cNvSpPr txBox="1"/>
          <p:nvPr/>
        </p:nvSpPr>
        <p:spPr>
          <a:xfrm>
            <a:off x="6473485" y="3243033"/>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社員としての課題</a:t>
            </a:r>
          </a:p>
        </p:txBody>
      </p:sp>
      <p:sp>
        <p:nvSpPr>
          <p:cNvPr id="73" name="テキスト ボックス 72"/>
          <p:cNvSpPr txBox="1"/>
          <p:nvPr/>
        </p:nvSpPr>
        <p:spPr>
          <a:xfrm>
            <a:off x="3475926" y="4108429"/>
            <a:ext cx="1428424" cy="646331"/>
          </a:xfrm>
          <a:prstGeom prst="rect">
            <a:avLst/>
          </a:prstGeom>
          <a:noFill/>
        </p:spPr>
        <p:txBody>
          <a:bodyPr wrap="square" rtlCol="0">
            <a:spAutoFit/>
          </a:bodyPr>
          <a:lstStyle/>
          <a:p>
            <a:r>
              <a:rPr lang="ja-JP" altLang="en-US" sz="900" dirty="0">
                <a:latin typeface="Meiryo" charset="-128"/>
                <a:ea typeface="Meiryo" charset="-128"/>
                <a:cs typeface="Meiryo" charset="-128"/>
              </a:rPr>
              <a:t>・意思決定のプロセス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・役割の認識</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・後継者人材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のメッセージング</a:t>
            </a:r>
            <a:endParaRPr lang="en-US" altLang="ja-JP" sz="900" dirty="0">
              <a:latin typeface="Meiryo" charset="-128"/>
              <a:ea typeface="Meiryo" charset="-128"/>
              <a:cs typeface="Meiryo" charset="-128"/>
            </a:endParaRPr>
          </a:p>
        </p:txBody>
      </p:sp>
      <p:cxnSp>
        <p:nvCxnSpPr>
          <p:cNvPr id="83" name="直線矢印コネクタ 82"/>
          <p:cNvCxnSpPr>
            <a:stCxn id="31" idx="2"/>
            <a:endCxn id="33" idx="0"/>
          </p:cNvCxnSpPr>
          <p:nvPr/>
        </p:nvCxnSpPr>
        <p:spPr>
          <a:xfrm flipH="1">
            <a:off x="2095943" y="2106135"/>
            <a:ext cx="3867424"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a:stCxn id="31" idx="2"/>
            <a:endCxn id="34" idx="0"/>
          </p:cNvCxnSpPr>
          <p:nvPr/>
        </p:nvCxnSpPr>
        <p:spPr>
          <a:xfrm flipH="1">
            <a:off x="5720298" y="2106135"/>
            <a:ext cx="243069"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a:stCxn id="31" idx="2"/>
            <a:endCxn id="35" idx="0"/>
          </p:cNvCxnSpPr>
          <p:nvPr/>
        </p:nvCxnSpPr>
        <p:spPr>
          <a:xfrm>
            <a:off x="5963367" y="2106135"/>
            <a:ext cx="3493083" cy="65697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直線矢印コネクタ 113"/>
          <p:cNvCxnSpPr>
            <a:stCxn id="2" idx="2"/>
            <a:endCxn id="31" idx="0"/>
          </p:cNvCxnSpPr>
          <p:nvPr/>
        </p:nvCxnSpPr>
        <p:spPr>
          <a:xfrm>
            <a:off x="5963367" y="1293978"/>
            <a:ext cx="0" cy="36909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6" name="テキスト ボックス 115"/>
          <p:cNvSpPr txBox="1"/>
          <p:nvPr/>
        </p:nvSpPr>
        <p:spPr>
          <a:xfrm>
            <a:off x="1845300" y="4108429"/>
            <a:ext cx="1458336" cy="1200329"/>
          </a:xfrm>
          <a:prstGeom prst="rect">
            <a:avLst/>
          </a:prstGeom>
          <a:noFill/>
        </p:spPr>
        <p:txBody>
          <a:bodyPr wrap="square" rtlCol="0">
            <a:spAutoFit/>
          </a:bodyPr>
          <a:lstStyle/>
          <a:p>
            <a:r>
              <a:rPr lang="ja-JP" altLang="en-US" sz="900" dirty="0">
                <a:latin typeface="Meiryo" charset="-128"/>
                <a:ea typeface="Meiryo" charset="-128"/>
                <a:cs typeface="Meiryo" charset="-128"/>
              </a:rPr>
              <a:t>・評価</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・報酬</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・登用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・人材開発</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・優秀人材の活かし方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・代謝人材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・成長</a:t>
            </a:r>
            <a:endParaRPr lang="en-US" altLang="ja-JP" sz="900" dirty="0">
              <a:latin typeface="Meiryo" charset="-128"/>
              <a:ea typeface="Meiryo" charset="-128"/>
              <a:cs typeface="Meiryo" charset="-128"/>
            </a:endParaRPr>
          </a:p>
        </p:txBody>
      </p:sp>
      <p:sp>
        <p:nvSpPr>
          <p:cNvPr id="117" name="テキスト ボックス 116"/>
          <p:cNvSpPr txBox="1"/>
          <p:nvPr/>
        </p:nvSpPr>
        <p:spPr>
          <a:xfrm>
            <a:off x="4837250" y="4108429"/>
            <a:ext cx="1428424" cy="784830"/>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err="1">
                <a:latin typeface="Meiryo" charset="-128"/>
                <a:ea typeface="Meiryo" charset="-128"/>
                <a:cs typeface="Meiryo" charset="-128"/>
              </a:rPr>
              <a:t>SoC</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・基礎知識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・戦略の翻訳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・評価者教育</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・部下育成</a:t>
            </a:r>
            <a:endParaRPr lang="en-US" altLang="ja-JP" sz="900" dirty="0">
              <a:latin typeface="Meiryo" charset="-128"/>
              <a:ea typeface="Meiryo" charset="-128"/>
              <a:cs typeface="Meiryo" charset="-128"/>
            </a:endParaRPr>
          </a:p>
        </p:txBody>
      </p:sp>
      <p:sp>
        <p:nvSpPr>
          <p:cNvPr id="118" name="テキスト ボックス 117"/>
          <p:cNvSpPr txBox="1"/>
          <p:nvPr/>
        </p:nvSpPr>
        <p:spPr>
          <a:xfrm>
            <a:off x="316748" y="2325946"/>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どんな人がどこにどれくらい必要か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適所適材がどの程度実現できているか</a:t>
            </a:r>
          </a:p>
        </p:txBody>
      </p:sp>
      <p:sp>
        <p:nvSpPr>
          <p:cNvPr id="119" name="テキスト ボックス 118"/>
          <p:cNvSpPr txBox="1"/>
          <p:nvPr/>
        </p:nvSpPr>
        <p:spPr>
          <a:xfrm>
            <a:off x="3871640" y="2356031"/>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日々の仕事を円滑に進められるか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納得感をもって仕事ができるか</a:t>
            </a:r>
            <a:endParaRPr lang="en-US" altLang="ja-JP" sz="900" dirty="0">
              <a:latin typeface="Meiryo" charset="-128"/>
              <a:ea typeface="Meiryo" charset="-128"/>
              <a:cs typeface="Meiryo" charset="-128"/>
            </a:endParaRPr>
          </a:p>
        </p:txBody>
      </p:sp>
      <p:sp>
        <p:nvSpPr>
          <p:cNvPr id="120" name="テキスト ボックス 119"/>
          <p:cNvSpPr txBox="1"/>
          <p:nvPr/>
        </p:nvSpPr>
        <p:spPr>
          <a:xfrm>
            <a:off x="9131540" y="2320049"/>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個人の集合ではなく組織として</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機能しているか</a:t>
            </a:r>
          </a:p>
        </p:txBody>
      </p:sp>
      <p:sp>
        <p:nvSpPr>
          <p:cNvPr id="121" name="テキスト ボックス 120"/>
          <p:cNvSpPr txBox="1"/>
          <p:nvPr/>
        </p:nvSpPr>
        <p:spPr>
          <a:xfrm>
            <a:off x="6080477" y="4108429"/>
            <a:ext cx="1428424" cy="923330"/>
          </a:xfrm>
          <a:prstGeom prst="rect">
            <a:avLst/>
          </a:prstGeom>
          <a:noFill/>
        </p:spPr>
        <p:txBody>
          <a:bodyPr wrap="square" rtlCol="0">
            <a:spAutoFit/>
          </a:bodyPr>
          <a:lstStyle/>
          <a:p>
            <a:r>
              <a:rPr lang="ja-JP" altLang="en-US" sz="900" dirty="0">
                <a:latin typeface="Meiryo" charset="-128"/>
                <a:ea typeface="Meiryo" charset="-128"/>
                <a:cs typeface="Meiryo" charset="-128"/>
              </a:rPr>
              <a:t>・知識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・ジョブアサイン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・評価への納得感</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・キャリアの不安</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・働き方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・自己理解</a:t>
            </a:r>
            <a:endParaRPr lang="en-US" altLang="ja-JP" sz="900" dirty="0">
              <a:latin typeface="Meiryo" charset="-128"/>
              <a:ea typeface="Meiryo" charset="-128"/>
              <a:cs typeface="Meiryo" charset="-128"/>
            </a:endParaRPr>
          </a:p>
        </p:txBody>
      </p:sp>
      <p:sp>
        <p:nvSpPr>
          <p:cNvPr id="122" name="正方形/長方形 121"/>
          <p:cNvSpPr/>
          <p:nvPr/>
        </p:nvSpPr>
        <p:spPr>
          <a:xfrm>
            <a:off x="7823005" y="3584771"/>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共有知</a:t>
            </a:r>
          </a:p>
        </p:txBody>
      </p:sp>
      <p:sp>
        <p:nvSpPr>
          <p:cNvPr id="123" name="正方形/長方形 122"/>
          <p:cNvSpPr/>
          <p:nvPr/>
        </p:nvSpPr>
        <p:spPr>
          <a:xfrm>
            <a:off x="9024992"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関係性</a:t>
            </a:r>
          </a:p>
        </p:txBody>
      </p:sp>
      <p:sp>
        <p:nvSpPr>
          <p:cNvPr id="124" name="正方形/長方形 123"/>
          <p:cNvSpPr/>
          <p:nvPr/>
        </p:nvSpPr>
        <p:spPr>
          <a:xfrm>
            <a:off x="10226979"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仕組み</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取り組み</a:t>
            </a:r>
          </a:p>
        </p:txBody>
      </p:sp>
      <p:cxnSp>
        <p:nvCxnSpPr>
          <p:cNvPr id="125" name="直線矢印コネクタ 124"/>
          <p:cNvCxnSpPr>
            <a:stCxn id="35" idx="2"/>
            <a:endCxn id="122" idx="0"/>
          </p:cNvCxnSpPr>
          <p:nvPr/>
        </p:nvCxnSpPr>
        <p:spPr>
          <a:xfrm flipH="1">
            <a:off x="8330149" y="3206169"/>
            <a:ext cx="1126301" cy="3786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線矢印コネクタ 125"/>
          <p:cNvCxnSpPr>
            <a:stCxn id="35" idx="2"/>
            <a:endCxn id="123" idx="0"/>
          </p:cNvCxnSpPr>
          <p:nvPr/>
        </p:nvCxnSpPr>
        <p:spPr>
          <a:xfrm>
            <a:off x="9456450" y="3206169"/>
            <a:ext cx="75686"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線矢印コネクタ 126"/>
          <p:cNvCxnSpPr>
            <a:stCxn id="35" idx="2"/>
            <a:endCxn id="124" idx="0"/>
          </p:cNvCxnSpPr>
          <p:nvPr/>
        </p:nvCxnSpPr>
        <p:spPr>
          <a:xfrm>
            <a:off x="9456450" y="3206169"/>
            <a:ext cx="1277673"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テキスト ボックス 127"/>
          <p:cNvSpPr txBox="1"/>
          <p:nvPr/>
        </p:nvSpPr>
        <p:spPr>
          <a:xfrm>
            <a:off x="7653317" y="4102770"/>
            <a:ext cx="1428424" cy="369332"/>
          </a:xfrm>
          <a:prstGeom prst="rect">
            <a:avLst/>
          </a:prstGeom>
          <a:noFill/>
        </p:spPr>
        <p:txBody>
          <a:bodyPr wrap="square" rtlCol="0">
            <a:spAutoFit/>
          </a:bodyPr>
          <a:lstStyle/>
          <a:p>
            <a:r>
              <a:rPr lang="ja-JP" altLang="en-US" sz="900" dirty="0">
                <a:latin typeface="Meiryo" charset="-128"/>
                <a:ea typeface="Meiryo" charset="-128"/>
                <a:cs typeface="Meiryo" charset="-128"/>
              </a:rPr>
              <a:t>・属人化</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・ノウハウが暗黙知</a:t>
            </a:r>
            <a:endParaRPr lang="en-US" altLang="ja-JP" sz="900" dirty="0">
              <a:latin typeface="Meiryo" charset="-128"/>
              <a:ea typeface="Meiryo" charset="-128"/>
              <a:cs typeface="Meiryo" charset="-128"/>
            </a:endParaRPr>
          </a:p>
        </p:txBody>
      </p:sp>
      <p:sp>
        <p:nvSpPr>
          <p:cNvPr id="129" name="テキスト ボックス 128"/>
          <p:cNvSpPr txBox="1"/>
          <p:nvPr/>
        </p:nvSpPr>
        <p:spPr>
          <a:xfrm>
            <a:off x="8896544" y="4090931"/>
            <a:ext cx="1542135" cy="1061829"/>
          </a:xfrm>
          <a:prstGeom prst="rect">
            <a:avLst/>
          </a:prstGeom>
          <a:noFill/>
        </p:spPr>
        <p:txBody>
          <a:bodyPr wrap="square" rtlCol="0">
            <a:spAutoFit/>
          </a:bodyPr>
          <a:lstStyle/>
          <a:p>
            <a:r>
              <a:rPr lang="ja-JP" altLang="en-US" sz="900" dirty="0">
                <a:latin typeface="Meiryo" charset="-128"/>
                <a:ea typeface="Meiryo" charset="-128"/>
                <a:cs typeface="Meiryo" charset="-128"/>
              </a:rPr>
              <a:t>・縦</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横</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組織間</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・セクショナリズム</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・事なかれ主義</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・厳しいフィードバック</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・多様性</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・他者理解</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・心理的安全性</a:t>
            </a:r>
            <a:endParaRPr lang="en-US" altLang="ja-JP" sz="900" dirty="0">
              <a:latin typeface="Meiryo" charset="-128"/>
              <a:ea typeface="Meiryo" charset="-128"/>
              <a:cs typeface="Meiryo" charset="-128"/>
            </a:endParaRPr>
          </a:p>
        </p:txBody>
      </p:sp>
      <p:sp>
        <p:nvSpPr>
          <p:cNvPr id="130" name="テキスト ボックス 129"/>
          <p:cNvSpPr txBox="1"/>
          <p:nvPr/>
        </p:nvSpPr>
        <p:spPr>
          <a:xfrm>
            <a:off x="10170476" y="4102770"/>
            <a:ext cx="1655846" cy="507831"/>
          </a:xfrm>
          <a:prstGeom prst="rect">
            <a:avLst/>
          </a:prstGeom>
          <a:noFill/>
        </p:spPr>
        <p:txBody>
          <a:bodyPr wrap="square" rtlCol="0">
            <a:spAutoFit/>
          </a:bodyPr>
          <a:lstStyle/>
          <a:p>
            <a:r>
              <a:rPr lang="ja-JP" altLang="en-US" sz="900" dirty="0">
                <a:latin typeface="Meiryo" charset="-128"/>
                <a:ea typeface="Meiryo" charset="-128"/>
                <a:cs typeface="Meiryo" charset="-128"/>
              </a:rPr>
              <a:t>・組織としてのルール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・ボトムアップの取り組み</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90" name="二等辺三角形 89"/>
          <p:cNvSpPr/>
          <p:nvPr/>
        </p:nvSpPr>
        <p:spPr>
          <a:xfrm rot="10800000">
            <a:off x="4244458" y="5174610"/>
            <a:ext cx="3437816" cy="27827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p:cNvSpPr/>
          <p:nvPr/>
        </p:nvSpPr>
        <p:spPr>
          <a:xfrm>
            <a:off x="1196820" y="6230626"/>
            <a:ext cx="93847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退職者が多い</a:t>
            </a:r>
          </a:p>
        </p:txBody>
      </p:sp>
      <p:sp>
        <p:nvSpPr>
          <p:cNvPr id="131" name="楕円 130"/>
          <p:cNvSpPr/>
          <p:nvPr/>
        </p:nvSpPr>
        <p:spPr>
          <a:xfrm>
            <a:off x="2490649"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心理的安全性が低い</a:t>
            </a:r>
          </a:p>
        </p:txBody>
      </p:sp>
      <p:sp>
        <p:nvSpPr>
          <p:cNvPr id="132" name="楕円 131"/>
          <p:cNvSpPr/>
          <p:nvPr/>
        </p:nvSpPr>
        <p:spPr>
          <a:xfrm>
            <a:off x="3918091"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主体性が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無い</a:t>
            </a:r>
          </a:p>
        </p:txBody>
      </p:sp>
      <p:sp>
        <p:nvSpPr>
          <p:cNvPr id="133" name="楕円 132"/>
          <p:cNvSpPr/>
          <p:nvPr/>
        </p:nvSpPr>
        <p:spPr>
          <a:xfrm>
            <a:off x="5357796" y="6294149"/>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蛸壺化</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している</a:t>
            </a:r>
          </a:p>
        </p:txBody>
      </p:sp>
      <p:sp>
        <p:nvSpPr>
          <p:cNvPr id="134" name="楕円 133"/>
          <p:cNvSpPr/>
          <p:nvPr/>
        </p:nvSpPr>
        <p:spPr>
          <a:xfrm>
            <a:off x="5550555" y="5801926"/>
            <a:ext cx="1208068"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成長しない</a:t>
            </a:r>
          </a:p>
        </p:txBody>
      </p:sp>
      <p:sp>
        <p:nvSpPr>
          <p:cNvPr id="135" name="楕円 134"/>
          <p:cNvSpPr/>
          <p:nvPr/>
        </p:nvSpPr>
        <p:spPr>
          <a:xfrm>
            <a:off x="7044047" y="5758015"/>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組織が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ぬるい</a:t>
            </a:r>
          </a:p>
        </p:txBody>
      </p:sp>
      <p:sp>
        <p:nvSpPr>
          <p:cNvPr id="136" name="楕円 135"/>
          <p:cNvSpPr/>
          <p:nvPr/>
        </p:nvSpPr>
        <p:spPr>
          <a:xfrm>
            <a:off x="8592136" y="57038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モチベーションが低い</a:t>
            </a:r>
          </a:p>
        </p:txBody>
      </p:sp>
      <p:sp>
        <p:nvSpPr>
          <p:cNvPr id="137" name="楕円 136"/>
          <p:cNvSpPr/>
          <p:nvPr/>
        </p:nvSpPr>
        <p:spPr>
          <a:xfrm>
            <a:off x="9691513" y="6289098"/>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なんとなく</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暗い</a:t>
            </a:r>
          </a:p>
        </p:txBody>
      </p:sp>
      <p:sp>
        <p:nvSpPr>
          <p:cNvPr id="138" name="楕円 137"/>
          <p:cNvSpPr/>
          <p:nvPr/>
        </p:nvSpPr>
        <p:spPr>
          <a:xfrm>
            <a:off x="8256425" y="6289099"/>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悪口ばかり</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言う</a:t>
            </a:r>
          </a:p>
        </p:txBody>
      </p:sp>
      <p:sp>
        <p:nvSpPr>
          <p:cNvPr id="139" name="楕円 138"/>
          <p:cNvSpPr/>
          <p:nvPr/>
        </p:nvSpPr>
        <p:spPr>
          <a:xfrm>
            <a:off x="6911342" y="6297545"/>
            <a:ext cx="1107433"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先が見えない</a:t>
            </a:r>
          </a:p>
        </p:txBody>
      </p:sp>
      <p:sp>
        <p:nvSpPr>
          <p:cNvPr id="140" name="楕円 139"/>
          <p:cNvSpPr/>
          <p:nvPr/>
        </p:nvSpPr>
        <p:spPr>
          <a:xfrm>
            <a:off x="4053055" y="57374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昔の方が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良かった</a:t>
            </a:r>
          </a:p>
        </p:txBody>
      </p:sp>
      <p:sp>
        <p:nvSpPr>
          <p:cNvPr id="141" name="楕円 140"/>
          <p:cNvSpPr/>
          <p:nvPr/>
        </p:nvSpPr>
        <p:spPr>
          <a:xfrm>
            <a:off x="2664671" y="5678500"/>
            <a:ext cx="1294780"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いそがしい</a:t>
            </a:r>
          </a:p>
        </p:txBody>
      </p:sp>
      <p:sp>
        <p:nvSpPr>
          <p:cNvPr id="142" name="楕円 141"/>
          <p:cNvSpPr/>
          <p:nvPr/>
        </p:nvSpPr>
        <p:spPr>
          <a:xfrm>
            <a:off x="1522343" y="5709138"/>
            <a:ext cx="1090264"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人が足りない</a:t>
            </a:r>
          </a:p>
        </p:txBody>
      </p:sp>
      <p:sp>
        <p:nvSpPr>
          <p:cNvPr id="143" name="正方形/長方形 142"/>
          <p:cNvSpPr/>
          <p:nvPr/>
        </p:nvSpPr>
        <p:spPr>
          <a:xfrm>
            <a:off x="3580904"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全社戦略</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44" name="直線矢印コネクタ 143"/>
          <p:cNvCxnSpPr>
            <a:stCxn id="143" idx="3"/>
            <a:endCxn id="2" idx="1"/>
          </p:cNvCxnSpPr>
          <p:nvPr/>
        </p:nvCxnSpPr>
        <p:spPr>
          <a:xfrm>
            <a:off x="4740401"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2" name="テキスト ボックス 151"/>
          <p:cNvSpPr txBox="1"/>
          <p:nvPr/>
        </p:nvSpPr>
        <p:spPr>
          <a:xfrm>
            <a:off x="3475926" y="1348626"/>
            <a:ext cx="1377010" cy="5078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・納得できていない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153" name="正方形/長方形 152"/>
          <p:cNvSpPr/>
          <p:nvPr/>
        </p:nvSpPr>
        <p:spPr>
          <a:xfrm>
            <a:off x="1778190"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ホールディングス</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54" name="直線矢印コネクタ 153"/>
          <p:cNvCxnSpPr>
            <a:stCxn id="153" idx="3"/>
            <a:endCxn id="143" idx="1"/>
          </p:cNvCxnSpPr>
          <p:nvPr/>
        </p:nvCxnSpPr>
        <p:spPr>
          <a:xfrm>
            <a:off x="2937687"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テキスト ボックス 156"/>
          <p:cNvSpPr txBox="1"/>
          <p:nvPr/>
        </p:nvSpPr>
        <p:spPr>
          <a:xfrm>
            <a:off x="1758380" y="1349189"/>
            <a:ext cx="1545255" cy="230832"/>
          </a:xfrm>
          <a:prstGeom prst="rect">
            <a:avLst/>
          </a:prstGeom>
          <a:noFill/>
        </p:spPr>
        <p:txBody>
          <a:bodyPr wrap="square" rtlCol="0">
            <a:spAutoFit/>
          </a:bodyPr>
          <a:lstStyle/>
          <a:p>
            <a:r>
              <a:rPr lang="ja-JP" altLang="en-US" sz="900" dirty="0">
                <a:latin typeface="Meiryo" charset="-128"/>
                <a:ea typeface="Meiryo" charset="-128"/>
                <a:cs typeface="Meiryo" charset="-128"/>
              </a:rPr>
              <a:t>・整合性とれているか？</a:t>
            </a:r>
          </a:p>
        </p:txBody>
      </p:sp>
      <p:sp>
        <p:nvSpPr>
          <p:cNvPr id="8" name="フッター プレースホルダー 7"/>
          <p:cNvSpPr>
            <a:spLocks noGrp="1"/>
          </p:cNvSpPr>
          <p:nvPr>
            <p:ph type="ftr" idx="11"/>
          </p:nvPr>
        </p:nvSpPr>
        <p:spPr/>
        <p:txBody>
          <a:bodyPr/>
          <a:lstStyle/>
          <a:p>
            <a:r>
              <a:rPr lang="en-US"/>
              <a:t>©2022 LINE</a:t>
            </a:r>
          </a:p>
        </p:txBody>
      </p:sp>
      <p:sp>
        <p:nvSpPr>
          <p:cNvPr id="84" name="テキスト ボックス 83"/>
          <p:cNvSpPr txBox="1"/>
          <p:nvPr/>
        </p:nvSpPr>
        <p:spPr>
          <a:xfrm>
            <a:off x="334985" y="4113503"/>
            <a:ext cx="1450254" cy="1061829"/>
          </a:xfrm>
          <a:prstGeom prst="rect">
            <a:avLst/>
          </a:prstGeom>
          <a:noFill/>
        </p:spPr>
        <p:txBody>
          <a:bodyPr wrap="square" rtlCol="0">
            <a:spAutoFit/>
          </a:bodyPr>
          <a:lstStyle/>
          <a:p>
            <a:r>
              <a:rPr lang="ja-JP" altLang="en-US" sz="900" dirty="0">
                <a:latin typeface="Meiryo" charset="-128"/>
                <a:ea typeface="Meiryo" charset="-128"/>
                <a:cs typeface="Meiryo" charset="-128"/>
              </a:rPr>
              <a:t>・採用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・異動</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・リテンション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・人件費</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・タレントマネジメント</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・育てるか、採るか</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Tree>
    <p:extLst>
      <p:ext uri="{BB962C8B-B14F-4D97-AF65-F5344CB8AC3E}">
        <p14:creationId xmlns:p14="http://schemas.microsoft.com/office/powerpoint/2010/main" val="33646535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7" name="楕円 6"/>
          <p:cNvSpPr/>
          <p:nvPr/>
        </p:nvSpPr>
        <p:spPr>
          <a:xfrm>
            <a:off x="1612049" y="486137"/>
            <a:ext cx="8427230" cy="1869894"/>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p:cNvSpPr txBox="1"/>
          <p:nvPr/>
        </p:nvSpPr>
        <p:spPr>
          <a:xfrm>
            <a:off x="486575" y="127937"/>
            <a:ext cx="9360809"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組織課題の見立て（私の場合）</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64</a:t>
            </a:fld>
            <a:endParaRPr lang="ja-JP" altLang="en-US">
              <a:uFillTx/>
            </a:endParaRPr>
          </a:p>
        </p:txBody>
      </p:sp>
      <p:sp>
        <p:nvSpPr>
          <p:cNvPr id="2" name="正方形/長方形 1"/>
          <p:cNvSpPr/>
          <p:nvPr/>
        </p:nvSpPr>
        <p:spPr>
          <a:xfrm>
            <a:off x="5383618"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ミッション・ビジョンへの課題</a:t>
            </a:r>
          </a:p>
        </p:txBody>
      </p:sp>
      <p:sp>
        <p:nvSpPr>
          <p:cNvPr id="30" name="テキスト ボックス 29"/>
          <p:cNvSpPr txBox="1"/>
          <p:nvPr/>
        </p:nvSpPr>
        <p:spPr>
          <a:xfrm>
            <a:off x="6476055" y="769893"/>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err="1">
                <a:latin typeface="Meiryo" charset="-128"/>
                <a:ea typeface="Meiryo" charset="-128"/>
                <a:cs typeface="Meiryo" charset="-128"/>
              </a:rPr>
              <a:t>に納</a:t>
            </a:r>
            <a:r>
              <a:rPr lang="ja-JP" altLang="en-US" sz="900" dirty="0">
                <a:latin typeface="Meiryo" charset="-128"/>
                <a:ea typeface="Meiryo" charset="-128"/>
                <a:cs typeface="Meiryo" charset="-128"/>
              </a:rPr>
              <a:t>得いかない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が浸透していない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MVV</a:t>
            </a:r>
            <a:r>
              <a:rPr lang="ja-JP" altLang="en-US" sz="900" dirty="0">
                <a:latin typeface="Meiryo" charset="-128"/>
                <a:ea typeface="Meiryo" charset="-128"/>
                <a:cs typeface="Meiryo" charset="-128"/>
              </a:rPr>
              <a:t>伝わっていない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伝えられていない</a:t>
            </a:r>
          </a:p>
        </p:txBody>
      </p:sp>
      <p:sp>
        <p:nvSpPr>
          <p:cNvPr id="31" name="正方形/長方形 30"/>
          <p:cNvSpPr/>
          <p:nvPr/>
        </p:nvSpPr>
        <p:spPr>
          <a:xfrm>
            <a:off x="5383618" y="1663075"/>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戦略への課題</a:t>
            </a:r>
          </a:p>
        </p:txBody>
      </p:sp>
      <p:sp>
        <p:nvSpPr>
          <p:cNvPr id="32" name="テキスト ボックス 31"/>
          <p:cNvSpPr txBox="1"/>
          <p:nvPr/>
        </p:nvSpPr>
        <p:spPr>
          <a:xfrm>
            <a:off x="6476055" y="1663075"/>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実現のやり方が見えない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実現のやり方が現実的じゃない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納得感が無い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・目指す指標がわからない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33" name="正方形/長方形 32"/>
          <p:cNvSpPr/>
          <p:nvPr/>
        </p:nvSpPr>
        <p:spPr>
          <a:xfrm>
            <a:off x="888046"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人の課題</a:t>
            </a:r>
          </a:p>
        </p:txBody>
      </p:sp>
      <p:sp>
        <p:nvSpPr>
          <p:cNvPr id="34" name="正方形/長方形 33"/>
          <p:cNvSpPr/>
          <p:nvPr/>
        </p:nvSpPr>
        <p:spPr>
          <a:xfrm>
            <a:off x="4512401"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業務推進の課題</a:t>
            </a:r>
          </a:p>
        </p:txBody>
      </p:sp>
      <p:sp>
        <p:nvSpPr>
          <p:cNvPr id="35" name="正方形/長方形 34"/>
          <p:cNvSpPr/>
          <p:nvPr/>
        </p:nvSpPr>
        <p:spPr>
          <a:xfrm>
            <a:off x="8248553" y="2763109"/>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組織の課題</a:t>
            </a:r>
          </a:p>
        </p:txBody>
      </p:sp>
      <p:sp>
        <p:nvSpPr>
          <p:cNvPr id="38" name="正方形/長方形 37"/>
          <p:cNvSpPr/>
          <p:nvPr/>
        </p:nvSpPr>
        <p:spPr>
          <a:xfrm>
            <a:off x="1903641"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人材要件</a:t>
            </a:r>
          </a:p>
        </p:txBody>
      </p:sp>
      <p:sp>
        <p:nvSpPr>
          <p:cNvPr id="40" name="正方形/長方形 39"/>
          <p:cNvSpPr/>
          <p:nvPr/>
        </p:nvSpPr>
        <p:spPr>
          <a:xfrm>
            <a:off x="552969"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要員計画</a:t>
            </a:r>
          </a:p>
        </p:txBody>
      </p:sp>
      <p:cxnSp>
        <p:nvCxnSpPr>
          <p:cNvPr id="13" name="直線矢印コネクタ 12"/>
          <p:cNvCxnSpPr>
            <a:stCxn id="33" idx="2"/>
            <a:endCxn id="38" idx="0"/>
          </p:cNvCxnSpPr>
          <p:nvPr/>
        </p:nvCxnSpPr>
        <p:spPr>
          <a:xfrm>
            <a:off x="2095943" y="3202002"/>
            <a:ext cx="314842"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a:stCxn id="33" idx="2"/>
            <a:endCxn id="40" idx="0"/>
          </p:cNvCxnSpPr>
          <p:nvPr/>
        </p:nvCxnSpPr>
        <p:spPr>
          <a:xfrm flipH="1">
            <a:off x="1060113" y="3202002"/>
            <a:ext cx="1035830"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テキスト ボックス 50"/>
          <p:cNvSpPr txBox="1"/>
          <p:nvPr/>
        </p:nvSpPr>
        <p:spPr>
          <a:xfrm>
            <a:off x="2483389" y="3312283"/>
            <a:ext cx="820450" cy="230832"/>
          </a:xfrm>
          <a:prstGeom prst="rect">
            <a:avLst/>
          </a:prstGeom>
          <a:noFill/>
        </p:spPr>
        <p:txBody>
          <a:bodyPr wrap="square" rtlCol="0">
            <a:spAutoFit/>
          </a:bodyPr>
          <a:lstStyle/>
          <a:p>
            <a:r>
              <a:rPr lang="ja-JP" altLang="en-US" sz="900" dirty="0">
                <a:latin typeface="Meiryo" charset="-128"/>
                <a:ea typeface="Meiryo" charset="-128"/>
                <a:cs typeface="Meiryo" charset="-128"/>
              </a:rPr>
              <a:t>質の課題</a:t>
            </a:r>
          </a:p>
        </p:txBody>
      </p:sp>
      <p:sp>
        <p:nvSpPr>
          <p:cNvPr id="52" name="テキスト ボックス 51"/>
          <p:cNvSpPr txBox="1"/>
          <p:nvPr/>
        </p:nvSpPr>
        <p:spPr>
          <a:xfrm>
            <a:off x="777495" y="3312283"/>
            <a:ext cx="834554" cy="230832"/>
          </a:xfrm>
          <a:prstGeom prst="rect">
            <a:avLst/>
          </a:prstGeom>
          <a:noFill/>
        </p:spPr>
        <p:txBody>
          <a:bodyPr wrap="square" rtlCol="0">
            <a:spAutoFit/>
          </a:bodyPr>
          <a:lstStyle/>
          <a:p>
            <a:r>
              <a:rPr lang="ja-JP" altLang="en-US" sz="900" dirty="0">
                <a:latin typeface="Meiryo" charset="-128"/>
                <a:ea typeface="Meiryo" charset="-128"/>
                <a:cs typeface="Meiryo" charset="-128"/>
              </a:rPr>
              <a:t>量の課題</a:t>
            </a:r>
          </a:p>
        </p:txBody>
      </p:sp>
      <p:sp>
        <p:nvSpPr>
          <p:cNvPr id="55" name="正方形/長方形 54"/>
          <p:cNvSpPr/>
          <p:nvPr/>
        </p:nvSpPr>
        <p:spPr>
          <a:xfrm>
            <a:off x="3744853"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トップレイヤ</a:t>
            </a:r>
          </a:p>
        </p:txBody>
      </p:sp>
      <p:sp>
        <p:nvSpPr>
          <p:cNvPr id="56" name="正方形/長方形 55"/>
          <p:cNvSpPr/>
          <p:nvPr/>
        </p:nvSpPr>
        <p:spPr>
          <a:xfrm>
            <a:off x="4950719"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ミドルレイヤ</a:t>
            </a:r>
          </a:p>
        </p:txBody>
      </p:sp>
      <p:sp>
        <p:nvSpPr>
          <p:cNvPr id="57" name="正方形/長方形 56"/>
          <p:cNvSpPr/>
          <p:nvPr/>
        </p:nvSpPr>
        <p:spPr>
          <a:xfrm>
            <a:off x="6156588"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ボトムレイヤ</a:t>
            </a:r>
          </a:p>
        </p:txBody>
      </p:sp>
      <p:cxnSp>
        <p:nvCxnSpPr>
          <p:cNvPr id="61" name="直線矢印コネクタ 60"/>
          <p:cNvCxnSpPr>
            <a:stCxn id="34" idx="2"/>
            <a:endCxn id="55" idx="0"/>
          </p:cNvCxnSpPr>
          <p:nvPr/>
        </p:nvCxnSpPr>
        <p:spPr>
          <a:xfrm flipH="1">
            <a:off x="4251997" y="3202002"/>
            <a:ext cx="1468301"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直線矢印コネクタ 63"/>
          <p:cNvCxnSpPr>
            <a:stCxn id="34" idx="2"/>
            <a:endCxn id="56" idx="0"/>
          </p:cNvCxnSpPr>
          <p:nvPr/>
        </p:nvCxnSpPr>
        <p:spPr>
          <a:xfrm flipH="1">
            <a:off x="5457863" y="3202002"/>
            <a:ext cx="262435"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矢印コネクタ 66"/>
          <p:cNvCxnSpPr>
            <a:stCxn id="34" idx="2"/>
            <a:endCxn id="57" idx="0"/>
          </p:cNvCxnSpPr>
          <p:nvPr/>
        </p:nvCxnSpPr>
        <p:spPr>
          <a:xfrm>
            <a:off x="5720298" y="3202002"/>
            <a:ext cx="943434"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852430" y="3250259"/>
            <a:ext cx="820450" cy="369332"/>
          </a:xfrm>
          <a:prstGeom prst="rect">
            <a:avLst/>
          </a:prstGeom>
          <a:noFill/>
        </p:spPr>
        <p:txBody>
          <a:bodyPr wrap="square" rtlCol="0">
            <a:spAutoFit/>
          </a:bodyPr>
          <a:lstStyle/>
          <a:p>
            <a:r>
              <a:rPr lang="ja-JP" altLang="en-US" sz="900" dirty="0">
                <a:latin typeface="Meiryo" charset="-128"/>
                <a:ea typeface="Meiryo" charset="-128"/>
                <a:cs typeface="Meiryo" charset="-128"/>
              </a:rPr>
              <a:t>意思決定者の課題</a:t>
            </a:r>
          </a:p>
        </p:txBody>
      </p:sp>
      <p:sp>
        <p:nvSpPr>
          <p:cNvPr id="71" name="テキスト ボックス 70"/>
          <p:cNvSpPr txBox="1"/>
          <p:nvPr/>
        </p:nvSpPr>
        <p:spPr>
          <a:xfrm>
            <a:off x="4752315" y="3250259"/>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マネジメントの課題</a:t>
            </a:r>
          </a:p>
        </p:txBody>
      </p:sp>
      <p:sp>
        <p:nvSpPr>
          <p:cNvPr id="72" name="テキスト ボックス 71"/>
          <p:cNvSpPr txBox="1"/>
          <p:nvPr/>
        </p:nvSpPr>
        <p:spPr>
          <a:xfrm>
            <a:off x="6473485" y="3243033"/>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社員としての課題</a:t>
            </a:r>
          </a:p>
        </p:txBody>
      </p:sp>
      <p:sp>
        <p:nvSpPr>
          <p:cNvPr id="73" name="テキスト ボックス 72"/>
          <p:cNvSpPr txBox="1"/>
          <p:nvPr/>
        </p:nvSpPr>
        <p:spPr>
          <a:xfrm>
            <a:off x="3475926" y="4108429"/>
            <a:ext cx="1428424" cy="646331"/>
          </a:xfrm>
          <a:prstGeom prst="rect">
            <a:avLst/>
          </a:prstGeom>
          <a:noFill/>
        </p:spPr>
        <p:txBody>
          <a:bodyPr wrap="square" rtlCol="0">
            <a:spAutoFit/>
          </a:bodyPr>
          <a:lstStyle/>
          <a:p>
            <a:r>
              <a:rPr lang="ja-JP" altLang="en-US" sz="900" dirty="0">
                <a:latin typeface="Meiryo" charset="-128"/>
                <a:ea typeface="Meiryo" charset="-128"/>
                <a:cs typeface="Meiryo" charset="-128"/>
              </a:rPr>
              <a:t>・意思決定のプロセス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・役割の認識</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・後継者人材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のメッセージング</a:t>
            </a:r>
            <a:endParaRPr lang="en-US" altLang="ja-JP" sz="900" dirty="0">
              <a:latin typeface="Meiryo" charset="-128"/>
              <a:ea typeface="Meiryo" charset="-128"/>
              <a:cs typeface="Meiryo" charset="-128"/>
            </a:endParaRPr>
          </a:p>
        </p:txBody>
      </p:sp>
      <p:cxnSp>
        <p:nvCxnSpPr>
          <p:cNvPr id="83" name="直線矢印コネクタ 82"/>
          <p:cNvCxnSpPr>
            <a:stCxn id="31" idx="2"/>
            <a:endCxn id="33" idx="0"/>
          </p:cNvCxnSpPr>
          <p:nvPr/>
        </p:nvCxnSpPr>
        <p:spPr>
          <a:xfrm flipH="1">
            <a:off x="2095943" y="2106135"/>
            <a:ext cx="3867424"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a:stCxn id="31" idx="2"/>
            <a:endCxn id="34" idx="0"/>
          </p:cNvCxnSpPr>
          <p:nvPr/>
        </p:nvCxnSpPr>
        <p:spPr>
          <a:xfrm flipH="1">
            <a:off x="5720298" y="2106135"/>
            <a:ext cx="243069"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a:stCxn id="31" idx="2"/>
            <a:endCxn id="35" idx="0"/>
          </p:cNvCxnSpPr>
          <p:nvPr/>
        </p:nvCxnSpPr>
        <p:spPr>
          <a:xfrm>
            <a:off x="5963367" y="2106135"/>
            <a:ext cx="3493083" cy="65697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直線矢印コネクタ 113"/>
          <p:cNvCxnSpPr>
            <a:stCxn id="2" idx="2"/>
            <a:endCxn id="31" idx="0"/>
          </p:cNvCxnSpPr>
          <p:nvPr/>
        </p:nvCxnSpPr>
        <p:spPr>
          <a:xfrm>
            <a:off x="5963367" y="1293978"/>
            <a:ext cx="0" cy="36909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6" name="テキスト ボックス 115"/>
          <p:cNvSpPr txBox="1"/>
          <p:nvPr/>
        </p:nvSpPr>
        <p:spPr>
          <a:xfrm>
            <a:off x="1845300" y="4108429"/>
            <a:ext cx="1458336" cy="1200329"/>
          </a:xfrm>
          <a:prstGeom prst="rect">
            <a:avLst/>
          </a:prstGeom>
          <a:noFill/>
        </p:spPr>
        <p:txBody>
          <a:bodyPr wrap="square" rtlCol="0">
            <a:spAutoFit/>
          </a:bodyPr>
          <a:lstStyle/>
          <a:p>
            <a:r>
              <a:rPr lang="ja-JP" altLang="en-US" sz="900" dirty="0">
                <a:latin typeface="Meiryo" charset="-128"/>
                <a:ea typeface="Meiryo" charset="-128"/>
                <a:cs typeface="Meiryo" charset="-128"/>
              </a:rPr>
              <a:t>・評価</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・報酬</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・登用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・人材開発</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・優秀人材の活かし方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・代謝人材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・成長</a:t>
            </a:r>
            <a:endParaRPr lang="en-US" altLang="ja-JP" sz="900" dirty="0">
              <a:latin typeface="Meiryo" charset="-128"/>
              <a:ea typeface="Meiryo" charset="-128"/>
              <a:cs typeface="Meiryo" charset="-128"/>
            </a:endParaRPr>
          </a:p>
        </p:txBody>
      </p:sp>
      <p:sp>
        <p:nvSpPr>
          <p:cNvPr id="117" name="テキスト ボックス 116"/>
          <p:cNvSpPr txBox="1"/>
          <p:nvPr/>
        </p:nvSpPr>
        <p:spPr>
          <a:xfrm>
            <a:off x="4837250" y="4108429"/>
            <a:ext cx="1428424" cy="784830"/>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err="1">
                <a:latin typeface="Meiryo" charset="-128"/>
                <a:ea typeface="Meiryo" charset="-128"/>
                <a:cs typeface="Meiryo" charset="-128"/>
              </a:rPr>
              <a:t>SoC</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・基礎知識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・戦略の翻訳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・評価者教育</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・部下育成</a:t>
            </a:r>
            <a:endParaRPr lang="en-US" altLang="ja-JP" sz="900" dirty="0">
              <a:latin typeface="Meiryo" charset="-128"/>
              <a:ea typeface="Meiryo" charset="-128"/>
              <a:cs typeface="Meiryo" charset="-128"/>
            </a:endParaRPr>
          </a:p>
        </p:txBody>
      </p:sp>
      <p:sp>
        <p:nvSpPr>
          <p:cNvPr id="118" name="テキスト ボックス 117"/>
          <p:cNvSpPr txBox="1"/>
          <p:nvPr/>
        </p:nvSpPr>
        <p:spPr>
          <a:xfrm>
            <a:off x="316748" y="2325946"/>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どんな人がどこにどれくらい必要か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適所適材がどの程度実現できているか</a:t>
            </a:r>
          </a:p>
        </p:txBody>
      </p:sp>
      <p:sp>
        <p:nvSpPr>
          <p:cNvPr id="119" name="テキスト ボックス 118"/>
          <p:cNvSpPr txBox="1"/>
          <p:nvPr/>
        </p:nvSpPr>
        <p:spPr>
          <a:xfrm>
            <a:off x="3871640" y="2356031"/>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日々の仕事を円滑に進められるか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納得感をもって仕事ができるか</a:t>
            </a:r>
            <a:endParaRPr lang="en-US" altLang="ja-JP" sz="900" dirty="0">
              <a:latin typeface="Meiryo" charset="-128"/>
              <a:ea typeface="Meiryo" charset="-128"/>
              <a:cs typeface="Meiryo" charset="-128"/>
            </a:endParaRPr>
          </a:p>
        </p:txBody>
      </p:sp>
      <p:sp>
        <p:nvSpPr>
          <p:cNvPr id="120" name="テキスト ボックス 119"/>
          <p:cNvSpPr txBox="1"/>
          <p:nvPr/>
        </p:nvSpPr>
        <p:spPr>
          <a:xfrm>
            <a:off x="9131540" y="2320049"/>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個人の集合ではなく組織として</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機能しているか</a:t>
            </a:r>
          </a:p>
        </p:txBody>
      </p:sp>
      <p:sp>
        <p:nvSpPr>
          <p:cNvPr id="121" name="テキスト ボックス 120"/>
          <p:cNvSpPr txBox="1"/>
          <p:nvPr/>
        </p:nvSpPr>
        <p:spPr>
          <a:xfrm>
            <a:off x="6080477" y="4108429"/>
            <a:ext cx="1428424" cy="923330"/>
          </a:xfrm>
          <a:prstGeom prst="rect">
            <a:avLst/>
          </a:prstGeom>
          <a:noFill/>
        </p:spPr>
        <p:txBody>
          <a:bodyPr wrap="square" rtlCol="0">
            <a:spAutoFit/>
          </a:bodyPr>
          <a:lstStyle/>
          <a:p>
            <a:r>
              <a:rPr lang="ja-JP" altLang="en-US" sz="900" dirty="0">
                <a:latin typeface="Meiryo" charset="-128"/>
                <a:ea typeface="Meiryo" charset="-128"/>
                <a:cs typeface="Meiryo" charset="-128"/>
              </a:rPr>
              <a:t>・知識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・ジョブアサイン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・評価への納得感</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・キャリアの不安</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・働き方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・自己理解</a:t>
            </a:r>
            <a:endParaRPr lang="en-US" altLang="ja-JP" sz="900" dirty="0">
              <a:latin typeface="Meiryo" charset="-128"/>
              <a:ea typeface="Meiryo" charset="-128"/>
              <a:cs typeface="Meiryo" charset="-128"/>
            </a:endParaRPr>
          </a:p>
        </p:txBody>
      </p:sp>
      <p:sp>
        <p:nvSpPr>
          <p:cNvPr id="122" name="正方形/長方形 121"/>
          <p:cNvSpPr/>
          <p:nvPr/>
        </p:nvSpPr>
        <p:spPr>
          <a:xfrm>
            <a:off x="7823005" y="3584771"/>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共有知</a:t>
            </a:r>
          </a:p>
        </p:txBody>
      </p:sp>
      <p:sp>
        <p:nvSpPr>
          <p:cNvPr id="123" name="正方形/長方形 122"/>
          <p:cNvSpPr/>
          <p:nvPr/>
        </p:nvSpPr>
        <p:spPr>
          <a:xfrm>
            <a:off x="9024992"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関係性</a:t>
            </a:r>
          </a:p>
        </p:txBody>
      </p:sp>
      <p:sp>
        <p:nvSpPr>
          <p:cNvPr id="124" name="正方形/長方形 123"/>
          <p:cNvSpPr/>
          <p:nvPr/>
        </p:nvSpPr>
        <p:spPr>
          <a:xfrm>
            <a:off x="10226979"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仕組み</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取り組み</a:t>
            </a:r>
          </a:p>
        </p:txBody>
      </p:sp>
      <p:cxnSp>
        <p:nvCxnSpPr>
          <p:cNvPr id="125" name="直線矢印コネクタ 124"/>
          <p:cNvCxnSpPr>
            <a:stCxn id="35" idx="2"/>
            <a:endCxn id="122" idx="0"/>
          </p:cNvCxnSpPr>
          <p:nvPr/>
        </p:nvCxnSpPr>
        <p:spPr>
          <a:xfrm flipH="1">
            <a:off x="8330149" y="3206169"/>
            <a:ext cx="1126301" cy="3786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線矢印コネクタ 125"/>
          <p:cNvCxnSpPr>
            <a:stCxn id="35" idx="2"/>
            <a:endCxn id="123" idx="0"/>
          </p:cNvCxnSpPr>
          <p:nvPr/>
        </p:nvCxnSpPr>
        <p:spPr>
          <a:xfrm>
            <a:off x="9456450" y="3206169"/>
            <a:ext cx="75686"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線矢印コネクタ 126"/>
          <p:cNvCxnSpPr>
            <a:stCxn id="35" idx="2"/>
            <a:endCxn id="124" idx="0"/>
          </p:cNvCxnSpPr>
          <p:nvPr/>
        </p:nvCxnSpPr>
        <p:spPr>
          <a:xfrm>
            <a:off x="9456450" y="3206169"/>
            <a:ext cx="1277673"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テキスト ボックス 127"/>
          <p:cNvSpPr txBox="1"/>
          <p:nvPr/>
        </p:nvSpPr>
        <p:spPr>
          <a:xfrm>
            <a:off x="7653317" y="4102770"/>
            <a:ext cx="1428424" cy="369332"/>
          </a:xfrm>
          <a:prstGeom prst="rect">
            <a:avLst/>
          </a:prstGeom>
          <a:noFill/>
        </p:spPr>
        <p:txBody>
          <a:bodyPr wrap="square" rtlCol="0">
            <a:spAutoFit/>
          </a:bodyPr>
          <a:lstStyle/>
          <a:p>
            <a:r>
              <a:rPr lang="ja-JP" altLang="en-US" sz="900" dirty="0">
                <a:latin typeface="Meiryo" charset="-128"/>
                <a:ea typeface="Meiryo" charset="-128"/>
                <a:cs typeface="Meiryo" charset="-128"/>
              </a:rPr>
              <a:t>・属人化</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・ノウハウが暗黙知</a:t>
            </a:r>
            <a:endParaRPr lang="en-US" altLang="ja-JP" sz="900" dirty="0">
              <a:latin typeface="Meiryo" charset="-128"/>
              <a:ea typeface="Meiryo" charset="-128"/>
              <a:cs typeface="Meiryo" charset="-128"/>
            </a:endParaRPr>
          </a:p>
        </p:txBody>
      </p:sp>
      <p:sp>
        <p:nvSpPr>
          <p:cNvPr id="129" name="テキスト ボックス 128"/>
          <p:cNvSpPr txBox="1"/>
          <p:nvPr/>
        </p:nvSpPr>
        <p:spPr>
          <a:xfrm>
            <a:off x="8896544" y="4090931"/>
            <a:ext cx="1542135" cy="1061829"/>
          </a:xfrm>
          <a:prstGeom prst="rect">
            <a:avLst/>
          </a:prstGeom>
          <a:noFill/>
        </p:spPr>
        <p:txBody>
          <a:bodyPr wrap="square" rtlCol="0">
            <a:spAutoFit/>
          </a:bodyPr>
          <a:lstStyle/>
          <a:p>
            <a:r>
              <a:rPr lang="ja-JP" altLang="en-US" sz="900" dirty="0">
                <a:latin typeface="Meiryo" charset="-128"/>
                <a:ea typeface="Meiryo" charset="-128"/>
                <a:cs typeface="Meiryo" charset="-128"/>
              </a:rPr>
              <a:t>・縦</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横</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組織間</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・セクショナリズム</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・事なかれ主義</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・厳しいフィードバック</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・多様性</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・他者理解</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・心理的安全性</a:t>
            </a:r>
            <a:endParaRPr lang="en-US" altLang="ja-JP" sz="900" dirty="0">
              <a:latin typeface="Meiryo" charset="-128"/>
              <a:ea typeface="Meiryo" charset="-128"/>
              <a:cs typeface="Meiryo" charset="-128"/>
            </a:endParaRPr>
          </a:p>
        </p:txBody>
      </p:sp>
      <p:sp>
        <p:nvSpPr>
          <p:cNvPr id="130" name="テキスト ボックス 129"/>
          <p:cNvSpPr txBox="1"/>
          <p:nvPr/>
        </p:nvSpPr>
        <p:spPr>
          <a:xfrm>
            <a:off x="10170476" y="4102770"/>
            <a:ext cx="1655846" cy="507831"/>
          </a:xfrm>
          <a:prstGeom prst="rect">
            <a:avLst/>
          </a:prstGeom>
          <a:noFill/>
        </p:spPr>
        <p:txBody>
          <a:bodyPr wrap="square" rtlCol="0">
            <a:spAutoFit/>
          </a:bodyPr>
          <a:lstStyle/>
          <a:p>
            <a:r>
              <a:rPr lang="ja-JP" altLang="en-US" sz="900" dirty="0">
                <a:latin typeface="Meiryo" charset="-128"/>
                <a:ea typeface="Meiryo" charset="-128"/>
                <a:cs typeface="Meiryo" charset="-128"/>
              </a:rPr>
              <a:t>・組織としてのルール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・ボトムアップの取り組み</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90" name="二等辺三角形 89"/>
          <p:cNvSpPr/>
          <p:nvPr/>
        </p:nvSpPr>
        <p:spPr>
          <a:xfrm rot="10800000">
            <a:off x="4244458" y="5174610"/>
            <a:ext cx="3437816" cy="27827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p:cNvSpPr/>
          <p:nvPr/>
        </p:nvSpPr>
        <p:spPr>
          <a:xfrm>
            <a:off x="1196820" y="6230626"/>
            <a:ext cx="93847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退職者が多い</a:t>
            </a:r>
          </a:p>
        </p:txBody>
      </p:sp>
      <p:sp>
        <p:nvSpPr>
          <p:cNvPr id="131" name="楕円 130"/>
          <p:cNvSpPr/>
          <p:nvPr/>
        </p:nvSpPr>
        <p:spPr>
          <a:xfrm>
            <a:off x="2490649"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心理的安全性が低い</a:t>
            </a:r>
          </a:p>
        </p:txBody>
      </p:sp>
      <p:sp>
        <p:nvSpPr>
          <p:cNvPr id="132" name="楕円 131"/>
          <p:cNvSpPr/>
          <p:nvPr/>
        </p:nvSpPr>
        <p:spPr>
          <a:xfrm>
            <a:off x="3918091"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主体性が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無い</a:t>
            </a:r>
          </a:p>
        </p:txBody>
      </p:sp>
      <p:sp>
        <p:nvSpPr>
          <p:cNvPr id="133" name="楕円 132"/>
          <p:cNvSpPr/>
          <p:nvPr/>
        </p:nvSpPr>
        <p:spPr>
          <a:xfrm>
            <a:off x="5357796" y="6294149"/>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蛸壺化</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している</a:t>
            </a:r>
          </a:p>
        </p:txBody>
      </p:sp>
      <p:sp>
        <p:nvSpPr>
          <p:cNvPr id="134" name="楕円 133"/>
          <p:cNvSpPr/>
          <p:nvPr/>
        </p:nvSpPr>
        <p:spPr>
          <a:xfrm>
            <a:off x="5550555" y="5801926"/>
            <a:ext cx="1208068"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成長しない</a:t>
            </a:r>
          </a:p>
        </p:txBody>
      </p:sp>
      <p:sp>
        <p:nvSpPr>
          <p:cNvPr id="135" name="楕円 134"/>
          <p:cNvSpPr/>
          <p:nvPr/>
        </p:nvSpPr>
        <p:spPr>
          <a:xfrm>
            <a:off x="7044047" y="5758015"/>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組織が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ぬるい</a:t>
            </a:r>
          </a:p>
        </p:txBody>
      </p:sp>
      <p:sp>
        <p:nvSpPr>
          <p:cNvPr id="136" name="楕円 135"/>
          <p:cNvSpPr/>
          <p:nvPr/>
        </p:nvSpPr>
        <p:spPr>
          <a:xfrm>
            <a:off x="8592136" y="57038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モチベーションが低い</a:t>
            </a:r>
          </a:p>
        </p:txBody>
      </p:sp>
      <p:sp>
        <p:nvSpPr>
          <p:cNvPr id="137" name="楕円 136"/>
          <p:cNvSpPr/>
          <p:nvPr/>
        </p:nvSpPr>
        <p:spPr>
          <a:xfrm>
            <a:off x="9691513" y="6289098"/>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なんとなく</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暗い</a:t>
            </a:r>
          </a:p>
        </p:txBody>
      </p:sp>
      <p:sp>
        <p:nvSpPr>
          <p:cNvPr id="138" name="楕円 137"/>
          <p:cNvSpPr/>
          <p:nvPr/>
        </p:nvSpPr>
        <p:spPr>
          <a:xfrm>
            <a:off x="8256425" y="6289099"/>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悪口ばかり</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言う</a:t>
            </a:r>
          </a:p>
        </p:txBody>
      </p:sp>
      <p:sp>
        <p:nvSpPr>
          <p:cNvPr id="139" name="楕円 138"/>
          <p:cNvSpPr/>
          <p:nvPr/>
        </p:nvSpPr>
        <p:spPr>
          <a:xfrm>
            <a:off x="6911342" y="6297545"/>
            <a:ext cx="1107433"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先が見えない</a:t>
            </a:r>
          </a:p>
        </p:txBody>
      </p:sp>
      <p:sp>
        <p:nvSpPr>
          <p:cNvPr id="140" name="楕円 139"/>
          <p:cNvSpPr/>
          <p:nvPr/>
        </p:nvSpPr>
        <p:spPr>
          <a:xfrm>
            <a:off x="4053055" y="57374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昔の方が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良かった</a:t>
            </a:r>
          </a:p>
        </p:txBody>
      </p:sp>
      <p:sp>
        <p:nvSpPr>
          <p:cNvPr id="141" name="楕円 140"/>
          <p:cNvSpPr/>
          <p:nvPr/>
        </p:nvSpPr>
        <p:spPr>
          <a:xfrm>
            <a:off x="2664671" y="5678500"/>
            <a:ext cx="1294780"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いそがしい</a:t>
            </a:r>
          </a:p>
        </p:txBody>
      </p:sp>
      <p:sp>
        <p:nvSpPr>
          <p:cNvPr id="142" name="楕円 141"/>
          <p:cNvSpPr/>
          <p:nvPr/>
        </p:nvSpPr>
        <p:spPr>
          <a:xfrm>
            <a:off x="1522343" y="5709138"/>
            <a:ext cx="1090264"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人が足りない</a:t>
            </a:r>
          </a:p>
        </p:txBody>
      </p:sp>
      <p:sp>
        <p:nvSpPr>
          <p:cNvPr id="143" name="正方形/長方形 142"/>
          <p:cNvSpPr/>
          <p:nvPr/>
        </p:nvSpPr>
        <p:spPr>
          <a:xfrm>
            <a:off x="3580904"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全社戦略</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44" name="直線矢印コネクタ 143"/>
          <p:cNvCxnSpPr>
            <a:stCxn id="143" idx="3"/>
            <a:endCxn id="2" idx="1"/>
          </p:cNvCxnSpPr>
          <p:nvPr/>
        </p:nvCxnSpPr>
        <p:spPr>
          <a:xfrm>
            <a:off x="4740401"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2" name="テキスト ボックス 151"/>
          <p:cNvSpPr txBox="1"/>
          <p:nvPr/>
        </p:nvSpPr>
        <p:spPr>
          <a:xfrm>
            <a:off x="3475926" y="1348626"/>
            <a:ext cx="1377010" cy="5078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・納得できていない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153" name="正方形/長方形 152"/>
          <p:cNvSpPr/>
          <p:nvPr/>
        </p:nvSpPr>
        <p:spPr>
          <a:xfrm>
            <a:off x="1778190"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ホールディングス</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54" name="直線矢印コネクタ 153"/>
          <p:cNvCxnSpPr>
            <a:stCxn id="153" idx="3"/>
            <a:endCxn id="143" idx="1"/>
          </p:cNvCxnSpPr>
          <p:nvPr/>
        </p:nvCxnSpPr>
        <p:spPr>
          <a:xfrm>
            <a:off x="2937687"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テキスト ボックス 156"/>
          <p:cNvSpPr txBox="1"/>
          <p:nvPr/>
        </p:nvSpPr>
        <p:spPr>
          <a:xfrm>
            <a:off x="1758380" y="1349189"/>
            <a:ext cx="1545255" cy="230832"/>
          </a:xfrm>
          <a:prstGeom prst="rect">
            <a:avLst/>
          </a:prstGeom>
          <a:noFill/>
        </p:spPr>
        <p:txBody>
          <a:bodyPr wrap="square" rtlCol="0">
            <a:spAutoFit/>
          </a:bodyPr>
          <a:lstStyle/>
          <a:p>
            <a:r>
              <a:rPr lang="ja-JP" altLang="en-US" sz="900" dirty="0">
                <a:latin typeface="Meiryo" charset="-128"/>
                <a:ea typeface="Meiryo" charset="-128"/>
                <a:cs typeface="Meiryo" charset="-128"/>
              </a:rPr>
              <a:t>・整合性とれているか？</a:t>
            </a:r>
          </a:p>
        </p:txBody>
      </p:sp>
      <p:sp>
        <p:nvSpPr>
          <p:cNvPr id="74" name="テキスト ボックス 73"/>
          <p:cNvSpPr txBox="1"/>
          <p:nvPr/>
        </p:nvSpPr>
        <p:spPr>
          <a:xfrm>
            <a:off x="8495610" y="785131"/>
            <a:ext cx="2933516" cy="369332"/>
          </a:xfrm>
          <a:prstGeom prst="rect">
            <a:avLst/>
          </a:prstGeom>
          <a:noFill/>
        </p:spPr>
        <p:txBody>
          <a:bodyPr wrap="square" rtlCol="0">
            <a:spAutoFit/>
          </a:bodyPr>
          <a:lstStyle/>
          <a:p>
            <a:r>
              <a:rPr lang="ja-JP" altLang="en-US" sz="1800" b="1" dirty="0">
                <a:solidFill>
                  <a:srgbClr val="00B050"/>
                </a:solidFill>
                <a:latin typeface="Meiryo" charset="-128"/>
                <a:ea typeface="Meiryo" charset="-128"/>
                <a:cs typeface="Meiryo" charset="-128"/>
              </a:rPr>
              <a:t>北極星はどこだ？ゾーン</a:t>
            </a:r>
          </a:p>
        </p:txBody>
      </p:sp>
      <p:sp>
        <p:nvSpPr>
          <p:cNvPr id="8" name="フッター プレースホルダー 7"/>
          <p:cNvSpPr>
            <a:spLocks noGrp="1"/>
          </p:cNvSpPr>
          <p:nvPr>
            <p:ph type="ftr" idx="11"/>
          </p:nvPr>
        </p:nvSpPr>
        <p:spPr/>
        <p:txBody>
          <a:bodyPr/>
          <a:lstStyle/>
          <a:p>
            <a:r>
              <a:rPr lang="en-US"/>
              <a:t>©2022 LINE</a:t>
            </a:r>
          </a:p>
        </p:txBody>
      </p:sp>
      <p:sp>
        <p:nvSpPr>
          <p:cNvPr id="84" name="テキスト ボックス 83"/>
          <p:cNvSpPr txBox="1"/>
          <p:nvPr/>
        </p:nvSpPr>
        <p:spPr>
          <a:xfrm>
            <a:off x="334985" y="4113503"/>
            <a:ext cx="1450254" cy="1061829"/>
          </a:xfrm>
          <a:prstGeom prst="rect">
            <a:avLst/>
          </a:prstGeom>
          <a:noFill/>
        </p:spPr>
        <p:txBody>
          <a:bodyPr wrap="square" rtlCol="0">
            <a:spAutoFit/>
          </a:bodyPr>
          <a:lstStyle/>
          <a:p>
            <a:r>
              <a:rPr lang="ja-JP" altLang="en-US" sz="900" dirty="0">
                <a:latin typeface="Meiryo" charset="-128"/>
                <a:ea typeface="Meiryo" charset="-128"/>
                <a:cs typeface="Meiryo" charset="-128"/>
              </a:rPr>
              <a:t>・採用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・異動</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・リテンション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・人件費</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・タレントマネジメント</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・育てるか、採るか</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Tree>
    <p:extLst>
      <p:ext uri="{BB962C8B-B14F-4D97-AF65-F5344CB8AC3E}">
        <p14:creationId xmlns:p14="http://schemas.microsoft.com/office/powerpoint/2010/main" val="18531540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75" name="楕円 74"/>
          <p:cNvSpPr/>
          <p:nvPr/>
        </p:nvSpPr>
        <p:spPr>
          <a:xfrm rot="18533955">
            <a:off x="-287640" y="3142099"/>
            <a:ext cx="4025633" cy="1869894"/>
          </a:xfrm>
          <a:prstGeom prst="ellipse">
            <a:avLst/>
          </a:prstGeom>
          <a:solidFill>
            <a:srgbClr val="FF0000">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p:cNvSpPr/>
          <p:nvPr/>
        </p:nvSpPr>
        <p:spPr>
          <a:xfrm>
            <a:off x="1612049" y="486137"/>
            <a:ext cx="8427230" cy="1869894"/>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p:cNvSpPr txBox="1"/>
          <p:nvPr/>
        </p:nvSpPr>
        <p:spPr>
          <a:xfrm>
            <a:off x="486575" y="127937"/>
            <a:ext cx="9854441"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組織課題の見立て（私の場合）</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65</a:t>
            </a:fld>
            <a:endParaRPr lang="ja-JP" altLang="en-US">
              <a:uFillTx/>
            </a:endParaRPr>
          </a:p>
        </p:txBody>
      </p:sp>
      <p:sp>
        <p:nvSpPr>
          <p:cNvPr id="2" name="正方形/長方形 1"/>
          <p:cNvSpPr/>
          <p:nvPr/>
        </p:nvSpPr>
        <p:spPr>
          <a:xfrm>
            <a:off x="5383618"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ミッション・ビジョンへの課題</a:t>
            </a:r>
          </a:p>
        </p:txBody>
      </p:sp>
      <p:sp>
        <p:nvSpPr>
          <p:cNvPr id="30" name="テキスト ボックス 29"/>
          <p:cNvSpPr txBox="1"/>
          <p:nvPr/>
        </p:nvSpPr>
        <p:spPr>
          <a:xfrm>
            <a:off x="6476055" y="769893"/>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err="1">
                <a:latin typeface="Meiryo" charset="-128"/>
                <a:ea typeface="Meiryo" charset="-128"/>
                <a:cs typeface="Meiryo" charset="-128"/>
              </a:rPr>
              <a:t>に納</a:t>
            </a:r>
            <a:r>
              <a:rPr lang="ja-JP" altLang="en-US" sz="900" dirty="0">
                <a:latin typeface="Meiryo" charset="-128"/>
                <a:ea typeface="Meiryo" charset="-128"/>
                <a:cs typeface="Meiryo" charset="-128"/>
              </a:rPr>
              <a:t>得いかない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が浸透していない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MVV</a:t>
            </a:r>
            <a:r>
              <a:rPr lang="ja-JP" altLang="en-US" sz="900" dirty="0">
                <a:latin typeface="Meiryo" charset="-128"/>
                <a:ea typeface="Meiryo" charset="-128"/>
                <a:cs typeface="Meiryo" charset="-128"/>
              </a:rPr>
              <a:t>伝わっていない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伝えられていない</a:t>
            </a:r>
          </a:p>
        </p:txBody>
      </p:sp>
      <p:sp>
        <p:nvSpPr>
          <p:cNvPr id="31" name="正方形/長方形 30"/>
          <p:cNvSpPr/>
          <p:nvPr/>
        </p:nvSpPr>
        <p:spPr>
          <a:xfrm>
            <a:off x="5383618" y="1663075"/>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戦略への課題</a:t>
            </a:r>
          </a:p>
        </p:txBody>
      </p:sp>
      <p:sp>
        <p:nvSpPr>
          <p:cNvPr id="32" name="テキスト ボックス 31"/>
          <p:cNvSpPr txBox="1"/>
          <p:nvPr/>
        </p:nvSpPr>
        <p:spPr>
          <a:xfrm>
            <a:off x="6476055" y="1663075"/>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実現のやり方が見えない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実現のやり方が現実的じゃない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納得感が無い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・目指す指標がわからない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33" name="正方形/長方形 32"/>
          <p:cNvSpPr/>
          <p:nvPr/>
        </p:nvSpPr>
        <p:spPr>
          <a:xfrm>
            <a:off x="888046"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人の課題</a:t>
            </a:r>
          </a:p>
        </p:txBody>
      </p:sp>
      <p:sp>
        <p:nvSpPr>
          <p:cNvPr id="34" name="正方形/長方形 33"/>
          <p:cNvSpPr/>
          <p:nvPr/>
        </p:nvSpPr>
        <p:spPr>
          <a:xfrm>
            <a:off x="4512401"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業務推進の課題</a:t>
            </a:r>
          </a:p>
        </p:txBody>
      </p:sp>
      <p:sp>
        <p:nvSpPr>
          <p:cNvPr id="35" name="正方形/長方形 34"/>
          <p:cNvSpPr/>
          <p:nvPr/>
        </p:nvSpPr>
        <p:spPr>
          <a:xfrm>
            <a:off x="8248553" y="2763109"/>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組織の課題</a:t>
            </a:r>
          </a:p>
        </p:txBody>
      </p:sp>
      <p:sp>
        <p:nvSpPr>
          <p:cNvPr id="38" name="正方形/長方形 37"/>
          <p:cNvSpPr/>
          <p:nvPr/>
        </p:nvSpPr>
        <p:spPr>
          <a:xfrm>
            <a:off x="1903641"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人材要件</a:t>
            </a:r>
          </a:p>
        </p:txBody>
      </p:sp>
      <p:sp>
        <p:nvSpPr>
          <p:cNvPr id="40" name="正方形/長方形 39"/>
          <p:cNvSpPr/>
          <p:nvPr/>
        </p:nvSpPr>
        <p:spPr>
          <a:xfrm>
            <a:off x="552969"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要員計画</a:t>
            </a:r>
          </a:p>
        </p:txBody>
      </p:sp>
      <p:cxnSp>
        <p:nvCxnSpPr>
          <p:cNvPr id="13" name="直線矢印コネクタ 12"/>
          <p:cNvCxnSpPr>
            <a:stCxn id="33" idx="2"/>
            <a:endCxn id="38" idx="0"/>
          </p:cNvCxnSpPr>
          <p:nvPr/>
        </p:nvCxnSpPr>
        <p:spPr>
          <a:xfrm>
            <a:off x="2095943" y="3202002"/>
            <a:ext cx="314842"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a:stCxn id="33" idx="2"/>
            <a:endCxn id="40" idx="0"/>
          </p:cNvCxnSpPr>
          <p:nvPr/>
        </p:nvCxnSpPr>
        <p:spPr>
          <a:xfrm flipH="1">
            <a:off x="1060113" y="3202002"/>
            <a:ext cx="1035830"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テキスト ボックス 50"/>
          <p:cNvSpPr txBox="1"/>
          <p:nvPr/>
        </p:nvSpPr>
        <p:spPr>
          <a:xfrm>
            <a:off x="2483389" y="3312283"/>
            <a:ext cx="820450" cy="230832"/>
          </a:xfrm>
          <a:prstGeom prst="rect">
            <a:avLst/>
          </a:prstGeom>
          <a:noFill/>
        </p:spPr>
        <p:txBody>
          <a:bodyPr wrap="square" rtlCol="0">
            <a:spAutoFit/>
          </a:bodyPr>
          <a:lstStyle/>
          <a:p>
            <a:r>
              <a:rPr lang="ja-JP" altLang="en-US" sz="900" dirty="0">
                <a:latin typeface="Meiryo" charset="-128"/>
                <a:ea typeface="Meiryo" charset="-128"/>
                <a:cs typeface="Meiryo" charset="-128"/>
              </a:rPr>
              <a:t>質の課題</a:t>
            </a:r>
          </a:p>
        </p:txBody>
      </p:sp>
      <p:sp>
        <p:nvSpPr>
          <p:cNvPr id="52" name="テキスト ボックス 51"/>
          <p:cNvSpPr txBox="1"/>
          <p:nvPr/>
        </p:nvSpPr>
        <p:spPr>
          <a:xfrm>
            <a:off x="777495" y="3312283"/>
            <a:ext cx="834554" cy="230832"/>
          </a:xfrm>
          <a:prstGeom prst="rect">
            <a:avLst/>
          </a:prstGeom>
          <a:noFill/>
        </p:spPr>
        <p:txBody>
          <a:bodyPr wrap="square" rtlCol="0">
            <a:spAutoFit/>
          </a:bodyPr>
          <a:lstStyle/>
          <a:p>
            <a:r>
              <a:rPr lang="ja-JP" altLang="en-US" sz="900" dirty="0">
                <a:latin typeface="Meiryo" charset="-128"/>
                <a:ea typeface="Meiryo" charset="-128"/>
                <a:cs typeface="Meiryo" charset="-128"/>
              </a:rPr>
              <a:t>量の課題</a:t>
            </a:r>
          </a:p>
        </p:txBody>
      </p:sp>
      <p:sp>
        <p:nvSpPr>
          <p:cNvPr id="55" name="正方形/長方形 54"/>
          <p:cNvSpPr/>
          <p:nvPr/>
        </p:nvSpPr>
        <p:spPr>
          <a:xfrm>
            <a:off x="3744853"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トップレイヤ</a:t>
            </a:r>
          </a:p>
        </p:txBody>
      </p:sp>
      <p:sp>
        <p:nvSpPr>
          <p:cNvPr id="56" name="正方形/長方形 55"/>
          <p:cNvSpPr/>
          <p:nvPr/>
        </p:nvSpPr>
        <p:spPr>
          <a:xfrm>
            <a:off x="4950719"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ミドルレイヤ</a:t>
            </a:r>
          </a:p>
        </p:txBody>
      </p:sp>
      <p:sp>
        <p:nvSpPr>
          <p:cNvPr id="57" name="正方形/長方形 56"/>
          <p:cNvSpPr/>
          <p:nvPr/>
        </p:nvSpPr>
        <p:spPr>
          <a:xfrm>
            <a:off x="6156588"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ボトムレイヤ</a:t>
            </a:r>
          </a:p>
        </p:txBody>
      </p:sp>
      <p:cxnSp>
        <p:nvCxnSpPr>
          <p:cNvPr id="61" name="直線矢印コネクタ 60"/>
          <p:cNvCxnSpPr>
            <a:stCxn id="34" idx="2"/>
            <a:endCxn id="55" idx="0"/>
          </p:cNvCxnSpPr>
          <p:nvPr/>
        </p:nvCxnSpPr>
        <p:spPr>
          <a:xfrm flipH="1">
            <a:off x="4251997" y="3202002"/>
            <a:ext cx="1468301"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直線矢印コネクタ 63"/>
          <p:cNvCxnSpPr>
            <a:stCxn id="34" idx="2"/>
            <a:endCxn id="56" idx="0"/>
          </p:cNvCxnSpPr>
          <p:nvPr/>
        </p:nvCxnSpPr>
        <p:spPr>
          <a:xfrm flipH="1">
            <a:off x="5457863" y="3202002"/>
            <a:ext cx="262435"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矢印コネクタ 66"/>
          <p:cNvCxnSpPr>
            <a:stCxn id="34" idx="2"/>
            <a:endCxn id="57" idx="0"/>
          </p:cNvCxnSpPr>
          <p:nvPr/>
        </p:nvCxnSpPr>
        <p:spPr>
          <a:xfrm>
            <a:off x="5720298" y="3202002"/>
            <a:ext cx="943434"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852430" y="3250259"/>
            <a:ext cx="820450" cy="369332"/>
          </a:xfrm>
          <a:prstGeom prst="rect">
            <a:avLst/>
          </a:prstGeom>
          <a:noFill/>
        </p:spPr>
        <p:txBody>
          <a:bodyPr wrap="square" rtlCol="0">
            <a:spAutoFit/>
          </a:bodyPr>
          <a:lstStyle/>
          <a:p>
            <a:r>
              <a:rPr lang="ja-JP" altLang="en-US" sz="900" dirty="0">
                <a:latin typeface="Meiryo" charset="-128"/>
                <a:ea typeface="Meiryo" charset="-128"/>
                <a:cs typeface="Meiryo" charset="-128"/>
              </a:rPr>
              <a:t>意思決定者の課題</a:t>
            </a:r>
          </a:p>
        </p:txBody>
      </p:sp>
      <p:sp>
        <p:nvSpPr>
          <p:cNvPr id="71" name="テキスト ボックス 70"/>
          <p:cNvSpPr txBox="1"/>
          <p:nvPr/>
        </p:nvSpPr>
        <p:spPr>
          <a:xfrm>
            <a:off x="4752315" y="3250259"/>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マネジメントの課題</a:t>
            </a:r>
          </a:p>
        </p:txBody>
      </p:sp>
      <p:sp>
        <p:nvSpPr>
          <p:cNvPr id="72" name="テキスト ボックス 71"/>
          <p:cNvSpPr txBox="1"/>
          <p:nvPr/>
        </p:nvSpPr>
        <p:spPr>
          <a:xfrm>
            <a:off x="6473485" y="3243033"/>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社員としての課題</a:t>
            </a:r>
          </a:p>
        </p:txBody>
      </p:sp>
      <p:sp>
        <p:nvSpPr>
          <p:cNvPr id="73" name="テキスト ボックス 72"/>
          <p:cNvSpPr txBox="1"/>
          <p:nvPr/>
        </p:nvSpPr>
        <p:spPr>
          <a:xfrm>
            <a:off x="3475926" y="4108429"/>
            <a:ext cx="1428424" cy="646331"/>
          </a:xfrm>
          <a:prstGeom prst="rect">
            <a:avLst/>
          </a:prstGeom>
          <a:noFill/>
        </p:spPr>
        <p:txBody>
          <a:bodyPr wrap="square" rtlCol="0">
            <a:spAutoFit/>
          </a:bodyPr>
          <a:lstStyle/>
          <a:p>
            <a:r>
              <a:rPr lang="ja-JP" altLang="en-US" sz="900" dirty="0">
                <a:latin typeface="Meiryo" charset="-128"/>
                <a:ea typeface="Meiryo" charset="-128"/>
                <a:cs typeface="Meiryo" charset="-128"/>
              </a:rPr>
              <a:t>・意思決定のプロセス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・役割の認識</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・後継者人材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のメッセージング</a:t>
            </a:r>
            <a:endParaRPr lang="en-US" altLang="ja-JP" sz="900" dirty="0">
              <a:latin typeface="Meiryo" charset="-128"/>
              <a:ea typeface="Meiryo" charset="-128"/>
              <a:cs typeface="Meiryo" charset="-128"/>
            </a:endParaRPr>
          </a:p>
        </p:txBody>
      </p:sp>
      <p:cxnSp>
        <p:nvCxnSpPr>
          <p:cNvPr id="83" name="直線矢印コネクタ 82"/>
          <p:cNvCxnSpPr>
            <a:stCxn id="31" idx="2"/>
            <a:endCxn id="33" idx="0"/>
          </p:cNvCxnSpPr>
          <p:nvPr/>
        </p:nvCxnSpPr>
        <p:spPr>
          <a:xfrm flipH="1">
            <a:off x="2095943" y="2106135"/>
            <a:ext cx="3867424"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a:stCxn id="31" idx="2"/>
            <a:endCxn id="34" idx="0"/>
          </p:cNvCxnSpPr>
          <p:nvPr/>
        </p:nvCxnSpPr>
        <p:spPr>
          <a:xfrm flipH="1">
            <a:off x="5720298" y="2106135"/>
            <a:ext cx="243069"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a:stCxn id="31" idx="2"/>
            <a:endCxn id="35" idx="0"/>
          </p:cNvCxnSpPr>
          <p:nvPr/>
        </p:nvCxnSpPr>
        <p:spPr>
          <a:xfrm>
            <a:off x="5963367" y="2106135"/>
            <a:ext cx="3493083" cy="65697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直線矢印コネクタ 113"/>
          <p:cNvCxnSpPr>
            <a:stCxn id="2" idx="2"/>
            <a:endCxn id="31" idx="0"/>
          </p:cNvCxnSpPr>
          <p:nvPr/>
        </p:nvCxnSpPr>
        <p:spPr>
          <a:xfrm>
            <a:off x="5963367" y="1293978"/>
            <a:ext cx="0" cy="36909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 name="テキスト ボックス 114"/>
          <p:cNvSpPr txBox="1"/>
          <p:nvPr/>
        </p:nvSpPr>
        <p:spPr>
          <a:xfrm>
            <a:off x="334985" y="4113503"/>
            <a:ext cx="1450254" cy="1061829"/>
          </a:xfrm>
          <a:prstGeom prst="rect">
            <a:avLst/>
          </a:prstGeom>
          <a:noFill/>
        </p:spPr>
        <p:txBody>
          <a:bodyPr wrap="square" rtlCol="0">
            <a:spAutoFit/>
          </a:bodyPr>
          <a:lstStyle/>
          <a:p>
            <a:r>
              <a:rPr lang="ja-JP" altLang="en-US" sz="900" dirty="0">
                <a:latin typeface="Meiryo" charset="-128"/>
                <a:ea typeface="Meiryo" charset="-128"/>
                <a:cs typeface="Meiryo" charset="-128"/>
              </a:rPr>
              <a:t>・採用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・異動</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・リテンション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・人件費</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・タレントマネジメント</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・育てるか、採るか</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116" name="テキスト ボックス 115"/>
          <p:cNvSpPr txBox="1"/>
          <p:nvPr/>
        </p:nvSpPr>
        <p:spPr>
          <a:xfrm>
            <a:off x="1845300" y="4108429"/>
            <a:ext cx="1458336" cy="1200329"/>
          </a:xfrm>
          <a:prstGeom prst="rect">
            <a:avLst/>
          </a:prstGeom>
          <a:noFill/>
        </p:spPr>
        <p:txBody>
          <a:bodyPr wrap="square" rtlCol="0">
            <a:spAutoFit/>
          </a:bodyPr>
          <a:lstStyle/>
          <a:p>
            <a:r>
              <a:rPr lang="ja-JP" altLang="en-US" sz="900" dirty="0">
                <a:latin typeface="Meiryo" charset="-128"/>
                <a:ea typeface="Meiryo" charset="-128"/>
                <a:cs typeface="Meiryo" charset="-128"/>
              </a:rPr>
              <a:t>・評価</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・報酬</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・登用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・人材開発</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・優秀人材の活かし方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・代謝人材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・成長</a:t>
            </a:r>
            <a:endParaRPr lang="en-US" altLang="ja-JP" sz="900" dirty="0">
              <a:latin typeface="Meiryo" charset="-128"/>
              <a:ea typeface="Meiryo" charset="-128"/>
              <a:cs typeface="Meiryo" charset="-128"/>
            </a:endParaRPr>
          </a:p>
        </p:txBody>
      </p:sp>
      <p:sp>
        <p:nvSpPr>
          <p:cNvPr id="117" name="テキスト ボックス 116"/>
          <p:cNvSpPr txBox="1"/>
          <p:nvPr/>
        </p:nvSpPr>
        <p:spPr>
          <a:xfrm>
            <a:off x="4837250" y="4108429"/>
            <a:ext cx="1428424" cy="784830"/>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err="1">
                <a:latin typeface="Meiryo" charset="-128"/>
                <a:ea typeface="Meiryo" charset="-128"/>
                <a:cs typeface="Meiryo" charset="-128"/>
              </a:rPr>
              <a:t>SoC</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・基礎知識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・戦略の翻訳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・評価者教育</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・部下育成</a:t>
            </a:r>
            <a:endParaRPr lang="en-US" altLang="ja-JP" sz="900" dirty="0">
              <a:latin typeface="Meiryo" charset="-128"/>
              <a:ea typeface="Meiryo" charset="-128"/>
              <a:cs typeface="Meiryo" charset="-128"/>
            </a:endParaRPr>
          </a:p>
        </p:txBody>
      </p:sp>
      <p:sp>
        <p:nvSpPr>
          <p:cNvPr id="118" name="テキスト ボックス 117"/>
          <p:cNvSpPr txBox="1"/>
          <p:nvPr/>
        </p:nvSpPr>
        <p:spPr>
          <a:xfrm>
            <a:off x="316748" y="2325946"/>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どんな人がどこにどれくらい必要か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適所適材がどの程度実現できているか</a:t>
            </a:r>
          </a:p>
        </p:txBody>
      </p:sp>
      <p:sp>
        <p:nvSpPr>
          <p:cNvPr id="119" name="テキスト ボックス 118"/>
          <p:cNvSpPr txBox="1"/>
          <p:nvPr/>
        </p:nvSpPr>
        <p:spPr>
          <a:xfrm>
            <a:off x="3871640" y="2356031"/>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日々の仕事を円滑に進められるか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納得感をもって仕事ができるか</a:t>
            </a:r>
            <a:endParaRPr lang="en-US" altLang="ja-JP" sz="900" dirty="0">
              <a:latin typeface="Meiryo" charset="-128"/>
              <a:ea typeface="Meiryo" charset="-128"/>
              <a:cs typeface="Meiryo" charset="-128"/>
            </a:endParaRPr>
          </a:p>
        </p:txBody>
      </p:sp>
      <p:sp>
        <p:nvSpPr>
          <p:cNvPr id="120" name="テキスト ボックス 119"/>
          <p:cNvSpPr txBox="1"/>
          <p:nvPr/>
        </p:nvSpPr>
        <p:spPr>
          <a:xfrm>
            <a:off x="9131540" y="2320049"/>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個人の集合ではなく組織として</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機能しているか</a:t>
            </a:r>
          </a:p>
        </p:txBody>
      </p:sp>
      <p:sp>
        <p:nvSpPr>
          <p:cNvPr id="121" name="テキスト ボックス 120"/>
          <p:cNvSpPr txBox="1"/>
          <p:nvPr/>
        </p:nvSpPr>
        <p:spPr>
          <a:xfrm>
            <a:off x="6080477" y="4108429"/>
            <a:ext cx="1428424" cy="923330"/>
          </a:xfrm>
          <a:prstGeom prst="rect">
            <a:avLst/>
          </a:prstGeom>
          <a:noFill/>
        </p:spPr>
        <p:txBody>
          <a:bodyPr wrap="square" rtlCol="0">
            <a:spAutoFit/>
          </a:bodyPr>
          <a:lstStyle/>
          <a:p>
            <a:r>
              <a:rPr lang="ja-JP" altLang="en-US" sz="900" dirty="0">
                <a:latin typeface="Meiryo" charset="-128"/>
                <a:ea typeface="Meiryo" charset="-128"/>
                <a:cs typeface="Meiryo" charset="-128"/>
              </a:rPr>
              <a:t>・知識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・ジョブアサイン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・評価への納得感</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・キャリアの不安</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・働き方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・自己理解</a:t>
            </a:r>
            <a:endParaRPr lang="en-US" altLang="ja-JP" sz="900" dirty="0">
              <a:latin typeface="Meiryo" charset="-128"/>
              <a:ea typeface="Meiryo" charset="-128"/>
              <a:cs typeface="Meiryo" charset="-128"/>
            </a:endParaRPr>
          </a:p>
        </p:txBody>
      </p:sp>
      <p:sp>
        <p:nvSpPr>
          <p:cNvPr id="122" name="正方形/長方形 121"/>
          <p:cNvSpPr/>
          <p:nvPr/>
        </p:nvSpPr>
        <p:spPr>
          <a:xfrm>
            <a:off x="7823005" y="3584771"/>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共有知</a:t>
            </a:r>
          </a:p>
        </p:txBody>
      </p:sp>
      <p:sp>
        <p:nvSpPr>
          <p:cNvPr id="123" name="正方形/長方形 122"/>
          <p:cNvSpPr/>
          <p:nvPr/>
        </p:nvSpPr>
        <p:spPr>
          <a:xfrm>
            <a:off x="9024992"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関係性</a:t>
            </a:r>
          </a:p>
        </p:txBody>
      </p:sp>
      <p:sp>
        <p:nvSpPr>
          <p:cNvPr id="124" name="正方形/長方形 123"/>
          <p:cNvSpPr/>
          <p:nvPr/>
        </p:nvSpPr>
        <p:spPr>
          <a:xfrm>
            <a:off x="10226979"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仕組み</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取り組み</a:t>
            </a:r>
          </a:p>
        </p:txBody>
      </p:sp>
      <p:cxnSp>
        <p:nvCxnSpPr>
          <p:cNvPr id="125" name="直線矢印コネクタ 124"/>
          <p:cNvCxnSpPr>
            <a:stCxn id="35" idx="2"/>
            <a:endCxn id="122" idx="0"/>
          </p:cNvCxnSpPr>
          <p:nvPr/>
        </p:nvCxnSpPr>
        <p:spPr>
          <a:xfrm flipH="1">
            <a:off x="8330149" y="3206169"/>
            <a:ext cx="1126301" cy="3786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線矢印コネクタ 125"/>
          <p:cNvCxnSpPr>
            <a:stCxn id="35" idx="2"/>
            <a:endCxn id="123" idx="0"/>
          </p:cNvCxnSpPr>
          <p:nvPr/>
        </p:nvCxnSpPr>
        <p:spPr>
          <a:xfrm>
            <a:off x="9456450" y="3206169"/>
            <a:ext cx="75686"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線矢印コネクタ 126"/>
          <p:cNvCxnSpPr>
            <a:stCxn id="35" idx="2"/>
            <a:endCxn id="124" idx="0"/>
          </p:cNvCxnSpPr>
          <p:nvPr/>
        </p:nvCxnSpPr>
        <p:spPr>
          <a:xfrm>
            <a:off x="9456450" y="3206169"/>
            <a:ext cx="1277673"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テキスト ボックス 127"/>
          <p:cNvSpPr txBox="1"/>
          <p:nvPr/>
        </p:nvSpPr>
        <p:spPr>
          <a:xfrm>
            <a:off x="7653317" y="4102770"/>
            <a:ext cx="1428424" cy="369332"/>
          </a:xfrm>
          <a:prstGeom prst="rect">
            <a:avLst/>
          </a:prstGeom>
          <a:noFill/>
        </p:spPr>
        <p:txBody>
          <a:bodyPr wrap="square" rtlCol="0">
            <a:spAutoFit/>
          </a:bodyPr>
          <a:lstStyle/>
          <a:p>
            <a:r>
              <a:rPr lang="ja-JP" altLang="en-US" sz="900" dirty="0">
                <a:latin typeface="Meiryo" charset="-128"/>
                <a:ea typeface="Meiryo" charset="-128"/>
                <a:cs typeface="Meiryo" charset="-128"/>
              </a:rPr>
              <a:t>・属人化</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・ノウハウが暗黙知</a:t>
            </a:r>
            <a:endParaRPr lang="en-US" altLang="ja-JP" sz="900" dirty="0">
              <a:latin typeface="Meiryo" charset="-128"/>
              <a:ea typeface="Meiryo" charset="-128"/>
              <a:cs typeface="Meiryo" charset="-128"/>
            </a:endParaRPr>
          </a:p>
        </p:txBody>
      </p:sp>
      <p:sp>
        <p:nvSpPr>
          <p:cNvPr id="129" name="テキスト ボックス 128"/>
          <p:cNvSpPr txBox="1"/>
          <p:nvPr/>
        </p:nvSpPr>
        <p:spPr>
          <a:xfrm>
            <a:off x="8896544" y="4090931"/>
            <a:ext cx="1542135" cy="1061829"/>
          </a:xfrm>
          <a:prstGeom prst="rect">
            <a:avLst/>
          </a:prstGeom>
          <a:noFill/>
        </p:spPr>
        <p:txBody>
          <a:bodyPr wrap="square" rtlCol="0">
            <a:spAutoFit/>
          </a:bodyPr>
          <a:lstStyle/>
          <a:p>
            <a:r>
              <a:rPr lang="ja-JP" altLang="en-US" sz="900" dirty="0">
                <a:latin typeface="Meiryo" charset="-128"/>
                <a:ea typeface="Meiryo" charset="-128"/>
                <a:cs typeface="Meiryo" charset="-128"/>
              </a:rPr>
              <a:t>・縦</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横</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組織間</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・セクショナリズム</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・事なかれ主義</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・厳しいフィードバック</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・多様性</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・他者理解</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・心理的安全性</a:t>
            </a:r>
            <a:endParaRPr lang="en-US" altLang="ja-JP" sz="900" dirty="0">
              <a:latin typeface="Meiryo" charset="-128"/>
              <a:ea typeface="Meiryo" charset="-128"/>
              <a:cs typeface="Meiryo" charset="-128"/>
            </a:endParaRPr>
          </a:p>
        </p:txBody>
      </p:sp>
      <p:sp>
        <p:nvSpPr>
          <p:cNvPr id="130" name="テキスト ボックス 129"/>
          <p:cNvSpPr txBox="1"/>
          <p:nvPr/>
        </p:nvSpPr>
        <p:spPr>
          <a:xfrm>
            <a:off x="10170476" y="4102770"/>
            <a:ext cx="1655846" cy="507831"/>
          </a:xfrm>
          <a:prstGeom prst="rect">
            <a:avLst/>
          </a:prstGeom>
          <a:noFill/>
        </p:spPr>
        <p:txBody>
          <a:bodyPr wrap="square" rtlCol="0">
            <a:spAutoFit/>
          </a:bodyPr>
          <a:lstStyle/>
          <a:p>
            <a:r>
              <a:rPr lang="ja-JP" altLang="en-US" sz="900" dirty="0">
                <a:latin typeface="Meiryo" charset="-128"/>
                <a:ea typeface="Meiryo" charset="-128"/>
                <a:cs typeface="Meiryo" charset="-128"/>
              </a:rPr>
              <a:t>・組織としてのルール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・ボトムアップの取り組み</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90" name="二等辺三角形 89"/>
          <p:cNvSpPr/>
          <p:nvPr/>
        </p:nvSpPr>
        <p:spPr>
          <a:xfrm rot="10800000">
            <a:off x="4244458" y="5174610"/>
            <a:ext cx="3437816" cy="27827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p:cNvSpPr/>
          <p:nvPr/>
        </p:nvSpPr>
        <p:spPr>
          <a:xfrm>
            <a:off x="1196820" y="6230626"/>
            <a:ext cx="93847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退職者が多い</a:t>
            </a:r>
          </a:p>
        </p:txBody>
      </p:sp>
      <p:sp>
        <p:nvSpPr>
          <p:cNvPr id="131" name="楕円 130"/>
          <p:cNvSpPr/>
          <p:nvPr/>
        </p:nvSpPr>
        <p:spPr>
          <a:xfrm>
            <a:off x="2490649"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心理的安全性が低い</a:t>
            </a:r>
          </a:p>
        </p:txBody>
      </p:sp>
      <p:sp>
        <p:nvSpPr>
          <p:cNvPr id="132" name="楕円 131"/>
          <p:cNvSpPr/>
          <p:nvPr/>
        </p:nvSpPr>
        <p:spPr>
          <a:xfrm>
            <a:off x="3918091"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主体性が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無い</a:t>
            </a:r>
          </a:p>
        </p:txBody>
      </p:sp>
      <p:sp>
        <p:nvSpPr>
          <p:cNvPr id="133" name="楕円 132"/>
          <p:cNvSpPr/>
          <p:nvPr/>
        </p:nvSpPr>
        <p:spPr>
          <a:xfrm>
            <a:off x="5357796" y="6294149"/>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蛸壺化</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している</a:t>
            </a:r>
          </a:p>
        </p:txBody>
      </p:sp>
      <p:sp>
        <p:nvSpPr>
          <p:cNvPr id="134" name="楕円 133"/>
          <p:cNvSpPr/>
          <p:nvPr/>
        </p:nvSpPr>
        <p:spPr>
          <a:xfrm>
            <a:off x="5550555" y="5801926"/>
            <a:ext cx="1208068"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成長しない</a:t>
            </a:r>
          </a:p>
        </p:txBody>
      </p:sp>
      <p:sp>
        <p:nvSpPr>
          <p:cNvPr id="135" name="楕円 134"/>
          <p:cNvSpPr/>
          <p:nvPr/>
        </p:nvSpPr>
        <p:spPr>
          <a:xfrm>
            <a:off x="7044047" y="5758015"/>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組織が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ぬるい</a:t>
            </a:r>
          </a:p>
        </p:txBody>
      </p:sp>
      <p:sp>
        <p:nvSpPr>
          <p:cNvPr id="136" name="楕円 135"/>
          <p:cNvSpPr/>
          <p:nvPr/>
        </p:nvSpPr>
        <p:spPr>
          <a:xfrm>
            <a:off x="8592136" y="57038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モチベーションが低い</a:t>
            </a:r>
          </a:p>
        </p:txBody>
      </p:sp>
      <p:sp>
        <p:nvSpPr>
          <p:cNvPr id="137" name="楕円 136"/>
          <p:cNvSpPr/>
          <p:nvPr/>
        </p:nvSpPr>
        <p:spPr>
          <a:xfrm>
            <a:off x="9691513" y="6289098"/>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なんとなく</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暗い</a:t>
            </a:r>
          </a:p>
        </p:txBody>
      </p:sp>
      <p:sp>
        <p:nvSpPr>
          <p:cNvPr id="138" name="楕円 137"/>
          <p:cNvSpPr/>
          <p:nvPr/>
        </p:nvSpPr>
        <p:spPr>
          <a:xfrm>
            <a:off x="8256425" y="6289099"/>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悪口ばかり</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言う</a:t>
            </a:r>
          </a:p>
        </p:txBody>
      </p:sp>
      <p:sp>
        <p:nvSpPr>
          <p:cNvPr id="139" name="楕円 138"/>
          <p:cNvSpPr/>
          <p:nvPr/>
        </p:nvSpPr>
        <p:spPr>
          <a:xfrm>
            <a:off x="6911342" y="6297545"/>
            <a:ext cx="1107433"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先が見えない</a:t>
            </a:r>
          </a:p>
        </p:txBody>
      </p:sp>
      <p:sp>
        <p:nvSpPr>
          <p:cNvPr id="140" name="楕円 139"/>
          <p:cNvSpPr/>
          <p:nvPr/>
        </p:nvSpPr>
        <p:spPr>
          <a:xfrm>
            <a:off x="4053055" y="57374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昔の方が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良かった</a:t>
            </a:r>
          </a:p>
        </p:txBody>
      </p:sp>
      <p:sp>
        <p:nvSpPr>
          <p:cNvPr id="141" name="楕円 140"/>
          <p:cNvSpPr/>
          <p:nvPr/>
        </p:nvSpPr>
        <p:spPr>
          <a:xfrm>
            <a:off x="2664671" y="5678500"/>
            <a:ext cx="1294780"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いそがしい</a:t>
            </a:r>
          </a:p>
        </p:txBody>
      </p:sp>
      <p:sp>
        <p:nvSpPr>
          <p:cNvPr id="142" name="楕円 141"/>
          <p:cNvSpPr/>
          <p:nvPr/>
        </p:nvSpPr>
        <p:spPr>
          <a:xfrm>
            <a:off x="1522343" y="5709138"/>
            <a:ext cx="1090264"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人が足りない</a:t>
            </a:r>
          </a:p>
        </p:txBody>
      </p:sp>
      <p:sp>
        <p:nvSpPr>
          <p:cNvPr id="143" name="正方形/長方形 142"/>
          <p:cNvSpPr/>
          <p:nvPr/>
        </p:nvSpPr>
        <p:spPr>
          <a:xfrm>
            <a:off x="3580904"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全社戦略</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44" name="直線矢印コネクタ 143"/>
          <p:cNvCxnSpPr>
            <a:stCxn id="143" idx="3"/>
            <a:endCxn id="2" idx="1"/>
          </p:cNvCxnSpPr>
          <p:nvPr/>
        </p:nvCxnSpPr>
        <p:spPr>
          <a:xfrm>
            <a:off x="4740401"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2" name="テキスト ボックス 151"/>
          <p:cNvSpPr txBox="1"/>
          <p:nvPr/>
        </p:nvSpPr>
        <p:spPr>
          <a:xfrm>
            <a:off x="3475926" y="1348626"/>
            <a:ext cx="1377010" cy="5078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・納得できていない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153" name="正方形/長方形 152"/>
          <p:cNvSpPr/>
          <p:nvPr/>
        </p:nvSpPr>
        <p:spPr>
          <a:xfrm>
            <a:off x="1778190"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ホールディングス</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54" name="直線矢印コネクタ 153"/>
          <p:cNvCxnSpPr>
            <a:stCxn id="153" idx="3"/>
            <a:endCxn id="143" idx="1"/>
          </p:cNvCxnSpPr>
          <p:nvPr/>
        </p:nvCxnSpPr>
        <p:spPr>
          <a:xfrm>
            <a:off x="2937687"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テキスト ボックス 156"/>
          <p:cNvSpPr txBox="1"/>
          <p:nvPr/>
        </p:nvSpPr>
        <p:spPr>
          <a:xfrm>
            <a:off x="1758380" y="1349189"/>
            <a:ext cx="1545255" cy="230832"/>
          </a:xfrm>
          <a:prstGeom prst="rect">
            <a:avLst/>
          </a:prstGeom>
          <a:noFill/>
        </p:spPr>
        <p:txBody>
          <a:bodyPr wrap="square" rtlCol="0">
            <a:spAutoFit/>
          </a:bodyPr>
          <a:lstStyle/>
          <a:p>
            <a:r>
              <a:rPr lang="ja-JP" altLang="en-US" sz="900" dirty="0">
                <a:latin typeface="Meiryo" charset="-128"/>
                <a:ea typeface="Meiryo" charset="-128"/>
                <a:cs typeface="Meiryo" charset="-128"/>
              </a:rPr>
              <a:t>・整合性とれているか？</a:t>
            </a:r>
          </a:p>
        </p:txBody>
      </p:sp>
      <p:sp>
        <p:nvSpPr>
          <p:cNvPr id="74" name="テキスト ボックス 73"/>
          <p:cNvSpPr txBox="1"/>
          <p:nvPr/>
        </p:nvSpPr>
        <p:spPr>
          <a:xfrm>
            <a:off x="8495610" y="785131"/>
            <a:ext cx="2933516" cy="369332"/>
          </a:xfrm>
          <a:prstGeom prst="rect">
            <a:avLst/>
          </a:prstGeom>
          <a:noFill/>
        </p:spPr>
        <p:txBody>
          <a:bodyPr wrap="square" rtlCol="0">
            <a:spAutoFit/>
          </a:bodyPr>
          <a:lstStyle/>
          <a:p>
            <a:r>
              <a:rPr lang="ja-JP" altLang="en-US" sz="1800" b="1" dirty="0">
                <a:solidFill>
                  <a:srgbClr val="00B050"/>
                </a:solidFill>
                <a:latin typeface="Meiryo" charset="-128"/>
                <a:ea typeface="Meiryo" charset="-128"/>
                <a:cs typeface="Meiryo" charset="-128"/>
              </a:rPr>
              <a:t>北極星はどこだ？ゾーン</a:t>
            </a:r>
          </a:p>
        </p:txBody>
      </p:sp>
      <p:sp>
        <p:nvSpPr>
          <p:cNvPr id="76" name="テキスト ボックス 75"/>
          <p:cNvSpPr txBox="1"/>
          <p:nvPr/>
        </p:nvSpPr>
        <p:spPr>
          <a:xfrm>
            <a:off x="145290" y="5226210"/>
            <a:ext cx="3197373" cy="369332"/>
          </a:xfrm>
          <a:prstGeom prst="rect">
            <a:avLst/>
          </a:prstGeom>
          <a:noFill/>
        </p:spPr>
        <p:txBody>
          <a:bodyPr wrap="square" rtlCol="0">
            <a:spAutoFit/>
          </a:bodyPr>
          <a:lstStyle/>
          <a:p>
            <a:r>
              <a:rPr lang="ja-JP" altLang="en-US" sz="1800" b="1" dirty="0">
                <a:solidFill>
                  <a:srgbClr val="FF0000"/>
                </a:solidFill>
                <a:latin typeface="Meiryo" charset="-128"/>
                <a:ea typeface="Meiryo" charset="-128"/>
                <a:cs typeface="Meiryo" charset="-128"/>
              </a:rPr>
              <a:t>「人材」「人財」活用ゾーン</a:t>
            </a:r>
          </a:p>
        </p:txBody>
      </p:sp>
      <p:sp>
        <p:nvSpPr>
          <p:cNvPr id="8" name="フッター プレースホルダー 7"/>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14364226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84" name="楕円 83"/>
          <p:cNvSpPr/>
          <p:nvPr/>
        </p:nvSpPr>
        <p:spPr>
          <a:xfrm rot="17058800">
            <a:off x="3536425" y="2775114"/>
            <a:ext cx="3630934" cy="2631643"/>
          </a:xfrm>
          <a:prstGeom prst="ellipse">
            <a:avLst/>
          </a:prstGeom>
          <a:solidFill>
            <a:schemeClr val="accent1">
              <a:lumMod val="40000"/>
              <a:lumOff val="6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p:cNvSpPr/>
          <p:nvPr/>
        </p:nvSpPr>
        <p:spPr>
          <a:xfrm rot="18533955">
            <a:off x="-287640" y="3142099"/>
            <a:ext cx="4025633" cy="1869894"/>
          </a:xfrm>
          <a:prstGeom prst="ellipse">
            <a:avLst/>
          </a:prstGeom>
          <a:solidFill>
            <a:srgbClr val="FF0000">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p:cNvSpPr/>
          <p:nvPr/>
        </p:nvSpPr>
        <p:spPr>
          <a:xfrm>
            <a:off x="1612049" y="486137"/>
            <a:ext cx="8427230" cy="1869894"/>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p:cNvSpPr txBox="1"/>
          <p:nvPr/>
        </p:nvSpPr>
        <p:spPr>
          <a:xfrm>
            <a:off x="486575" y="127937"/>
            <a:ext cx="9487157"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組織課題の見立て（私の場合）</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66</a:t>
            </a:fld>
            <a:endParaRPr lang="ja-JP" altLang="en-US">
              <a:uFillTx/>
            </a:endParaRPr>
          </a:p>
        </p:txBody>
      </p:sp>
      <p:sp>
        <p:nvSpPr>
          <p:cNvPr id="2" name="正方形/長方形 1"/>
          <p:cNvSpPr/>
          <p:nvPr/>
        </p:nvSpPr>
        <p:spPr>
          <a:xfrm>
            <a:off x="5383618"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ミッション・ビジョンへの課題</a:t>
            </a:r>
          </a:p>
        </p:txBody>
      </p:sp>
      <p:sp>
        <p:nvSpPr>
          <p:cNvPr id="30" name="テキスト ボックス 29"/>
          <p:cNvSpPr txBox="1"/>
          <p:nvPr/>
        </p:nvSpPr>
        <p:spPr>
          <a:xfrm>
            <a:off x="6476055" y="769893"/>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err="1">
                <a:latin typeface="Meiryo" charset="-128"/>
                <a:ea typeface="Meiryo" charset="-128"/>
                <a:cs typeface="Meiryo" charset="-128"/>
              </a:rPr>
              <a:t>に納</a:t>
            </a:r>
            <a:r>
              <a:rPr lang="ja-JP" altLang="en-US" sz="900" dirty="0">
                <a:latin typeface="Meiryo" charset="-128"/>
                <a:ea typeface="Meiryo" charset="-128"/>
                <a:cs typeface="Meiryo" charset="-128"/>
              </a:rPr>
              <a:t>得いかない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が浸透していない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MVV</a:t>
            </a:r>
            <a:r>
              <a:rPr lang="ja-JP" altLang="en-US" sz="900" dirty="0">
                <a:latin typeface="Meiryo" charset="-128"/>
                <a:ea typeface="Meiryo" charset="-128"/>
                <a:cs typeface="Meiryo" charset="-128"/>
              </a:rPr>
              <a:t>伝わっていない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伝えられていない</a:t>
            </a:r>
          </a:p>
        </p:txBody>
      </p:sp>
      <p:sp>
        <p:nvSpPr>
          <p:cNvPr id="31" name="正方形/長方形 30"/>
          <p:cNvSpPr/>
          <p:nvPr/>
        </p:nvSpPr>
        <p:spPr>
          <a:xfrm>
            <a:off x="5383618" y="1663075"/>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戦略への課題</a:t>
            </a:r>
          </a:p>
        </p:txBody>
      </p:sp>
      <p:sp>
        <p:nvSpPr>
          <p:cNvPr id="32" name="テキスト ボックス 31"/>
          <p:cNvSpPr txBox="1"/>
          <p:nvPr/>
        </p:nvSpPr>
        <p:spPr>
          <a:xfrm>
            <a:off x="6476055" y="1663075"/>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実現のやり方が見えない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実現のやり方が現実的じゃない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納得感が無い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・目指す指標がわからない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33" name="正方形/長方形 32"/>
          <p:cNvSpPr/>
          <p:nvPr/>
        </p:nvSpPr>
        <p:spPr>
          <a:xfrm>
            <a:off x="888046"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人の課題</a:t>
            </a:r>
          </a:p>
        </p:txBody>
      </p:sp>
      <p:sp>
        <p:nvSpPr>
          <p:cNvPr id="34" name="正方形/長方形 33"/>
          <p:cNvSpPr/>
          <p:nvPr/>
        </p:nvSpPr>
        <p:spPr>
          <a:xfrm>
            <a:off x="4512401"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業務推進の課題</a:t>
            </a:r>
          </a:p>
        </p:txBody>
      </p:sp>
      <p:sp>
        <p:nvSpPr>
          <p:cNvPr id="35" name="正方形/長方形 34"/>
          <p:cNvSpPr/>
          <p:nvPr/>
        </p:nvSpPr>
        <p:spPr>
          <a:xfrm>
            <a:off x="8248553" y="2763109"/>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組織の課題</a:t>
            </a:r>
          </a:p>
        </p:txBody>
      </p:sp>
      <p:sp>
        <p:nvSpPr>
          <p:cNvPr id="38" name="正方形/長方形 37"/>
          <p:cNvSpPr/>
          <p:nvPr/>
        </p:nvSpPr>
        <p:spPr>
          <a:xfrm>
            <a:off x="1903641"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人材要件</a:t>
            </a:r>
          </a:p>
        </p:txBody>
      </p:sp>
      <p:sp>
        <p:nvSpPr>
          <p:cNvPr id="40" name="正方形/長方形 39"/>
          <p:cNvSpPr/>
          <p:nvPr/>
        </p:nvSpPr>
        <p:spPr>
          <a:xfrm>
            <a:off x="552969"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要員計画</a:t>
            </a:r>
          </a:p>
        </p:txBody>
      </p:sp>
      <p:cxnSp>
        <p:nvCxnSpPr>
          <p:cNvPr id="13" name="直線矢印コネクタ 12"/>
          <p:cNvCxnSpPr>
            <a:stCxn id="33" idx="2"/>
            <a:endCxn id="38" idx="0"/>
          </p:cNvCxnSpPr>
          <p:nvPr/>
        </p:nvCxnSpPr>
        <p:spPr>
          <a:xfrm>
            <a:off x="2095943" y="3202002"/>
            <a:ext cx="314842"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a:stCxn id="33" idx="2"/>
            <a:endCxn id="40" idx="0"/>
          </p:cNvCxnSpPr>
          <p:nvPr/>
        </p:nvCxnSpPr>
        <p:spPr>
          <a:xfrm flipH="1">
            <a:off x="1060113" y="3202002"/>
            <a:ext cx="1035830"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テキスト ボックス 50"/>
          <p:cNvSpPr txBox="1"/>
          <p:nvPr/>
        </p:nvSpPr>
        <p:spPr>
          <a:xfrm>
            <a:off x="2483389" y="3312283"/>
            <a:ext cx="820450" cy="230832"/>
          </a:xfrm>
          <a:prstGeom prst="rect">
            <a:avLst/>
          </a:prstGeom>
          <a:noFill/>
        </p:spPr>
        <p:txBody>
          <a:bodyPr wrap="square" rtlCol="0">
            <a:spAutoFit/>
          </a:bodyPr>
          <a:lstStyle/>
          <a:p>
            <a:r>
              <a:rPr lang="ja-JP" altLang="en-US" sz="900" dirty="0">
                <a:latin typeface="Meiryo" charset="-128"/>
                <a:ea typeface="Meiryo" charset="-128"/>
                <a:cs typeface="Meiryo" charset="-128"/>
              </a:rPr>
              <a:t>質の課題</a:t>
            </a:r>
          </a:p>
        </p:txBody>
      </p:sp>
      <p:sp>
        <p:nvSpPr>
          <p:cNvPr id="52" name="テキスト ボックス 51"/>
          <p:cNvSpPr txBox="1"/>
          <p:nvPr/>
        </p:nvSpPr>
        <p:spPr>
          <a:xfrm>
            <a:off x="777495" y="3312283"/>
            <a:ext cx="834554" cy="230832"/>
          </a:xfrm>
          <a:prstGeom prst="rect">
            <a:avLst/>
          </a:prstGeom>
          <a:noFill/>
        </p:spPr>
        <p:txBody>
          <a:bodyPr wrap="square" rtlCol="0">
            <a:spAutoFit/>
          </a:bodyPr>
          <a:lstStyle/>
          <a:p>
            <a:r>
              <a:rPr lang="ja-JP" altLang="en-US" sz="900" dirty="0">
                <a:latin typeface="Meiryo" charset="-128"/>
                <a:ea typeface="Meiryo" charset="-128"/>
                <a:cs typeface="Meiryo" charset="-128"/>
              </a:rPr>
              <a:t>量の課題</a:t>
            </a:r>
          </a:p>
        </p:txBody>
      </p:sp>
      <p:sp>
        <p:nvSpPr>
          <p:cNvPr id="55" name="正方形/長方形 54"/>
          <p:cNvSpPr/>
          <p:nvPr/>
        </p:nvSpPr>
        <p:spPr>
          <a:xfrm>
            <a:off x="3744853"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トップレイヤ</a:t>
            </a:r>
          </a:p>
        </p:txBody>
      </p:sp>
      <p:sp>
        <p:nvSpPr>
          <p:cNvPr id="56" name="正方形/長方形 55"/>
          <p:cNvSpPr/>
          <p:nvPr/>
        </p:nvSpPr>
        <p:spPr>
          <a:xfrm>
            <a:off x="4950719"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ミドルレイヤ</a:t>
            </a:r>
          </a:p>
        </p:txBody>
      </p:sp>
      <p:sp>
        <p:nvSpPr>
          <p:cNvPr id="57" name="正方形/長方形 56"/>
          <p:cNvSpPr/>
          <p:nvPr/>
        </p:nvSpPr>
        <p:spPr>
          <a:xfrm>
            <a:off x="6156588"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ボトムレイヤ</a:t>
            </a:r>
          </a:p>
        </p:txBody>
      </p:sp>
      <p:cxnSp>
        <p:nvCxnSpPr>
          <p:cNvPr id="61" name="直線矢印コネクタ 60"/>
          <p:cNvCxnSpPr>
            <a:stCxn id="34" idx="2"/>
            <a:endCxn id="55" idx="0"/>
          </p:cNvCxnSpPr>
          <p:nvPr/>
        </p:nvCxnSpPr>
        <p:spPr>
          <a:xfrm flipH="1">
            <a:off x="4251997" y="3202002"/>
            <a:ext cx="1468301"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直線矢印コネクタ 63"/>
          <p:cNvCxnSpPr>
            <a:stCxn id="34" idx="2"/>
            <a:endCxn id="56" idx="0"/>
          </p:cNvCxnSpPr>
          <p:nvPr/>
        </p:nvCxnSpPr>
        <p:spPr>
          <a:xfrm flipH="1">
            <a:off x="5457863" y="3202002"/>
            <a:ext cx="262435"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矢印コネクタ 66"/>
          <p:cNvCxnSpPr>
            <a:stCxn id="34" idx="2"/>
            <a:endCxn id="57" idx="0"/>
          </p:cNvCxnSpPr>
          <p:nvPr/>
        </p:nvCxnSpPr>
        <p:spPr>
          <a:xfrm>
            <a:off x="5720298" y="3202002"/>
            <a:ext cx="943434"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852430" y="3250259"/>
            <a:ext cx="820450" cy="369332"/>
          </a:xfrm>
          <a:prstGeom prst="rect">
            <a:avLst/>
          </a:prstGeom>
          <a:noFill/>
        </p:spPr>
        <p:txBody>
          <a:bodyPr wrap="square" rtlCol="0">
            <a:spAutoFit/>
          </a:bodyPr>
          <a:lstStyle/>
          <a:p>
            <a:r>
              <a:rPr lang="ja-JP" altLang="en-US" sz="900" dirty="0">
                <a:latin typeface="Meiryo" charset="-128"/>
                <a:ea typeface="Meiryo" charset="-128"/>
                <a:cs typeface="Meiryo" charset="-128"/>
              </a:rPr>
              <a:t>意思決定者の課題</a:t>
            </a:r>
          </a:p>
        </p:txBody>
      </p:sp>
      <p:sp>
        <p:nvSpPr>
          <p:cNvPr id="71" name="テキスト ボックス 70"/>
          <p:cNvSpPr txBox="1"/>
          <p:nvPr/>
        </p:nvSpPr>
        <p:spPr>
          <a:xfrm>
            <a:off x="4752315" y="3250259"/>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マネジメントの課題</a:t>
            </a:r>
          </a:p>
        </p:txBody>
      </p:sp>
      <p:sp>
        <p:nvSpPr>
          <p:cNvPr id="72" name="テキスト ボックス 71"/>
          <p:cNvSpPr txBox="1"/>
          <p:nvPr/>
        </p:nvSpPr>
        <p:spPr>
          <a:xfrm>
            <a:off x="6473485" y="3243033"/>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社員としての課題</a:t>
            </a:r>
          </a:p>
        </p:txBody>
      </p:sp>
      <p:sp>
        <p:nvSpPr>
          <p:cNvPr id="73" name="テキスト ボックス 72"/>
          <p:cNvSpPr txBox="1"/>
          <p:nvPr/>
        </p:nvSpPr>
        <p:spPr>
          <a:xfrm>
            <a:off x="3475926" y="4108429"/>
            <a:ext cx="1428424" cy="646331"/>
          </a:xfrm>
          <a:prstGeom prst="rect">
            <a:avLst/>
          </a:prstGeom>
          <a:noFill/>
        </p:spPr>
        <p:txBody>
          <a:bodyPr wrap="square" rtlCol="0">
            <a:spAutoFit/>
          </a:bodyPr>
          <a:lstStyle/>
          <a:p>
            <a:r>
              <a:rPr lang="ja-JP" altLang="en-US" sz="900" dirty="0">
                <a:latin typeface="Meiryo" charset="-128"/>
                <a:ea typeface="Meiryo" charset="-128"/>
                <a:cs typeface="Meiryo" charset="-128"/>
              </a:rPr>
              <a:t>・意思決定のプロセス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・役割の認識</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・後継者人材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のメッセージング</a:t>
            </a:r>
            <a:endParaRPr lang="en-US" altLang="ja-JP" sz="900" dirty="0">
              <a:latin typeface="Meiryo" charset="-128"/>
              <a:ea typeface="Meiryo" charset="-128"/>
              <a:cs typeface="Meiryo" charset="-128"/>
            </a:endParaRPr>
          </a:p>
        </p:txBody>
      </p:sp>
      <p:cxnSp>
        <p:nvCxnSpPr>
          <p:cNvPr id="83" name="直線矢印コネクタ 82"/>
          <p:cNvCxnSpPr>
            <a:stCxn id="31" idx="2"/>
            <a:endCxn id="33" idx="0"/>
          </p:cNvCxnSpPr>
          <p:nvPr/>
        </p:nvCxnSpPr>
        <p:spPr>
          <a:xfrm flipH="1">
            <a:off x="2095943" y="2106135"/>
            <a:ext cx="3867424"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a:stCxn id="31" idx="2"/>
            <a:endCxn id="34" idx="0"/>
          </p:cNvCxnSpPr>
          <p:nvPr/>
        </p:nvCxnSpPr>
        <p:spPr>
          <a:xfrm flipH="1">
            <a:off x="5720298" y="2106135"/>
            <a:ext cx="243069"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a:stCxn id="31" idx="2"/>
            <a:endCxn id="35" idx="0"/>
          </p:cNvCxnSpPr>
          <p:nvPr/>
        </p:nvCxnSpPr>
        <p:spPr>
          <a:xfrm>
            <a:off x="5963367" y="2106135"/>
            <a:ext cx="3493083" cy="65697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直線矢印コネクタ 113"/>
          <p:cNvCxnSpPr>
            <a:stCxn id="2" idx="2"/>
            <a:endCxn id="31" idx="0"/>
          </p:cNvCxnSpPr>
          <p:nvPr/>
        </p:nvCxnSpPr>
        <p:spPr>
          <a:xfrm>
            <a:off x="5963367" y="1293978"/>
            <a:ext cx="0" cy="36909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 name="テキスト ボックス 114"/>
          <p:cNvSpPr txBox="1"/>
          <p:nvPr/>
        </p:nvSpPr>
        <p:spPr>
          <a:xfrm>
            <a:off x="334985" y="4113503"/>
            <a:ext cx="1450254" cy="1061829"/>
          </a:xfrm>
          <a:prstGeom prst="rect">
            <a:avLst/>
          </a:prstGeom>
          <a:noFill/>
        </p:spPr>
        <p:txBody>
          <a:bodyPr wrap="square" rtlCol="0">
            <a:spAutoFit/>
          </a:bodyPr>
          <a:lstStyle/>
          <a:p>
            <a:r>
              <a:rPr lang="ja-JP" altLang="en-US" sz="900" dirty="0">
                <a:latin typeface="Meiryo" charset="-128"/>
                <a:ea typeface="Meiryo" charset="-128"/>
                <a:cs typeface="Meiryo" charset="-128"/>
              </a:rPr>
              <a:t>・採用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・異動</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・リテンション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・人件費</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・タレントマネジメント</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・育てるか、採るか</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116" name="テキスト ボックス 115"/>
          <p:cNvSpPr txBox="1"/>
          <p:nvPr/>
        </p:nvSpPr>
        <p:spPr>
          <a:xfrm>
            <a:off x="1845300" y="4108429"/>
            <a:ext cx="1458336" cy="1200329"/>
          </a:xfrm>
          <a:prstGeom prst="rect">
            <a:avLst/>
          </a:prstGeom>
          <a:noFill/>
        </p:spPr>
        <p:txBody>
          <a:bodyPr wrap="square" rtlCol="0">
            <a:spAutoFit/>
          </a:bodyPr>
          <a:lstStyle/>
          <a:p>
            <a:r>
              <a:rPr lang="ja-JP" altLang="en-US" sz="900" dirty="0">
                <a:latin typeface="Meiryo" charset="-128"/>
                <a:ea typeface="Meiryo" charset="-128"/>
                <a:cs typeface="Meiryo" charset="-128"/>
              </a:rPr>
              <a:t>・評価</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・報酬</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・登用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・人材開発</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・優秀人材の活かし方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・代謝人材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・成長</a:t>
            </a:r>
            <a:endParaRPr lang="en-US" altLang="ja-JP" sz="900" dirty="0">
              <a:latin typeface="Meiryo" charset="-128"/>
              <a:ea typeface="Meiryo" charset="-128"/>
              <a:cs typeface="Meiryo" charset="-128"/>
            </a:endParaRPr>
          </a:p>
        </p:txBody>
      </p:sp>
      <p:sp>
        <p:nvSpPr>
          <p:cNvPr id="117" name="テキスト ボックス 116"/>
          <p:cNvSpPr txBox="1"/>
          <p:nvPr/>
        </p:nvSpPr>
        <p:spPr>
          <a:xfrm>
            <a:off x="4837250" y="4108429"/>
            <a:ext cx="1428424" cy="784830"/>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err="1">
                <a:latin typeface="Meiryo" charset="-128"/>
                <a:ea typeface="Meiryo" charset="-128"/>
                <a:cs typeface="Meiryo" charset="-128"/>
              </a:rPr>
              <a:t>SoC</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・基礎知識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・戦略の翻訳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・評価者教育</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・部下育成</a:t>
            </a:r>
            <a:endParaRPr lang="en-US" altLang="ja-JP" sz="900" dirty="0">
              <a:latin typeface="Meiryo" charset="-128"/>
              <a:ea typeface="Meiryo" charset="-128"/>
              <a:cs typeface="Meiryo" charset="-128"/>
            </a:endParaRPr>
          </a:p>
        </p:txBody>
      </p:sp>
      <p:sp>
        <p:nvSpPr>
          <p:cNvPr id="118" name="テキスト ボックス 117"/>
          <p:cNvSpPr txBox="1"/>
          <p:nvPr/>
        </p:nvSpPr>
        <p:spPr>
          <a:xfrm>
            <a:off x="316748" y="2325946"/>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どんな人がどこにどれくらい必要か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適所適材がどの程度実現できているか</a:t>
            </a:r>
          </a:p>
        </p:txBody>
      </p:sp>
      <p:sp>
        <p:nvSpPr>
          <p:cNvPr id="119" name="テキスト ボックス 118"/>
          <p:cNvSpPr txBox="1"/>
          <p:nvPr/>
        </p:nvSpPr>
        <p:spPr>
          <a:xfrm>
            <a:off x="3871640" y="2356031"/>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日々の仕事を円滑に進められるか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納得感をもって仕事ができるか</a:t>
            </a:r>
            <a:endParaRPr lang="en-US" altLang="ja-JP" sz="900" dirty="0">
              <a:latin typeface="Meiryo" charset="-128"/>
              <a:ea typeface="Meiryo" charset="-128"/>
              <a:cs typeface="Meiryo" charset="-128"/>
            </a:endParaRPr>
          </a:p>
        </p:txBody>
      </p:sp>
      <p:sp>
        <p:nvSpPr>
          <p:cNvPr id="120" name="テキスト ボックス 119"/>
          <p:cNvSpPr txBox="1"/>
          <p:nvPr/>
        </p:nvSpPr>
        <p:spPr>
          <a:xfrm>
            <a:off x="9131540" y="2320049"/>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個人の集合ではなく組織として</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機能しているか</a:t>
            </a:r>
          </a:p>
        </p:txBody>
      </p:sp>
      <p:sp>
        <p:nvSpPr>
          <p:cNvPr id="121" name="テキスト ボックス 120"/>
          <p:cNvSpPr txBox="1"/>
          <p:nvPr/>
        </p:nvSpPr>
        <p:spPr>
          <a:xfrm>
            <a:off x="6080477" y="4108429"/>
            <a:ext cx="1428424" cy="923330"/>
          </a:xfrm>
          <a:prstGeom prst="rect">
            <a:avLst/>
          </a:prstGeom>
          <a:noFill/>
        </p:spPr>
        <p:txBody>
          <a:bodyPr wrap="square" rtlCol="0">
            <a:spAutoFit/>
          </a:bodyPr>
          <a:lstStyle/>
          <a:p>
            <a:r>
              <a:rPr lang="ja-JP" altLang="en-US" sz="900" dirty="0">
                <a:latin typeface="Meiryo" charset="-128"/>
                <a:ea typeface="Meiryo" charset="-128"/>
                <a:cs typeface="Meiryo" charset="-128"/>
              </a:rPr>
              <a:t>・知識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・ジョブアサイン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・評価への納得感</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・キャリアの不安</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・働き方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・自己理解</a:t>
            </a:r>
            <a:endParaRPr lang="en-US" altLang="ja-JP" sz="900" dirty="0">
              <a:latin typeface="Meiryo" charset="-128"/>
              <a:ea typeface="Meiryo" charset="-128"/>
              <a:cs typeface="Meiryo" charset="-128"/>
            </a:endParaRPr>
          </a:p>
        </p:txBody>
      </p:sp>
      <p:sp>
        <p:nvSpPr>
          <p:cNvPr id="122" name="正方形/長方形 121"/>
          <p:cNvSpPr/>
          <p:nvPr/>
        </p:nvSpPr>
        <p:spPr>
          <a:xfrm>
            <a:off x="7823005" y="3584771"/>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共有知</a:t>
            </a:r>
          </a:p>
        </p:txBody>
      </p:sp>
      <p:sp>
        <p:nvSpPr>
          <p:cNvPr id="123" name="正方形/長方形 122"/>
          <p:cNvSpPr/>
          <p:nvPr/>
        </p:nvSpPr>
        <p:spPr>
          <a:xfrm>
            <a:off x="9024992"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関係性</a:t>
            </a:r>
          </a:p>
        </p:txBody>
      </p:sp>
      <p:sp>
        <p:nvSpPr>
          <p:cNvPr id="124" name="正方形/長方形 123"/>
          <p:cNvSpPr/>
          <p:nvPr/>
        </p:nvSpPr>
        <p:spPr>
          <a:xfrm>
            <a:off x="10226979"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仕組み</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取り組み</a:t>
            </a:r>
          </a:p>
        </p:txBody>
      </p:sp>
      <p:cxnSp>
        <p:nvCxnSpPr>
          <p:cNvPr id="125" name="直線矢印コネクタ 124"/>
          <p:cNvCxnSpPr>
            <a:stCxn id="35" idx="2"/>
            <a:endCxn id="122" idx="0"/>
          </p:cNvCxnSpPr>
          <p:nvPr/>
        </p:nvCxnSpPr>
        <p:spPr>
          <a:xfrm flipH="1">
            <a:off x="8330149" y="3206169"/>
            <a:ext cx="1126301" cy="3786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線矢印コネクタ 125"/>
          <p:cNvCxnSpPr>
            <a:stCxn id="35" idx="2"/>
            <a:endCxn id="123" idx="0"/>
          </p:cNvCxnSpPr>
          <p:nvPr/>
        </p:nvCxnSpPr>
        <p:spPr>
          <a:xfrm>
            <a:off x="9456450" y="3206169"/>
            <a:ext cx="75686"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線矢印コネクタ 126"/>
          <p:cNvCxnSpPr>
            <a:stCxn id="35" idx="2"/>
            <a:endCxn id="124" idx="0"/>
          </p:cNvCxnSpPr>
          <p:nvPr/>
        </p:nvCxnSpPr>
        <p:spPr>
          <a:xfrm>
            <a:off x="9456450" y="3206169"/>
            <a:ext cx="1277673"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テキスト ボックス 127"/>
          <p:cNvSpPr txBox="1"/>
          <p:nvPr/>
        </p:nvSpPr>
        <p:spPr>
          <a:xfrm>
            <a:off x="7653317" y="4102770"/>
            <a:ext cx="1428424" cy="369332"/>
          </a:xfrm>
          <a:prstGeom prst="rect">
            <a:avLst/>
          </a:prstGeom>
          <a:noFill/>
        </p:spPr>
        <p:txBody>
          <a:bodyPr wrap="square" rtlCol="0">
            <a:spAutoFit/>
          </a:bodyPr>
          <a:lstStyle/>
          <a:p>
            <a:r>
              <a:rPr lang="ja-JP" altLang="en-US" sz="900" dirty="0">
                <a:latin typeface="Meiryo" charset="-128"/>
                <a:ea typeface="Meiryo" charset="-128"/>
                <a:cs typeface="Meiryo" charset="-128"/>
              </a:rPr>
              <a:t>・属人化</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・ノウハウが暗黙知</a:t>
            </a:r>
            <a:endParaRPr lang="en-US" altLang="ja-JP" sz="900" dirty="0">
              <a:latin typeface="Meiryo" charset="-128"/>
              <a:ea typeface="Meiryo" charset="-128"/>
              <a:cs typeface="Meiryo" charset="-128"/>
            </a:endParaRPr>
          </a:p>
        </p:txBody>
      </p:sp>
      <p:sp>
        <p:nvSpPr>
          <p:cNvPr id="129" name="テキスト ボックス 128"/>
          <p:cNvSpPr txBox="1"/>
          <p:nvPr/>
        </p:nvSpPr>
        <p:spPr>
          <a:xfrm>
            <a:off x="8896544" y="4090931"/>
            <a:ext cx="1542135" cy="1061829"/>
          </a:xfrm>
          <a:prstGeom prst="rect">
            <a:avLst/>
          </a:prstGeom>
          <a:noFill/>
        </p:spPr>
        <p:txBody>
          <a:bodyPr wrap="square" rtlCol="0">
            <a:spAutoFit/>
          </a:bodyPr>
          <a:lstStyle/>
          <a:p>
            <a:r>
              <a:rPr lang="ja-JP" altLang="en-US" sz="900" dirty="0">
                <a:latin typeface="Meiryo" charset="-128"/>
                <a:ea typeface="Meiryo" charset="-128"/>
                <a:cs typeface="Meiryo" charset="-128"/>
              </a:rPr>
              <a:t>・縦</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横</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組織間</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・セクショナリズム</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・事なかれ主義</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・厳しいフィードバック</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・多様性</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・他者理解</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・心理的安全性</a:t>
            </a:r>
            <a:endParaRPr lang="en-US" altLang="ja-JP" sz="900" dirty="0">
              <a:latin typeface="Meiryo" charset="-128"/>
              <a:ea typeface="Meiryo" charset="-128"/>
              <a:cs typeface="Meiryo" charset="-128"/>
            </a:endParaRPr>
          </a:p>
        </p:txBody>
      </p:sp>
      <p:sp>
        <p:nvSpPr>
          <p:cNvPr id="130" name="テキスト ボックス 129"/>
          <p:cNvSpPr txBox="1"/>
          <p:nvPr/>
        </p:nvSpPr>
        <p:spPr>
          <a:xfrm>
            <a:off x="10170476" y="4102770"/>
            <a:ext cx="1655846" cy="507831"/>
          </a:xfrm>
          <a:prstGeom prst="rect">
            <a:avLst/>
          </a:prstGeom>
          <a:noFill/>
        </p:spPr>
        <p:txBody>
          <a:bodyPr wrap="square" rtlCol="0">
            <a:spAutoFit/>
          </a:bodyPr>
          <a:lstStyle/>
          <a:p>
            <a:r>
              <a:rPr lang="ja-JP" altLang="en-US" sz="900" dirty="0">
                <a:latin typeface="Meiryo" charset="-128"/>
                <a:ea typeface="Meiryo" charset="-128"/>
                <a:cs typeface="Meiryo" charset="-128"/>
              </a:rPr>
              <a:t>・組織としてのルール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・ボトムアップの取り組み</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90" name="二等辺三角形 89"/>
          <p:cNvSpPr/>
          <p:nvPr/>
        </p:nvSpPr>
        <p:spPr>
          <a:xfrm rot="10800000">
            <a:off x="4244458" y="5174610"/>
            <a:ext cx="3437816" cy="27827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p:cNvSpPr/>
          <p:nvPr/>
        </p:nvSpPr>
        <p:spPr>
          <a:xfrm>
            <a:off x="1196820" y="6230626"/>
            <a:ext cx="93847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退職者が多い</a:t>
            </a:r>
          </a:p>
        </p:txBody>
      </p:sp>
      <p:sp>
        <p:nvSpPr>
          <p:cNvPr id="131" name="楕円 130"/>
          <p:cNvSpPr/>
          <p:nvPr/>
        </p:nvSpPr>
        <p:spPr>
          <a:xfrm>
            <a:off x="2490649"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心理的安全性が低い</a:t>
            </a:r>
          </a:p>
        </p:txBody>
      </p:sp>
      <p:sp>
        <p:nvSpPr>
          <p:cNvPr id="132" name="楕円 131"/>
          <p:cNvSpPr/>
          <p:nvPr/>
        </p:nvSpPr>
        <p:spPr>
          <a:xfrm>
            <a:off x="3918091"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主体性が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無い</a:t>
            </a:r>
          </a:p>
        </p:txBody>
      </p:sp>
      <p:sp>
        <p:nvSpPr>
          <p:cNvPr id="133" name="楕円 132"/>
          <p:cNvSpPr/>
          <p:nvPr/>
        </p:nvSpPr>
        <p:spPr>
          <a:xfrm>
            <a:off x="5357796" y="6294149"/>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蛸壺化</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している</a:t>
            </a:r>
          </a:p>
        </p:txBody>
      </p:sp>
      <p:sp>
        <p:nvSpPr>
          <p:cNvPr id="134" name="楕円 133"/>
          <p:cNvSpPr/>
          <p:nvPr/>
        </p:nvSpPr>
        <p:spPr>
          <a:xfrm>
            <a:off x="5550555" y="5801926"/>
            <a:ext cx="1208068"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成長しない</a:t>
            </a:r>
          </a:p>
        </p:txBody>
      </p:sp>
      <p:sp>
        <p:nvSpPr>
          <p:cNvPr id="135" name="楕円 134"/>
          <p:cNvSpPr/>
          <p:nvPr/>
        </p:nvSpPr>
        <p:spPr>
          <a:xfrm>
            <a:off x="7044047" y="5758015"/>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組織が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ぬるい</a:t>
            </a:r>
          </a:p>
        </p:txBody>
      </p:sp>
      <p:sp>
        <p:nvSpPr>
          <p:cNvPr id="136" name="楕円 135"/>
          <p:cNvSpPr/>
          <p:nvPr/>
        </p:nvSpPr>
        <p:spPr>
          <a:xfrm>
            <a:off x="8592136" y="57038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モチベーションが低い</a:t>
            </a:r>
          </a:p>
        </p:txBody>
      </p:sp>
      <p:sp>
        <p:nvSpPr>
          <p:cNvPr id="137" name="楕円 136"/>
          <p:cNvSpPr/>
          <p:nvPr/>
        </p:nvSpPr>
        <p:spPr>
          <a:xfrm>
            <a:off x="9691513" y="6289098"/>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なんとなく</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暗い</a:t>
            </a:r>
          </a:p>
        </p:txBody>
      </p:sp>
      <p:sp>
        <p:nvSpPr>
          <p:cNvPr id="138" name="楕円 137"/>
          <p:cNvSpPr/>
          <p:nvPr/>
        </p:nvSpPr>
        <p:spPr>
          <a:xfrm>
            <a:off x="8256425" y="6289099"/>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悪口ばかり</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言う</a:t>
            </a:r>
          </a:p>
        </p:txBody>
      </p:sp>
      <p:sp>
        <p:nvSpPr>
          <p:cNvPr id="139" name="楕円 138"/>
          <p:cNvSpPr/>
          <p:nvPr/>
        </p:nvSpPr>
        <p:spPr>
          <a:xfrm>
            <a:off x="6911342" y="6297545"/>
            <a:ext cx="1107433"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先が見えない</a:t>
            </a:r>
          </a:p>
        </p:txBody>
      </p:sp>
      <p:sp>
        <p:nvSpPr>
          <p:cNvPr id="140" name="楕円 139"/>
          <p:cNvSpPr/>
          <p:nvPr/>
        </p:nvSpPr>
        <p:spPr>
          <a:xfrm>
            <a:off x="4053055" y="57374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昔の方が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良かった</a:t>
            </a:r>
          </a:p>
        </p:txBody>
      </p:sp>
      <p:sp>
        <p:nvSpPr>
          <p:cNvPr id="141" name="楕円 140"/>
          <p:cNvSpPr/>
          <p:nvPr/>
        </p:nvSpPr>
        <p:spPr>
          <a:xfrm>
            <a:off x="2664671" y="5678500"/>
            <a:ext cx="1294780"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いそがしい</a:t>
            </a:r>
          </a:p>
        </p:txBody>
      </p:sp>
      <p:sp>
        <p:nvSpPr>
          <p:cNvPr id="142" name="楕円 141"/>
          <p:cNvSpPr/>
          <p:nvPr/>
        </p:nvSpPr>
        <p:spPr>
          <a:xfrm>
            <a:off x="1522343" y="5709138"/>
            <a:ext cx="1090264"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人が足りない</a:t>
            </a:r>
          </a:p>
        </p:txBody>
      </p:sp>
      <p:sp>
        <p:nvSpPr>
          <p:cNvPr id="143" name="正方形/長方形 142"/>
          <p:cNvSpPr/>
          <p:nvPr/>
        </p:nvSpPr>
        <p:spPr>
          <a:xfrm>
            <a:off x="3580904"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全社戦略</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44" name="直線矢印コネクタ 143"/>
          <p:cNvCxnSpPr>
            <a:stCxn id="143" idx="3"/>
            <a:endCxn id="2" idx="1"/>
          </p:cNvCxnSpPr>
          <p:nvPr/>
        </p:nvCxnSpPr>
        <p:spPr>
          <a:xfrm>
            <a:off x="4740401"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2" name="テキスト ボックス 151"/>
          <p:cNvSpPr txBox="1"/>
          <p:nvPr/>
        </p:nvSpPr>
        <p:spPr>
          <a:xfrm>
            <a:off x="3475926" y="1348626"/>
            <a:ext cx="1377010" cy="5078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・納得できていない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153" name="正方形/長方形 152"/>
          <p:cNvSpPr/>
          <p:nvPr/>
        </p:nvSpPr>
        <p:spPr>
          <a:xfrm>
            <a:off x="1778190"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ホールディングス</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54" name="直線矢印コネクタ 153"/>
          <p:cNvCxnSpPr>
            <a:stCxn id="153" idx="3"/>
            <a:endCxn id="143" idx="1"/>
          </p:cNvCxnSpPr>
          <p:nvPr/>
        </p:nvCxnSpPr>
        <p:spPr>
          <a:xfrm>
            <a:off x="2937687"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テキスト ボックス 156"/>
          <p:cNvSpPr txBox="1"/>
          <p:nvPr/>
        </p:nvSpPr>
        <p:spPr>
          <a:xfrm>
            <a:off x="1758380" y="1349189"/>
            <a:ext cx="1545255" cy="230832"/>
          </a:xfrm>
          <a:prstGeom prst="rect">
            <a:avLst/>
          </a:prstGeom>
          <a:noFill/>
        </p:spPr>
        <p:txBody>
          <a:bodyPr wrap="square" rtlCol="0">
            <a:spAutoFit/>
          </a:bodyPr>
          <a:lstStyle/>
          <a:p>
            <a:r>
              <a:rPr lang="ja-JP" altLang="en-US" sz="900" dirty="0">
                <a:latin typeface="Meiryo" charset="-128"/>
                <a:ea typeface="Meiryo" charset="-128"/>
                <a:cs typeface="Meiryo" charset="-128"/>
              </a:rPr>
              <a:t>・整合性とれているか？</a:t>
            </a:r>
          </a:p>
        </p:txBody>
      </p:sp>
      <p:sp>
        <p:nvSpPr>
          <p:cNvPr id="74" name="テキスト ボックス 73"/>
          <p:cNvSpPr txBox="1"/>
          <p:nvPr/>
        </p:nvSpPr>
        <p:spPr>
          <a:xfrm>
            <a:off x="8495610" y="785131"/>
            <a:ext cx="2933516" cy="369332"/>
          </a:xfrm>
          <a:prstGeom prst="rect">
            <a:avLst/>
          </a:prstGeom>
          <a:noFill/>
        </p:spPr>
        <p:txBody>
          <a:bodyPr wrap="square" rtlCol="0">
            <a:spAutoFit/>
          </a:bodyPr>
          <a:lstStyle/>
          <a:p>
            <a:r>
              <a:rPr lang="ja-JP" altLang="en-US" sz="1800" b="1" dirty="0">
                <a:solidFill>
                  <a:srgbClr val="00B050"/>
                </a:solidFill>
                <a:latin typeface="Meiryo" charset="-128"/>
                <a:ea typeface="Meiryo" charset="-128"/>
                <a:cs typeface="Meiryo" charset="-128"/>
              </a:rPr>
              <a:t>北極星はどこだ？ゾーン</a:t>
            </a:r>
          </a:p>
        </p:txBody>
      </p:sp>
      <p:sp>
        <p:nvSpPr>
          <p:cNvPr id="76" name="テキスト ボックス 75"/>
          <p:cNvSpPr txBox="1"/>
          <p:nvPr/>
        </p:nvSpPr>
        <p:spPr>
          <a:xfrm>
            <a:off x="145290" y="5226210"/>
            <a:ext cx="3197373" cy="369332"/>
          </a:xfrm>
          <a:prstGeom prst="rect">
            <a:avLst/>
          </a:prstGeom>
          <a:noFill/>
        </p:spPr>
        <p:txBody>
          <a:bodyPr wrap="square" rtlCol="0">
            <a:spAutoFit/>
          </a:bodyPr>
          <a:lstStyle/>
          <a:p>
            <a:r>
              <a:rPr lang="ja-JP" altLang="en-US" sz="1800" b="1" dirty="0">
                <a:solidFill>
                  <a:srgbClr val="FF0000"/>
                </a:solidFill>
                <a:latin typeface="Meiryo" charset="-128"/>
                <a:ea typeface="Meiryo" charset="-128"/>
                <a:cs typeface="Meiryo" charset="-128"/>
              </a:rPr>
              <a:t>「人材」「人財」活用ゾーン</a:t>
            </a:r>
          </a:p>
        </p:txBody>
      </p:sp>
      <p:sp>
        <p:nvSpPr>
          <p:cNvPr id="85" name="テキスト ボックス 84"/>
          <p:cNvSpPr txBox="1"/>
          <p:nvPr/>
        </p:nvSpPr>
        <p:spPr>
          <a:xfrm>
            <a:off x="3224645" y="4811558"/>
            <a:ext cx="2933516" cy="369332"/>
          </a:xfrm>
          <a:prstGeom prst="rect">
            <a:avLst/>
          </a:prstGeom>
          <a:noFill/>
          <a:ln>
            <a:noFill/>
          </a:ln>
        </p:spPr>
        <p:txBody>
          <a:bodyPr wrap="square" rtlCol="0">
            <a:spAutoFit/>
          </a:bodyPr>
          <a:lstStyle/>
          <a:p>
            <a:r>
              <a:rPr lang="ja-JP" altLang="en-US" sz="1800" b="1" dirty="0">
                <a:solidFill>
                  <a:srgbClr val="0070C0"/>
                </a:solidFill>
                <a:latin typeface="Meiryo" charset="-128"/>
                <a:ea typeface="Meiryo" charset="-128"/>
                <a:cs typeface="Meiryo" charset="-128"/>
              </a:rPr>
              <a:t>業務直結課題解決ゾーン</a:t>
            </a:r>
          </a:p>
        </p:txBody>
      </p:sp>
      <p:sp>
        <p:nvSpPr>
          <p:cNvPr id="8" name="フッター プレースホルダー 7"/>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30421587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79" name="楕円 78"/>
          <p:cNvSpPr/>
          <p:nvPr/>
        </p:nvSpPr>
        <p:spPr>
          <a:xfrm rot="15071171">
            <a:off x="7668846" y="2618245"/>
            <a:ext cx="3630934" cy="2631643"/>
          </a:xfrm>
          <a:prstGeom prst="ellipse">
            <a:avLst/>
          </a:prstGeom>
          <a:solidFill>
            <a:schemeClr val="accent4">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p:cNvSpPr/>
          <p:nvPr/>
        </p:nvSpPr>
        <p:spPr>
          <a:xfrm rot="17058800">
            <a:off x="3536425" y="2775114"/>
            <a:ext cx="3630934" cy="2631643"/>
          </a:xfrm>
          <a:prstGeom prst="ellipse">
            <a:avLst/>
          </a:prstGeom>
          <a:solidFill>
            <a:schemeClr val="accent1">
              <a:lumMod val="40000"/>
              <a:lumOff val="6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p:cNvSpPr/>
          <p:nvPr/>
        </p:nvSpPr>
        <p:spPr>
          <a:xfrm rot="18533955">
            <a:off x="-287640" y="3142099"/>
            <a:ext cx="4025633" cy="1869894"/>
          </a:xfrm>
          <a:prstGeom prst="ellipse">
            <a:avLst/>
          </a:prstGeom>
          <a:solidFill>
            <a:srgbClr val="FF0000">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p:cNvSpPr/>
          <p:nvPr/>
        </p:nvSpPr>
        <p:spPr>
          <a:xfrm>
            <a:off x="1612049" y="486137"/>
            <a:ext cx="8427230" cy="1869894"/>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p:cNvSpPr txBox="1"/>
          <p:nvPr/>
        </p:nvSpPr>
        <p:spPr>
          <a:xfrm>
            <a:off x="486575" y="127937"/>
            <a:ext cx="9854441" cy="523220"/>
          </a:xfrm>
          <a:prstGeom prst="rect">
            <a:avLst/>
          </a:prstGeom>
          <a:noFill/>
        </p:spPr>
        <p:txBody>
          <a:bodyPr wrap="square" rtlCol="0">
            <a:spAutoFit/>
          </a:bodyPr>
          <a:lstStyle/>
          <a:p>
            <a:r>
              <a:rPr lang="ja-JP" altLang="en-US" sz="2800" b="1" dirty="0">
                <a:latin typeface="Meiryo" charset="-128"/>
                <a:ea typeface="Meiryo" charset="-128"/>
                <a:cs typeface="Meiryo" charset="-128"/>
              </a:rPr>
              <a:t>組織課題の見立て（私の場合）</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67</a:t>
            </a:fld>
            <a:endParaRPr lang="ja-JP" altLang="en-US">
              <a:uFillTx/>
            </a:endParaRPr>
          </a:p>
        </p:txBody>
      </p:sp>
      <p:sp>
        <p:nvSpPr>
          <p:cNvPr id="2" name="正方形/長方形 1"/>
          <p:cNvSpPr/>
          <p:nvPr/>
        </p:nvSpPr>
        <p:spPr>
          <a:xfrm>
            <a:off x="5383618"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ミッション・ビジョンへの課題</a:t>
            </a:r>
          </a:p>
        </p:txBody>
      </p:sp>
      <p:sp>
        <p:nvSpPr>
          <p:cNvPr id="30" name="テキスト ボックス 29"/>
          <p:cNvSpPr txBox="1"/>
          <p:nvPr/>
        </p:nvSpPr>
        <p:spPr>
          <a:xfrm>
            <a:off x="6476055" y="769893"/>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err="1">
                <a:latin typeface="Meiryo" charset="-128"/>
                <a:ea typeface="Meiryo" charset="-128"/>
                <a:cs typeface="Meiryo" charset="-128"/>
              </a:rPr>
              <a:t>に納</a:t>
            </a:r>
            <a:r>
              <a:rPr lang="ja-JP" altLang="en-US" sz="900" dirty="0">
                <a:latin typeface="Meiryo" charset="-128"/>
                <a:ea typeface="Meiryo" charset="-128"/>
                <a:cs typeface="Meiryo" charset="-128"/>
              </a:rPr>
              <a:t>得いかない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が浸透していない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MVV</a:t>
            </a:r>
            <a:r>
              <a:rPr lang="ja-JP" altLang="en-US" sz="900" dirty="0">
                <a:latin typeface="Meiryo" charset="-128"/>
                <a:ea typeface="Meiryo" charset="-128"/>
                <a:cs typeface="Meiryo" charset="-128"/>
              </a:rPr>
              <a:t>伝わっていない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伝えられていない</a:t>
            </a:r>
          </a:p>
        </p:txBody>
      </p:sp>
      <p:sp>
        <p:nvSpPr>
          <p:cNvPr id="31" name="正方形/長方形 30"/>
          <p:cNvSpPr/>
          <p:nvPr/>
        </p:nvSpPr>
        <p:spPr>
          <a:xfrm>
            <a:off x="5383618" y="1663075"/>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戦略への課題</a:t>
            </a:r>
          </a:p>
        </p:txBody>
      </p:sp>
      <p:sp>
        <p:nvSpPr>
          <p:cNvPr id="32" name="テキスト ボックス 31"/>
          <p:cNvSpPr txBox="1"/>
          <p:nvPr/>
        </p:nvSpPr>
        <p:spPr>
          <a:xfrm>
            <a:off x="6476055" y="1663075"/>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実現のやり方が見えない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実現のやり方が現実的じゃない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納得感が無い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・目指す指標がわからない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33" name="正方形/長方形 32"/>
          <p:cNvSpPr/>
          <p:nvPr/>
        </p:nvSpPr>
        <p:spPr>
          <a:xfrm>
            <a:off x="888046"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人の課題</a:t>
            </a:r>
          </a:p>
        </p:txBody>
      </p:sp>
      <p:sp>
        <p:nvSpPr>
          <p:cNvPr id="34" name="正方形/長方形 33"/>
          <p:cNvSpPr/>
          <p:nvPr/>
        </p:nvSpPr>
        <p:spPr>
          <a:xfrm>
            <a:off x="4512401"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業務推進の課題</a:t>
            </a:r>
          </a:p>
        </p:txBody>
      </p:sp>
      <p:sp>
        <p:nvSpPr>
          <p:cNvPr id="35" name="正方形/長方形 34"/>
          <p:cNvSpPr/>
          <p:nvPr/>
        </p:nvSpPr>
        <p:spPr>
          <a:xfrm>
            <a:off x="8248553" y="2763109"/>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組織の課題</a:t>
            </a:r>
          </a:p>
        </p:txBody>
      </p:sp>
      <p:sp>
        <p:nvSpPr>
          <p:cNvPr id="38" name="正方形/長方形 37"/>
          <p:cNvSpPr/>
          <p:nvPr/>
        </p:nvSpPr>
        <p:spPr>
          <a:xfrm>
            <a:off x="1903641"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人材要件</a:t>
            </a:r>
          </a:p>
        </p:txBody>
      </p:sp>
      <p:sp>
        <p:nvSpPr>
          <p:cNvPr id="40" name="正方形/長方形 39"/>
          <p:cNvSpPr/>
          <p:nvPr/>
        </p:nvSpPr>
        <p:spPr>
          <a:xfrm>
            <a:off x="552969"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要員計画</a:t>
            </a:r>
          </a:p>
        </p:txBody>
      </p:sp>
      <p:cxnSp>
        <p:nvCxnSpPr>
          <p:cNvPr id="13" name="直線矢印コネクタ 12"/>
          <p:cNvCxnSpPr>
            <a:stCxn id="33" idx="2"/>
            <a:endCxn id="38" idx="0"/>
          </p:cNvCxnSpPr>
          <p:nvPr/>
        </p:nvCxnSpPr>
        <p:spPr>
          <a:xfrm>
            <a:off x="2095943" y="3202002"/>
            <a:ext cx="314842"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a:stCxn id="33" idx="2"/>
            <a:endCxn id="40" idx="0"/>
          </p:cNvCxnSpPr>
          <p:nvPr/>
        </p:nvCxnSpPr>
        <p:spPr>
          <a:xfrm flipH="1">
            <a:off x="1060113" y="3202002"/>
            <a:ext cx="1035830"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テキスト ボックス 50"/>
          <p:cNvSpPr txBox="1"/>
          <p:nvPr/>
        </p:nvSpPr>
        <p:spPr>
          <a:xfrm>
            <a:off x="2483389" y="3312283"/>
            <a:ext cx="820450" cy="230832"/>
          </a:xfrm>
          <a:prstGeom prst="rect">
            <a:avLst/>
          </a:prstGeom>
          <a:noFill/>
        </p:spPr>
        <p:txBody>
          <a:bodyPr wrap="square" rtlCol="0">
            <a:spAutoFit/>
          </a:bodyPr>
          <a:lstStyle/>
          <a:p>
            <a:r>
              <a:rPr lang="ja-JP" altLang="en-US" sz="900" dirty="0">
                <a:latin typeface="Meiryo" charset="-128"/>
                <a:ea typeface="Meiryo" charset="-128"/>
                <a:cs typeface="Meiryo" charset="-128"/>
              </a:rPr>
              <a:t>質の課題</a:t>
            </a:r>
          </a:p>
        </p:txBody>
      </p:sp>
      <p:sp>
        <p:nvSpPr>
          <p:cNvPr id="52" name="テキスト ボックス 51"/>
          <p:cNvSpPr txBox="1"/>
          <p:nvPr/>
        </p:nvSpPr>
        <p:spPr>
          <a:xfrm>
            <a:off x="777495" y="3312283"/>
            <a:ext cx="834554" cy="230832"/>
          </a:xfrm>
          <a:prstGeom prst="rect">
            <a:avLst/>
          </a:prstGeom>
          <a:noFill/>
        </p:spPr>
        <p:txBody>
          <a:bodyPr wrap="square" rtlCol="0">
            <a:spAutoFit/>
          </a:bodyPr>
          <a:lstStyle/>
          <a:p>
            <a:r>
              <a:rPr lang="ja-JP" altLang="en-US" sz="900" dirty="0">
                <a:latin typeface="Meiryo" charset="-128"/>
                <a:ea typeface="Meiryo" charset="-128"/>
                <a:cs typeface="Meiryo" charset="-128"/>
              </a:rPr>
              <a:t>量の課題</a:t>
            </a:r>
          </a:p>
        </p:txBody>
      </p:sp>
      <p:sp>
        <p:nvSpPr>
          <p:cNvPr id="55" name="正方形/長方形 54"/>
          <p:cNvSpPr/>
          <p:nvPr/>
        </p:nvSpPr>
        <p:spPr>
          <a:xfrm>
            <a:off x="3744853"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トップレイヤ</a:t>
            </a:r>
          </a:p>
        </p:txBody>
      </p:sp>
      <p:sp>
        <p:nvSpPr>
          <p:cNvPr id="56" name="正方形/長方形 55"/>
          <p:cNvSpPr/>
          <p:nvPr/>
        </p:nvSpPr>
        <p:spPr>
          <a:xfrm>
            <a:off x="4950719"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ミドルレイヤ</a:t>
            </a:r>
          </a:p>
        </p:txBody>
      </p:sp>
      <p:sp>
        <p:nvSpPr>
          <p:cNvPr id="57" name="正方形/長方形 56"/>
          <p:cNvSpPr/>
          <p:nvPr/>
        </p:nvSpPr>
        <p:spPr>
          <a:xfrm>
            <a:off x="6156588"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ボトムレイヤ</a:t>
            </a:r>
          </a:p>
        </p:txBody>
      </p:sp>
      <p:cxnSp>
        <p:nvCxnSpPr>
          <p:cNvPr id="61" name="直線矢印コネクタ 60"/>
          <p:cNvCxnSpPr>
            <a:stCxn id="34" idx="2"/>
            <a:endCxn id="55" idx="0"/>
          </p:cNvCxnSpPr>
          <p:nvPr/>
        </p:nvCxnSpPr>
        <p:spPr>
          <a:xfrm flipH="1">
            <a:off x="4251997" y="3202002"/>
            <a:ext cx="1468301"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直線矢印コネクタ 63"/>
          <p:cNvCxnSpPr>
            <a:stCxn id="34" idx="2"/>
            <a:endCxn id="56" idx="0"/>
          </p:cNvCxnSpPr>
          <p:nvPr/>
        </p:nvCxnSpPr>
        <p:spPr>
          <a:xfrm flipH="1">
            <a:off x="5457863" y="3202002"/>
            <a:ext cx="262435"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矢印コネクタ 66"/>
          <p:cNvCxnSpPr>
            <a:stCxn id="34" idx="2"/>
            <a:endCxn id="57" idx="0"/>
          </p:cNvCxnSpPr>
          <p:nvPr/>
        </p:nvCxnSpPr>
        <p:spPr>
          <a:xfrm>
            <a:off x="5720298" y="3202002"/>
            <a:ext cx="943434"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852430" y="3250259"/>
            <a:ext cx="820450" cy="369332"/>
          </a:xfrm>
          <a:prstGeom prst="rect">
            <a:avLst/>
          </a:prstGeom>
          <a:noFill/>
        </p:spPr>
        <p:txBody>
          <a:bodyPr wrap="square" rtlCol="0">
            <a:spAutoFit/>
          </a:bodyPr>
          <a:lstStyle/>
          <a:p>
            <a:r>
              <a:rPr lang="ja-JP" altLang="en-US" sz="900" dirty="0">
                <a:latin typeface="Meiryo" charset="-128"/>
                <a:ea typeface="Meiryo" charset="-128"/>
                <a:cs typeface="Meiryo" charset="-128"/>
              </a:rPr>
              <a:t>意思決定者の課題</a:t>
            </a:r>
          </a:p>
        </p:txBody>
      </p:sp>
      <p:sp>
        <p:nvSpPr>
          <p:cNvPr id="71" name="テキスト ボックス 70"/>
          <p:cNvSpPr txBox="1"/>
          <p:nvPr/>
        </p:nvSpPr>
        <p:spPr>
          <a:xfrm>
            <a:off x="4752315" y="3250259"/>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マネジメントの課題</a:t>
            </a:r>
          </a:p>
        </p:txBody>
      </p:sp>
      <p:sp>
        <p:nvSpPr>
          <p:cNvPr id="72" name="テキスト ボックス 71"/>
          <p:cNvSpPr txBox="1"/>
          <p:nvPr/>
        </p:nvSpPr>
        <p:spPr>
          <a:xfrm>
            <a:off x="6473485" y="3243033"/>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社員としての課題</a:t>
            </a:r>
          </a:p>
        </p:txBody>
      </p:sp>
      <p:sp>
        <p:nvSpPr>
          <p:cNvPr id="73" name="テキスト ボックス 72"/>
          <p:cNvSpPr txBox="1"/>
          <p:nvPr/>
        </p:nvSpPr>
        <p:spPr>
          <a:xfrm>
            <a:off x="3475926" y="4108429"/>
            <a:ext cx="1428424" cy="646331"/>
          </a:xfrm>
          <a:prstGeom prst="rect">
            <a:avLst/>
          </a:prstGeom>
          <a:noFill/>
        </p:spPr>
        <p:txBody>
          <a:bodyPr wrap="square" rtlCol="0">
            <a:spAutoFit/>
          </a:bodyPr>
          <a:lstStyle/>
          <a:p>
            <a:r>
              <a:rPr lang="ja-JP" altLang="en-US" sz="900" dirty="0">
                <a:latin typeface="Meiryo" charset="-128"/>
                <a:ea typeface="Meiryo" charset="-128"/>
                <a:cs typeface="Meiryo" charset="-128"/>
              </a:rPr>
              <a:t>・意思決定のプロセス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・役割の認識</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・後継者人材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のメッセージング</a:t>
            </a:r>
            <a:endParaRPr lang="en-US" altLang="ja-JP" sz="900" dirty="0">
              <a:latin typeface="Meiryo" charset="-128"/>
              <a:ea typeface="Meiryo" charset="-128"/>
              <a:cs typeface="Meiryo" charset="-128"/>
            </a:endParaRPr>
          </a:p>
        </p:txBody>
      </p:sp>
      <p:cxnSp>
        <p:nvCxnSpPr>
          <p:cNvPr id="83" name="直線矢印コネクタ 82"/>
          <p:cNvCxnSpPr>
            <a:stCxn id="31" idx="2"/>
            <a:endCxn id="33" idx="0"/>
          </p:cNvCxnSpPr>
          <p:nvPr/>
        </p:nvCxnSpPr>
        <p:spPr>
          <a:xfrm flipH="1">
            <a:off x="2095943" y="2106135"/>
            <a:ext cx="3867424"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a:stCxn id="31" idx="2"/>
            <a:endCxn id="34" idx="0"/>
          </p:cNvCxnSpPr>
          <p:nvPr/>
        </p:nvCxnSpPr>
        <p:spPr>
          <a:xfrm flipH="1">
            <a:off x="5720298" y="2106135"/>
            <a:ext cx="243069"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a:stCxn id="31" idx="2"/>
            <a:endCxn id="35" idx="0"/>
          </p:cNvCxnSpPr>
          <p:nvPr/>
        </p:nvCxnSpPr>
        <p:spPr>
          <a:xfrm>
            <a:off x="5963367" y="2106135"/>
            <a:ext cx="3493083" cy="65697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直線矢印コネクタ 113"/>
          <p:cNvCxnSpPr>
            <a:stCxn id="2" idx="2"/>
            <a:endCxn id="31" idx="0"/>
          </p:cNvCxnSpPr>
          <p:nvPr/>
        </p:nvCxnSpPr>
        <p:spPr>
          <a:xfrm>
            <a:off x="5963367" y="1293978"/>
            <a:ext cx="0" cy="36909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 name="テキスト ボックス 114"/>
          <p:cNvSpPr txBox="1"/>
          <p:nvPr/>
        </p:nvSpPr>
        <p:spPr>
          <a:xfrm>
            <a:off x="334985" y="4113503"/>
            <a:ext cx="1450254" cy="1061829"/>
          </a:xfrm>
          <a:prstGeom prst="rect">
            <a:avLst/>
          </a:prstGeom>
          <a:noFill/>
        </p:spPr>
        <p:txBody>
          <a:bodyPr wrap="square" rtlCol="0">
            <a:spAutoFit/>
          </a:bodyPr>
          <a:lstStyle/>
          <a:p>
            <a:r>
              <a:rPr lang="ja-JP" altLang="en-US" sz="900" dirty="0">
                <a:latin typeface="Meiryo" charset="-128"/>
                <a:ea typeface="Meiryo" charset="-128"/>
                <a:cs typeface="Meiryo" charset="-128"/>
              </a:rPr>
              <a:t>・採用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・異動</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・リテンション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・人件費</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・タレントマネジメント</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・育てるか、採るか</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116" name="テキスト ボックス 115"/>
          <p:cNvSpPr txBox="1"/>
          <p:nvPr/>
        </p:nvSpPr>
        <p:spPr>
          <a:xfrm>
            <a:off x="1845300" y="4108429"/>
            <a:ext cx="1458336" cy="1200329"/>
          </a:xfrm>
          <a:prstGeom prst="rect">
            <a:avLst/>
          </a:prstGeom>
          <a:noFill/>
        </p:spPr>
        <p:txBody>
          <a:bodyPr wrap="square" rtlCol="0">
            <a:spAutoFit/>
          </a:bodyPr>
          <a:lstStyle/>
          <a:p>
            <a:r>
              <a:rPr lang="ja-JP" altLang="en-US" sz="900" dirty="0">
                <a:latin typeface="Meiryo" charset="-128"/>
                <a:ea typeface="Meiryo" charset="-128"/>
                <a:cs typeface="Meiryo" charset="-128"/>
              </a:rPr>
              <a:t>・評価</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・報酬</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・登用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・人材開発</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・優秀人材の活かし方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・代謝人材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・成長</a:t>
            </a:r>
            <a:endParaRPr lang="en-US" altLang="ja-JP" sz="900" dirty="0">
              <a:latin typeface="Meiryo" charset="-128"/>
              <a:ea typeface="Meiryo" charset="-128"/>
              <a:cs typeface="Meiryo" charset="-128"/>
            </a:endParaRPr>
          </a:p>
        </p:txBody>
      </p:sp>
      <p:sp>
        <p:nvSpPr>
          <p:cNvPr id="117" name="テキスト ボックス 116"/>
          <p:cNvSpPr txBox="1"/>
          <p:nvPr/>
        </p:nvSpPr>
        <p:spPr>
          <a:xfrm>
            <a:off x="4837250" y="4108429"/>
            <a:ext cx="1428424" cy="784830"/>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err="1">
                <a:latin typeface="Meiryo" charset="-128"/>
                <a:ea typeface="Meiryo" charset="-128"/>
                <a:cs typeface="Meiryo" charset="-128"/>
              </a:rPr>
              <a:t>SoC</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・基礎知識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・戦略の翻訳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・評価者教育</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・部下育成</a:t>
            </a:r>
            <a:endParaRPr lang="en-US" altLang="ja-JP" sz="900" dirty="0">
              <a:latin typeface="Meiryo" charset="-128"/>
              <a:ea typeface="Meiryo" charset="-128"/>
              <a:cs typeface="Meiryo" charset="-128"/>
            </a:endParaRPr>
          </a:p>
        </p:txBody>
      </p:sp>
      <p:sp>
        <p:nvSpPr>
          <p:cNvPr id="118" name="テキスト ボックス 117"/>
          <p:cNvSpPr txBox="1"/>
          <p:nvPr/>
        </p:nvSpPr>
        <p:spPr>
          <a:xfrm>
            <a:off x="316748" y="2325946"/>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どんな人がどこにどれくらい必要か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適所適材がどの程度実現できているか</a:t>
            </a:r>
          </a:p>
        </p:txBody>
      </p:sp>
      <p:sp>
        <p:nvSpPr>
          <p:cNvPr id="119" name="テキスト ボックス 118"/>
          <p:cNvSpPr txBox="1"/>
          <p:nvPr/>
        </p:nvSpPr>
        <p:spPr>
          <a:xfrm>
            <a:off x="3871640" y="2356031"/>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日々の仕事を円滑に進められるか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納得感をもって仕事ができるか</a:t>
            </a:r>
            <a:endParaRPr lang="en-US" altLang="ja-JP" sz="900" dirty="0">
              <a:latin typeface="Meiryo" charset="-128"/>
              <a:ea typeface="Meiryo" charset="-128"/>
              <a:cs typeface="Meiryo" charset="-128"/>
            </a:endParaRPr>
          </a:p>
        </p:txBody>
      </p:sp>
      <p:sp>
        <p:nvSpPr>
          <p:cNvPr id="120" name="テキスト ボックス 119"/>
          <p:cNvSpPr txBox="1"/>
          <p:nvPr/>
        </p:nvSpPr>
        <p:spPr>
          <a:xfrm>
            <a:off x="9131540" y="2320049"/>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個人の集合ではなく組織として</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機能しているか</a:t>
            </a:r>
          </a:p>
        </p:txBody>
      </p:sp>
      <p:sp>
        <p:nvSpPr>
          <p:cNvPr id="121" name="テキスト ボックス 120"/>
          <p:cNvSpPr txBox="1"/>
          <p:nvPr/>
        </p:nvSpPr>
        <p:spPr>
          <a:xfrm>
            <a:off x="6080477" y="4108429"/>
            <a:ext cx="1428424" cy="923330"/>
          </a:xfrm>
          <a:prstGeom prst="rect">
            <a:avLst/>
          </a:prstGeom>
          <a:noFill/>
        </p:spPr>
        <p:txBody>
          <a:bodyPr wrap="square" rtlCol="0">
            <a:spAutoFit/>
          </a:bodyPr>
          <a:lstStyle/>
          <a:p>
            <a:r>
              <a:rPr lang="ja-JP" altLang="en-US" sz="900" dirty="0">
                <a:latin typeface="Meiryo" charset="-128"/>
                <a:ea typeface="Meiryo" charset="-128"/>
                <a:cs typeface="Meiryo" charset="-128"/>
              </a:rPr>
              <a:t>・知識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・ジョブアサイン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・評価への納得感</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・キャリアの不安</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・働き方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・自己理解</a:t>
            </a:r>
            <a:endParaRPr lang="en-US" altLang="ja-JP" sz="900" dirty="0">
              <a:latin typeface="Meiryo" charset="-128"/>
              <a:ea typeface="Meiryo" charset="-128"/>
              <a:cs typeface="Meiryo" charset="-128"/>
            </a:endParaRPr>
          </a:p>
        </p:txBody>
      </p:sp>
      <p:sp>
        <p:nvSpPr>
          <p:cNvPr id="122" name="正方形/長方形 121"/>
          <p:cNvSpPr/>
          <p:nvPr/>
        </p:nvSpPr>
        <p:spPr>
          <a:xfrm>
            <a:off x="7823005" y="3584771"/>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共有知</a:t>
            </a:r>
          </a:p>
        </p:txBody>
      </p:sp>
      <p:sp>
        <p:nvSpPr>
          <p:cNvPr id="123" name="正方形/長方形 122"/>
          <p:cNvSpPr/>
          <p:nvPr/>
        </p:nvSpPr>
        <p:spPr>
          <a:xfrm>
            <a:off x="9024992"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関係性</a:t>
            </a:r>
          </a:p>
        </p:txBody>
      </p:sp>
      <p:sp>
        <p:nvSpPr>
          <p:cNvPr id="124" name="正方形/長方形 123"/>
          <p:cNvSpPr/>
          <p:nvPr/>
        </p:nvSpPr>
        <p:spPr>
          <a:xfrm>
            <a:off x="10226979"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仕組み</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取り組み</a:t>
            </a:r>
          </a:p>
        </p:txBody>
      </p:sp>
      <p:cxnSp>
        <p:nvCxnSpPr>
          <p:cNvPr id="125" name="直線矢印コネクタ 124"/>
          <p:cNvCxnSpPr>
            <a:stCxn id="35" idx="2"/>
            <a:endCxn id="122" idx="0"/>
          </p:cNvCxnSpPr>
          <p:nvPr/>
        </p:nvCxnSpPr>
        <p:spPr>
          <a:xfrm flipH="1">
            <a:off x="8330149" y="3206169"/>
            <a:ext cx="1126301" cy="3786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線矢印コネクタ 125"/>
          <p:cNvCxnSpPr>
            <a:stCxn id="35" idx="2"/>
            <a:endCxn id="123" idx="0"/>
          </p:cNvCxnSpPr>
          <p:nvPr/>
        </p:nvCxnSpPr>
        <p:spPr>
          <a:xfrm>
            <a:off x="9456450" y="3206169"/>
            <a:ext cx="75686"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線矢印コネクタ 126"/>
          <p:cNvCxnSpPr>
            <a:stCxn id="35" idx="2"/>
            <a:endCxn id="124" idx="0"/>
          </p:cNvCxnSpPr>
          <p:nvPr/>
        </p:nvCxnSpPr>
        <p:spPr>
          <a:xfrm>
            <a:off x="9456450" y="3206169"/>
            <a:ext cx="1277673"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テキスト ボックス 127"/>
          <p:cNvSpPr txBox="1"/>
          <p:nvPr/>
        </p:nvSpPr>
        <p:spPr>
          <a:xfrm>
            <a:off x="7653317" y="4102770"/>
            <a:ext cx="1428424" cy="369332"/>
          </a:xfrm>
          <a:prstGeom prst="rect">
            <a:avLst/>
          </a:prstGeom>
          <a:noFill/>
        </p:spPr>
        <p:txBody>
          <a:bodyPr wrap="square" rtlCol="0">
            <a:spAutoFit/>
          </a:bodyPr>
          <a:lstStyle/>
          <a:p>
            <a:r>
              <a:rPr lang="ja-JP" altLang="en-US" sz="900" dirty="0">
                <a:latin typeface="Meiryo" charset="-128"/>
                <a:ea typeface="Meiryo" charset="-128"/>
                <a:cs typeface="Meiryo" charset="-128"/>
              </a:rPr>
              <a:t>・属人化</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・ノウハウが暗黙知</a:t>
            </a:r>
            <a:endParaRPr lang="en-US" altLang="ja-JP" sz="900" dirty="0">
              <a:latin typeface="Meiryo" charset="-128"/>
              <a:ea typeface="Meiryo" charset="-128"/>
              <a:cs typeface="Meiryo" charset="-128"/>
            </a:endParaRPr>
          </a:p>
        </p:txBody>
      </p:sp>
      <p:sp>
        <p:nvSpPr>
          <p:cNvPr id="129" name="テキスト ボックス 128"/>
          <p:cNvSpPr txBox="1"/>
          <p:nvPr/>
        </p:nvSpPr>
        <p:spPr>
          <a:xfrm>
            <a:off x="8896544" y="4090931"/>
            <a:ext cx="1542135" cy="1061829"/>
          </a:xfrm>
          <a:prstGeom prst="rect">
            <a:avLst/>
          </a:prstGeom>
          <a:noFill/>
        </p:spPr>
        <p:txBody>
          <a:bodyPr wrap="square" rtlCol="0">
            <a:spAutoFit/>
          </a:bodyPr>
          <a:lstStyle/>
          <a:p>
            <a:r>
              <a:rPr lang="ja-JP" altLang="en-US" sz="900" dirty="0">
                <a:latin typeface="Meiryo" charset="-128"/>
                <a:ea typeface="Meiryo" charset="-128"/>
                <a:cs typeface="Meiryo" charset="-128"/>
              </a:rPr>
              <a:t>・縦</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横</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組織間</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・セクショナリズム</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・事なかれ主義</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・厳しいフィードバック</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・多様性</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・他者理解</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・心理的安全性</a:t>
            </a:r>
            <a:endParaRPr lang="en-US" altLang="ja-JP" sz="900" dirty="0">
              <a:latin typeface="Meiryo" charset="-128"/>
              <a:ea typeface="Meiryo" charset="-128"/>
              <a:cs typeface="Meiryo" charset="-128"/>
            </a:endParaRPr>
          </a:p>
        </p:txBody>
      </p:sp>
      <p:sp>
        <p:nvSpPr>
          <p:cNvPr id="130" name="テキスト ボックス 129"/>
          <p:cNvSpPr txBox="1"/>
          <p:nvPr/>
        </p:nvSpPr>
        <p:spPr>
          <a:xfrm>
            <a:off x="10170476" y="4102770"/>
            <a:ext cx="1655846" cy="507831"/>
          </a:xfrm>
          <a:prstGeom prst="rect">
            <a:avLst/>
          </a:prstGeom>
          <a:noFill/>
        </p:spPr>
        <p:txBody>
          <a:bodyPr wrap="square" rtlCol="0">
            <a:spAutoFit/>
          </a:bodyPr>
          <a:lstStyle/>
          <a:p>
            <a:r>
              <a:rPr lang="ja-JP" altLang="en-US" sz="900" dirty="0">
                <a:latin typeface="Meiryo" charset="-128"/>
                <a:ea typeface="Meiryo" charset="-128"/>
                <a:cs typeface="Meiryo" charset="-128"/>
              </a:rPr>
              <a:t>・組織としてのルール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・ボトムアップの取り組み</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90" name="二等辺三角形 89"/>
          <p:cNvSpPr/>
          <p:nvPr/>
        </p:nvSpPr>
        <p:spPr>
          <a:xfrm rot="10800000">
            <a:off x="4244458" y="5174610"/>
            <a:ext cx="3437816" cy="27827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p:cNvSpPr/>
          <p:nvPr/>
        </p:nvSpPr>
        <p:spPr>
          <a:xfrm>
            <a:off x="1196820" y="6230626"/>
            <a:ext cx="93847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退職者が多い</a:t>
            </a:r>
          </a:p>
        </p:txBody>
      </p:sp>
      <p:sp>
        <p:nvSpPr>
          <p:cNvPr id="131" name="楕円 130"/>
          <p:cNvSpPr/>
          <p:nvPr/>
        </p:nvSpPr>
        <p:spPr>
          <a:xfrm>
            <a:off x="2490649"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心理的安全性が低い</a:t>
            </a:r>
          </a:p>
        </p:txBody>
      </p:sp>
      <p:sp>
        <p:nvSpPr>
          <p:cNvPr id="132" name="楕円 131"/>
          <p:cNvSpPr/>
          <p:nvPr/>
        </p:nvSpPr>
        <p:spPr>
          <a:xfrm>
            <a:off x="3918091"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主体性が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無い</a:t>
            </a:r>
          </a:p>
        </p:txBody>
      </p:sp>
      <p:sp>
        <p:nvSpPr>
          <p:cNvPr id="133" name="楕円 132"/>
          <p:cNvSpPr/>
          <p:nvPr/>
        </p:nvSpPr>
        <p:spPr>
          <a:xfrm>
            <a:off x="5357796" y="6294149"/>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蛸壺化</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している</a:t>
            </a:r>
          </a:p>
        </p:txBody>
      </p:sp>
      <p:sp>
        <p:nvSpPr>
          <p:cNvPr id="134" name="楕円 133"/>
          <p:cNvSpPr/>
          <p:nvPr/>
        </p:nvSpPr>
        <p:spPr>
          <a:xfrm>
            <a:off x="5550555" y="5801926"/>
            <a:ext cx="1208068"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成長しない</a:t>
            </a:r>
          </a:p>
        </p:txBody>
      </p:sp>
      <p:sp>
        <p:nvSpPr>
          <p:cNvPr id="135" name="楕円 134"/>
          <p:cNvSpPr/>
          <p:nvPr/>
        </p:nvSpPr>
        <p:spPr>
          <a:xfrm>
            <a:off x="7044047" y="5758015"/>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組織が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ぬるい</a:t>
            </a:r>
          </a:p>
        </p:txBody>
      </p:sp>
      <p:sp>
        <p:nvSpPr>
          <p:cNvPr id="136" name="楕円 135"/>
          <p:cNvSpPr/>
          <p:nvPr/>
        </p:nvSpPr>
        <p:spPr>
          <a:xfrm>
            <a:off x="8592136" y="57038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モチベーションが低い</a:t>
            </a:r>
          </a:p>
        </p:txBody>
      </p:sp>
      <p:sp>
        <p:nvSpPr>
          <p:cNvPr id="137" name="楕円 136"/>
          <p:cNvSpPr/>
          <p:nvPr/>
        </p:nvSpPr>
        <p:spPr>
          <a:xfrm>
            <a:off x="9691513" y="6289098"/>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なんとなく</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暗い</a:t>
            </a:r>
          </a:p>
        </p:txBody>
      </p:sp>
      <p:sp>
        <p:nvSpPr>
          <p:cNvPr id="138" name="楕円 137"/>
          <p:cNvSpPr/>
          <p:nvPr/>
        </p:nvSpPr>
        <p:spPr>
          <a:xfrm>
            <a:off x="8256425" y="6289099"/>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悪口ばかり</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言う</a:t>
            </a:r>
          </a:p>
        </p:txBody>
      </p:sp>
      <p:sp>
        <p:nvSpPr>
          <p:cNvPr id="139" name="楕円 138"/>
          <p:cNvSpPr/>
          <p:nvPr/>
        </p:nvSpPr>
        <p:spPr>
          <a:xfrm>
            <a:off x="6911342" y="6297545"/>
            <a:ext cx="1107433"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先が見えない</a:t>
            </a:r>
          </a:p>
        </p:txBody>
      </p:sp>
      <p:sp>
        <p:nvSpPr>
          <p:cNvPr id="140" name="楕円 139"/>
          <p:cNvSpPr/>
          <p:nvPr/>
        </p:nvSpPr>
        <p:spPr>
          <a:xfrm>
            <a:off x="4053055" y="57374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昔の方が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良かった</a:t>
            </a:r>
          </a:p>
        </p:txBody>
      </p:sp>
      <p:sp>
        <p:nvSpPr>
          <p:cNvPr id="141" name="楕円 140"/>
          <p:cNvSpPr/>
          <p:nvPr/>
        </p:nvSpPr>
        <p:spPr>
          <a:xfrm>
            <a:off x="2664671" y="5678500"/>
            <a:ext cx="1294780"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いそがしい</a:t>
            </a:r>
          </a:p>
        </p:txBody>
      </p:sp>
      <p:sp>
        <p:nvSpPr>
          <p:cNvPr id="142" name="楕円 141"/>
          <p:cNvSpPr/>
          <p:nvPr/>
        </p:nvSpPr>
        <p:spPr>
          <a:xfrm>
            <a:off x="1522343" y="5709138"/>
            <a:ext cx="1090264"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人が足りない</a:t>
            </a:r>
          </a:p>
        </p:txBody>
      </p:sp>
      <p:sp>
        <p:nvSpPr>
          <p:cNvPr id="143" name="正方形/長方形 142"/>
          <p:cNvSpPr/>
          <p:nvPr/>
        </p:nvSpPr>
        <p:spPr>
          <a:xfrm>
            <a:off x="3580904"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全社戦略</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44" name="直線矢印コネクタ 143"/>
          <p:cNvCxnSpPr>
            <a:stCxn id="143" idx="3"/>
            <a:endCxn id="2" idx="1"/>
          </p:cNvCxnSpPr>
          <p:nvPr/>
        </p:nvCxnSpPr>
        <p:spPr>
          <a:xfrm>
            <a:off x="4740401"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2" name="テキスト ボックス 151"/>
          <p:cNvSpPr txBox="1"/>
          <p:nvPr/>
        </p:nvSpPr>
        <p:spPr>
          <a:xfrm>
            <a:off x="3475926" y="1348626"/>
            <a:ext cx="1377010" cy="5078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・納得できていない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153" name="正方形/長方形 152"/>
          <p:cNvSpPr/>
          <p:nvPr/>
        </p:nvSpPr>
        <p:spPr>
          <a:xfrm>
            <a:off x="1778190"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ホールディングス</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54" name="直線矢印コネクタ 153"/>
          <p:cNvCxnSpPr>
            <a:stCxn id="153" idx="3"/>
            <a:endCxn id="143" idx="1"/>
          </p:cNvCxnSpPr>
          <p:nvPr/>
        </p:nvCxnSpPr>
        <p:spPr>
          <a:xfrm>
            <a:off x="2937687"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テキスト ボックス 156"/>
          <p:cNvSpPr txBox="1"/>
          <p:nvPr/>
        </p:nvSpPr>
        <p:spPr>
          <a:xfrm>
            <a:off x="1758380" y="1349189"/>
            <a:ext cx="1545255" cy="230832"/>
          </a:xfrm>
          <a:prstGeom prst="rect">
            <a:avLst/>
          </a:prstGeom>
          <a:noFill/>
        </p:spPr>
        <p:txBody>
          <a:bodyPr wrap="square" rtlCol="0">
            <a:spAutoFit/>
          </a:bodyPr>
          <a:lstStyle/>
          <a:p>
            <a:r>
              <a:rPr lang="ja-JP" altLang="en-US" sz="900" dirty="0">
                <a:latin typeface="Meiryo" charset="-128"/>
                <a:ea typeface="Meiryo" charset="-128"/>
                <a:cs typeface="Meiryo" charset="-128"/>
              </a:rPr>
              <a:t>・整合性とれているか？</a:t>
            </a:r>
          </a:p>
        </p:txBody>
      </p:sp>
      <p:sp>
        <p:nvSpPr>
          <p:cNvPr id="74" name="テキスト ボックス 73"/>
          <p:cNvSpPr txBox="1"/>
          <p:nvPr/>
        </p:nvSpPr>
        <p:spPr>
          <a:xfrm>
            <a:off x="8495610" y="785131"/>
            <a:ext cx="2933516" cy="369332"/>
          </a:xfrm>
          <a:prstGeom prst="rect">
            <a:avLst/>
          </a:prstGeom>
          <a:noFill/>
        </p:spPr>
        <p:txBody>
          <a:bodyPr wrap="square" rtlCol="0">
            <a:spAutoFit/>
          </a:bodyPr>
          <a:lstStyle/>
          <a:p>
            <a:r>
              <a:rPr lang="ja-JP" altLang="en-US" sz="1800" b="1" dirty="0">
                <a:solidFill>
                  <a:srgbClr val="00B050"/>
                </a:solidFill>
                <a:latin typeface="Meiryo" charset="-128"/>
                <a:ea typeface="Meiryo" charset="-128"/>
                <a:cs typeface="Meiryo" charset="-128"/>
              </a:rPr>
              <a:t>北極星はどこだ？ゾーン</a:t>
            </a:r>
          </a:p>
        </p:txBody>
      </p:sp>
      <p:sp>
        <p:nvSpPr>
          <p:cNvPr id="76" name="テキスト ボックス 75"/>
          <p:cNvSpPr txBox="1"/>
          <p:nvPr/>
        </p:nvSpPr>
        <p:spPr>
          <a:xfrm>
            <a:off x="145290" y="5226210"/>
            <a:ext cx="3197373" cy="369332"/>
          </a:xfrm>
          <a:prstGeom prst="rect">
            <a:avLst/>
          </a:prstGeom>
          <a:noFill/>
        </p:spPr>
        <p:txBody>
          <a:bodyPr wrap="square" rtlCol="0">
            <a:spAutoFit/>
          </a:bodyPr>
          <a:lstStyle/>
          <a:p>
            <a:r>
              <a:rPr lang="ja-JP" altLang="en-US" sz="1800" b="1" dirty="0">
                <a:solidFill>
                  <a:srgbClr val="FF0000"/>
                </a:solidFill>
                <a:latin typeface="Meiryo" charset="-128"/>
                <a:ea typeface="Meiryo" charset="-128"/>
                <a:cs typeface="Meiryo" charset="-128"/>
              </a:rPr>
              <a:t>「人材」「人財」活用ゾーン</a:t>
            </a:r>
          </a:p>
        </p:txBody>
      </p:sp>
      <p:sp>
        <p:nvSpPr>
          <p:cNvPr id="78" name="テキスト ボックス 77"/>
          <p:cNvSpPr txBox="1"/>
          <p:nvPr/>
        </p:nvSpPr>
        <p:spPr>
          <a:xfrm>
            <a:off x="3224645" y="4811558"/>
            <a:ext cx="2933516" cy="369332"/>
          </a:xfrm>
          <a:prstGeom prst="rect">
            <a:avLst/>
          </a:prstGeom>
          <a:noFill/>
          <a:ln>
            <a:noFill/>
          </a:ln>
        </p:spPr>
        <p:txBody>
          <a:bodyPr wrap="square" rtlCol="0">
            <a:spAutoFit/>
          </a:bodyPr>
          <a:lstStyle/>
          <a:p>
            <a:r>
              <a:rPr lang="ja-JP" altLang="en-US" sz="1800" b="1" dirty="0">
                <a:solidFill>
                  <a:srgbClr val="0070C0"/>
                </a:solidFill>
                <a:latin typeface="Meiryo" charset="-128"/>
                <a:ea typeface="Meiryo" charset="-128"/>
                <a:cs typeface="Meiryo" charset="-128"/>
              </a:rPr>
              <a:t>業務直結課題解決ゾーン</a:t>
            </a:r>
          </a:p>
        </p:txBody>
      </p:sp>
      <p:sp>
        <p:nvSpPr>
          <p:cNvPr id="80" name="テキスト ボックス 79"/>
          <p:cNvSpPr txBox="1"/>
          <p:nvPr/>
        </p:nvSpPr>
        <p:spPr>
          <a:xfrm>
            <a:off x="8628528" y="5177864"/>
            <a:ext cx="2933516" cy="369332"/>
          </a:xfrm>
          <a:prstGeom prst="rect">
            <a:avLst/>
          </a:prstGeom>
          <a:noFill/>
          <a:ln>
            <a:noFill/>
          </a:ln>
        </p:spPr>
        <p:txBody>
          <a:bodyPr wrap="square" rtlCol="0">
            <a:spAutoFit/>
          </a:bodyPr>
          <a:lstStyle/>
          <a:p>
            <a:r>
              <a:rPr lang="ja-JP" altLang="en-US" sz="1800" b="1" dirty="0">
                <a:solidFill>
                  <a:schemeClr val="accent2"/>
                </a:solidFill>
                <a:latin typeface="Meiryo" charset="-128"/>
                <a:ea typeface="Meiryo" charset="-128"/>
                <a:cs typeface="Meiryo" charset="-128"/>
              </a:rPr>
              <a:t>組織を機能させるゾーン</a:t>
            </a:r>
          </a:p>
        </p:txBody>
      </p:sp>
      <p:sp>
        <p:nvSpPr>
          <p:cNvPr id="8" name="フッター プレースホルダー 7"/>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36425688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81" name="楕円 80"/>
          <p:cNvSpPr/>
          <p:nvPr/>
        </p:nvSpPr>
        <p:spPr>
          <a:xfrm rot="10800000">
            <a:off x="166117" y="5670758"/>
            <a:ext cx="11358642" cy="1136616"/>
          </a:xfrm>
          <a:prstGeom prst="ellipse">
            <a:avLst/>
          </a:prstGeom>
          <a:solidFill>
            <a:srgbClr val="7030A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楕円 78"/>
          <p:cNvSpPr/>
          <p:nvPr/>
        </p:nvSpPr>
        <p:spPr>
          <a:xfrm rot="15071171">
            <a:off x="7668846" y="2618245"/>
            <a:ext cx="3630934" cy="2631643"/>
          </a:xfrm>
          <a:prstGeom prst="ellipse">
            <a:avLst/>
          </a:prstGeom>
          <a:solidFill>
            <a:schemeClr val="accent4">
              <a:lumMod val="7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p:cNvSpPr/>
          <p:nvPr/>
        </p:nvSpPr>
        <p:spPr>
          <a:xfrm rot="17058800">
            <a:off x="3536425" y="2775114"/>
            <a:ext cx="3630934" cy="2631643"/>
          </a:xfrm>
          <a:prstGeom prst="ellipse">
            <a:avLst/>
          </a:prstGeom>
          <a:solidFill>
            <a:schemeClr val="accent1">
              <a:lumMod val="40000"/>
              <a:lumOff val="6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p:cNvSpPr/>
          <p:nvPr/>
        </p:nvSpPr>
        <p:spPr>
          <a:xfrm rot="18533955">
            <a:off x="-287640" y="3142099"/>
            <a:ext cx="4025633" cy="1869894"/>
          </a:xfrm>
          <a:prstGeom prst="ellipse">
            <a:avLst/>
          </a:prstGeom>
          <a:solidFill>
            <a:srgbClr val="FF0000">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p:cNvSpPr/>
          <p:nvPr/>
        </p:nvSpPr>
        <p:spPr>
          <a:xfrm>
            <a:off x="1612049" y="486137"/>
            <a:ext cx="8427230" cy="1869894"/>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p:cNvSpPr txBox="1"/>
          <p:nvPr/>
        </p:nvSpPr>
        <p:spPr>
          <a:xfrm>
            <a:off x="486576" y="127937"/>
            <a:ext cx="9683900" cy="954107"/>
          </a:xfrm>
          <a:prstGeom prst="rect">
            <a:avLst/>
          </a:prstGeom>
          <a:noFill/>
        </p:spPr>
        <p:txBody>
          <a:bodyPr wrap="square" rtlCol="0">
            <a:spAutoFit/>
          </a:bodyPr>
          <a:lstStyle/>
          <a:p>
            <a:r>
              <a:rPr lang="ja-JP" altLang="en-US" sz="2800" b="1" dirty="0">
                <a:latin typeface="Meiryo" charset="-128"/>
                <a:ea typeface="Meiryo" charset="-128"/>
                <a:cs typeface="Meiryo" charset="-128"/>
              </a:rPr>
              <a:t>組織課題の見立て（私の場合）</a:t>
            </a:r>
          </a:p>
          <a:p>
            <a:endParaRPr lang="ja-JP" altLang="en-US" sz="2800" b="1" dirty="0">
              <a:latin typeface="Meiryo" charset="-128"/>
              <a:ea typeface="Meiryo" charset="-128"/>
              <a:cs typeface="Meiryo" charset="-128"/>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68</a:t>
            </a:fld>
            <a:endParaRPr lang="ja-JP" altLang="en-US">
              <a:uFillTx/>
            </a:endParaRPr>
          </a:p>
        </p:txBody>
      </p:sp>
      <p:sp>
        <p:nvSpPr>
          <p:cNvPr id="2" name="正方形/長方形 1"/>
          <p:cNvSpPr/>
          <p:nvPr/>
        </p:nvSpPr>
        <p:spPr>
          <a:xfrm>
            <a:off x="5383618"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ミッション・ビジョンへの課題</a:t>
            </a:r>
          </a:p>
        </p:txBody>
      </p:sp>
      <p:sp>
        <p:nvSpPr>
          <p:cNvPr id="30" name="テキスト ボックス 29"/>
          <p:cNvSpPr txBox="1"/>
          <p:nvPr/>
        </p:nvSpPr>
        <p:spPr>
          <a:xfrm>
            <a:off x="6476055" y="769893"/>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err="1">
                <a:latin typeface="Meiryo" charset="-128"/>
                <a:ea typeface="Meiryo" charset="-128"/>
                <a:cs typeface="Meiryo" charset="-128"/>
              </a:rPr>
              <a:t>に納</a:t>
            </a:r>
            <a:r>
              <a:rPr lang="ja-JP" altLang="en-US" sz="900" dirty="0">
                <a:latin typeface="Meiryo" charset="-128"/>
                <a:ea typeface="Meiryo" charset="-128"/>
                <a:cs typeface="Meiryo" charset="-128"/>
              </a:rPr>
              <a:t>得いかない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が浸透していない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MVV</a:t>
            </a:r>
            <a:r>
              <a:rPr lang="ja-JP" altLang="en-US" sz="900" dirty="0">
                <a:latin typeface="Meiryo" charset="-128"/>
                <a:ea typeface="Meiryo" charset="-128"/>
                <a:cs typeface="Meiryo" charset="-128"/>
              </a:rPr>
              <a:t>伝わっていない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伝えられていない</a:t>
            </a:r>
          </a:p>
        </p:txBody>
      </p:sp>
      <p:sp>
        <p:nvSpPr>
          <p:cNvPr id="31" name="正方形/長方形 30"/>
          <p:cNvSpPr/>
          <p:nvPr/>
        </p:nvSpPr>
        <p:spPr>
          <a:xfrm>
            <a:off x="5383618" y="1663075"/>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戦略への課題</a:t>
            </a:r>
          </a:p>
        </p:txBody>
      </p:sp>
      <p:sp>
        <p:nvSpPr>
          <p:cNvPr id="32" name="テキスト ボックス 31"/>
          <p:cNvSpPr txBox="1"/>
          <p:nvPr/>
        </p:nvSpPr>
        <p:spPr>
          <a:xfrm>
            <a:off x="6476055" y="1663075"/>
            <a:ext cx="3864962" cy="646331"/>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実現のやり方が見えない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実現のやり方が現実的じゃない</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納得感が無い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・目指す指標がわからない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33" name="正方形/長方形 32"/>
          <p:cNvSpPr/>
          <p:nvPr/>
        </p:nvSpPr>
        <p:spPr>
          <a:xfrm>
            <a:off x="888046"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人の課題</a:t>
            </a:r>
          </a:p>
        </p:txBody>
      </p:sp>
      <p:sp>
        <p:nvSpPr>
          <p:cNvPr id="34" name="正方形/長方形 33"/>
          <p:cNvSpPr/>
          <p:nvPr/>
        </p:nvSpPr>
        <p:spPr>
          <a:xfrm>
            <a:off x="4512401" y="2758942"/>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業務推進の課題</a:t>
            </a:r>
          </a:p>
        </p:txBody>
      </p:sp>
      <p:sp>
        <p:nvSpPr>
          <p:cNvPr id="35" name="正方形/長方形 34"/>
          <p:cNvSpPr/>
          <p:nvPr/>
        </p:nvSpPr>
        <p:spPr>
          <a:xfrm>
            <a:off x="8248553" y="2763109"/>
            <a:ext cx="2415793"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組織の課題</a:t>
            </a:r>
          </a:p>
        </p:txBody>
      </p:sp>
      <p:sp>
        <p:nvSpPr>
          <p:cNvPr id="38" name="正方形/長方形 37"/>
          <p:cNvSpPr/>
          <p:nvPr/>
        </p:nvSpPr>
        <p:spPr>
          <a:xfrm>
            <a:off x="1903641"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人材要件</a:t>
            </a:r>
          </a:p>
        </p:txBody>
      </p:sp>
      <p:sp>
        <p:nvSpPr>
          <p:cNvPr id="40" name="正方形/長方形 39"/>
          <p:cNvSpPr/>
          <p:nvPr/>
        </p:nvSpPr>
        <p:spPr>
          <a:xfrm>
            <a:off x="552969" y="360677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要員計画</a:t>
            </a:r>
          </a:p>
        </p:txBody>
      </p:sp>
      <p:cxnSp>
        <p:nvCxnSpPr>
          <p:cNvPr id="13" name="直線矢印コネクタ 12"/>
          <p:cNvCxnSpPr>
            <a:stCxn id="33" idx="2"/>
            <a:endCxn id="38" idx="0"/>
          </p:cNvCxnSpPr>
          <p:nvPr/>
        </p:nvCxnSpPr>
        <p:spPr>
          <a:xfrm>
            <a:off x="2095943" y="3202002"/>
            <a:ext cx="314842"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a:stCxn id="33" idx="2"/>
            <a:endCxn id="40" idx="0"/>
          </p:cNvCxnSpPr>
          <p:nvPr/>
        </p:nvCxnSpPr>
        <p:spPr>
          <a:xfrm flipH="1">
            <a:off x="1060113" y="3202002"/>
            <a:ext cx="1035830" cy="404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テキスト ボックス 50"/>
          <p:cNvSpPr txBox="1"/>
          <p:nvPr/>
        </p:nvSpPr>
        <p:spPr>
          <a:xfrm>
            <a:off x="2483389" y="3312283"/>
            <a:ext cx="820450" cy="230832"/>
          </a:xfrm>
          <a:prstGeom prst="rect">
            <a:avLst/>
          </a:prstGeom>
          <a:noFill/>
        </p:spPr>
        <p:txBody>
          <a:bodyPr wrap="square" rtlCol="0">
            <a:spAutoFit/>
          </a:bodyPr>
          <a:lstStyle/>
          <a:p>
            <a:r>
              <a:rPr lang="ja-JP" altLang="en-US" sz="900" dirty="0">
                <a:latin typeface="Meiryo" charset="-128"/>
                <a:ea typeface="Meiryo" charset="-128"/>
                <a:cs typeface="Meiryo" charset="-128"/>
              </a:rPr>
              <a:t>質の課題</a:t>
            </a:r>
          </a:p>
        </p:txBody>
      </p:sp>
      <p:sp>
        <p:nvSpPr>
          <p:cNvPr id="52" name="テキスト ボックス 51"/>
          <p:cNvSpPr txBox="1"/>
          <p:nvPr/>
        </p:nvSpPr>
        <p:spPr>
          <a:xfrm>
            <a:off x="777495" y="3312283"/>
            <a:ext cx="834554" cy="230832"/>
          </a:xfrm>
          <a:prstGeom prst="rect">
            <a:avLst/>
          </a:prstGeom>
          <a:noFill/>
        </p:spPr>
        <p:txBody>
          <a:bodyPr wrap="square" rtlCol="0">
            <a:spAutoFit/>
          </a:bodyPr>
          <a:lstStyle/>
          <a:p>
            <a:r>
              <a:rPr lang="ja-JP" altLang="en-US" sz="900" dirty="0">
                <a:latin typeface="Meiryo" charset="-128"/>
                <a:ea typeface="Meiryo" charset="-128"/>
                <a:cs typeface="Meiryo" charset="-128"/>
              </a:rPr>
              <a:t>量の課題</a:t>
            </a:r>
          </a:p>
        </p:txBody>
      </p:sp>
      <p:sp>
        <p:nvSpPr>
          <p:cNvPr id="55" name="正方形/長方形 54"/>
          <p:cNvSpPr/>
          <p:nvPr/>
        </p:nvSpPr>
        <p:spPr>
          <a:xfrm>
            <a:off x="3744853"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トップレイヤ</a:t>
            </a:r>
          </a:p>
        </p:txBody>
      </p:sp>
      <p:sp>
        <p:nvSpPr>
          <p:cNvPr id="56" name="正方形/長方形 55"/>
          <p:cNvSpPr/>
          <p:nvPr/>
        </p:nvSpPr>
        <p:spPr>
          <a:xfrm>
            <a:off x="4950719"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ミドルレイヤ</a:t>
            </a:r>
          </a:p>
        </p:txBody>
      </p:sp>
      <p:sp>
        <p:nvSpPr>
          <p:cNvPr id="57" name="正方形/長方形 56"/>
          <p:cNvSpPr/>
          <p:nvPr/>
        </p:nvSpPr>
        <p:spPr>
          <a:xfrm>
            <a:off x="6156588" y="3584772"/>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ボトムレイヤ</a:t>
            </a:r>
          </a:p>
        </p:txBody>
      </p:sp>
      <p:cxnSp>
        <p:nvCxnSpPr>
          <p:cNvPr id="61" name="直線矢印コネクタ 60"/>
          <p:cNvCxnSpPr>
            <a:stCxn id="34" idx="2"/>
            <a:endCxn id="55" idx="0"/>
          </p:cNvCxnSpPr>
          <p:nvPr/>
        </p:nvCxnSpPr>
        <p:spPr>
          <a:xfrm flipH="1">
            <a:off x="4251997" y="3202002"/>
            <a:ext cx="1468301"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直線矢印コネクタ 63"/>
          <p:cNvCxnSpPr>
            <a:stCxn id="34" idx="2"/>
            <a:endCxn id="56" idx="0"/>
          </p:cNvCxnSpPr>
          <p:nvPr/>
        </p:nvCxnSpPr>
        <p:spPr>
          <a:xfrm flipH="1">
            <a:off x="5457863" y="3202002"/>
            <a:ext cx="262435"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矢印コネクタ 66"/>
          <p:cNvCxnSpPr>
            <a:stCxn id="34" idx="2"/>
            <a:endCxn id="57" idx="0"/>
          </p:cNvCxnSpPr>
          <p:nvPr/>
        </p:nvCxnSpPr>
        <p:spPr>
          <a:xfrm>
            <a:off x="5720298" y="3202002"/>
            <a:ext cx="943434" cy="3827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852430" y="3250259"/>
            <a:ext cx="820450" cy="369332"/>
          </a:xfrm>
          <a:prstGeom prst="rect">
            <a:avLst/>
          </a:prstGeom>
          <a:noFill/>
        </p:spPr>
        <p:txBody>
          <a:bodyPr wrap="square" rtlCol="0">
            <a:spAutoFit/>
          </a:bodyPr>
          <a:lstStyle/>
          <a:p>
            <a:r>
              <a:rPr lang="ja-JP" altLang="en-US" sz="900" dirty="0">
                <a:latin typeface="Meiryo" charset="-128"/>
                <a:ea typeface="Meiryo" charset="-128"/>
                <a:cs typeface="Meiryo" charset="-128"/>
              </a:rPr>
              <a:t>意思決定者の課題</a:t>
            </a:r>
          </a:p>
        </p:txBody>
      </p:sp>
      <p:sp>
        <p:nvSpPr>
          <p:cNvPr id="71" name="テキスト ボックス 70"/>
          <p:cNvSpPr txBox="1"/>
          <p:nvPr/>
        </p:nvSpPr>
        <p:spPr>
          <a:xfrm>
            <a:off x="4752315" y="3250259"/>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マネジメントの課題</a:t>
            </a:r>
          </a:p>
        </p:txBody>
      </p:sp>
      <p:sp>
        <p:nvSpPr>
          <p:cNvPr id="72" name="テキスト ボックス 71"/>
          <p:cNvSpPr txBox="1"/>
          <p:nvPr/>
        </p:nvSpPr>
        <p:spPr>
          <a:xfrm>
            <a:off x="6473485" y="3243033"/>
            <a:ext cx="907172" cy="369332"/>
          </a:xfrm>
          <a:prstGeom prst="rect">
            <a:avLst/>
          </a:prstGeom>
          <a:noFill/>
        </p:spPr>
        <p:txBody>
          <a:bodyPr wrap="square" rtlCol="0">
            <a:spAutoFit/>
          </a:bodyPr>
          <a:lstStyle/>
          <a:p>
            <a:r>
              <a:rPr lang="ja-JP" altLang="en-US" sz="900" dirty="0">
                <a:latin typeface="Meiryo" charset="-128"/>
                <a:ea typeface="Meiryo" charset="-128"/>
                <a:cs typeface="Meiryo" charset="-128"/>
              </a:rPr>
              <a:t>社員としての課題</a:t>
            </a:r>
          </a:p>
        </p:txBody>
      </p:sp>
      <p:sp>
        <p:nvSpPr>
          <p:cNvPr id="73" name="テキスト ボックス 72"/>
          <p:cNvSpPr txBox="1"/>
          <p:nvPr/>
        </p:nvSpPr>
        <p:spPr>
          <a:xfrm>
            <a:off x="3475926" y="4108429"/>
            <a:ext cx="1428424" cy="646331"/>
          </a:xfrm>
          <a:prstGeom prst="rect">
            <a:avLst/>
          </a:prstGeom>
          <a:noFill/>
        </p:spPr>
        <p:txBody>
          <a:bodyPr wrap="square" rtlCol="0">
            <a:spAutoFit/>
          </a:bodyPr>
          <a:lstStyle/>
          <a:p>
            <a:r>
              <a:rPr lang="ja-JP" altLang="en-US" sz="900" dirty="0">
                <a:latin typeface="Meiryo" charset="-128"/>
                <a:ea typeface="Meiryo" charset="-128"/>
                <a:cs typeface="Meiryo" charset="-128"/>
              </a:rPr>
              <a:t>・意思決定のプロセス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・役割の認識</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・後継者人材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a:t>
            </a:r>
            <a:r>
              <a:rPr lang="en-US" altLang="ja-JP" sz="900" dirty="0">
                <a:latin typeface="Meiryo" charset="-128"/>
                <a:ea typeface="Meiryo" charset="-128"/>
                <a:cs typeface="Meiryo" charset="-128"/>
              </a:rPr>
              <a:t>MV</a:t>
            </a:r>
            <a:r>
              <a:rPr lang="ja-JP" altLang="en-US" sz="900" dirty="0">
                <a:latin typeface="Meiryo" charset="-128"/>
                <a:ea typeface="Meiryo" charset="-128"/>
                <a:cs typeface="Meiryo" charset="-128"/>
              </a:rPr>
              <a:t>のメッセージング</a:t>
            </a:r>
            <a:endParaRPr lang="en-US" altLang="ja-JP" sz="900" dirty="0">
              <a:latin typeface="Meiryo" charset="-128"/>
              <a:ea typeface="Meiryo" charset="-128"/>
              <a:cs typeface="Meiryo" charset="-128"/>
            </a:endParaRPr>
          </a:p>
        </p:txBody>
      </p:sp>
      <p:cxnSp>
        <p:nvCxnSpPr>
          <p:cNvPr id="83" name="直線矢印コネクタ 82"/>
          <p:cNvCxnSpPr>
            <a:stCxn id="31" idx="2"/>
            <a:endCxn id="33" idx="0"/>
          </p:cNvCxnSpPr>
          <p:nvPr/>
        </p:nvCxnSpPr>
        <p:spPr>
          <a:xfrm flipH="1">
            <a:off x="2095943" y="2106135"/>
            <a:ext cx="3867424"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a:stCxn id="31" idx="2"/>
            <a:endCxn id="34" idx="0"/>
          </p:cNvCxnSpPr>
          <p:nvPr/>
        </p:nvCxnSpPr>
        <p:spPr>
          <a:xfrm flipH="1">
            <a:off x="5720298" y="2106135"/>
            <a:ext cx="243069" cy="6528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a:stCxn id="31" idx="2"/>
            <a:endCxn id="35" idx="0"/>
          </p:cNvCxnSpPr>
          <p:nvPr/>
        </p:nvCxnSpPr>
        <p:spPr>
          <a:xfrm>
            <a:off x="5963367" y="2106135"/>
            <a:ext cx="3493083" cy="65697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直線矢印コネクタ 113"/>
          <p:cNvCxnSpPr>
            <a:stCxn id="2" idx="2"/>
            <a:endCxn id="31" idx="0"/>
          </p:cNvCxnSpPr>
          <p:nvPr/>
        </p:nvCxnSpPr>
        <p:spPr>
          <a:xfrm>
            <a:off x="5963367" y="1293978"/>
            <a:ext cx="0" cy="36909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 name="テキスト ボックス 114"/>
          <p:cNvSpPr txBox="1"/>
          <p:nvPr/>
        </p:nvSpPr>
        <p:spPr>
          <a:xfrm>
            <a:off x="334985" y="4113503"/>
            <a:ext cx="1450254" cy="1061829"/>
          </a:xfrm>
          <a:prstGeom prst="rect">
            <a:avLst/>
          </a:prstGeom>
          <a:noFill/>
        </p:spPr>
        <p:txBody>
          <a:bodyPr wrap="square" rtlCol="0">
            <a:spAutoFit/>
          </a:bodyPr>
          <a:lstStyle/>
          <a:p>
            <a:r>
              <a:rPr lang="ja-JP" altLang="en-US" sz="900" dirty="0">
                <a:latin typeface="Meiryo" charset="-128"/>
                <a:ea typeface="Meiryo" charset="-128"/>
                <a:cs typeface="Meiryo" charset="-128"/>
              </a:rPr>
              <a:t>・採用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・異動</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・リテンション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・人件費</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・タレントマネジメント</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・育てるか、採るか</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116" name="テキスト ボックス 115"/>
          <p:cNvSpPr txBox="1"/>
          <p:nvPr/>
        </p:nvSpPr>
        <p:spPr>
          <a:xfrm>
            <a:off x="1845300" y="4108429"/>
            <a:ext cx="1458336" cy="1200329"/>
          </a:xfrm>
          <a:prstGeom prst="rect">
            <a:avLst/>
          </a:prstGeom>
          <a:noFill/>
        </p:spPr>
        <p:txBody>
          <a:bodyPr wrap="square" rtlCol="0">
            <a:spAutoFit/>
          </a:bodyPr>
          <a:lstStyle/>
          <a:p>
            <a:r>
              <a:rPr lang="ja-JP" altLang="en-US" sz="900" dirty="0">
                <a:latin typeface="Meiryo" charset="-128"/>
                <a:ea typeface="Meiryo" charset="-128"/>
                <a:cs typeface="Meiryo" charset="-128"/>
              </a:rPr>
              <a:t>・評価</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・報酬</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・登用</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・人材開発</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・優秀人材の活かし方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・代謝人材</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・成長</a:t>
            </a:r>
            <a:endParaRPr lang="en-US" altLang="ja-JP" sz="900" dirty="0">
              <a:latin typeface="Meiryo" charset="-128"/>
              <a:ea typeface="Meiryo" charset="-128"/>
              <a:cs typeface="Meiryo" charset="-128"/>
            </a:endParaRPr>
          </a:p>
        </p:txBody>
      </p:sp>
      <p:sp>
        <p:nvSpPr>
          <p:cNvPr id="117" name="テキスト ボックス 116"/>
          <p:cNvSpPr txBox="1"/>
          <p:nvPr/>
        </p:nvSpPr>
        <p:spPr>
          <a:xfrm>
            <a:off x="4837250" y="4108429"/>
            <a:ext cx="1428424" cy="784830"/>
          </a:xfrm>
          <a:prstGeom prst="rect">
            <a:avLst/>
          </a:prstGeom>
          <a:noFill/>
        </p:spPr>
        <p:txBody>
          <a:bodyPr wrap="square" rtlCol="0">
            <a:spAutoFit/>
          </a:bodyPr>
          <a:lstStyle/>
          <a:p>
            <a:r>
              <a:rPr lang="ja-JP" altLang="en-US" sz="900" dirty="0">
                <a:latin typeface="Meiryo" charset="-128"/>
                <a:ea typeface="Meiryo" charset="-128"/>
                <a:cs typeface="Meiryo" charset="-128"/>
              </a:rPr>
              <a:t>・</a:t>
            </a:r>
            <a:r>
              <a:rPr lang="en-US" altLang="ja-JP" sz="900" dirty="0" err="1">
                <a:latin typeface="Meiryo" charset="-128"/>
                <a:ea typeface="Meiryo" charset="-128"/>
                <a:cs typeface="Meiryo" charset="-128"/>
              </a:rPr>
              <a:t>SoC</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・基礎知識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・戦略の翻訳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・評価者教育</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・部下育成</a:t>
            </a:r>
            <a:endParaRPr lang="en-US" altLang="ja-JP" sz="900" dirty="0">
              <a:latin typeface="Meiryo" charset="-128"/>
              <a:ea typeface="Meiryo" charset="-128"/>
              <a:cs typeface="Meiryo" charset="-128"/>
            </a:endParaRPr>
          </a:p>
        </p:txBody>
      </p:sp>
      <p:sp>
        <p:nvSpPr>
          <p:cNvPr id="118" name="テキスト ボックス 117"/>
          <p:cNvSpPr txBox="1"/>
          <p:nvPr/>
        </p:nvSpPr>
        <p:spPr>
          <a:xfrm>
            <a:off x="316748" y="2325946"/>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どんな人がどこにどれくらい必要か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適所適材がどの程度実現できているか</a:t>
            </a:r>
          </a:p>
        </p:txBody>
      </p:sp>
      <p:sp>
        <p:nvSpPr>
          <p:cNvPr id="119" name="テキスト ボックス 118"/>
          <p:cNvSpPr txBox="1"/>
          <p:nvPr/>
        </p:nvSpPr>
        <p:spPr>
          <a:xfrm>
            <a:off x="3871640" y="2356031"/>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日々の仕事を円滑に進められるか</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納得感をもって仕事ができるか</a:t>
            </a:r>
            <a:endParaRPr lang="en-US" altLang="ja-JP" sz="900" dirty="0">
              <a:latin typeface="Meiryo" charset="-128"/>
              <a:ea typeface="Meiryo" charset="-128"/>
              <a:cs typeface="Meiryo" charset="-128"/>
            </a:endParaRPr>
          </a:p>
        </p:txBody>
      </p:sp>
      <p:sp>
        <p:nvSpPr>
          <p:cNvPr id="120" name="テキスト ボックス 119"/>
          <p:cNvSpPr txBox="1"/>
          <p:nvPr/>
        </p:nvSpPr>
        <p:spPr>
          <a:xfrm>
            <a:off x="9131540" y="2320049"/>
            <a:ext cx="2301620" cy="369332"/>
          </a:xfrm>
          <a:prstGeom prst="rect">
            <a:avLst/>
          </a:prstGeom>
          <a:noFill/>
        </p:spPr>
        <p:txBody>
          <a:bodyPr wrap="square" rtlCol="0">
            <a:spAutoFit/>
          </a:bodyPr>
          <a:lstStyle/>
          <a:p>
            <a:r>
              <a:rPr lang="ja-JP" altLang="en-US" sz="900" dirty="0">
                <a:latin typeface="Meiryo" charset="-128"/>
                <a:ea typeface="Meiryo" charset="-128"/>
                <a:cs typeface="Meiryo" charset="-128"/>
              </a:rPr>
              <a:t>個人の集合ではなく組織として</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機能しているか</a:t>
            </a:r>
          </a:p>
        </p:txBody>
      </p:sp>
      <p:sp>
        <p:nvSpPr>
          <p:cNvPr id="121" name="テキスト ボックス 120"/>
          <p:cNvSpPr txBox="1"/>
          <p:nvPr/>
        </p:nvSpPr>
        <p:spPr>
          <a:xfrm>
            <a:off x="6080477" y="4108429"/>
            <a:ext cx="1428424" cy="923330"/>
          </a:xfrm>
          <a:prstGeom prst="rect">
            <a:avLst/>
          </a:prstGeom>
          <a:noFill/>
        </p:spPr>
        <p:txBody>
          <a:bodyPr wrap="square" rtlCol="0">
            <a:spAutoFit/>
          </a:bodyPr>
          <a:lstStyle/>
          <a:p>
            <a:r>
              <a:rPr lang="ja-JP" altLang="en-US" sz="900" dirty="0">
                <a:latin typeface="Meiryo" charset="-128"/>
                <a:ea typeface="Meiryo" charset="-128"/>
                <a:cs typeface="Meiryo" charset="-128"/>
              </a:rPr>
              <a:t>・知識</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経験</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スキル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・ジョブアサイン</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・評価への納得感</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・キャリアの不安</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・働き方</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・自己理解</a:t>
            </a:r>
            <a:endParaRPr lang="en-US" altLang="ja-JP" sz="900" dirty="0">
              <a:latin typeface="Meiryo" charset="-128"/>
              <a:ea typeface="Meiryo" charset="-128"/>
              <a:cs typeface="Meiryo" charset="-128"/>
            </a:endParaRPr>
          </a:p>
        </p:txBody>
      </p:sp>
      <p:sp>
        <p:nvSpPr>
          <p:cNvPr id="122" name="正方形/長方形 121"/>
          <p:cNvSpPr/>
          <p:nvPr/>
        </p:nvSpPr>
        <p:spPr>
          <a:xfrm>
            <a:off x="7823005" y="3584771"/>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共有知</a:t>
            </a:r>
          </a:p>
        </p:txBody>
      </p:sp>
      <p:sp>
        <p:nvSpPr>
          <p:cNvPr id="123" name="正方形/長方形 122"/>
          <p:cNvSpPr/>
          <p:nvPr/>
        </p:nvSpPr>
        <p:spPr>
          <a:xfrm>
            <a:off x="9024992"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関係性</a:t>
            </a:r>
          </a:p>
        </p:txBody>
      </p:sp>
      <p:sp>
        <p:nvSpPr>
          <p:cNvPr id="124" name="正方形/長方形 123"/>
          <p:cNvSpPr/>
          <p:nvPr/>
        </p:nvSpPr>
        <p:spPr>
          <a:xfrm>
            <a:off x="10226979" y="3579809"/>
            <a:ext cx="101428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仕組み</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取り組み</a:t>
            </a:r>
          </a:p>
        </p:txBody>
      </p:sp>
      <p:cxnSp>
        <p:nvCxnSpPr>
          <p:cNvPr id="125" name="直線矢印コネクタ 124"/>
          <p:cNvCxnSpPr>
            <a:stCxn id="35" idx="2"/>
            <a:endCxn id="122" idx="0"/>
          </p:cNvCxnSpPr>
          <p:nvPr/>
        </p:nvCxnSpPr>
        <p:spPr>
          <a:xfrm flipH="1">
            <a:off x="8330149" y="3206169"/>
            <a:ext cx="1126301" cy="3786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線矢印コネクタ 125"/>
          <p:cNvCxnSpPr>
            <a:stCxn id="35" idx="2"/>
            <a:endCxn id="123" idx="0"/>
          </p:cNvCxnSpPr>
          <p:nvPr/>
        </p:nvCxnSpPr>
        <p:spPr>
          <a:xfrm>
            <a:off x="9456450" y="3206169"/>
            <a:ext cx="75686"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線矢印コネクタ 126"/>
          <p:cNvCxnSpPr>
            <a:stCxn id="35" idx="2"/>
            <a:endCxn id="124" idx="0"/>
          </p:cNvCxnSpPr>
          <p:nvPr/>
        </p:nvCxnSpPr>
        <p:spPr>
          <a:xfrm>
            <a:off x="9456450" y="3206169"/>
            <a:ext cx="1277673" cy="3736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テキスト ボックス 127"/>
          <p:cNvSpPr txBox="1"/>
          <p:nvPr/>
        </p:nvSpPr>
        <p:spPr>
          <a:xfrm>
            <a:off x="7653317" y="4102770"/>
            <a:ext cx="1428424" cy="369332"/>
          </a:xfrm>
          <a:prstGeom prst="rect">
            <a:avLst/>
          </a:prstGeom>
          <a:noFill/>
        </p:spPr>
        <p:txBody>
          <a:bodyPr wrap="square" rtlCol="0">
            <a:spAutoFit/>
          </a:bodyPr>
          <a:lstStyle/>
          <a:p>
            <a:r>
              <a:rPr lang="ja-JP" altLang="en-US" sz="900" dirty="0">
                <a:latin typeface="Meiryo" charset="-128"/>
                <a:ea typeface="Meiryo" charset="-128"/>
                <a:cs typeface="Meiryo" charset="-128"/>
              </a:rPr>
              <a:t>・属人化</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・ノウハウが暗黙知</a:t>
            </a:r>
            <a:endParaRPr lang="en-US" altLang="ja-JP" sz="900" dirty="0">
              <a:latin typeface="Meiryo" charset="-128"/>
              <a:ea typeface="Meiryo" charset="-128"/>
              <a:cs typeface="Meiryo" charset="-128"/>
            </a:endParaRPr>
          </a:p>
        </p:txBody>
      </p:sp>
      <p:sp>
        <p:nvSpPr>
          <p:cNvPr id="129" name="テキスト ボックス 128"/>
          <p:cNvSpPr txBox="1"/>
          <p:nvPr/>
        </p:nvSpPr>
        <p:spPr>
          <a:xfrm>
            <a:off x="8896544" y="4090931"/>
            <a:ext cx="1542135" cy="1061829"/>
          </a:xfrm>
          <a:prstGeom prst="rect">
            <a:avLst/>
          </a:prstGeom>
          <a:noFill/>
        </p:spPr>
        <p:txBody>
          <a:bodyPr wrap="square" rtlCol="0">
            <a:spAutoFit/>
          </a:bodyPr>
          <a:lstStyle/>
          <a:p>
            <a:r>
              <a:rPr lang="ja-JP" altLang="en-US" sz="900" dirty="0">
                <a:latin typeface="Meiryo" charset="-128"/>
                <a:ea typeface="Meiryo" charset="-128"/>
                <a:cs typeface="Meiryo" charset="-128"/>
              </a:rPr>
              <a:t>・縦</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横</a:t>
            </a:r>
            <a:r>
              <a:rPr lang="en-US" altLang="ja-JP" sz="900" dirty="0">
                <a:latin typeface="Meiryo" charset="-128"/>
                <a:ea typeface="Meiryo" charset="-128"/>
                <a:cs typeface="Meiryo" charset="-128"/>
              </a:rPr>
              <a:t>/</a:t>
            </a:r>
            <a:r>
              <a:rPr lang="ja-JP" altLang="en-US" sz="900" dirty="0">
                <a:latin typeface="Meiryo" charset="-128"/>
                <a:ea typeface="Meiryo" charset="-128"/>
                <a:cs typeface="Meiryo" charset="-128"/>
              </a:rPr>
              <a:t>組織間</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・セクショナリズム</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・事なかれ主義</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・厳しいフィードバック</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・多様性</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・他者理解</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・心理的安全性</a:t>
            </a:r>
            <a:endParaRPr lang="en-US" altLang="ja-JP" sz="900" dirty="0">
              <a:latin typeface="Meiryo" charset="-128"/>
              <a:ea typeface="Meiryo" charset="-128"/>
              <a:cs typeface="Meiryo" charset="-128"/>
            </a:endParaRPr>
          </a:p>
        </p:txBody>
      </p:sp>
      <p:sp>
        <p:nvSpPr>
          <p:cNvPr id="130" name="テキスト ボックス 129"/>
          <p:cNvSpPr txBox="1"/>
          <p:nvPr/>
        </p:nvSpPr>
        <p:spPr>
          <a:xfrm>
            <a:off x="10170476" y="4102770"/>
            <a:ext cx="1655846" cy="507831"/>
          </a:xfrm>
          <a:prstGeom prst="rect">
            <a:avLst/>
          </a:prstGeom>
          <a:noFill/>
        </p:spPr>
        <p:txBody>
          <a:bodyPr wrap="square" rtlCol="0">
            <a:spAutoFit/>
          </a:bodyPr>
          <a:lstStyle/>
          <a:p>
            <a:r>
              <a:rPr lang="ja-JP" altLang="en-US" sz="900" dirty="0">
                <a:latin typeface="Meiryo" charset="-128"/>
                <a:ea typeface="Meiryo" charset="-128"/>
                <a:cs typeface="Meiryo" charset="-128"/>
              </a:rPr>
              <a:t>・組織としてのルール</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・ボトムアップの取り組み</a:t>
            </a:r>
            <a:endParaRPr lang="en-US" altLang="ja-JP" sz="900" dirty="0">
              <a:latin typeface="Meiryo" charset="-128"/>
              <a:ea typeface="Meiryo" charset="-128"/>
              <a:cs typeface="Meiryo" charset="-128"/>
            </a:endParaRPr>
          </a:p>
          <a:p>
            <a:endParaRPr lang="en-US" altLang="ja-JP" sz="900" dirty="0">
              <a:latin typeface="Meiryo" charset="-128"/>
              <a:ea typeface="Meiryo" charset="-128"/>
              <a:cs typeface="Meiryo" charset="-128"/>
            </a:endParaRPr>
          </a:p>
        </p:txBody>
      </p:sp>
      <p:sp>
        <p:nvSpPr>
          <p:cNvPr id="90" name="二等辺三角形 89"/>
          <p:cNvSpPr/>
          <p:nvPr/>
        </p:nvSpPr>
        <p:spPr>
          <a:xfrm rot="10800000">
            <a:off x="4244458" y="5174610"/>
            <a:ext cx="3437816" cy="27827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p:cNvSpPr/>
          <p:nvPr/>
        </p:nvSpPr>
        <p:spPr>
          <a:xfrm>
            <a:off x="1196820" y="6230626"/>
            <a:ext cx="93847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退職者が多い</a:t>
            </a:r>
          </a:p>
        </p:txBody>
      </p:sp>
      <p:sp>
        <p:nvSpPr>
          <p:cNvPr id="131" name="楕円 130"/>
          <p:cNvSpPr/>
          <p:nvPr/>
        </p:nvSpPr>
        <p:spPr>
          <a:xfrm>
            <a:off x="2490649"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心理的安全性が低い</a:t>
            </a:r>
          </a:p>
        </p:txBody>
      </p:sp>
      <p:sp>
        <p:nvSpPr>
          <p:cNvPr id="132" name="楕円 131"/>
          <p:cNvSpPr/>
          <p:nvPr/>
        </p:nvSpPr>
        <p:spPr>
          <a:xfrm>
            <a:off x="3918091" y="6268214"/>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主体性が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無い</a:t>
            </a:r>
          </a:p>
        </p:txBody>
      </p:sp>
      <p:sp>
        <p:nvSpPr>
          <p:cNvPr id="133" name="楕円 132"/>
          <p:cNvSpPr/>
          <p:nvPr/>
        </p:nvSpPr>
        <p:spPr>
          <a:xfrm>
            <a:off x="5357796" y="6294149"/>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蛸壺化</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している</a:t>
            </a:r>
          </a:p>
        </p:txBody>
      </p:sp>
      <p:sp>
        <p:nvSpPr>
          <p:cNvPr id="134" name="楕円 133"/>
          <p:cNvSpPr/>
          <p:nvPr/>
        </p:nvSpPr>
        <p:spPr>
          <a:xfrm>
            <a:off x="5550555" y="5801926"/>
            <a:ext cx="1208068"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成長しない</a:t>
            </a:r>
          </a:p>
        </p:txBody>
      </p:sp>
      <p:sp>
        <p:nvSpPr>
          <p:cNvPr id="135" name="楕円 134"/>
          <p:cNvSpPr/>
          <p:nvPr/>
        </p:nvSpPr>
        <p:spPr>
          <a:xfrm>
            <a:off x="7044047" y="5758015"/>
            <a:ext cx="1289485"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組織が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ぬるい</a:t>
            </a:r>
          </a:p>
        </p:txBody>
      </p:sp>
      <p:sp>
        <p:nvSpPr>
          <p:cNvPr id="136" name="楕円 135"/>
          <p:cNvSpPr/>
          <p:nvPr/>
        </p:nvSpPr>
        <p:spPr>
          <a:xfrm>
            <a:off x="8592136" y="57038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モチベーションが低い</a:t>
            </a:r>
          </a:p>
        </p:txBody>
      </p:sp>
      <p:sp>
        <p:nvSpPr>
          <p:cNvPr id="137" name="楕円 136"/>
          <p:cNvSpPr/>
          <p:nvPr/>
        </p:nvSpPr>
        <p:spPr>
          <a:xfrm>
            <a:off x="9691513" y="6289098"/>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なんとなく</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暗い</a:t>
            </a:r>
          </a:p>
        </p:txBody>
      </p:sp>
      <p:sp>
        <p:nvSpPr>
          <p:cNvPr id="138" name="楕円 137"/>
          <p:cNvSpPr/>
          <p:nvPr/>
        </p:nvSpPr>
        <p:spPr>
          <a:xfrm>
            <a:off x="8256425" y="6289099"/>
            <a:ext cx="117761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悪口ばかり</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言う</a:t>
            </a:r>
          </a:p>
        </p:txBody>
      </p:sp>
      <p:sp>
        <p:nvSpPr>
          <p:cNvPr id="139" name="楕円 138"/>
          <p:cNvSpPr/>
          <p:nvPr/>
        </p:nvSpPr>
        <p:spPr>
          <a:xfrm>
            <a:off x="6911342" y="6297545"/>
            <a:ext cx="1107433"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先が見えない</a:t>
            </a:r>
          </a:p>
        </p:txBody>
      </p:sp>
      <p:sp>
        <p:nvSpPr>
          <p:cNvPr id="140" name="楕円 139"/>
          <p:cNvSpPr/>
          <p:nvPr/>
        </p:nvSpPr>
        <p:spPr>
          <a:xfrm>
            <a:off x="4053055" y="5737474"/>
            <a:ext cx="1381597"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昔の方が</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良かった</a:t>
            </a:r>
          </a:p>
        </p:txBody>
      </p:sp>
      <p:sp>
        <p:nvSpPr>
          <p:cNvPr id="141" name="楕円 140"/>
          <p:cNvSpPr/>
          <p:nvPr/>
        </p:nvSpPr>
        <p:spPr>
          <a:xfrm>
            <a:off x="2664671" y="5678500"/>
            <a:ext cx="1294780"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いそがしい</a:t>
            </a:r>
          </a:p>
        </p:txBody>
      </p:sp>
      <p:sp>
        <p:nvSpPr>
          <p:cNvPr id="142" name="楕円 141"/>
          <p:cNvSpPr/>
          <p:nvPr/>
        </p:nvSpPr>
        <p:spPr>
          <a:xfrm>
            <a:off x="1522343" y="5709138"/>
            <a:ext cx="1090264" cy="4532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人が足りない</a:t>
            </a:r>
          </a:p>
        </p:txBody>
      </p:sp>
      <p:sp>
        <p:nvSpPr>
          <p:cNvPr id="143" name="正方形/長方形 142"/>
          <p:cNvSpPr/>
          <p:nvPr/>
        </p:nvSpPr>
        <p:spPr>
          <a:xfrm>
            <a:off x="3580904"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全社戦略</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44" name="直線矢印コネクタ 143"/>
          <p:cNvCxnSpPr>
            <a:stCxn id="143" idx="3"/>
            <a:endCxn id="2" idx="1"/>
          </p:cNvCxnSpPr>
          <p:nvPr/>
        </p:nvCxnSpPr>
        <p:spPr>
          <a:xfrm>
            <a:off x="4740401"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2" name="テキスト ボックス 151"/>
          <p:cNvSpPr txBox="1"/>
          <p:nvPr/>
        </p:nvSpPr>
        <p:spPr>
          <a:xfrm>
            <a:off x="3475926" y="1348626"/>
            <a:ext cx="1377010" cy="507831"/>
          </a:xfrm>
          <a:prstGeom prst="rect">
            <a:avLst/>
          </a:prstGeom>
          <a:noFill/>
        </p:spPr>
        <p:txBody>
          <a:bodyPr wrap="square" rtlCol="0">
            <a:spAutoFit/>
          </a:bodyPr>
          <a:lstStyle/>
          <a:p>
            <a:r>
              <a:rPr lang="ja-JP" altLang="en-US" sz="900" dirty="0">
                <a:latin typeface="Meiryo" charset="-128"/>
                <a:ea typeface="Meiryo" charset="-128"/>
                <a:cs typeface="Meiryo" charset="-128"/>
              </a:rPr>
              <a:t>・そもそもない</a:t>
            </a:r>
            <a:endParaRPr lang="en-US" altLang="ja-JP" sz="900" dirty="0">
              <a:latin typeface="Meiryo" charset="-128"/>
              <a:ea typeface="Meiryo" charset="-128"/>
              <a:cs typeface="Meiryo" charset="-128"/>
            </a:endParaRPr>
          </a:p>
          <a:p>
            <a:r>
              <a:rPr lang="ja-JP" altLang="en-US" sz="900" dirty="0">
                <a:latin typeface="Meiryo" charset="-128"/>
                <a:ea typeface="Meiryo" charset="-128"/>
                <a:cs typeface="Meiryo" charset="-128"/>
              </a:rPr>
              <a:t>・納得できていない</a:t>
            </a:r>
            <a:endParaRPr lang="en-US" altLang="ja-JP" sz="900" dirty="0">
              <a:latin typeface="Meiryo" charset="-128"/>
              <a:ea typeface="Meiryo" charset="-128"/>
              <a:cs typeface="Meiryo" charset="-128"/>
            </a:endParaRPr>
          </a:p>
          <a:p>
            <a:endParaRPr lang="ja-JP" altLang="en-US" sz="900" dirty="0">
              <a:latin typeface="Meiryo" charset="-128"/>
              <a:ea typeface="Meiryo" charset="-128"/>
              <a:cs typeface="Meiryo" charset="-128"/>
            </a:endParaRPr>
          </a:p>
        </p:txBody>
      </p:sp>
      <p:sp>
        <p:nvSpPr>
          <p:cNvPr id="153" name="正方形/長方形 152"/>
          <p:cNvSpPr/>
          <p:nvPr/>
        </p:nvSpPr>
        <p:spPr>
          <a:xfrm>
            <a:off x="1778190" y="850918"/>
            <a:ext cx="1159497" cy="44306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ホールディングス</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ミッション・ビジョン</a:t>
            </a:r>
          </a:p>
        </p:txBody>
      </p:sp>
      <p:cxnSp>
        <p:nvCxnSpPr>
          <p:cNvPr id="154" name="直線矢印コネクタ 153"/>
          <p:cNvCxnSpPr>
            <a:stCxn id="153" idx="3"/>
            <a:endCxn id="143" idx="1"/>
          </p:cNvCxnSpPr>
          <p:nvPr/>
        </p:nvCxnSpPr>
        <p:spPr>
          <a:xfrm>
            <a:off x="2937687" y="1072448"/>
            <a:ext cx="643217" cy="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テキスト ボックス 156"/>
          <p:cNvSpPr txBox="1"/>
          <p:nvPr/>
        </p:nvSpPr>
        <p:spPr>
          <a:xfrm>
            <a:off x="1758380" y="1349189"/>
            <a:ext cx="1545255" cy="230832"/>
          </a:xfrm>
          <a:prstGeom prst="rect">
            <a:avLst/>
          </a:prstGeom>
          <a:noFill/>
        </p:spPr>
        <p:txBody>
          <a:bodyPr wrap="square" rtlCol="0">
            <a:spAutoFit/>
          </a:bodyPr>
          <a:lstStyle/>
          <a:p>
            <a:r>
              <a:rPr lang="ja-JP" altLang="en-US" sz="900" dirty="0">
                <a:latin typeface="Meiryo" charset="-128"/>
                <a:ea typeface="Meiryo" charset="-128"/>
                <a:cs typeface="Meiryo" charset="-128"/>
              </a:rPr>
              <a:t>・整合性とれているか？</a:t>
            </a:r>
          </a:p>
        </p:txBody>
      </p:sp>
      <p:sp>
        <p:nvSpPr>
          <p:cNvPr id="74" name="テキスト ボックス 73"/>
          <p:cNvSpPr txBox="1"/>
          <p:nvPr/>
        </p:nvSpPr>
        <p:spPr>
          <a:xfrm>
            <a:off x="8495610" y="785131"/>
            <a:ext cx="2933516" cy="369332"/>
          </a:xfrm>
          <a:prstGeom prst="rect">
            <a:avLst/>
          </a:prstGeom>
          <a:noFill/>
        </p:spPr>
        <p:txBody>
          <a:bodyPr wrap="square" rtlCol="0">
            <a:spAutoFit/>
          </a:bodyPr>
          <a:lstStyle/>
          <a:p>
            <a:r>
              <a:rPr lang="ja-JP" altLang="en-US" sz="1800" b="1" dirty="0">
                <a:solidFill>
                  <a:srgbClr val="00B050"/>
                </a:solidFill>
                <a:latin typeface="Meiryo" charset="-128"/>
                <a:ea typeface="Meiryo" charset="-128"/>
                <a:cs typeface="Meiryo" charset="-128"/>
              </a:rPr>
              <a:t>北極星はどこだ？ゾーン</a:t>
            </a:r>
          </a:p>
        </p:txBody>
      </p:sp>
      <p:sp>
        <p:nvSpPr>
          <p:cNvPr id="76" name="テキスト ボックス 75"/>
          <p:cNvSpPr txBox="1"/>
          <p:nvPr/>
        </p:nvSpPr>
        <p:spPr>
          <a:xfrm>
            <a:off x="145290" y="5226210"/>
            <a:ext cx="3197373" cy="369332"/>
          </a:xfrm>
          <a:prstGeom prst="rect">
            <a:avLst/>
          </a:prstGeom>
          <a:noFill/>
        </p:spPr>
        <p:txBody>
          <a:bodyPr wrap="square" rtlCol="0">
            <a:spAutoFit/>
          </a:bodyPr>
          <a:lstStyle/>
          <a:p>
            <a:r>
              <a:rPr lang="ja-JP" altLang="en-US" sz="1800" b="1" dirty="0">
                <a:solidFill>
                  <a:srgbClr val="FF0000"/>
                </a:solidFill>
                <a:latin typeface="Meiryo" charset="-128"/>
                <a:ea typeface="Meiryo" charset="-128"/>
                <a:cs typeface="Meiryo" charset="-128"/>
              </a:rPr>
              <a:t>「人材」「人財」活用ゾーン</a:t>
            </a:r>
          </a:p>
        </p:txBody>
      </p:sp>
      <p:sp>
        <p:nvSpPr>
          <p:cNvPr id="78" name="テキスト ボックス 77"/>
          <p:cNvSpPr txBox="1"/>
          <p:nvPr/>
        </p:nvSpPr>
        <p:spPr>
          <a:xfrm>
            <a:off x="3224645" y="4811558"/>
            <a:ext cx="2933516" cy="369332"/>
          </a:xfrm>
          <a:prstGeom prst="rect">
            <a:avLst/>
          </a:prstGeom>
          <a:noFill/>
          <a:ln>
            <a:noFill/>
          </a:ln>
        </p:spPr>
        <p:txBody>
          <a:bodyPr wrap="square" rtlCol="0">
            <a:spAutoFit/>
          </a:bodyPr>
          <a:lstStyle/>
          <a:p>
            <a:r>
              <a:rPr lang="ja-JP" altLang="en-US" sz="1800" b="1" dirty="0">
                <a:solidFill>
                  <a:srgbClr val="0070C0"/>
                </a:solidFill>
                <a:latin typeface="Meiryo" charset="-128"/>
                <a:ea typeface="Meiryo" charset="-128"/>
                <a:cs typeface="Meiryo" charset="-128"/>
              </a:rPr>
              <a:t>業務直結課題解決ゾーン</a:t>
            </a:r>
          </a:p>
        </p:txBody>
      </p:sp>
      <p:sp>
        <p:nvSpPr>
          <p:cNvPr id="80" name="テキスト ボックス 79"/>
          <p:cNvSpPr txBox="1"/>
          <p:nvPr/>
        </p:nvSpPr>
        <p:spPr>
          <a:xfrm>
            <a:off x="8628528" y="5177864"/>
            <a:ext cx="2933516" cy="369332"/>
          </a:xfrm>
          <a:prstGeom prst="rect">
            <a:avLst/>
          </a:prstGeom>
          <a:noFill/>
          <a:ln>
            <a:noFill/>
          </a:ln>
        </p:spPr>
        <p:txBody>
          <a:bodyPr wrap="square" rtlCol="0">
            <a:spAutoFit/>
          </a:bodyPr>
          <a:lstStyle/>
          <a:p>
            <a:r>
              <a:rPr lang="ja-JP" altLang="en-US" sz="1800" b="1" dirty="0">
                <a:solidFill>
                  <a:schemeClr val="accent2"/>
                </a:solidFill>
                <a:latin typeface="Meiryo" charset="-128"/>
                <a:ea typeface="Meiryo" charset="-128"/>
                <a:cs typeface="Meiryo" charset="-128"/>
              </a:rPr>
              <a:t>組織を機能させるゾーン</a:t>
            </a:r>
          </a:p>
        </p:txBody>
      </p:sp>
      <p:sp>
        <p:nvSpPr>
          <p:cNvPr id="82" name="テキスト ボックス 81"/>
          <p:cNvSpPr txBox="1"/>
          <p:nvPr/>
        </p:nvSpPr>
        <p:spPr>
          <a:xfrm>
            <a:off x="5598138" y="5493834"/>
            <a:ext cx="2933516" cy="369332"/>
          </a:xfrm>
          <a:prstGeom prst="rect">
            <a:avLst/>
          </a:prstGeom>
          <a:noFill/>
          <a:ln>
            <a:noFill/>
          </a:ln>
        </p:spPr>
        <p:txBody>
          <a:bodyPr wrap="square" rtlCol="0">
            <a:spAutoFit/>
          </a:bodyPr>
          <a:lstStyle/>
          <a:p>
            <a:r>
              <a:rPr lang="ja-JP" altLang="en-US" sz="1800" b="1" dirty="0">
                <a:solidFill>
                  <a:srgbClr val="7030A0"/>
                </a:solidFill>
                <a:latin typeface="Meiryo" charset="-128"/>
                <a:ea typeface="Meiryo" charset="-128"/>
                <a:cs typeface="Meiryo" charset="-128"/>
              </a:rPr>
              <a:t>結果論ゾーン</a:t>
            </a:r>
          </a:p>
        </p:txBody>
      </p:sp>
      <p:sp>
        <p:nvSpPr>
          <p:cNvPr id="8" name="フッター プレースホルダー 7"/>
          <p:cNvSpPr>
            <a:spLocks noGrp="1"/>
          </p:cNvSpPr>
          <p:nvPr>
            <p:ph type="ftr" idx="11"/>
          </p:nvPr>
        </p:nvSpPr>
        <p:spPr/>
        <p:txBody>
          <a:bodyPr/>
          <a:lstStyle/>
          <a:p>
            <a:r>
              <a:rPr lang="en-US"/>
              <a:t>©2022 LINE</a:t>
            </a:r>
          </a:p>
        </p:txBody>
      </p:sp>
    </p:spTree>
    <p:extLst>
      <p:ext uri="{BB962C8B-B14F-4D97-AF65-F5344CB8AC3E}">
        <p14:creationId xmlns:p14="http://schemas.microsoft.com/office/powerpoint/2010/main" val="11978070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p:cNvSpPr txBox="1"/>
          <p:nvPr/>
        </p:nvSpPr>
        <p:spPr>
          <a:xfrm>
            <a:off x="492264" y="169476"/>
            <a:ext cx="11186592" cy="523220"/>
          </a:xfrm>
          <a:prstGeom prst="rect">
            <a:avLst/>
          </a:prstGeom>
          <a:noFill/>
        </p:spPr>
        <p:txBody>
          <a:bodyPr wrap="square" rtlCol="0">
            <a:spAutoFit/>
          </a:bodyPr>
          <a:lstStyle/>
          <a:p>
            <a:r>
              <a:rPr lang="ja-JP" altLang="en-US" sz="2800" b="1" dirty="0">
                <a:latin typeface="Meiryo" charset="-128"/>
                <a:ea typeface="Meiryo" charset="-128"/>
                <a:cs typeface="Meiryo" charset="-128"/>
              </a:rPr>
              <a:t>頭の中の引き出し</a:t>
            </a:r>
          </a:p>
        </p:txBody>
      </p:sp>
      <p:cxnSp>
        <p:nvCxnSpPr>
          <p:cNvPr id="13" name="直線コネクタ 12"/>
          <p:cNvCxnSpPr/>
          <p:nvPr/>
        </p:nvCxnSpPr>
        <p:spPr>
          <a:xfrm>
            <a:off x="282633" y="692696"/>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角丸四角形 13"/>
          <p:cNvSpPr/>
          <p:nvPr/>
        </p:nvSpPr>
        <p:spPr>
          <a:xfrm>
            <a:off x="301358" y="188640"/>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4" name="正方形/長方形 33"/>
          <p:cNvSpPr/>
          <p:nvPr/>
        </p:nvSpPr>
        <p:spPr>
          <a:xfrm>
            <a:off x="210713" y="2042895"/>
            <a:ext cx="1483822" cy="690476"/>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組織理解</a:t>
            </a:r>
            <a:endParaRPr lang="en-US" altLang="ja-JP" b="1" dirty="0">
              <a:solidFill>
                <a:schemeClr val="tx1"/>
              </a:solidFill>
              <a:latin typeface="Meiryo UI" panose="020B0604030504040204" pitchFamily="50" charset="-128"/>
              <a:ea typeface="Meiryo UI" panose="020B0604030504040204" pitchFamily="50" charset="-128"/>
            </a:endParaRPr>
          </a:p>
        </p:txBody>
      </p:sp>
      <p:sp>
        <p:nvSpPr>
          <p:cNvPr id="21" name="正方形/長方形 20"/>
          <p:cNvSpPr/>
          <p:nvPr/>
        </p:nvSpPr>
        <p:spPr>
          <a:xfrm>
            <a:off x="210714" y="3575589"/>
            <a:ext cx="1483822" cy="690476"/>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人事戦略</a:t>
            </a:r>
            <a:endParaRPr lang="en-US" altLang="ja-JP" b="1" dirty="0">
              <a:solidFill>
                <a:schemeClr val="tx1"/>
              </a:solidFill>
              <a:latin typeface="Meiryo UI" panose="020B0604030504040204" pitchFamily="50" charset="-128"/>
              <a:ea typeface="Meiryo UI" panose="020B0604030504040204" pitchFamily="50" charset="-128"/>
            </a:endParaRPr>
          </a:p>
          <a:p>
            <a:pPr algn="ctr"/>
            <a:r>
              <a:rPr lang="ja-JP" altLang="en-US" b="1" dirty="0">
                <a:solidFill>
                  <a:schemeClr val="tx1"/>
                </a:solidFill>
                <a:latin typeface="Meiryo UI" panose="020B0604030504040204" pitchFamily="50" charset="-128"/>
                <a:ea typeface="Meiryo UI" panose="020B0604030504040204" pitchFamily="50" charset="-128"/>
              </a:rPr>
              <a:t>ポリシー</a:t>
            </a:r>
            <a:endParaRPr lang="en-US" altLang="ja-JP" b="1" dirty="0">
              <a:solidFill>
                <a:schemeClr val="tx1"/>
              </a:solidFill>
              <a:latin typeface="Meiryo UI" panose="020B0604030504040204" pitchFamily="50" charset="-128"/>
              <a:ea typeface="Meiryo UI" panose="020B0604030504040204" pitchFamily="50" charset="-128"/>
            </a:endParaRPr>
          </a:p>
        </p:txBody>
      </p:sp>
      <p:sp>
        <p:nvSpPr>
          <p:cNvPr id="23" name="テキスト ボックス 22"/>
          <p:cNvSpPr txBox="1"/>
          <p:nvPr/>
        </p:nvSpPr>
        <p:spPr>
          <a:xfrm>
            <a:off x="68149" y="4397576"/>
            <a:ext cx="2018779" cy="830997"/>
          </a:xfrm>
          <a:prstGeom prst="rect">
            <a:avLst/>
          </a:prstGeom>
          <a:noFill/>
        </p:spPr>
        <p:txBody>
          <a:bodyPr wrap="square" rtlCol="0">
            <a:spAutoFit/>
          </a:bodyPr>
          <a:lstStyle/>
          <a:p>
            <a:r>
              <a:rPr kumimoji="1" lang="ja-JP" altLang="en-US" sz="1200" dirty="0">
                <a:latin typeface="メイリオ" panose="020B0604030504040204" pitchFamily="50" charset="-128"/>
                <a:ea typeface="メイリオ" panose="020B0604030504040204" pitchFamily="50" charset="-128"/>
              </a:rPr>
              <a:t>事業理解を踏まえての人・組織における勝ち筋。一貫</a:t>
            </a:r>
            <a:r>
              <a:rPr lang="ja-JP" altLang="en-US" sz="1200" dirty="0">
                <a:latin typeface="メイリオ" panose="020B0604030504040204" pitchFamily="50" charset="-128"/>
                <a:ea typeface="メイリオ" panose="020B0604030504040204" pitchFamily="50" charset="-128"/>
              </a:rPr>
              <a:t>した</a:t>
            </a:r>
            <a:r>
              <a:rPr kumimoji="1" lang="ja-JP" altLang="en-US" sz="1200" dirty="0">
                <a:latin typeface="メイリオ" panose="020B0604030504040204" pitchFamily="50" charset="-128"/>
                <a:ea typeface="メイリオ" panose="020B0604030504040204" pitchFamily="50" charset="-128"/>
              </a:rPr>
              <a:t>方針、ストーリー（</a:t>
            </a:r>
            <a:r>
              <a:rPr kumimoji="1" lang="en-US" altLang="ja-JP" sz="1200" dirty="0">
                <a:latin typeface="メイリオ" panose="020B0604030504040204" pitchFamily="50" charset="-128"/>
                <a:ea typeface="メイリオ" panose="020B0604030504040204" pitchFamily="50" charset="-128"/>
              </a:rPr>
              <a:t>KPI</a:t>
            </a:r>
            <a:r>
              <a:rPr kumimoji="1" lang="ja-JP" altLang="en-US" sz="1200" dirty="0">
                <a:latin typeface="メイリオ" panose="020B0604030504040204" pitchFamily="50" charset="-128"/>
                <a:ea typeface="メイリオ" panose="020B0604030504040204" pitchFamily="50" charset="-128"/>
              </a:rPr>
              <a:t>の設定）</a:t>
            </a:r>
            <a:endParaRPr kumimoji="1" lang="en-US" altLang="ja-JP" sz="1200" dirty="0">
              <a:latin typeface="メイリオ" panose="020B0604030504040204" pitchFamily="50" charset="-128"/>
              <a:ea typeface="メイリオ" panose="020B0604030504040204" pitchFamily="50" charset="-128"/>
            </a:endParaRPr>
          </a:p>
        </p:txBody>
      </p:sp>
      <p:cxnSp>
        <p:nvCxnSpPr>
          <p:cNvPr id="4" name="カギ線コネクタ 3"/>
          <p:cNvCxnSpPr>
            <a:stCxn id="21" idx="0"/>
            <a:endCxn id="34" idx="2"/>
          </p:cNvCxnSpPr>
          <p:nvPr/>
        </p:nvCxnSpPr>
        <p:spPr>
          <a:xfrm rot="16200000" flipV="1">
            <a:off x="531516" y="3154479"/>
            <a:ext cx="842218" cy="1"/>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2788258" y="1925675"/>
            <a:ext cx="1483822" cy="690476"/>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人材戦略</a:t>
            </a:r>
            <a:endParaRPr lang="en-US" altLang="ja-JP" b="1" dirty="0">
              <a:solidFill>
                <a:schemeClr val="tx1"/>
              </a:solidFill>
              <a:latin typeface="Meiryo UI" panose="020B0604030504040204" pitchFamily="50" charset="-128"/>
              <a:ea typeface="Meiryo UI" panose="020B0604030504040204" pitchFamily="50" charset="-128"/>
            </a:endParaRPr>
          </a:p>
        </p:txBody>
      </p:sp>
      <p:sp>
        <p:nvSpPr>
          <p:cNvPr id="32" name="正方形/長方形 31"/>
          <p:cNvSpPr/>
          <p:nvPr/>
        </p:nvSpPr>
        <p:spPr>
          <a:xfrm>
            <a:off x="2788258" y="5374919"/>
            <a:ext cx="1483822" cy="690476"/>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組織戦略</a:t>
            </a:r>
            <a:endParaRPr lang="en-US" altLang="ja-JP" b="1" dirty="0">
              <a:solidFill>
                <a:schemeClr val="tx1"/>
              </a:solidFill>
              <a:latin typeface="Meiryo UI" panose="020B0604030504040204" pitchFamily="50" charset="-128"/>
              <a:ea typeface="Meiryo UI" panose="020B0604030504040204" pitchFamily="50" charset="-128"/>
            </a:endParaRPr>
          </a:p>
        </p:txBody>
      </p:sp>
      <p:cxnSp>
        <p:nvCxnSpPr>
          <p:cNvPr id="16" name="カギ線コネクタ 15"/>
          <p:cNvCxnSpPr>
            <a:stCxn id="31" idx="1"/>
            <a:endCxn id="21" idx="3"/>
          </p:cNvCxnSpPr>
          <p:nvPr/>
        </p:nvCxnSpPr>
        <p:spPr>
          <a:xfrm rot="10800000" flipV="1">
            <a:off x="1694536" y="2270913"/>
            <a:ext cx="1093722" cy="1649914"/>
          </a:xfrm>
          <a:prstGeom prst="bentConnector3">
            <a:avLst>
              <a:gd name="adj1" fmla="val 35184"/>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カギ線コネクタ 36"/>
          <p:cNvCxnSpPr>
            <a:stCxn id="32" idx="1"/>
            <a:endCxn id="21" idx="3"/>
          </p:cNvCxnSpPr>
          <p:nvPr/>
        </p:nvCxnSpPr>
        <p:spPr>
          <a:xfrm rot="10800000">
            <a:off x="1694536" y="3920827"/>
            <a:ext cx="1093722" cy="1799330"/>
          </a:xfrm>
          <a:prstGeom prst="bentConnector3">
            <a:avLst>
              <a:gd name="adj1" fmla="val 35184"/>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正方形/長方形 49"/>
          <p:cNvSpPr/>
          <p:nvPr/>
        </p:nvSpPr>
        <p:spPr>
          <a:xfrm>
            <a:off x="4737337" y="849696"/>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採用（獲得）</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56" name="正方形/長方形 55"/>
          <p:cNvSpPr/>
          <p:nvPr/>
        </p:nvSpPr>
        <p:spPr>
          <a:xfrm>
            <a:off x="4737336" y="1290027"/>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登用（配置）</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57" name="正方形/長方形 56"/>
          <p:cNvSpPr/>
          <p:nvPr/>
        </p:nvSpPr>
        <p:spPr>
          <a:xfrm>
            <a:off x="4737335" y="1742565"/>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異動（配置）</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58" name="正方形/長方形 57"/>
          <p:cNvSpPr/>
          <p:nvPr/>
        </p:nvSpPr>
        <p:spPr>
          <a:xfrm>
            <a:off x="4737335" y="2195103"/>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評価（方向付け）</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67" name="テキスト ボックス 66"/>
          <p:cNvSpPr txBox="1"/>
          <p:nvPr/>
        </p:nvSpPr>
        <p:spPr>
          <a:xfrm>
            <a:off x="952623" y="2797747"/>
            <a:ext cx="1483824" cy="646331"/>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事業戦略、事業特性、組織の現在地による事業理解</a:t>
            </a:r>
            <a:endParaRPr kumimoji="1" lang="en-US" altLang="ja-JP" sz="1200" dirty="0">
              <a:latin typeface="メイリオ" panose="020B0604030504040204" pitchFamily="50" charset="-128"/>
              <a:ea typeface="メイリオ" panose="020B0604030504040204" pitchFamily="50" charset="-128"/>
            </a:endParaRPr>
          </a:p>
        </p:txBody>
      </p:sp>
      <p:sp>
        <p:nvSpPr>
          <p:cNvPr id="68" name="正方形/長方形 67"/>
          <p:cNvSpPr/>
          <p:nvPr/>
        </p:nvSpPr>
        <p:spPr>
          <a:xfrm>
            <a:off x="4737335" y="2632154"/>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報酬</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lang="ja-JP" altLang="en-US" sz="1000" b="1" dirty="0">
                <a:solidFill>
                  <a:schemeClr val="tx1"/>
                </a:solidFill>
                <a:latin typeface="Meiryo UI" panose="020B0604030504040204" pitchFamily="50" charset="-128"/>
                <a:ea typeface="Meiryo UI" panose="020B0604030504040204" pitchFamily="50" charset="-128"/>
              </a:rPr>
              <a:t>（承認、エンゲージメント）</a:t>
            </a:r>
            <a:endParaRPr lang="en-US" altLang="ja-JP" sz="1000" b="1" dirty="0">
              <a:solidFill>
                <a:schemeClr val="tx1"/>
              </a:solidFill>
              <a:latin typeface="Meiryo UI" panose="020B0604030504040204" pitchFamily="50" charset="-128"/>
              <a:ea typeface="Meiryo UI" panose="020B0604030504040204" pitchFamily="50" charset="-128"/>
            </a:endParaRPr>
          </a:p>
        </p:txBody>
      </p:sp>
      <p:sp>
        <p:nvSpPr>
          <p:cNvPr id="69" name="正方形/長方形 68"/>
          <p:cNvSpPr/>
          <p:nvPr/>
        </p:nvSpPr>
        <p:spPr>
          <a:xfrm>
            <a:off x="4737334" y="3072485"/>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昇給・昇格</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lang="ja-JP" altLang="en-US" sz="1000" b="1" dirty="0">
                <a:solidFill>
                  <a:schemeClr val="tx1"/>
                </a:solidFill>
                <a:latin typeface="Meiryo UI" panose="020B0604030504040204" pitchFamily="50" charset="-128"/>
                <a:ea typeface="Meiryo UI" panose="020B0604030504040204" pitchFamily="50" charset="-128"/>
              </a:rPr>
              <a:t>（承認、エンゲージメント）</a:t>
            </a:r>
            <a:endParaRPr lang="en-US" altLang="ja-JP" sz="1000" b="1" dirty="0">
              <a:solidFill>
                <a:schemeClr val="tx1"/>
              </a:solidFill>
              <a:latin typeface="Meiryo UI" panose="020B0604030504040204" pitchFamily="50" charset="-128"/>
              <a:ea typeface="Meiryo UI" panose="020B0604030504040204" pitchFamily="50" charset="-128"/>
            </a:endParaRPr>
          </a:p>
        </p:txBody>
      </p:sp>
      <p:sp>
        <p:nvSpPr>
          <p:cNvPr id="70" name="正方形/長方形 69"/>
          <p:cNvSpPr/>
          <p:nvPr/>
        </p:nvSpPr>
        <p:spPr>
          <a:xfrm>
            <a:off x="4737333" y="3525023"/>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退職</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lang="ja-JP" altLang="en-US" sz="1050" b="1" dirty="0">
                <a:solidFill>
                  <a:schemeClr val="tx1"/>
                </a:solidFill>
                <a:latin typeface="Meiryo UI" panose="020B0604030504040204" pitchFamily="50" charset="-128"/>
                <a:ea typeface="Meiryo UI" panose="020B0604030504040204" pitchFamily="50" charset="-128"/>
              </a:rPr>
              <a:t>（引き止め、損切り）</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71" name="正方形/長方形 70"/>
          <p:cNvSpPr/>
          <p:nvPr/>
        </p:nvSpPr>
        <p:spPr>
          <a:xfrm>
            <a:off x="4737333" y="3977561"/>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人材要件（方向付け）</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72" name="正方形/長方形 71"/>
          <p:cNvSpPr/>
          <p:nvPr/>
        </p:nvSpPr>
        <p:spPr>
          <a:xfrm>
            <a:off x="4737335" y="4417892"/>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人材開発（教育）</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73" name="正方形/長方形 72"/>
          <p:cNvSpPr/>
          <p:nvPr/>
        </p:nvSpPr>
        <p:spPr>
          <a:xfrm>
            <a:off x="4737335" y="4854943"/>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財務（経営）</a:t>
            </a:r>
            <a:endParaRPr lang="en-US" altLang="ja-JP" sz="1000" b="1" dirty="0">
              <a:solidFill>
                <a:schemeClr val="tx1"/>
              </a:solidFill>
              <a:latin typeface="Meiryo UI" panose="020B0604030504040204" pitchFamily="50" charset="-128"/>
              <a:ea typeface="Meiryo UI" panose="020B0604030504040204" pitchFamily="50" charset="-128"/>
            </a:endParaRPr>
          </a:p>
        </p:txBody>
      </p:sp>
      <p:sp>
        <p:nvSpPr>
          <p:cNvPr id="74" name="正方形/長方形 73"/>
          <p:cNvSpPr/>
          <p:nvPr/>
        </p:nvSpPr>
        <p:spPr>
          <a:xfrm>
            <a:off x="4737334" y="5295274"/>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組織編制</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lang="ja-JP" altLang="en-US" sz="1000" b="1" dirty="0">
                <a:solidFill>
                  <a:schemeClr val="tx1"/>
                </a:solidFill>
                <a:latin typeface="Meiryo UI" panose="020B0604030504040204" pitchFamily="50" charset="-128"/>
                <a:ea typeface="Meiryo UI" panose="020B0604030504040204" pitchFamily="50" charset="-128"/>
              </a:rPr>
              <a:t>（意図的な分掌）</a:t>
            </a:r>
            <a:endParaRPr lang="en-US" altLang="ja-JP" sz="1000" b="1" dirty="0">
              <a:solidFill>
                <a:schemeClr val="tx1"/>
              </a:solidFill>
              <a:latin typeface="Meiryo UI" panose="020B0604030504040204" pitchFamily="50" charset="-128"/>
              <a:ea typeface="Meiryo UI" panose="020B0604030504040204" pitchFamily="50" charset="-128"/>
            </a:endParaRPr>
          </a:p>
        </p:txBody>
      </p:sp>
      <p:sp>
        <p:nvSpPr>
          <p:cNvPr id="75" name="正方形/長方形 74"/>
          <p:cNvSpPr/>
          <p:nvPr/>
        </p:nvSpPr>
        <p:spPr>
          <a:xfrm>
            <a:off x="4737333" y="5747812"/>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組織開発</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lang="ja-JP" altLang="en-US" sz="1050" b="1" dirty="0">
                <a:solidFill>
                  <a:schemeClr val="tx1"/>
                </a:solidFill>
                <a:latin typeface="Meiryo UI" panose="020B0604030504040204" pitchFamily="50" charset="-128"/>
                <a:ea typeface="Meiryo UI" panose="020B0604030504040204" pitchFamily="50" charset="-128"/>
              </a:rPr>
              <a:t>（コミュニケーション最適化）</a:t>
            </a:r>
            <a:endParaRPr lang="en-US" altLang="ja-JP" sz="1400" b="1" dirty="0">
              <a:solidFill>
                <a:schemeClr val="tx1"/>
              </a:solidFill>
              <a:latin typeface="Meiryo UI" panose="020B0604030504040204" pitchFamily="50" charset="-128"/>
              <a:ea typeface="Meiryo UI" panose="020B0604030504040204" pitchFamily="50" charset="-128"/>
            </a:endParaRPr>
          </a:p>
        </p:txBody>
      </p:sp>
      <p:sp>
        <p:nvSpPr>
          <p:cNvPr id="76" name="正方形/長方形 75"/>
          <p:cNvSpPr/>
          <p:nvPr/>
        </p:nvSpPr>
        <p:spPr>
          <a:xfrm>
            <a:off x="4737333" y="6200350"/>
            <a:ext cx="2032493" cy="36622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タレントマネジメント</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lang="ja-JP" altLang="en-US" sz="1100" b="1" dirty="0">
                <a:solidFill>
                  <a:schemeClr val="tx1"/>
                </a:solidFill>
                <a:latin typeface="Meiryo UI" panose="020B0604030504040204" pitchFamily="50" charset="-128"/>
                <a:ea typeface="Meiryo UI" panose="020B0604030504040204" pitchFamily="50" charset="-128"/>
              </a:rPr>
              <a:t>（人材の可視化）</a:t>
            </a:r>
            <a:endParaRPr lang="en-US" altLang="ja-JP" sz="1100" b="1" dirty="0">
              <a:solidFill>
                <a:schemeClr val="tx1"/>
              </a:solidFill>
              <a:latin typeface="Meiryo UI" panose="020B0604030504040204" pitchFamily="50" charset="-128"/>
              <a:ea typeface="Meiryo UI" panose="020B0604030504040204" pitchFamily="50" charset="-128"/>
            </a:endParaRPr>
          </a:p>
        </p:txBody>
      </p:sp>
      <p:sp>
        <p:nvSpPr>
          <p:cNvPr id="77" name="テキスト ボックス 76"/>
          <p:cNvSpPr txBox="1"/>
          <p:nvPr/>
        </p:nvSpPr>
        <p:spPr>
          <a:xfrm>
            <a:off x="6769826" y="810960"/>
            <a:ext cx="4705660"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最適な</a:t>
            </a:r>
            <a:r>
              <a:rPr lang="en-US" altLang="ja-JP" sz="1200" dirty="0">
                <a:latin typeface="メイリオ" panose="020B0604030504040204" pitchFamily="50" charset="-128"/>
                <a:ea typeface="メイリオ" panose="020B0604030504040204" pitchFamily="50" charset="-128"/>
              </a:rPr>
              <a:t>HC</a:t>
            </a:r>
            <a:r>
              <a:rPr lang="ja-JP" altLang="en-US" sz="1200" dirty="0">
                <a:latin typeface="メイリオ" panose="020B0604030504040204" pitchFamily="50" charset="-128"/>
                <a:ea typeface="メイリオ" panose="020B0604030504040204" pitchFamily="50" charset="-128"/>
              </a:rPr>
              <a:t>とコストのバランス</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人材要件に対応した新卒・中途の意味づけ</a:t>
            </a:r>
            <a:endParaRPr kumimoji="1" lang="en-US" altLang="ja-JP" sz="1200" dirty="0">
              <a:latin typeface="メイリオ" panose="020B0604030504040204" pitchFamily="50" charset="-128"/>
              <a:ea typeface="メイリオ" panose="020B0604030504040204" pitchFamily="50" charset="-128"/>
            </a:endParaRPr>
          </a:p>
        </p:txBody>
      </p:sp>
      <p:sp>
        <p:nvSpPr>
          <p:cNvPr id="78" name="テキスト ボックス 77"/>
          <p:cNvSpPr txBox="1"/>
          <p:nvPr/>
        </p:nvSpPr>
        <p:spPr>
          <a:xfrm>
            <a:off x="2788257" y="2675208"/>
            <a:ext cx="1483824" cy="646331"/>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人事戦略に資する人材戦略の方針と力の入れどころ</a:t>
            </a:r>
            <a:endParaRPr kumimoji="1" lang="en-US" altLang="ja-JP" sz="1200" dirty="0">
              <a:latin typeface="メイリオ" panose="020B0604030504040204" pitchFamily="50" charset="-128"/>
              <a:ea typeface="メイリオ" panose="020B0604030504040204" pitchFamily="50" charset="-128"/>
            </a:endParaRPr>
          </a:p>
        </p:txBody>
      </p:sp>
      <p:sp>
        <p:nvSpPr>
          <p:cNvPr id="79" name="テキスト ボックス 78"/>
          <p:cNvSpPr txBox="1"/>
          <p:nvPr/>
        </p:nvSpPr>
        <p:spPr>
          <a:xfrm>
            <a:off x="2776759" y="6157941"/>
            <a:ext cx="1483824" cy="646331"/>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人事戦略に資する組織戦略の方針と力の入れどころ</a:t>
            </a:r>
            <a:endParaRPr kumimoji="1" lang="en-US" altLang="ja-JP" sz="1200" dirty="0">
              <a:latin typeface="メイリオ" panose="020B0604030504040204" pitchFamily="50" charset="-128"/>
              <a:ea typeface="メイリオ" panose="020B0604030504040204" pitchFamily="50" charset="-128"/>
            </a:endParaRPr>
          </a:p>
        </p:txBody>
      </p:sp>
      <p:sp>
        <p:nvSpPr>
          <p:cNvPr id="81" name="テキスト ボックス 80"/>
          <p:cNvSpPr txBox="1"/>
          <p:nvPr/>
        </p:nvSpPr>
        <p:spPr>
          <a:xfrm>
            <a:off x="10197849" y="6272899"/>
            <a:ext cx="1987302" cy="646331"/>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給与、社保、労務、法律改正対応、ダイバーシティ、などなど</a:t>
            </a:r>
            <a:endParaRPr kumimoji="1" lang="en-US" altLang="ja-JP" sz="1200" dirty="0">
              <a:latin typeface="メイリオ" panose="020B0604030504040204" pitchFamily="50" charset="-128"/>
              <a:ea typeface="メイリオ" panose="020B0604030504040204" pitchFamily="50" charset="-128"/>
            </a:endParaRPr>
          </a:p>
        </p:txBody>
      </p:sp>
      <p:sp>
        <p:nvSpPr>
          <p:cNvPr id="52" name="フリーフォーム 51"/>
          <p:cNvSpPr/>
          <p:nvPr/>
        </p:nvSpPr>
        <p:spPr>
          <a:xfrm>
            <a:off x="10086560" y="6123779"/>
            <a:ext cx="2098591" cy="759906"/>
          </a:xfrm>
          <a:custGeom>
            <a:avLst/>
            <a:gdLst>
              <a:gd name="connsiteX0" fmla="*/ 2098591 w 2098591"/>
              <a:gd name="connsiteY0" fmla="*/ 30441 h 759906"/>
              <a:gd name="connsiteX1" fmla="*/ 1358851 w 2098591"/>
              <a:gd name="connsiteY1" fmla="*/ 30441 h 759906"/>
              <a:gd name="connsiteX2" fmla="*/ 187597 w 2098591"/>
              <a:gd name="connsiteY2" fmla="*/ 30441 h 759906"/>
              <a:gd name="connsiteX3" fmla="*/ 12937 w 2098591"/>
              <a:gd name="connsiteY3" fmla="*/ 441408 h 759906"/>
              <a:gd name="connsiteX4" fmla="*/ 12937 w 2098591"/>
              <a:gd name="connsiteY4" fmla="*/ 759906 h 759906"/>
              <a:gd name="connsiteX5" fmla="*/ 12937 w 2098591"/>
              <a:gd name="connsiteY5" fmla="*/ 759906 h 75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8591" h="759906">
                <a:moveTo>
                  <a:pt x="2098591" y="30441"/>
                </a:moveTo>
                <a:lnTo>
                  <a:pt x="1358851" y="30441"/>
                </a:lnTo>
                <a:cubicBezTo>
                  <a:pt x="1040352" y="30441"/>
                  <a:pt x="411916" y="-38053"/>
                  <a:pt x="187597" y="30441"/>
                </a:cubicBezTo>
                <a:cubicBezTo>
                  <a:pt x="-36722" y="98935"/>
                  <a:pt x="42047" y="319831"/>
                  <a:pt x="12937" y="441408"/>
                </a:cubicBezTo>
                <a:cubicBezTo>
                  <a:pt x="-16173" y="562986"/>
                  <a:pt x="12937" y="759906"/>
                  <a:pt x="12937" y="759906"/>
                </a:cubicBezTo>
                <a:lnTo>
                  <a:pt x="12937" y="759906"/>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82" name="テキスト ボックス 81"/>
          <p:cNvSpPr txBox="1"/>
          <p:nvPr/>
        </p:nvSpPr>
        <p:spPr>
          <a:xfrm>
            <a:off x="6769826" y="1265187"/>
            <a:ext cx="4705660"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マクロマネジメント（トップダウン、事業目標達成観点）</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マイクロマネジメント（ボトムアップ、社員成長観点）</a:t>
            </a:r>
            <a:endParaRPr kumimoji="1" lang="en-US" altLang="ja-JP" sz="1200" dirty="0">
              <a:latin typeface="メイリオ" panose="020B0604030504040204" pitchFamily="50" charset="-128"/>
              <a:ea typeface="メイリオ" panose="020B0604030504040204" pitchFamily="50" charset="-128"/>
            </a:endParaRPr>
          </a:p>
        </p:txBody>
      </p:sp>
      <p:sp>
        <p:nvSpPr>
          <p:cNvPr id="83" name="テキスト ボックス 82"/>
          <p:cNvSpPr txBox="1"/>
          <p:nvPr/>
        </p:nvSpPr>
        <p:spPr>
          <a:xfrm>
            <a:off x="6769826" y="1801023"/>
            <a:ext cx="4705660" cy="276999"/>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最適な</a:t>
            </a:r>
            <a:r>
              <a:rPr lang="en-US" altLang="ja-JP" sz="1200" dirty="0">
                <a:latin typeface="メイリオ" panose="020B0604030504040204" pitchFamily="50" charset="-128"/>
                <a:ea typeface="メイリオ" panose="020B0604030504040204" pitchFamily="50" charset="-128"/>
              </a:rPr>
              <a:t>HC</a:t>
            </a:r>
            <a:r>
              <a:rPr lang="ja-JP" altLang="en-US" sz="1200" dirty="0">
                <a:latin typeface="メイリオ" panose="020B0604030504040204" pitchFamily="50" charset="-128"/>
                <a:ea typeface="メイリオ" panose="020B0604030504040204" pitchFamily="50" charset="-128"/>
              </a:rPr>
              <a:t>とコストのバランス、適所適材</a:t>
            </a:r>
            <a:endParaRPr kumimoji="1" lang="en-US" altLang="ja-JP" sz="1200" dirty="0">
              <a:latin typeface="メイリオ" panose="020B0604030504040204" pitchFamily="50" charset="-128"/>
              <a:ea typeface="メイリオ" panose="020B0604030504040204" pitchFamily="50" charset="-128"/>
            </a:endParaRPr>
          </a:p>
        </p:txBody>
      </p:sp>
      <p:sp>
        <p:nvSpPr>
          <p:cNvPr id="84" name="テキスト ボックス 83"/>
          <p:cNvSpPr txBox="1"/>
          <p:nvPr/>
        </p:nvSpPr>
        <p:spPr>
          <a:xfrm>
            <a:off x="6769826" y="2177915"/>
            <a:ext cx="4705660"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愛でる人材のルール、何をどのように評価するか。成果、成長、行動、能力など</a:t>
            </a:r>
            <a:endParaRPr kumimoji="1" lang="en-US" altLang="ja-JP" sz="1200" dirty="0">
              <a:latin typeface="メイリオ" panose="020B0604030504040204" pitchFamily="50" charset="-128"/>
              <a:ea typeface="メイリオ" panose="020B0604030504040204" pitchFamily="50" charset="-128"/>
            </a:endParaRPr>
          </a:p>
        </p:txBody>
      </p:sp>
      <p:sp>
        <p:nvSpPr>
          <p:cNvPr id="85" name="テキスト ボックス 84"/>
          <p:cNvSpPr txBox="1"/>
          <p:nvPr/>
        </p:nvSpPr>
        <p:spPr>
          <a:xfrm>
            <a:off x="6769826" y="2717408"/>
            <a:ext cx="4705660" cy="276999"/>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限られた原資を誰にどう分配するか。評価制度との紐づけ</a:t>
            </a:r>
            <a:endParaRPr kumimoji="1" lang="en-US" altLang="ja-JP" sz="1200" dirty="0">
              <a:latin typeface="メイリオ" panose="020B0604030504040204" pitchFamily="50" charset="-128"/>
              <a:ea typeface="メイリオ" panose="020B0604030504040204" pitchFamily="50" charset="-128"/>
            </a:endParaRPr>
          </a:p>
        </p:txBody>
      </p:sp>
      <p:sp>
        <p:nvSpPr>
          <p:cNvPr id="86" name="テキスト ボックス 85"/>
          <p:cNvSpPr txBox="1"/>
          <p:nvPr/>
        </p:nvSpPr>
        <p:spPr>
          <a:xfrm>
            <a:off x="6769826" y="3044310"/>
            <a:ext cx="4705660" cy="461665"/>
          </a:xfrm>
          <a:prstGeom prst="rect">
            <a:avLst/>
          </a:prstGeom>
          <a:noFill/>
        </p:spPr>
        <p:txBody>
          <a:bodyPr wrap="square" rtlCol="0">
            <a:spAutoFit/>
          </a:bodyPr>
          <a:lstStyle/>
          <a:p>
            <a:r>
              <a:rPr kumimoji="1" lang="ja-JP" altLang="en-US" sz="1200" dirty="0">
                <a:latin typeface="メイリオ" panose="020B0604030504040204" pitchFamily="50" charset="-128"/>
                <a:ea typeface="メイリオ" panose="020B0604030504040204" pitchFamily="50" charset="-128"/>
              </a:rPr>
              <a:t>役職、グレード、人材要件とどのように紐づけるか</a:t>
            </a:r>
            <a:endParaRPr kumimoji="1"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年次を鑑みるか、能力に従うのか</a:t>
            </a:r>
            <a:endParaRPr kumimoji="1" lang="en-US" altLang="ja-JP" sz="1200" dirty="0">
              <a:latin typeface="メイリオ" panose="020B0604030504040204" pitchFamily="50" charset="-128"/>
              <a:ea typeface="メイリオ" panose="020B0604030504040204" pitchFamily="50" charset="-128"/>
            </a:endParaRPr>
          </a:p>
        </p:txBody>
      </p:sp>
      <p:sp>
        <p:nvSpPr>
          <p:cNvPr id="87" name="テキスト ボックス 86"/>
          <p:cNvSpPr txBox="1"/>
          <p:nvPr/>
        </p:nvSpPr>
        <p:spPr>
          <a:xfrm>
            <a:off x="6769826" y="3510696"/>
            <a:ext cx="4705660"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労務対応をどこまで誰がやるか</a:t>
            </a:r>
            <a:endParaRPr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残ってほしい人材、出てほしい人材</a:t>
            </a:r>
            <a:endParaRPr kumimoji="1" lang="en-US" altLang="ja-JP" sz="1200" dirty="0">
              <a:latin typeface="メイリオ" panose="020B0604030504040204" pitchFamily="50" charset="-128"/>
              <a:ea typeface="メイリオ" panose="020B0604030504040204" pitchFamily="50" charset="-128"/>
            </a:endParaRPr>
          </a:p>
        </p:txBody>
      </p:sp>
      <p:sp>
        <p:nvSpPr>
          <p:cNvPr id="88" name="テキスト ボックス 87"/>
          <p:cNvSpPr txBox="1"/>
          <p:nvPr/>
        </p:nvSpPr>
        <p:spPr>
          <a:xfrm>
            <a:off x="6769826" y="3945463"/>
            <a:ext cx="4705660"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事業目標達成に必要な人材要件の定義</a:t>
            </a:r>
            <a:endParaRPr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採用、登用、評価、人材開発に影響</a:t>
            </a:r>
            <a:endParaRPr kumimoji="1" lang="en-US" altLang="ja-JP" sz="1200" dirty="0">
              <a:latin typeface="メイリオ" panose="020B0604030504040204" pitchFamily="50" charset="-128"/>
              <a:ea typeface="メイリオ" panose="020B0604030504040204" pitchFamily="50" charset="-128"/>
            </a:endParaRPr>
          </a:p>
        </p:txBody>
      </p:sp>
      <p:sp>
        <p:nvSpPr>
          <p:cNvPr id="89" name="テキスト ボックス 88"/>
          <p:cNvSpPr txBox="1"/>
          <p:nvPr/>
        </p:nvSpPr>
        <p:spPr>
          <a:xfrm>
            <a:off x="6769825" y="4405238"/>
            <a:ext cx="5415325"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入社者に対しての最速の立ち上がり支援。プロ人材を増やす</a:t>
            </a:r>
            <a:endParaRPr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管理職に対しての目標設定、評価、フィードバックを中心とした教育</a:t>
            </a:r>
            <a:endParaRPr kumimoji="1" lang="en-US" altLang="ja-JP" sz="1200" dirty="0">
              <a:latin typeface="メイリオ" panose="020B0604030504040204" pitchFamily="50" charset="-128"/>
              <a:ea typeface="メイリオ" panose="020B0604030504040204" pitchFamily="50" charset="-128"/>
            </a:endParaRPr>
          </a:p>
        </p:txBody>
      </p:sp>
      <p:sp>
        <p:nvSpPr>
          <p:cNvPr id="90" name="テキスト ボックス 89"/>
          <p:cNvSpPr txBox="1"/>
          <p:nvPr/>
        </p:nvSpPr>
        <p:spPr>
          <a:xfrm>
            <a:off x="6769826" y="4813165"/>
            <a:ext cx="4705660"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どの事業にどの程度投資するかの見極め</a:t>
            </a:r>
            <a:endParaRPr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最適な人件費コントロール</a:t>
            </a:r>
            <a:endParaRPr kumimoji="1" lang="en-US" altLang="ja-JP" sz="1200" dirty="0">
              <a:latin typeface="メイリオ" panose="020B0604030504040204" pitchFamily="50" charset="-128"/>
              <a:ea typeface="メイリオ" panose="020B0604030504040204" pitchFamily="50" charset="-128"/>
            </a:endParaRPr>
          </a:p>
        </p:txBody>
      </p:sp>
      <p:sp>
        <p:nvSpPr>
          <p:cNvPr id="91" name="テキスト ボックス 90"/>
          <p:cNvSpPr txBox="1"/>
          <p:nvPr/>
        </p:nvSpPr>
        <p:spPr>
          <a:xfrm>
            <a:off x="6769826" y="5256401"/>
            <a:ext cx="4705660" cy="461665"/>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事業戦略実現、かつ現実的戦力による最適な体制づくり</a:t>
            </a:r>
            <a:endParaRPr lang="en-US" altLang="ja-JP" sz="1200" dirty="0">
              <a:latin typeface="メイリオ" panose="020B0604030504040204" pitchFamily="50" charset="-128"/>
              <a:ea typeface="メイリオ" panose="020B0604030504040204" pitchFamily="50" charset="-128"/>
            </a:endParaRPr>
          </a:p>
          <a:p>
            <a:r>
              <a:rPr kumimoji="1" lang="ja-JP" altLang="en-US" sz="1200" dirty="0">
                <a:latin typeface="メイリオ" panose="020B0604030504040204" pitchFamily="50" charset="-128"/>
                <a:ea typeface="メイリオ" panose="020B0604030504040204" pitchFamily="50" charset="-128"/>
              </a:rPr>
              <a:t>組織化の弊害をカバーする施策の検討</a:t>
            </a:r>
            <a:endParaRPr kumimoji="1" lang="en-US" altLang="ja-JP" sz="1200" dirty="0">
              <a:latin typeface="メイリオ" panose="020B0604030504040204" pitchFamily="50" charset="-128"/>
              <a:ea typeface="メイリオ" panose="020B0604030504040204" pitchFamily="50" charset="-128"/>
            </a:endParaRPr>
          </a:p>
        </p:txBody>
      </p:sp>
      <p:sp>
        <p:nvSpPr>
          <p:cNvPr id="92" name="テキスト ボックス 91"/>
          <p:cNvSpPr txBox="1"/>
          <p:nvPr/>
        </p:nvSpPr>
        <p:spPr>
          <a:xfrm>
            <a:off x="6769826" y="5818493"/>
            <a:ext cx="4705660" cy="276999"/>
          </a:xfrm>
          <a:prstGeom prst="rect">
            <a:avLst/>
          </a:prstGeom>
          <a:noFill/>
        </p:spPr>
        <p:txBody>
          <a:bodyPr wrap="square" rtlCol="0">
            <a:spAutoFit/>
          </a:bodyPr>
          <a:lstStyle/>
          <a:p>
            <a:r>
              <a:rPr lang="en-US" altLang="ja-JP" sz="1200" dirty="0">
                <a:latin typeface="メイリオ" panose="020B0604030504040204" pitchFamily="50" charset="-128"/>
                <a:ea typeface="メイリオ" panose="020B0604030504040204" pitchFamily="50" charset="-128"/>
              </a:rPr>
              <a:t>GRPI</a:t>
            </a:r>
            <a:r>
              <a:rPr lang="ja-JP" altLang="en-US" sz="1200" dirty="0">
                <a:latin typeface="メイリオ" panose="020B0604030504040204" pitchFamily="50" charset="-128"/>
                <a:ea typeface="メイリオ" panose="020B0604030504040204" pitchFamily="50" charset="-128"/>
              </a:rPr>
              <a:t>の観点での検討</a:t>
            </a:r>
            <a:endParaRPr lang="en-US" altLang="ja-JP" sz="1200" dirty="0">
              <a:latin typeface="メイリオ" panose="020B0604030504040204" pitchFamily="50" charset="-128"/>
              <a:ea typeface="メイリオ" panose="020B0604030504040204" pitchFamily="50" charset="-128"/>
            </a:endParaRPr>
          </a:p>
        </p:txBody>
      </p:sp>
      <p:sp>
        <p:nvSpPr>
          <p:cNvPr id="93" name="テキスト ボックス 92"/>
          <p:cNvSpPr txBox="1"/>
          <p:nvPr/>
        </p:nvSpPr>
        <p:spPr>
          <a:xfrm>
            <a:off x="6736270" y="6244960"/>
            <a:ext cx="4705660" cy="276999"/>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人材の知識・経験・スキル・人事情報の可視化</a:t>
            </a:r>
            <a:endParaRPr lang="en-US" altLang="ja-JP" sz="1200" dirty="0">
              <a:latin typeface="メイリオ" panose="020B0604030504040204" pitchFamily="50" charset="-128"/>
              <a:ea typeface="メイリオ" panose="020B0604030504040204" pitchFamily="50" charset="-128"/>
            </a:endParaRPr>
          </a:p>
        </p:txBody>
      </p:sp>
      <p:cxnSp>
        <p:nvCxnSpPr>
          <p:cNvPr id="54" name="カギ線コネクタ 53"/>
          <p:cNvCxnSpPr>
            <a:stCxn id="31" idx="3"/>
            <a:endCxn id="50" idx="1"/>
          </p:cNvCxnSpPr>
          <p:nvPr/>
        </p:nvCxnSpPr>
        <p:spPr>
          <a:xfrm flipV="1">
            <a:off x="4272080" y="1032806"/>
            <a:ext cx="465257" cy="1238107"/>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カギ線コネクタ 93"/>
          <p:cNvCxnSpPr>
            <a:stCxn id="31" idx="3"/>
            <a:endCxn id="56" idx="1"/>
          </p:cNvCxnSpPr>
          <p:nvPr/>
        </p:nvCxnSpPr>
        <p:spPr>
          <a:xfrm flipV="1">
            <a:off x="4272080" y="1473137"/>
            <a:ext cx="465256" cy="797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カギ線コネクタ 96"/>
          <p:cNvCxnSpPr>
            <a:stCxn id="31" idx="3"/>
            <a:endCxn id="57" idx="1"/>
          </p:cNvCxnSpPr>
          <p:nvPr/>
        </p:nvCxnSpPr>
        <p:spPr>
          <a:xfrm flipV="1">
            <a:off x="4272080" y="1925675"/>
            <a:ext cx="465255" cy="34523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カギ線コネクタ 99"/>
          <p:cNvCxnSpPr>
            <a:stCxn id="31" idx="3"/>
            <a:endCxn id="58" idx="1"/>
          </p:cNvCxnSpPr>
          <p:nvPr/>
        </p:nvCxnSpPr>
        <p:spPr>
          <a:xfrm>
            <a:off x="4272080" y="2270913"/>
            <a:ext cx="465255" cy="10730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カギ線コネクタ 102"/>
          <p:cNvCxnSpPr>
            <a:stCxn id="31" idx="3"/>
            <a:endCxn id="68" idx="1"/>
          </p:cNvCxnSpPr>
          <p:nvPr/>
        </p:nvCxnSpPr>
        <p:spPr>
          <a:xfrm>
            <a:off x="4272080" y="2270913"/>
            <a:ext cx="465255" cy="544351"/>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カギ線コネクタ 105"/>
          <p:cNvCxnSpPr>
            <a:stCxn id="31" idx="3"/>
            <a:endCxn id="69" idx="1"/>
          </p:cNvCxnSpPr>
          <p:nvPr/>
        </p:nvCxnSpPr>
        <p:spPr>
          <a:xfrm>
            <a:off x="4272080" y="2270913"/>
            <a:ext cx="465254" cy="98468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カギ線コネクタ 108"/>
          <p:cNvCxnSpPr>
            <a:stCxn id="31" idx="3"/>
            <a:endCxn id="70" idx="1"/>
          </p:cNvCxnSpPr>
          <p:nvPr/>
        </p:nvCxnSpPr>
        <p:spPr>
          <a:xfrm>
            <a:off x="4272080" y="2270913"/>
            <a:ext cx="465253" cy="14372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カギ線コネクタ 111"/>
          <p:cNvCxnSpPr>
            <a:stCxn id="31" idx="3"/>
            <a:endCxn id="71" idx="1"/>
          </p:cNvCxnSpPr>
          <p:nvPr/>
        </p:nvCxnSpPr>
        <p:spPr>
          <a:xfrm>
            <a:off x="4272080" y="2270913"/>
            <a:ext cx="465253" cy="188975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カギ線コネクタ 114"/>
          <p:cNvCxnSpPr>
            <a:stCxn id="31" idx="3"/>
            <a:endCxn id="72" idx="1"/>
          </p:cNvCxnSpPr>
          <p:nvPr/>
        </p:nvCxnSpPr>
        <p:spPr>
          <a:xfrm>
            <a:off x="4272080" y="2270913"/>
            <a:ext cx="465255" cy="233008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カギ線コネクタ 117"/>
          <p:cNvCxnSpPr>
            <a:stCxn id="32" idx="3"/>
            <a:endCxn id="73" idx="1"/>
          </p:cNvCxnSpPr>
          <p:nvPr/>
        </p:nvCxnSpPr>
        <p:spPr>
          <a:xfrm flipV="1">
            <a:off x="4272080" y="5038053"/>
            <a:ext cx="465255" cy="682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カギ線コネクタ 120"/>
          <p:cNvCxnSpPr>
            <a:stCxn id="32" idx="3"/>
            <a:endCxn id="74" idx="1"/>
          </p:cNvCxnSpPr>
          <p:nvPr/>
        </p:nvCxnSpPr>
        <p:spPr>
          <a:xfrm flipV="1">
            <a:off x="4272080" y="5478384"/>
            <a:ext cx="465254" cy="24177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カギ線コネクタ 123"/>
          <p:cNvCxnSpPr>
            <a:stCxn id="32" idx="3"/>
            <a:endCxn id="75" idx="1"/>
          </p:cNvCxnSpPr>
          <p:nvPr/>
        </p:nvCxnSpPr>
        <p:spPr>
          <a:xfrm>
            <a:off x="4272080" y="5720157"/>
            <a:ext cx="465253" cy="21076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カギ線コネクタ 126"/>
          <p:cNvCxnSpPr>
            <a:stCxn id="32" idx="3"/>
            <a:endCxn id="76" idx="1"/>
          </p:cNvCxnSpPr>
          <p:nvPr/>
        </p:nvCxnSpPr>
        <p:spPr>
          <a:xfrm>
            <a:off x="4272080" y="5720157"/>
            <a:ext cx="465253" cy="66330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テキスト ボックス 131"/>
          <p:cNvSpPr txBox="1"/>
          <p:nvPr/>
        </p:nvSpPr>
        <p:spPr>
          <a:xfrm>
            <a:off x="327909" y="768449"/>
            <a:ext cx="3944170" cy="307777"/>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多かれ少なかれ、人事の仕事は大別するとこんな感じ</a:t>
            </a:r>
            <a:endParaRPr kumimoji="1" lang="en-US" altLang="ja-JP" dirty="0">
              <a:latin typeface="Meiryo UI" panose="020B0604030504040204" pitchFamily="50" charset="-128"/>
              <a:ea typeface="Meiryo UI" panose="020B0604030504040204" pitchFamily="50" charset="-128"/>
            </a:endParaRPr>
          </a:p>
        </p:txBody>
      </p:sp>
      <p:sp>
        <p:nvSpPr>
          <p:cNvPr id="2" name="フッター プレースホルダー 1"/>
          <p:cNvSpPr>
            <a:spLocks noGrp="1"/>
          </p:cNvSpPr>
          <p:nvPr>
            <p:ph type="ftr" sz="quarter" idx="11"/>
          </p:nvPr>
        </p:nvSpPr>
        <p:spPr/>
        <p:txBody>
          <a:bodyPr/>
          <a:lstStyle/>
          <a:p>
            <a:r>
              <a:rPr kumimoji="1" lang="en-US" altLang="ja-JP"/>
              <a:t>©2022 LINE</a:t>
            </a:r>
            <a:endParaRPr kumimoji="1" lang="ja-JP" altLang="en-US"/>
          </a:p>
        </p:txBody>
      </p:sp>
      <p:sp>
        <p:nvSpPr>
          <p:cNvPr id="3" name="スライド番号プレースホルダー 2"/>
          <p:cNvSpPr>
            <a:spLocks noGrp="1"/>
          </p:cNvSpPr>
          <p:nvPr>
            <p:ph type="sldNum" sz="quarter" idx="12"/>
          </p:nvPr>
        </p:nvSpPr>
        <p:spPr/>
        <p:txBody>
          <a:bodyPr/>
          <a:lstStyle/>
          <a:p>
            <a:fld id="{84667CD2-DD76-430C-9378-57A4855356F1}" type="slidenum">
              <a:rPr kumimoji="1" lang="ja-JP" altLang="en-US" smtClean="0"/>
              <a:t>69</a:t>
            </a:fld>
            <a:endParaRPr kumimoji="1" lang="ja-JP" altLang="en-US"/>
          </a:p>
        </p:txBody>
      </p:sp>
    </p:spTree>
    <p:extLst>
      <p:ext uri="{BB962C8B-B14F-4D97-AF65-F5344CB8AC3E}">
        <p14:creationId xmlns:p14="http://schemas.microsoft.com/office/powerpoint/2010/main" val="18823721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フッター プレースホルダー 1"/>
          <p:cNvSpPr>
            <a:spLocks noGrp="1"/>
          </p:cNvSpPr>
          <p:nvPr>
            <p:ph type="ftr" idx="11"/>
          </p:nvPr>
        </p:nvSpPr>
        <p:spPr/>
        <p:txBody>
          <a:bodyPr/>
          <a:lstStyle/>
          <a:p>
            <a:r>
              <a:rPr lang="en-US"/>
              <a:t>©2022 LINE</a:t>
            </a:r>
          </a:p>
        </p:txBody>
      </p:sp>
      <p:sp>
        <p:nvSpPr>
          <p:cNvPr id="3" name="スライド番号プレースホルダー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70</a:t>
            </a:fld>
            <a:endParaRPr lang="ja-JP" altLang="en-US">
              <a:uFillTx/>
            </a:endParaRPr>
          </a:p>
        </p:txBody>
      </p:sp>
      <p:sp>
        <p:nvSpPr>
          <p:cNvPr id="9" name="タイトル 1"/>
          <p:cNvSpPr txBox="1">
            <a:spLocks/>
          </p:cNvSpPr>
          <p:nvPr/>
        </p:nvSpPr>
        <p:spPr>
          <a:xfrm>
            <a:off x="0" y="3013546"/>
            <a:ext cx="12192000" cy="64807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最終発表に向けて</a:t>
            </a:r>
          </a:p>
        </p:txBody>
      </p:sp>
    </p:spTree>
    <p:extLst>
      <p:ext uri="{BB962C8B-B14F-4D97-AF65-F5344CB8AC3E}">
        <p14:creationId xmlns:p14="http://schemas.microsoft.com/office/powerpoint/2010/main" val="35075996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最終発表の概要</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5" name="テキスト ボックス 24">
            <a:extLst>
              <a:ext uri="{FF2B5EF4-FFF2-40B4-BE49-F238E27FC236}">
                <a16:creationId xmlns:a16="http://schemas.microsoft.com/office/drawing/2014/main" id="{3808B967-0677-8CDC-5835-8C5D7AC59462}"/>
              </a:ext>
            </a:extLst>
          </p:cNvPr>
          <p:cNvSpPr txBox="1"/>
          <p:nvPr/>
        </p:nvSpPr>
        <p:spPr>
          <a:xfrm>
            <a:off x="276946" y="899432"/>
            <a:ext cx="6683828"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テーマ</a:t>
            </a:r>
            <a:endParaRPr kumimoji="0" lang="ja-JP" altLang="en-US" sz="24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cxnSp>
        <p:nvCxnSpPr>
          <p:cNvPr id="26" name="直線コネクタ 25">
            <a:extLst>
              <a:ext uri="{FF2B5EF4-FFF2-40B4-BE49-F238E27FC236}">
                <a16:creationId xmlns:a16="http://schemas.microsoft.com/office/drawing/2014/main" id="{6189D79F-CB90-7D89-D1E9-09F53CA8EDCC}"/>
              </a:ext>
            </a:extLst>
          </p:cNvPr>
          <p:cNvCxnSpPr>
            <a:cxnSpLocks/>
          </p:cNvCxnSpPr>
          <p:nvPr/>
        </p:nvCxnSpPr>
        <p:spPr>
          <a:xfrm>
            <a:off x="377418" y="1289504"/>
            <a:ext cx="1112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フッター プレースホルダー 46">
            <a:extLst>
              <a:ext uri="{FF2B5EF4-FFF2-40B4-BE49-F238E27FC236}">
                <a16:creationId xmlns:a16="http://schemas.microsoft.com/office/drawing/2014/main" id="{CF81B5C6-49C4-1559-89A6-787C4F392D88}"/>
              </a:ext>
            </a:extLst>
          </p:cNvPr>
          <p:cNvSpPr>
            <a:spLocks noGrp="1"/>
          </p:cNvSpPr>
          <p:nvPr>
            <p:ph type="ftr" idx="11"/>
          </p:nvPr>
        </p:nvSpPr>
        <p:spPr/>
        <p:txBody>
          <a:bodyPr/>
          <a:lstStyle/>
          <a:p>
            <a:r>
              <a:rPr lang="en-US" altLang="zh-TW"/>
              <a:t>©2025 JFR group</a:t>
            </a:r>
            <a:endParaRPr lang="en-US"/>
          </a:p>
        </p:txBody>
      </p:sp>
      <p:sp>
        <p:nvSpPr>
          <p:cNvPr id="8" name="テキスト ボックス 7">
            <a:extLst>
              <a:ext uri="{FF2B5EF4-FFF2-40B4-BE49-F238E27FC236}">
                <a16:creationId xmlns:a16="http://schemas.microsoft.com/office/drawing/2014/main" id="{AF12A8DC-881E-27FC-48A5-714F4132A375}"/>
              </a:ext>
            </a:extLst>
          </p:cNvPr>
          <p:cNvSpPr txBox="1"/>
          <p:nvPr/>
        </p:nvSpPr>
        <p:spPr>
          <a:xfrm>
            <a:off x="396143" y="1397226"/>
            <a:ext cx="11510308" cy="707886"/>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自社の組織を「良くする」ためのリアリティのある計画の発表</a:t>
            </a:r>
            <a:endPar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endParaRPr>
          </a:p>
          <a:p>
            <a:pPr marR="0" lvl="0" algn="l" defTabSz="914400" rtl="0" eaLnBrk="1" fontAlgn="auto" latinLnBrk="0" hangingPunct="1">
              <a:lnSpc>
                <a:spcPct val="100000"/>
              </a:lnSpc>
              <a:spcBef>
                <a:spcPts val="0"/>
              </a:spcBef>
              <a:spcAft>
                <a:spcPts val="0"/>
              </a:spcAft>
              <a:buClr>
                <a:srgbClr val="000000"/>
              </a:buClr>
              <a:buSzTx/>
              <a:tabLst/>
              <a:defRPr/>
            </a:pP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「良くする」とは何かも含めて検討する</a:t>
            </a:r>
            <a:endPar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9" name="スライド番号プレースホルダー 8">
            <a:extLst>
              <a:ext uri="{FF2B5EF4-FFF2-40B4-BE49-F238E27FC236}">
                <a16:creationId xmlns:a16="http://schemas.microsoft.com/office/drawing/2014/main" id="{EE8F04DF-2531-9781-5948-276FFDAB22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71</a:t>
            </a:fld>
            <a:endParaRPr lang="ja-JP" altLang="en-US">
              <a:uFillTx/>
            </a:endParaRPr>
          </a:p>
        </p:txBody>
      </p:sp>
      <p:sp>
        <p:nvSpPr>
          <p:cNvPr id="10" name="テキスト ボックス 9">
            <a:extLst>
              <a:ext uri="{FF2B5EF4-FFF2-40B4-BE49-F238E27FC236}">
                <a16:creationId xmlns:a16="http://schemas.microsoft.com/office/drawing/2014/main" id="{38F2DCE5-E31C-5FE0-4184-8E394587AD2B}"/>
              </a:ext>
            </a:extLst>
          </p:cNvPr>
          <p:cNvSpPr txBox="1"/>
          <p:nvPr/>
        </p:nvSpPr>
        <p:spPr>
          <a:xfrm>
            <a:off x="258221" y="2223320"/>
            <a:ext cx="6683828"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提出物</a:t>
            </a:r>
          </a:p>
        </p:txBody>
      </p:sp>
      <p:cxnSp>
        <p:nvCxnSpPr>
          <p:cNvPr id="11" name="直線コネクタ 10">
            <a:extLst>
              <a:ext uri="{FF2B5EF4-FFF2-40B4-BE49-F238E27FC236}">
                <a16:creationId xmlns:a16="http://schemas.microsoft.com/office/drawing/2014/main" id="{FD74104B-1A35-3D06-2B30-A4BF164CDA1E}"/>
              </a:ext>
            </a:extLst>
          </p:cNvPr>
          <p:cNvCxnSpPr>
            <a:cxnSpLocks/>
          </p:cNvCxnSpPr>
          <p:nvPr/>
        </p:nvCxnSpPr>
        <p:spPr>
          <a:xfrm>
            <a:off x="358693" y="2613392"/>
            <a:ext cx="1112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27CEF0CE-70A2-F2AF-9E01-92C29320E5B3}"/>
              </a:ext>
            </a:extLst>
          </p:cNvPr>
          <p:cNvSpPr txBox="1"/>
          <p:nvPr/>
        </p:nvSpPr>
        <p:spPr>
          <a:xfrm>
            <a:off x="377418" y="2721114"/>
            <a:ext cx="11510308" cy="132343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Power Point</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（プレゼンテーションアプリケーションなら何でもよい）形式</a:t>
            </a:r>
            <a:endPar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3</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枚（</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1</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7S</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1Q</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　</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2</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．レバレッジポイントとその理由　</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3</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．打ち手）</a:t>
            </a:r>
            <a:endPar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endParaRPr>
          </a:p>
          <a:p>
            <a:pPr marR="0" lvl="0" algn="l" defTabSz="914400" rtl="0" eaLnBrk="1" fontAlgn="auto" latinLnBrk="0" hangingPunct="1">
              <a:lnSpc>
                <a:spcPct val="100000"/>
              </a:lnSpc>
              <a:spcBef>
                <a:spcPts val="0"/>
              </a:spcBef>
              <a:spcAft>
                <a:spcPts val="0"/>
              </a:spcAft>
              <a:buClr>
                <a:srgbClr val="000000"/>
              </a:buClr>
              <a:buSzTx/>
              <a:tabLst/>
              <a:defRPr/>
            </a:pPr>
            <a:r>
              <a:rPr lang="en-US" altLang="ja-JP" sz="2000" b="1" dirty="0">
                <a:latin typeface="メイリオ" panose="020B0604030504040204" pitchFamily="50" charset="-128"/>
                <a:ea typeface="メイリオ" panose="020B0604030504040204" pitchFamily="50" charset="-128"/>
                <a:cs typeface="Meiryo" charset="-128"/>
              </a:rPr>
              <a:t>※</a:t>
            </a:r>
            <a:r>
              <a:rPr lang="ja-JP" altLang="en-US" sz="2000" b="1" dirty="0">
                <a:latin typeface="メイリオ" panose="020B0604030504040204" pitchFamily="50" charset="-128"/>
                <a:ea typeface="メイリオ" panose="020B0604030504040204" pitchFamily="50" charset="-128"/>
                <a:cs typeface="Meiryo" charset="-128"/>
              </a:rPr>
              <a:t>補足資料を足すのは自由</a:t>
            </a:r>
            <a:endParaRPr lang="en-US" altLang="ja-JP" sz="2000" b="1" dirty="0">
              <a:latin typeface="メイリオ" panose="020B0604030504040204" pitchFamily="50" charset="-128"/>
              <a:ea typeface="メイリオ" panose="020B0604030504040204" pitchFamily="50" charset="-128"/>
              <a:cs typeface="Meiryo" charset="-128"/>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altLang="ja-JP" sz="2000" b="1" dirty="0">
                <a:latin typeface="メイリオ" panose="020B0604030504040204" pitchFamily="50" charset="-128"/>
                <a:ea typeface="メイリオ" panose="020B0604030504040204" pitchFamily="50" charset="-128"/>
                <a:cs typeface="Meiryo" charset="-128"/>
              </a:rPr>
              <a:t>12/12 18:00</a:t>
            </a:r>
            <a:r>
              <a:rPr lang="ja-JP" altLang="en-US" sz="2000" b="1" dirty="0">
                <a:latin typeface="メイリオ" panose="020B0604030504040204" pitchFamily="50" charset="-128"/>
                <a:ea typeface="メイリオ" panose="020B0604030504040204" pitchFamily="50" charset="-128"/>
                <a:cs typeface="Meiryo" charset="-128"/>
              </a:rPr>
              <a:t>マデ事務局に提出</a:t>
            </a:r>
            <a:endParaRPr lang="en-US" altLang="ja-JP" sz="2000" b="1" dirty="0">
              <a:latin typeface="メイリオ" panose="020B0604030504040204" pitchFamily="50" charset="-128"/>
              <a:ea typeface="メイリオ" panose="020B0604030504040204" pitchFamily="50" charset="-128"/>
              <a:cs typeface="Meiryo" charset="-128"/>
            </a:endParaRPr>
          </a:p>
        </p:txBody>
      </p:sp>
      <p:sp>
        <p:nvSpPr>
          <p:cNvPr id="16" name="テキスト ボックス 15">
            <a:extLst>
              <a:ext uri="{FF2B5EF4-FFF2-40B4-BE49-F238E27FC236}">
                <a16:creationId xmlns:a16="http://schemas.microsoft.com/office/drawing/2014/main" id="{76F14168-DD6D-E94E-110F-5385CAE801B9}"/>
              </a:ext>
            </a:extLst>
          </p:cNvPr>
          <p:cNvSpPr txBox="1"/>
          <p:nvPr/>
        </p:nvSpPr>
        <p:spPr>
          <a:xfrm>
            <a:off x="276946" y="4135664"/>
            <a:ext cx="6683828"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発表方法</a:t>
            </a:r>
            <a:endParaRPr kumimoji="0" lang="ja-JP" altLang="en-US" sz="24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cxnSp>
        <p:nvCxnSpPr>
          <p:cNvPr id="17" name="直線コネクタ 16">
            <a:extLst>
              <a:ext uri="{FF2B5EF4-FFF2-40B4-BE49-F238E27FC236}">
                <a16:creationId xmlns:a16="http://schemas.microsoft.com/office/drawing/2014/main" id="{861F689D-CE7D-C201-018C-BE7B6CB9D548}"/>
              </a:ext>
            </a:extLst>
          </p:cNvPr>
          <p:cNvCxnSpPr>
            <a:cxnSpLocks/>
          </p:cNvCxnSpPr>
          <p:nvPr/>
        </p:nvCxnSpPr>
        <p:spPr>
          <a:xfrm>
            <a:off x="377418" y="4525736"/>
            <a:ext cx="1112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58E460C4-BD3C-9D1B-A658-AFC861DD8955}"/>
              </a:ext>
            </a:extLst>
          </p:cNvPr>
          <p:cNvSpPr txBox="1"/>
          <p:nvPr/>
        </p:nvSpPr>
        <p:spPr>
          <a:xfrm>
            <a:off x="396143" y="4633458"/>
            <a:ext cx="11510308" cy="40011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発表</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8</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分＋質疑応答</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7</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分　：　合計</a:t>
            </a:r>
            <a:r>
              <a:rPr kumimoji="0" lang="en-US" altLang="ja-JP"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15</a:t>
            </a:r>
            <a:r>
              <a:rPr kumimoji="0" lang="ja-JP" altLang="en-US" sz="2000" b="1" i="0" u="none" strike="noStrike" kern="0" cap="none" spc="0" normalizeH="0" baseline="0" noProof="0" dirty="0">
                <a:ln>
                  <a:noFill/>
                </a:ln>
                <a:effectLst/>
                <a:uLnTx/>
                <a:uFillTx/>
                <a:latin typeface="メイリオ" panose="020B0604030504040204" pitchFamily="50" charset="-128"/>
                <a:ea typeface="メイリオ" panose="020B0604030504040204" pitchFamily="50" charset="-128"/>
                <a:cs typeface="Meiryo" charset="-128"/>
                <a:sym typeface="Arial"/>
              </a:rPr>
              <a:t>分</a:t>
            </a:r>
            <a:endParaRPr lang="en-US" altLang="ja-JP" sz="2000" b="1" dirty="0">
              <a:latin typeface="メイリオ" panose="020B0604030504040204" pitchFamily="50" charset="-128"/>
              <a:ea typeface="メイリオ" panose="020B0604030504040204" pitchFamily="50" charset="-128"/>
              <a:cs typeface="Meiryo" charset="-128"/>
            </a:endParaRPr>
          </a:p>
        </p:txBody>
      </p:sp>
    </p:spTree>
    <p:extLst>
      <p:ext uri="{BB962C8B-B14F-4D97-AF65-F5344CB8AC3E}">
        <p14:creationId xmlns:p14="http://schemas.microsoft.com/office/powerpoint/2010/main" val="32536886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提出物の詳細　①</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7S</a:t>
            </a: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1Q</a:t>
            </a:r>
            <a:endPar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5" name="テキスト ボックス 24">
            <a:extLst>
              <a:ext uri="{FF2B5EF4-FFF2-40B4-BE49-F238E27FC236}">
                <a16:creationId xmlns:a16="http://schemas.microsoft.com/office/drawing/2014/main" id="{3808B967-0677-8CDC-5835-8C5D7AC59462}"/>
              </a:ext>
            </a:extLst>
          </p:cNvPr>
          <p:cNvSpPr txBox="1"/>
          <p:nvPr/>
        </p:nvSpPr>
        <p:spPr>
          <a:xfrm>
            <a:off x="276946" y="899432"/>
            <a:ext cx="12094348" cy="830997"/>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en-US" altLang="ja-JP" sz="2400" b="1" dirty="0">
                <a:latin typeface="メイリオ" panose="020B0604030504040204" pitchFamily="50" charset="-128"/>
                <a:ea typeface="メイリオ" panose="020B0604030504040204" pitchFamily="50" charset="-128"/>
                <a:cs typeface="Meiryo" charset="-128"/>
              </a:rPr>
              <a:t>7S</a:t>
            </a:r>
            <a:r>
              <a:rPr lang="ja-JP" altLang="en-US" sz="2400" b="1" dirty="0">
                <a:latin typeface="メイリオ" panose="020B0604030504040204" pitchFamily="50" charset="-128"/>
                <a:ea typeface="メイリオ" panose="020B0604030504040204" pitchFamily="50" charset="-128"/>
                <a:cs typeface="Meiryo" charset="-128"/>
              </a:rPr>
              <a:t>＋</a:t>
            </a:r>
            <a:r>
              <a:rPr lang="en-US" altLang="ja-JP" sz="2400" b="1" dirty="0">
                <a:latin typeface="メイリオ" panose="020B0604030504040204" pitchFamily="50" charset="-128"/>
                <a:ea typeface="メイリオ" panose="020B0604030504040204" pitchFamily="50" charset="-128"/>
                <a:cs typeface="Meiryo" charset="-128"/>
              </a:rPr>
              <a:t>1Q</a:t>
            </a:r>
            <a:r>
              <a:rPr lang="ja-JP" altLang="en-US" sz="2400" b="1" dirty="0">
                <a:latin typeface="メイリオ" panose="020B0604030504040204" pitchFamily="50" charset="-128"/>
                <a:ea typeface="メイリオ" panose="020B0604030504040204" pitchFamily="50" charset="-128"/>
                <a:cs typeface="Meiryo" charset="-128"/>
              </a:rPr>
              <a:t>の各カテゴリごとに「現状」「理想」「ギャップ」を言語化する</a:t>
            </a:r>
            <a:endParaRPr lang="en-US" altLang="ja-JP" sz="2400" b="1" dirty="0">
              <a:latin typeface="メイリオ" panose="020B0604030504040204" pitchFamily="50" charset="-128"/>
              <a:ea typeface="メイリオ" panose="020B0604030504040204" pitchFamily="50" charset="-128"/>
              <a:cs typeface="Meiryo" charset="-128"/>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en-US" altLang="ja-JP" sz="2400" b="1" dirty="0">
                <a:latin typeface="メイリオ" panose="020B0604030504040204" pitchFamily="50" charset="-128"/>
                <a:ea typeface="メイリオ" panose="020B0604030504040204" pitchFamily="50" charset="-128"/>
                <a:cs typeface="Meiryo" charset="-128"/>
              </a:rPr>
              <a:t>※</a:t>
            </a:r>
            <a:r>
              <a:rPr lang="ja-JP" altLang="en-US" sz="2400" b="1" dirty="0">
                <a:latin typeface="メイリオ" panose="020B0604030504040204" pitchFamily="50" charset="-128"/>
                <a:ea typeface="メイリオ" panose="020B0604030504040204" pitchFamily="50" charset="-128"/>
                <a:cs typeface="Meiryo" charset="-128"/>
              </a:rPr>
              <a:t>以下のフォーマットに記載。できるだけ具体的であればあるほど良い</a:t>
            </a:r>
            <a:endParaRPr lang="en-US" altLang="ja-JP" sz="2400" b="1" dirty="0">
              <a:latin typeface="メイリオ" panose="020B0604030504040204" pitchFamily="50" charset="-128"/>
              <a:ea typeface="メイリオ" panose="020B0604030504040204" pitchFamily="50" charset="-128"/>
              <a:cs typeface="Meiryo" charset="-128"/>
            </a:endParaRPr>
          </a:p>
        </p:txBody>
      </p:sp>
      <p:sp>
        <p:nvSpPr>
          <p:cNvPr id="47" name="フッター プレースホルダー 46">
            <a:extLst>
              <a:ext uri="{FF2B5EF4-FFF2-40B4-BE49-F238E27FC236}">
                <a16:creationId xmlns:a16="http://schemas.microsoft.com/office/drawing/2014/main" id="{CF81B5C6-49C4-1559-89A6-787C4F392D88}"/>
              </a:ext>
            </a:extLst>
          </p:cNvPr>
          <p:cNvSpPr>
            <a:spLocks noGrp="1"/>
          </p:cNvSpPr>
          <p:nvPr>
            <p:ph type="ftr" idx="11"/>
          </p:nvPr>
        </p:nvSpPr>
        <p:spPr/>
        <p:txBody>
          <a:bodyPr/>
          <a:lstStyle/>
          <a:p>
            <a:r>
              <a:rPr lang="en-US" altLang="zh-TW"/>
              <a:t>©2025 JFR group</a:t>
            </a:r>
            <a:endParaRPr lang="en-US"/>
          </a:p>
        </p:txBody>
      </p:sp>
      <p:sp>
        <p:nvSpPr>
          <p:cNvPr id="9" name="スライド番号プレースホルダー 8">
            <a:extLst>
              <a:ext uri="{FF2B5EF4-FFF2-40B4-BE49-F238E27FC236}">
                <a16:creationId xmlns:a16="http://schemas.microsoft.com/office/drawing/2014/main" id="{EE8F04DF-2531-9781-5948-276FFDAB22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72</a:t>
            </a:fld>
            <a:endParaRPr lang="ja-JP" altLang="en-US">
              <a:uFillTx/>
            </a:endParaRPr>
          </a:p>
        </p:txBody>
      </p:sp>
      <p:sp>
        <p:nvSpPr>
          <p:cNvPr id="14" name="テキスト ボックス 13">
            <a:extLst>
              <a:ext uri="{FF2B5EF4-FFF2-40B4-BE49-F238E27FC236}">
                <a16:creationId xmlns:a16="http://schemas.microsoft.com/office/drawing/2014/main" id="{710C08D3-F274-5E78-6B7F-786B06B3D11D}"/>
              </a:ext>
            </a:extLst>
          </p:cNvPr>
          <p:cNvSpPr txBox="1"/>
          <p:nvPr/>
        </p:nvSpPr>
        <p:spPr>
          <a:xfrm>
            <a:off x="486576" y="1730429"/>
            <a:ext cx="8692078" cy="4893647"/>
          </a:xfrm>
          <a:prstGeom prst="rect">
            <a:avLst/>
          </a:prstGeom>
          <a:noFill/>
        </p:spPr>
        <p:txBody>
          <a:bodyPr wrap="square" rtlCol="0">
            <a:spAutoFit/>
          </a:bodyPr>
          <a:lstStyle/>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Strategy</a:t>
            </a:r>
            <a:r>
              <a:rPr lang="ja-JP" altLang="en-US" sz="800" b="1" i="0" dirty="0">
                <a:solidFill>
                  <a:schemeClr val="tx1"/>
                </a:solidFill>
                <a:effectLst/>
                <a:latin typeface="メイリオ" panose="020B0604030504040204" pitchFamily="50" charset="-128"/>
                <a:ea typeface="メイリオ" panose="020B0604030504040204" pitchFamily="50" charset="-128"/>
              </a:rPr>
              <a:t>（戦略）：**</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組織の戦略は短期的な営業目標に偏重している。長期的視点が欠けている。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長期的視点を考慮したビジョンやミッションに基づく戦略。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短期の成果に追われて全体最適が考えられていない。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endParaRPr lang="en-US" altLang="ja-JP" sz="800" dirty="0">
              <a:solidFill>
                <a:schemeClr val="tx1"/>
              </a:solidFill>
              <a:latin typeface="メイリオ" panose="020B0604030504040204" pitchFamily="50" charset="-128"/>
              <a:ea typeface="メイリオ" panose="020B0604030504040204" pitchFamily="50" charset="-128"/>
            </a:endParaRPr>
          </a:p>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Structure</a:t>
            </a:r>
            <a:r>
              <a:rPr lang="ja-JP" altLang="en-US" sz="800" b="1" i="0" dirty="0">
                <a:solidFill>
                  <a:schemeClr val="tx1"/>
                </a:solidFill>
                <a:effectLst/>
                <a:latin typeface="メイリオ" panose="020B0604030504040204" pitchFamily="50" charset="-128"/>
                <a:ea typeface="メイリオ" panose="020B0604030504040204" pitchFamily="50" charset="-128"/>
              </a:rPr>
              <a:t>（組織構造）：**</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トップダウン型の意思決定で現場の裁量が限られている。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現場のインプットを活用し、ボトムアップ型の提案プロセスを取り入れる。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現場からの疎通が経営層に届きにくい構造。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endParaRPr lang="en-US" altLang="ja-JP" sz="800" dirty="0">
              <a:solidFill>
                <a:schemeClr val="tx1"/>
              </a:solidFill>
              <a:latin typeface="メイリオ" panose="020B0604030504040204" pitchFamily="50" charset="-128"/>
              <a:ea typeface="メイリオ" panose="020B0604030504040204" pitchFamily="50" charset="-128"/>
            </a:endParaRPr>
          </a:p>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System</a:t>
            </a:r>
            <a:r>
              <a:rPr lang="ja-JP" altLang="en-US" sz="800" b="1" i="0" dirty="0">
                <a:solidFill>
                  <a:schemeClr val="tx1"/>
                </a:solidFill>
                <a:effectLst/>
                <a:latin typeface="メイリオ" panose="020B0604030504040204" pitchFamily="50" charset="-128"/>
                <a:ea typeface="メイリオ" panose="020B0604030504040204" pitchFamily="50" charset="-128"/>
              </a:rPr>
              <a:t>（システム）：**</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評価制度が曖昧で、成果に関係なく処遇が均等。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成果に基づく透明性の高い評価制度。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意欲的な人材にとってインセンティブ不足。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endParaRPr lang="en-US" altLang="ja-JP" sz="800" dirty="0">
              <a:solidFill>
                <a:schemeClr val="tx1"/>
              </a:solidFill>
              <a:latin typeface="メイリオ" panose="020B0604030504040204" pitchFamily="50" charset="-128"/>
              <a:ea typeface="メイリオ" panose="020B0604030504040204" pitchFamily="50" charset="-128"/>
            </a:endParaRPr>
          </a:p>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Shared Value</a:t>
            </a:r>
            <a:r>
              <a:rPr lang="ja-JP" altLang="en-US" sz="800" b="1" i="0" dirty="0">
                <a:solidFill>
                  <a:schemeClr val="tx1"/>
                </a:solidFill>
                <a:effectLst/>
                <a:latin typeface="メイリオ" panose="020B0604030504040204" pitchFamily="50" charset="-128"/>
                <a:ea typeface="メイリオ" panose="020B0604030504040204" pitchFamily="50" charset="-128"/>
              </a:rPr>
              <a:t>（共通価値観）：**</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組織内で価値観が統一されていない。部署ごとに異なる考えが優先されがち。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組織全体で共通価値観を明確化し、一貫性を保つ。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異なる文化や価値観が壁となり、協働が難しい。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endParaRPr lang="en-US" altLang="ja-JP" sz="800" dirty="0">
              <a:solidFill>
                <a:schemeClr val="tx1"/>
              </a:solidFill>
              <a:latin typeface="メイリオ" panose="020B0604030504040204" pitchFamily="50" charset="-128"/>
              <a:ea typeface="メイリオ" panose="020B0604030504040204" pitchFamily="50" charset="-128"/>
            </a:endParaRPr>
          </a:p>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Staff</a:t>
            </a:r>
            <a:r>
              <a:rPr lang="ja-JP" altLang="en-US" sz="800" b="1" i="0" dirty="0">
                <a:solidFill>
                  <a:schemeClr val="tx1"/>
                </a:solidFill>
                <a:effectLst/>
                <a:latin typeface="メイリオ" panose="020B0604030504040204" pitchFamily="50" charset="-128"/>
                <a:ea typeface="メイリオ" panose="020B0604030504040204" pitchFamily="50" charset="-128"/>
              </a:rPr>
              <a:t>（人材）：**</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専門性の不足によりプロジェクトの成果が限定的。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適材適所で専門性の高い人材を配置する。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人材育成や配置の仕組みが不十分。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endParaRPr lang="en-US" altLang="ja-JP" sz="800" dirty="0">
              <a:solidFill>
                <a:schemeClr val="tx1"/>
              </a:solidFill>
              <a:latin typeface="メイリオ" panose="020B0604030504040204" pitchFamily="50" charset="-128"/>
              <a:ea typeface="メイリオ" panose="020B0604030504040204" pitchFamily="50" charset="-128"/>
            </a:endParaRPr>
          </a:p>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Skill</a:t>
            </a:r>
            <a:r>
              <a:rPr lang="ja-JP" altLang="en-US" sz="800" b="1" i="0" dirty="0">
                <a:solidFill>
                  <a:schemeClr val="tx1"/>
                </a:solidFill>
                <a:effectLst/>
                <a:latin typeface="メイリオ" panose="020B0604030504040204" pitchFamily="50" charset="-128"/>
                <a:ea typeface="メイリオ" panose="020B0604030504040204" pitchFamily="50" charset="-128"/>
              </a:rPr>
              <a:t>（スキル）：**</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暗黙知の共有が進んでおらず、属人的な作業が多い。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知識や技術を体系化し、全員で共有する体制を作る。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ナレッジの形式化が進んでいない。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endParaRPr lang="en-US" altLang="ja-JP" sz="800" b="1" i="0" dirty="0">
              <a:solidFill>
                <a:schemeClr val="tx1"/>
              </a:solidFill>
              <a:effectLst/>
              <a:latin typeface="メイリオ" panose="020B0604030504040204" pitchFamily="50" charset="-128"/>
              <a:ea typeface="メイリオ" panose="020B0604030504040204" pitchFamily="50" charset="-128"/>
            </a:endParaRPr>
          </a:p>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Style</a:t>
            </a:r>
            <a:r>
              <a:rPr lang="ja-JP" altLang="en-US" sz="800" b="1" i="0" dirty="0">
                <a:solidFill>
                  <a:schemeClr val="tx1"/>
                </a:solidFill>
                <a:effectLst/>
                <a:latin typeface="メイリオ" panose="020B0604030504040204" pitchFamily="50" charset="-128"/>
                <a:ea typeface="メイリオ" panose="020B0604030504040204" pitchFamily="50" charset="-128"/>
              </a:rPr>
              <a:t>（スタイル）：**</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多忙すぎる環境で、コミュニケーションが希薄。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コミュニケーションを強化し、積極的な対話ができる風土。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コミュニケーション不足による疎外感がある。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endParaRPr lang="en-US" altLang="ja-JP" sz="800" dirty="0">
              <a:solidFill>
                <a:schemeClr val="tx1"/>
              </a:solidFill>
              <a:latin typeface="メイリオ" panose="020B0604030504040204" pitchFamily="50" charset="-128"/>
              <a:ea typeface="メイリオ" panose="020B0604030504040204" pitchFamily="50" charset="-128"/>
            </a:endParaRPr>
          </a:p>
          <a:p>
            <a:r>
              <a:rPr lang="ja-JP" altLang="en-US" sz="800" b="1" i="0" dirty="0">
                <a:solidFill>
                  <a:schemeClr val="tx1"/>
                </a:solidFill>
                <a:effectLst/>
                <a:latin typeface="メイリオ" panose="020B0604030504040204" pitchFamily="50" charset="-128"/>
                <a:ea typeface="メイリオ" panose="020B0604030504040204" pitchFamily="50" charset="-128"/>
              </a:rPr>
              <a:t>**</a:t>
            </a:r>
            <a:r>
              <a:rPr lang="en-US" altLang="ja-JP" sz="800" b="1" i="0" dirty="0">
                <a:solidFill>
                  <a:schemeClr val="tx1"/>
                </a:solidFill>
                <a:effectLst/>
                <a:latin typeface="メイリオ" panose="020B0604030504040204" pitchFamily="50" charset="-128"/>
                <a:ea typeface="メイリオ" panose="020B0604030504040204" pitchFamily="50" charset="-128"/>
              </a:rPr>
              <a:t>Quality Relationships</a:t>
            </a:r>
            <a:r>
              <a:rPr lang="ja-JP" altLang="en-US" sz="800" b="1" i="0" dirty="0">
                <a:solidFill>
                  <a:schemeClr val="tx1"/>
                </a:solidFill>
                <a:effectLst/>
                <a:latin typeface="メイリオ" panose="020B0604030504040204" pitchFamily="50" charset="-128"/>
                <a:ea typeface="メイリオ" panose="020B0604030504040204" pitchFamily="50" charset="-128"/>
              </a:rPr>
              <a:t>（関係の質）：**</a:t>
            </a:r>
            <a:r>
              <a:rPr lang="ja-JP" altLang="en-US" sz="800" b="0" i="0" dirty="0">
                <a:solidFill>
                  <a:schemeClr val="tx1"/>
                </a:solidFill>
                <a:effectLst/>
                <a:latin typeface="メイリオ" panose="020B0604030504040204" pitchFamily="50" charset="-128"/>
                <a:ea typeface="メイリオ" panose="020B0604030504040204" pitchFamily="50" charset="-128"/>
              </a:rPr>
              <a:t> </a:t>
            </a:r>
            <a:endParaRPr lang="en-US" altLang="ja-JP" sz="800" b="0" i="0" dirty="0">
              <a:solidFill>
                <a:schemeClr val="tx1"/>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現状：</a:t>
            </a:r>
            <a:r>
              <a:rPr lang="ja-JP" altLang="en-US" sz="800" b="0" i="0" dirty="0">
                <a:solidFill>
                  <a:srgbClr val="FF0000"/>
                </a:solidFill>
                <a:effectLst/>
                <a:latin typeface="メイリオ" panose="020B0604030504040204" pitchFamily="50" charset="-128"/>
                <a:ea typeface="メイリオ" panose="020B0604030504040204" pitchFamily="50" charset="-128"/>
              </a:rPr>
              <a:t>チーム間、部署間の信頼関係が乏しく連携が弱い。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理想：</a:t>
            </a:r>
            <a:r>
              <a:rPr lang="ja-JP" altLang="en-US" sz="800" b="0" i="0" dirty="0">
                <a:solidFill>
                  <a:srgbClr val="FF0000"/>
                </a:solidFill>
                <a:effectLst/>
                <a:latin typeface="メイリオ" panose="020B0604030504040204" pitchFamily="50" charset="-128"/>
                <a:ea typeface="メイリオ" panose="020B0604030504040204" pitchFamily="50" charset="-128"/>
              </a:rPr>
              <a:t>メンバー間で協力し合い信頼関係を深める。 </a:t>
            </a:r>
            <a:endParaRPr lang="en-US" altLang="ja-JP" sz="800" b="0" i="0" dirty="0">
              <a:solidFill>
                <a:srgbClr val="FF0000"/>
              </a:solidFill>
              <a:effectLst/>
              <a:latin typeface="メイリオ" panose="020B0604030504040204" pitchFamily="50" charset="-128"/>
              <a:ea typeface="メイリオ" panose="020B0604030504040204" pitchFamily="50" charset="-128"/>
            </a:endParaRPr>
          </a:p>
          <a:p>
            <a:r>
              <a:rPr lang="ja-JP" altLang="en-US" sz="800" b="0" i="0" dirty="0">
                <a:solidFill>
                  <a:schemeClr val="tx1"/>
                </a:solidFill>
                <a:effectLst/>
                <a:latin typeface="メイリオ" panose="020B0604030504040204" pitchFamily="50" charset="-128"/>
                <a:ea typeface="メイリオ" panose="020B0604030504040204" pitchFamily="50" charset="-128"/>
              </a:rPr>
              <a:t>ギャップ：</a:t>
            </a:r>
            <a:r>
              <a:rPr lang="ja-JP" altLang="en-US" sz="800" b="0" i="0" dirty="0">
                <a:solidFill>
                  <a:srgbClr val="FF0000"/>
                </a:solidFill>
                <a:effectLst/>
                <a:latin typeface="メイリオ" panose="020B0604030504040204" pitchFamily="50" charset="-128"/>
                <a:ea typeface="メイリオ" panose="020B0604030504040204" pitchFamily="50" charset="-128"/>
              </a:rPr>
              <a:t>情報共有や連携不足が悪影響を及ぼしている。</a:t>
            </a:r>
            <a:endParaRPr kumimoji="1" lang="ja-JP" altLang="en-US" sz="800" dirty="0">
              <a:solidFill>
                <a:srgbClr val="FF0000"/>
              </a:solidFill>
              <a:latin typeface="メイリオ" panose="020B0604030504040204" pitchFamily="50" charset="-128"/>
              <a:ea typeface="メイリオ" panose="020B0604030504040204" pitchFamily="50" charset="-128"/>
            </a:endParaRPr>
          </a:p>
        </p:txBody>
      </p:sp>
      <p:sp>
        <p:nvSpPr>
          <p:cNvPr id="2" name="四角形: 角を丸くする 1">
            <a:extLst>
              <a:ext uri="{FF2B5EF4-FFF2-40B4-BE49-F238E27FC236}">
                <a16:creationId xmlns:a16="http://schemas.microsoft.com/office/drawing/2014/main" id="{778CB36C-5E09-6909-3539-022C0BA49FCE}"/>
              </a:ext>
            </a:extLst>
          </p:cNvPr>
          <p:cNvSpPr/>
          <p:nvPr/>
        </p:nvSpPr>
        <p:spPr>
          <a:xfrm rot="1624050">
            <a:off x="10739966" y="299117"/>
            <a:ext cx="1227667" cy="56006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latin typeface="メイリオ" panose="020B0604030504040204" pitchFamily="50" charset="-128"/>
                <a:ea typeface="メイリオ" panose="020B0604030504040204" pitchFamily="50" charset="-128"/>
              </a:rPr>
              <a:t>提出物</a:t>
            </a:r>
          </a:p>
        </p:txBody>
      </p:sp>
    </p:spTree>
    <p:extLst>
      <p:ext uri="{BB962C8B-B14F-4D97-AF65-F5344CB8AC3E}">
        <p14:creationId xmlns:p14="http://schemas.microsoft.com/office/powerpoint/2010/main" val="32974964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提出物の詳細　①</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7S</a:t>
            </a: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1Q</a:t>
            </a: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　→　</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AI</a:t>
            </a: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で処理する</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5" name="テキスト ボックス 24">
            <a:extLst>
              <a:ext uri="{FF2B5EF4-FFF2-40B4-BE49-F238E27FC236}">
                <a16:creationId xmlns:a16="http://schemas.microsoft.com/office/drawing/2014/main" id="{3808B967-0677-8CDC-5835-8C5D7AC59462}"/>
              </a:ext>
            </a:extLst>
          </p:cNvPr>
          <p:cNvSpPr txBox="1"/>
          <p:nvPr/>
        </p:nvSpPr>
        <p:spPr>
          <a:xfrm>
            <a:off x="276946" y="899432"/>
            <a:ext cx="12094348"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以下のプロンプトを利用して</a:t>
            </a:r>
            <a:r>
              <a:rPr lang="en-US" altLang="ja-JP" sz="2400" b="1" dirty="0">
                <a:latin typeface="メイリオ" panose="020B0604030504040204" pitchFamily="50" charset="-128"/>
                <a:ea typeface="メイリオ" panose="020B0604030504040204" pitchFamily="50" charset="-128"/>
                <a:cs typeface="Meiryo" charset="-128"/>
              </a:rPr>
              <a:t>AI</a:t>
            </a:r>
            <a:r>
              <a:rPr lang="ja-JP" altLang="en-US" sz="2400" b="1" dirty="0">
                <a:latin typeface="メイリオ" panose="020B0604030504040204" pitchFamily="50" charset="-128"/>
                <a:ea typeface="メイリオ" panose="020B0604030504040204" pitchFamily="50" charset="-128"/>
                <a:cs typeface="Meiryo" charset="-128"/>
              </a:rPr>
              <a:t>で処理する</a:t>
            </a:r>
            <a:endParaRPr lang="en-US" altLang="ja-JP" sz="2400" b="1" dirty="0">
              <a:latin typeface="メイリオ" panose="020B0604030504040204" pitchFamily="50" charset="-128"/>
              <a:ea typeface="メイリオ" panose="020B0604030504040204" pitchFamily="50" charset="-128"/>
              <a:cs typeface="Meiryo" charset="-128"/>
            </a:endParaRPr>
          </a:p>
        </p:txBody>
      </p:sp>
      <p:sp>
        <p:nvSpPr>
          <p:cNvPr id="47" name="フッター プレースホルダー 46">
            <a:extLst>
              <a:ext uri="{FF2B5EF4-FFF2-40B4-BE49-F238E27FC236}">
                <a16:creationId xmlns:a16="http://schemas.microsoft.com/office/drawing/2014/main" id="{CF81B5C6-49C4-1559-89A6-787C4F392D88}"/>
              </a:ext>
            </a:extLst>
          </p:cNvPr>
          <p:cNvSpPr>
            <a:spLocks noGrp="1"/>
          </p:cNvSpPr>
          <p:nvPr>
            <p:ph type="ftr" idx="11"/>
          </p:nvPr>
        </p:nvSpPr>
        <p:spPr/>
        <p:txBody>
          <a:bodyPr/>
          <a:lstStyle/>
          <a:p>
            <a:r>
              <a:rPr lang="en-US" altLang="zh-TW"/>
              <a:t>©2025 JFR group</a:t>
            </a:r>
            <a:endParaRPr lang="en-US"/>
          </a:p>
        </p:txBody>
      </p:sp>
      <p:sp>
        <p:nvSpPr>
          <p:cNvPr id="9" name="スライド番号プレースホルダー 8">
            <a:extLst>
              <a:ext uri="{FF2B5EF4-FFF2-40B4-BE49-F238E27FC236}">
                <a16:creationId xmlns:a16="http://schemas.microsoft.com/office/drawing/2014/main" id="{EE8F04DF-2531-9781-5948-276FFDAB22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73</a:t>
            </a:fld>
            <a:endParaRPr lang="ja-JP" altLang="en-US">
              <a:uFillTx/>
            </a:endParaRPr>
          </a:p>
        </p:txBody>
      </p:sp>
      <p:sp>
        <p:nvSpPr>
          <p:cNvPr id="15" name="テキスト ボックス 14">
            <a:extLst>
              <a:ext uri="{FF2B5EF4-FFF2-40B4-BE49-F238E27FC236}">
                <a16:creationId xmlns:a16="http://schemas.microsoft.com/office/drawing/2014/main" id="{B422B121-AF70-8B64-DD0B-391FB26BBC09}"/>
              </a:ext>
            </a:extLst>
          </p:cNvPr>
          <p:cNvSpPr txBox="1"/>
          <p:nvPr/>
        </p:nvSpPr>
        <p:spPr>
          <a:xfrm>
            <a:off x="718457" y="1491376"/>
            <a:ext cx="10319657" cy="5047536"/>
          </a:xfrm>
          <a:prstGeom prst="rect">
            <a:avLst/>
          </a:prstGeom>
          <a:noFill/>
        </p:spPr>
        <p:txBody>
          <a:bodyPr wrap="square" rtlCol="0">
            <a:spAutoFit/>
          </a:bodyPr>
          <a:lstStyle/>
          <a:p>
            <a:r>
              <a:rPr lang="ja-JP" altLang="en-US" b="0" i="0" dirty="0">
                <a:solidFill>
                  <a:schemeClr val="tx1"/>
                </a:solidFill>
                <a:effectLst/>
                <a:latin typeface="メイリオ" panose="020B0604030504040204" pitchFamily="50" charset="-128"/>
                <a:ea typeface="メイリオ" panose="020B0604030504040204" pitchFamily="50" charset="-128"/>
              </a:rPr>
              <a:t>以下は「</a:t>
            </a:r>
            <a:r>
              <a:rPr lang="en-US" altLang="ja-JP" b="0" i="0" dirty="0">
                <a:solidFill>
                  <a:schemeClr val="tx1"/>
                </a:solidFill>
                <a:effectLst/>
                <a:latin typeface="メイリオ" panose="020B0604030504040204" pitchFamily="50" charset="-128"/>
                <a:ea typeface="メイリオ" panose="020B0604030504040204" pitchFamily="50" charset="-128"/>
              </a:rPr>
              <a:t>7S+1Q</a:t>
            </a:r>
            <a:r>
              <a:rPr lang="ja-JP" altLang="en-US" b="0" i="0" dirty="0">
                <a:solidFill>
                  <a:schemeClr val="tx1"/>
                </a:solidFill>
                <a:effectLst/>
                <a:latin typeface="メイリオ" panose="020B0604030504040204" pitchFamily="50" charset="-128"/>
                <a:ea typeface="メイリオ" panose="020B0604030504040204" pitchFamily="50" charset="-128"/>
              </a:rPr>
              <a:t>」フレームワークに基づいて整理された、ある組織の課題情報です。</a:t>
            </a:r>
            <a:endParaRPr lang="en-US" altLang="ja-JP" b="0" i="0" dirty="0">
              <a:solidFill>
                <a:schemeClr val="tx1"/>
              </a:solidFill>
              <a:effectLst/>
              <a:latin typeface="メイリオ" panose="020B0604030504040204" pitchFamily="50" charset="-128"/>
              <a:ea typeface="メイリオ" panose="020B0604030504040204" pitchFamily="50" charset="-128"/>
            </a:endParaRPr>
          </a:p>
          <a:p>
            <a:r>
              <a:rPr lang="ja-JP" altLang="en-US" b="0" i="0" dirty="0">
                <a:solidFill>
                  <a:schemeClr val="tx1"/>
                </a:solidFill>
                <a:effectLst/>
                <a:latin typeface="メイリオ" panose="020B0604030504040204" pitchFamily="50" charset="-128"/>
                <a:ea typeface="メイリオ" panose="020B0604030504040204" pitchFamily="50" charset="-128"/>
              </a:rPr>
              <a:t>それぞれの項目について現状、理想、そしてギャップが記載されています。</a:t>
            </a:r>
            <a:endParaRPr lang="en-US" altLang="ja-JP" b="0" i="0" dirty="0">
              <a:solidFill>
                <a:schemeClr val="tx1"/>
              </a:solidFill>
              <a:effectLst/>
              <a:latin typeface="メイリオ" panose="020B0604030504040204" pitchFamily="50" charset="-128"/>
              <a:ea typeface="メイリオ" panose="020B0604030504040204" pitchFamily="50" charset="-128"/>
            </a:endParaRPr>
          </a:p>
          <a:p>
            <a:endParaRPr lang="en-US" altLang="ja-JP" dirty="0">
              <a:solidFill>
                <a:schemeClr val="tx1"/>
              </a:solidFill>
              <a:latin typeface="メイリオ" panose="020B0604030504040204" pitchFamily="50" charset="-128"/>
              <a:ea typeface="メイリオ" panose="020B0604030504040204" pitchFamily="50" charset="-128"/>
            </a:endParaRPr>
          </a:p>
          <a:p>
            <a:r>
              <a:rPr lang="ja-JP" altLang="en-US" b="0" i="0" dirty="0">
                <a:solidFill>
                  <a:schemeClr val="tx1"/>
                </a:solidFill>
                <a:effectLst/>
                <a:latin typeface="メイリオ" panose="020B0604030504040204" pitchFamily="50" charset="-128"/>
                <a:ea typeface="メイリオ" panose="020B0604030504040204" pitchFamily="50" charset="-128"/>
              </a:rPr>
              <a:t>この情報を基に： </a:t>
            </a:r>
            <a:endParaRPr lang="en-US" altLang="ja-JP" b="0" i="0" dirty="0">
              <a:solidFill>
                <a:schemeClr val="tx1"/>
              </a:solidFill>
              <a:effectLst/>
              <a:latin typeface="メイリオ" panose="020B0604030504040204" pitchFamily="50" charset="-128"/>
              <a:ea typeface="メイリオ" panose="020B0604030504040204" pitchFamily="50" charset="-128"/>
            </a:endParaRPr>
          </a:p>
          <a:p>
            <a:pPr marL="342900" indent="-342900">
              <a:buAutoNum type="arabicPeriod"/>
            </a:pPr>
            <a:r>
              <a:rPr lang="ja-JP" altLang="en-US" b="0" i="0" dirty="0">
                <a:solidFill>
                  <a:schemeClr val="tx1"/>
                </a:solidFill>
                <a:effectLst/>
                <a:latin typeface="メイリオ" panose="020B0604030504040204" pitchFamily="50" charset="-128"/>
                <a:ea typeface="メイリオ" panose="020B0604030504040204" pitchFamily="50" charset="-128"/>
              </a:rPr>
              <a:t>現状の課題を整理してください。その際、各項目の中で特に深刻かつ解決のインパクトが大きいと考えられる部分を優先して分析してください。 </a:t>
            </a:r>
            <a:endParaRPr lang="en-US" altLang="ja-JP" b="0" i="0" dirty="0">
              <a:solidFill>
                <a:schemeClr val="tx1"/>
              </a:solidFill>
              <a:effectLst/>
              <a:latin typeface="メイリオ" panose="020B0604030504040204" pitchFamily="50" charset="-128"/>
              <a:ea typeface="メイリオ" panose="020B0604030504040204" pitchFamily="50" charset="-128"/>
            </a:endParaRPr>
          </a:p>
          <a:p>
            <a:pPr marL="342900" indent="-342900">
              <a:buAutoNum type="arabicPeriod"/>
            </a:pPr>
            <a:r>
              <a:rPr lang="en-US" altLang="ja-JP" b="0" i="0" dirty="0">
                <a:solidFill>
                  <a:schemeClr val="tx1"/>
                </a:solidFill>
                <a:effectLst/>
                <a:latin typeface="メイリオ" panose="020B0604030504040204" pitchFamily="50" charset="-128"/>
                <a:ea typeface="メイリオ" panose="020B0604030504040204" pitchFamily="50" charset="-128"/>
              </a:rPr>
              <a:t>2.</a:t>
            </a:r>
            <a:r>
              <a:rPr lang="ja-JP" altLang="en-US" b="0" i="0" dirty="0">
                <a:solidFill>
                  <a:schemeClr val="tx1"/>
                </a:solidFill>
                <a:effectLst/>
                <a:latin typeface="メイリオ" panose="020B0604030504040204" pitchFamily="50" charset="-128"/>
                <a:ea typeface="メイリオ" panose="020B0604030504040204" pitchFamily="50" charset="-128"/>
              </a:rPr>
              <a:t> その課題に対する「レバレッジポイント」を設定してください。具体的に、どの領域（</a:t>
            </a:r>
            <a:r>
              <a:rPr lang="en-US" altLang="ja-JP" b="0" i="0" dirty="0">
                <a:solidFill>
                  <a:schemeClr val="tx1"/>
                </a:solidFill>
                <a:effectLst/>
                <a:latin typeface="メイリオ" panose="020B0604030504040204" pitchFamily="50" charset="-128"/>
                <a:ea typeface="メイリオ" panose="020B0604030504040204" pitchFamily="50" charset="-128"/>
              </a:rPr>
              <a:t>7S+1Q</a:t>
            </a:r>
            <a:r>
              <a:rPr lang="ja-JP" altLang="en-US" b="0" i="0" dirty="0">
                <a:solidFill>
                  <a:schemeClr val="tx1"/>
                </a:solidFill>
                <a:effectLst/>
                <a:latin typeface="メイリオ" panose="020B0604030504040204" pitchFamily="50" charset="-128"/>
                <a:ea typeface="メイリオ" panose="020B0604030504040204" pitchFamily="50" charset="-128"/>
              </a:rPr>
              <a:t>の中から）に着手することで効果的な改善が行えるかを明示してください。 </a:t>
            </a:r>
            <a:endParaRPr lang="en-US" altLang="ja-JP" b="0" i="0" dirty="0">
              <a:solidFill>
                <a:schemeClr val="tx1"/>
              </a:solidFill>
              <a:effectLst/>
              <a:latin typeface="メイリオ" panose="020B0604030504040204" pitchFamily="50" charset="-128"/>
              <a:ea typeface="メイリオ" panose="020B0604030504040204" pitchFamily="50" charset="-128"/>
            </a:endParaRPr>
          </a:p>
          <a:p>
            <a:pPr marL="342900" indent="-342900">
              <a:buAutoNum type="arabicPeriod"/>
            </a:pPr>
            <a:r>
              <a:rPr lang="en-US" altLang="ja-JP" b="0" i="0" dirty="0">
                <a:solidFill>
                  <a:schemeClr val="tx1"/>
                </a:solidFill>
                <a:effectLst/>
                <a:latin typeface="メイリオ" panose="020B0604030504040204" pitchFamily="50" charset="-128"/>
                <a:ea typeface="メイリオ" panose="020B0604030504040204" pitchFamily="50" charset="-128"/>
              </a:rPr>
              <a:t>3.</a:t>
            </a:r>
            <a:r>
              <a:rPr lang="ja-JP" altLang="en-US" b="0" i="0" dirty="0">
                <a:solidFill>
                  <a:schemeClr val="tx1"/>
                </a:solidFill>
                <a:effectLst/>
                <a:latin typeface="メイリオ" panose="020B0604030504040204" pitchFamily="50" charset="-128"/>
                <a:ea typeface="メイリオ" panose="020B0604030504040204" pitchFamily="50" charset="-128"/>
              </a:rPr>
              <a:t> レバレッジポイントに基づいて、実行可能な打ち手となる改善施策を</a:t>
            </a:r>
            <a:r>
              <a:rPr lang="en-US" altLang="ja-JP" b="0" i="0" dirty="0">
                <a:solidFill>
                  <a:schemeClr val="tx1"/>
                </a:solidFill>
                <a:effectLst/>
                <a:latin typeface="メイリオ" panose="020B0604030504040204" pitchFamily="50" charset="-128"/>
                <a:ea typeface="メイリオ" panose="020B0604030504040204" pitchFamily="50" charset="-128"/>
              </a:rPr>
              <a:t>3</a:t>
            </a:r>
            <a:r>
              <a:rPr lang="ja-JP" altLang="en-US" b="0" i="0" dirty="0">
                <a:solidFill>
                  <a:schemeClr val="tx1"/>
                </a:solidFill>
                <a:effectLst/>
                <a:latin typeface="メイリオ" panose="020B0604030504040204" pitchFamily="50" charset="-128"/>
                <a:ea typeface="メイリオ" panose="020B0604030504040204" pitchFamily="50" charset="-128"/>
              </a:rPr>
              <a:t>つ提案してください。その際、施策の理由や期待される効果も明確にしてください。 </a:t>
            </a:r>
            <a:endParaRPr lang="en-US" altLang="ja-JP" b="0" i="0" dirty="0">
              <a:solidFill>
                <a:schemeClr val="tx1"/>
              </a:solidFill>
              <a:effectLst/>
              <a:latin typeface="メイリオ" panose="020B0604030504040204" pitchFamily="50" charset="-128"/>
              <a:ea typeface="メイリオ" panose="020B0604030504040204" pitchFamily="50" charset="-128"/>
            </a:endParaRPr>
          </a:p>
          <a:p>
            <a:pPr marL="342900" indent="-342900">
              <a:buAutoNum type="arabicPeriod"/>
            </a:pPr>
            <a:endParaRPr lang="en-US" altLang="ja-JP" dirty="0">
              <a:solidFill>
                <a:schemeClr val="tx1"/>
              </a:solidFill>
              <a:latin typeface="メイリオ" panose="020B0604030504040204" pitchFamily="50" charset="-128"/>
              <a:ea typeface="メイリオ" panose="020B0604030504040204" pitchFamily="50" charset="-128"/>
            </a:endParaRPr>
          </a:p>
          <a:p>
            <a:r>
              <a:rPr lang="ja-JP" altLang="en-US" b="0" i="0" dirty="0">
                <a:solidFill>
                  <a:schemeClr val="tx1"/>
                </a:solidFill>
                <a:effectLst/>
                <a:latin typeface="メイリオ" panose="020B0604030504040204" pitchFamily="50" charset="-128"/>
                <a:ea typeface="メイリオ" panose="020B0604030504040204" pitchFamily="50" charset="-128"/>
              </a:rPr>
              <a:t>以下が参加者から提供された課題情報です：</a:t>
            </a:r>
            <a:endParaRPr lang="en-US" altLang="ja-JP" b="0" i="0" dirty="0">
              <a:solidFill>
                <a:schemeClr val="tx1"/>
              </a:solidFill>
              <a:effectLst/>
              <a:latin typeface="メイリオ" panose="020B0604030504040204" pitchFamily="50" charset="-128"/>
              <a:ea typeface="メイリオ" panose="020B0604030504040204" pitchFamily="50" charset="-128"/>
            </a:endParaRPr>
          </a:p>
          <a:p>
            <a:r>
              <a:rPr lang="en-US" altLang="ja-JP" b="0" i="0" dirty="0">
                <a:solidFill>
                  <a:schemeClr val="tx1"/>
                </a:solidFill>
                <a:effectLst/>
                <a:latin typeface="メイリオ" panose="020B0604030504040204" pitchFamily="50" charset="-128"/>
                <a:ea typeface="メイリオ" panose="020B0604030504040204" pitchFamily="50" charset="-128"/>
              </a:rPr>
              <a:t>[</a:t>
            </a:r>
            <a:r>
              <a:rPr lang="ja-JP" altLang="en-US" b="0" i="0" dirty="0">
                <a:solidFill>
                  <a:schemeClr val="tx1"/>
                </a:solidFill>
                <a:effectLst/>
                <a:latin typeface="メイリオ" panose="020B0604030504040204" pitchFamily="50" charset="-128"/>
                <a:ea typeface="メイリオ" panose="020B0604030504040204" pitchFamily="50" charset="-128"/>
              </a:rPr>
              <a:t>参加者が入力した情報（</a:t>
            </a:r>
            <a:r>
              <a:rPr lang="en-US" altLang="ja-JP" b="0" i="0" dirty="0">
                <a:solidFill>
                  <a:schemeClr val="tx1"/>
                </a:solidFill>
                <a:effectLst/>
                <a:latin typeface="メイリオ" panose="020B0604030504040204" pitchFamily="50" charset="-128"/>
                <a:ea typeface="メイリオ" panose="020B0604030504040204" pitchFamily="50" charset="-128"/>
              </a:rPr>
              <a:t>7S+1Q</a:t>
            </a:r>
            <a:r>
              <a:rPr lang="ja-JP" altLang="en-US" b="0" i="0" dirty="0">
                <a:solidFill>
                  <a:schemeClr val="tx1"/>
                </a:solidFill>
                <a:effectLst/>
                <a:latin typeface="メイリオ" panose="020B0604030504040204" pitchFamily="50" charset="-128"/>
                <a:ea typeface="メイリオ" panose="020B0604030504040204" pitchFamily="50" charset="-128"/>
              </a:rPr>
              <a:t>の内容）</a:t>
            </a:r>
            <a:r>
              <a:rPr lang="en-US" altLang="ja-JP" b="0" i="0" dirty="0">
                <a:solidFill>
                  <a:schemeClr val="tx1"/>
                </a:solidFill>
                <a:effectLst/>
                <a:latin typeface="メイリオ" panose="020B0604030504040204" pitchFamily="50" charset="-128"/>
                <a:ea typeface="メイリオ" panose="020B0604030504040204" pitchFamily="50" charset="-128"/>
              </a:rPr>
              <a:t>] </a:t>
            </a:r>
          </a:p>
          <a:p>
            <a:endParaRPr lang="en-US" altLang="ja-JP" dirty="0">
              <a:solidFill>
                <a:schemeClr val="tx1"/>
              </a:solidFill>
              <a:latin typeface="メイリオ" panose="020B0604030504040204" pitchFamily="50" charset="-128"/>
              <a:ea typeface="メイリオ" panose="020B0604030504040204" pitchFamily="50" charset="-128"/>
            </a:endParaRPr>
          </a:p>
          <a:p>
            <a:r>
              <a:rPr lang="ja-JP" altLang="en-US" b="0" i="0" dirty="0">
                <a:solidFill>
                  <a:schemeClr val="tx1"/>
                </a:solidFill>
                <a:effectLst/>
                <a:latin typeface="メイリオ" panose="020B0604030504040204" pitchFamily="50" charset="-128"/>
                <a:ea typeface="メイリオ" panose="020B0604030504040204" pitchFamily="50" charset="-128"/>
              </a:rPr>
              <a:t>↓ここから</a:t>
            </a:r>
            <a:endParaRPr lang="en-US" altLang="ja-JP" b="0" i="0" dirty="0">
              <a:solidFill>
                <a:schemeClr val="tx1"/>
              </a:solidFill>
              <a:effectLst/>
              <a:latin typeface="メイリオ" panose="020B0604030504040204" pitchFamily="50" charset="-128"/>
              <a:ea typeface="メイリオ" panose="020B0604030504040204" pitchFamily="50" charset="-128"/>
            </a:endParaRPr>
          </a:p>
          <a:p>
            <a:endParaRPr lang="en-US" altLang="ja-JP" dirty="0">
              <a:solidFill>
                <a:schemeClr val="tx1"/>
              </a:solidFill>
              <a:latin typeface="メイリオ" panose="020B0604030504040204" pitchFamily="50" charset="-128"/>
              <a:ea typeface="メイリオ" panose="020B0604030504040204" pitchFamily="50" charset="-128"/>
            </a:endParaRPr>
          </a:p>
          <a:p>
            <a:endParaRPr lang="en-US" altLang="ja-JP" b="0" i="0" dirty="0">
              <a:solidFill>
                <a:schemeClr val="tx1"/>
              </a:solidFill>
              <a:effectLst/>
              <a:latin typeface="メイリオ" panose="020B0604030504040204" pitchFamily="50" charset="-128"/>
              <a:ea typeface="メイリオ" panose="020B0604030504040204" pitchFamily="50" charset="-128"/>
            </a:endParaRPr>
          </a:p>
          <a:p>
            <a:r>
              <a:rPr lang="ja-JP" altLang="en-US" dirty="0">
                <a:solidFill>
                  <a:schemeClr val="tx1"/>
                </a:solidFill>
                <a:latin typeface="メイリオ" panose="020B0604030504040204" pitchFamily="50" charset="-128"/>
                <a:ea typeface="メイリオ" panose="020B0604030504040204" pitchFamily="50" charset="-128"/>
              </a:rPr>
              <a:t>↑ここまで</a:t>
            </a:r>
            <a:endParaRPr lang="en-US" altLang="ja-JP" dirty="0">
              <a:solidFill>
                <a:schemeClr val="tx1"/>
              </a:solidFill>
              <a:latin typeface="メイリオ" panose="020B0604030504040204" pitchFamily="50" charset="-128"/>
              <a:ea typeface="メイリオ" panose="020B0604030504040204" pitchFamily="50" charset="-128"/>
            </a:endParaRPr>
          </a:p>
          <a:p>
            <a:endParaRPr lang="en-US" altLang="ja-JP" dirty="0">
              <a:solidFill>
                <a:schemeClr val="tx1"/>
              </a:solidFill>
              <a:latin typeface="メイリオ" panose="020B0604030504040204" pitchFamily="50" charset="-128"/>
              <a:ea typeface="メイリオ" panose="020B0604030504040204" pitchFamily="50" charset="-128"/>
            </a:endParaRPr>
          </a:p>
          <a:p>
            <a:r>
              <a:rPr lang="ja-JP" altLang="en-US" b="0" i="0" dirty="0">
                <a:solidFill>
                  <a:schemeClr val="tx1"/>
                </a:solidFill>
                <a:effectLst/>
                <a:latin typeface="メイリオ" panose="020B0604030504040204" pitchFamily="50" charset="-128"/>
                <a:ea typeface="メイリオ" panose="020B0604030504040204" pitchFamily="50" charset="-128"/>
              </a:rPr>
              <a:t>出力例： </a:t>
            </a:r>
            <a:endParaRPr lang="en-US" altLang="ja-JP" b="0" i="0" dirty="0">
              <a:solidFill>
                <a:schemeClr val="tx1"/>
              </a:solidFill>
              <a:effectLst/>
              <a:latin typeface="メイリオ" panose="020B0604030504040204" pitchFamily="50" charset="-128"/>
              <a:ea typeface="メイリオ" panose="020B0604030504040204" pitchFamily="50" charset="-128"/>
            </a:endParaRPr>
          </a:p>
          <a:p>
            <a:pPr marL="342900" indent="-342900">
              <a:buAutoNum type="arabicPeriod"/>
            </a:pPr>
            <a:r>
              <a:rPr lang="ja-JP" altLang="en-US" b="0" i="0" dirty="0">
                <a:solidFill>
                  <a:schemeClr val="tx1"/>
                </a:solidFill>
                <a:effectLst/>
                <a:latin typeface="メイリオ" panose="020B0604030504040204" pitchFamily="50" charset="-128"/>
                <a:ea typeface="メイリオ" panose="020B0604030504040204" pitchFamily="50" charset="-128"/>
              </a:rPr>
              <a:t>課題の整理：顕在化している重大な課題について要約。 </a:t>
            </a:r>
            <a:endParaRPr lang="en-US" altLang="ja-JP" b="0" i="0" dirty="0">
              <a:solidFill>
                <a:schemeClr val="tx1"/>
              </a:solidFill>
              <a:effectLst/>
              <a:latin typeface="メイリオ" panose="020B0604030504040204" pitchFamily="50" charset="-128"/>
              <a:ea typeface="メイリオ" panose="020B0604030504040204" pitchFamily="50" charset="-128"/>
            </a:endParaRPr>
          </a:p>
          <a:p>
            <a:pPr marL="342900" indent="-342900">
              <a:buAutoNum type="arabicPeriod"/>
            </a:pPr>
            <a:r>
              <a:rPr lang="ja-JP" altLang="en-US" b="0" i="0" dirty="0">
                <a:solidFill>
                  <a:schemeClr val="tx1"/>
                </a:solidFill>
                <a:effectLst/>
                <a:latin typeface="メイリオ" panose="020B0604030504040204" pitchFamily="50" charset="-128"/>
                <a:ea typeface="メイリオ" panose="020B0604030504040204" pitchFamily="50" charset="-128"/>
              </a:rPr>
              <a:t>レバレッジポイント：どの領域に着手すれば効果が最大化されるか。 </a:t>
            </a:r>
            <a:endParaRPr lang="en-US" altLang="ja-JP" b="0" i="0" dirty="0">
              <a:solidFill>
                <a:schemeClr val="tx1"/>
              </a:solidFill>
              <a:effectLst/>
              <a:latin typeface="メイリオ" panose="020B0604030504040204" pitchFamily="50" charset="-128"/>
              <a:ea typeface="メイリオ" panose="020B0604030504040204" pitchFamily="50" charset="-128"/>
            </a:endParaRPr>
          </a:p>
          <a:p>
            <a:pPr marL="342900" indent="-342900">
              <a:buAutoNum type="arabicPeriod"/>
            </a:pPr>
            <a:r>
              <a:rPr lang="en-US" altLang="ja-JP" b="0" i="0" dirty="0">
                <a:solidFill>
                  <a:schemeClr val="tx1"/>
                </a:solidFill>
                <a:effectLst/>
                <a:latin typeface="メイリオ" panose="020B0604030504040204" pitchFamily="50" charset="-128"/>
                <a:ea typeface="メイリオ" panose="020B0604030504040204" pitchFamily="50" charset="-128"/>
              </a:rPr>
              <a:t>3.</a:t>
            </a:r>
            <a:r>
              <a:rPr lang="ja-JP" altLang="en-US" b="0" i="0" dirty="0">
                <a:solidFill>
                  <a:schemeClr val="tx1"/>
                </a:solidFill>
                <a:effectLst/>
                <a:latin typeface="メイリオ" panose="020B0604030504040204" pitchFamily="50" charset="-128"/>
                <a:ea typeface="メイリオ" panose="020B0604030504040204" pitchFamily="50" charset="-128"/>
              </a:rPr>
              <a:t> 打ち手の提案：①具体施策 ②施策の理由 ③期待される効果。</a:t>
            </a:r>
            <a:endParaRPr kumimoji="1" lang="ja-JP" altLang="en-US"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192394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提出物の詳細　①</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7S</a:t>
            </a: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1Q</a:t>
            </a: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　→　</a:t>
            </a:r>
            <a:r>
              <a:rPr kumimoji="0" lang="en-US" altLang="ja-JP"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AI</a:t>
            </a:r>
            <a:r>
              <a:rPr lang="ja-JP" altLang="en-US" sz="2800" b="1" dirty="0">
                <a:latin typeface="メイリオ" panose="020B0604030504040204" pitchFamily="50" charset="-128"/>
                <a:ea typeface="メイリオ" panose="020B0604030504040204" pitchFamily="50" charset="-128"/>
                <a:cs typeface="Meiryo" charset="-128"/>
              </a:rPr>
              <a:t>の出力例</a:t>
            </a:r>
            <a:endPar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5" name="テキスト ボックス 24">
            <a:extLst>
              <a:ext uri="{FF2B5EF4-FFF2-40B4-BE49-F238E27FC236}">
                <a16:creationId xmlns:a16="http://schemas.microsoft.com/office/drawing/2014/main" id="{3808B967-0677-8CDC-5835-8C5D7AC59462}"/>
              </a:ext>
            </a:extLst>
          </p:cNvPr>
          <p:cNvSpPr txBox="1"/>
          <p:nvPr/>
        </p:nvSpPr>
        <p:spPr>
          <a:xfrm>
            <a:off x="276946" y="899432"/>
            <a:ext cx="12094348"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このような形で出力される</a:t>
            </a:r>
            <a:endParaRPr lang="en-US" altLang="ja-JP" sz="2400" b="1" dirty="0">
              <a:latin typeface="メイリオ" panose="020B0604030504040204" pitchFamily="50" charset="-128"/>
              <a:ea typeface="メイリオ" panose="020B0604030504040204" pitchFamily="50" charset="-128"/>
              <a:cs typeface="Meiryo" charset="-128"/>
            </a:endParaRPr>
          </a:p>
        </p:txBody>
      </p:sp>
      <p:sp>
        <p:nvSpPr>
          <p:cNvPr id="47" name="フッター プレースホルダー 46">
            <a:extLst>
              <a:ext uri="{FF2B5EF4-FFF2-40B4-BE49-F238E27FC236}">
                <a16:creationId xmlns:a16="http://schemas.microsoft.com/office/drawing/2014/main" id="{CF81B5C6-49C4-1559-89A6-787C4F392D88}"/>
              </a:ext>
            </a:extLst>
          </p:cNvPr>
          <p:cNvSpPr>
            <a:spLocks noGrp="1"/>
          </p:cNvSpPr>
          <p:nvPr>
            <p:ph type="ftr" idx="11"/>
          </p:nvPr>
        </p:nvSpPr>
        <p:spPr/>
        <p:txBody>
          <a:bodyPr/>
          <a:lstStyle/>
          <a:p>
            <a:r>
              <a:rPr lang="en-US" altLang="zh-TW"/>
              <a:t>©2025 JFR group</a:t>
            </a:r>
            <a:endParaRPr lang="en-US"/>
          </a:p>
        </p:txBody>
      </p:sp>
      <p:sp>
        <p:nvSpPr>
          <p:cNvPr id="9" name="スライド番号プレースホルダー 8">
            <a:extLst>
              <a:ext uri="{FF2B5EF4-FFF2-40B4-BE49-F238E27FC236}">
                <a16:creationId xmlns:a16="http://schemas.microsoft.com/office/drawing/2014/main" id="{EE8F04DF-2531-9781-5948-276FFDAB22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74</a:t>
            </a:fld>
            <a:endParaRPr lang="ja-JP" altLang="en-US">
              <a:uFillTx/>
            </a:endParaRPr>
          </a:p>
        </p:txBody>
      </p:sp>
      <p:sp>
        <p:nvSpPr>
          <p:cNvPr id="15" name="テキスト ボックス 14">
            <a:extLst>
              <a:ext uri="{FF2B5EF4-FFF2-40B4-BE49-F238E27FC236}">
                <a16:creationId xmlns:a16="http://schemas.microsoft.com/office/drawing/2014/main" id="{B422B121-AF70-8B64-DD0B-391FB26BBC09}"/>
              </a:ext>
            </a:extLst>
          </p:cNvPr>
          <p:cNvSpPr txBox="1"/>
          <p:nvPr/>
        </p:nvSpPr>
        <p:spPr>
          <a:xfrm>
            <a:off x="718457" y="1491376"/>
            <a:ext cx="10319657" cy="4401205"/>
          </a:xfrm>
          <a:prstGeom prst="rect">
            <a:avLst/>
          </a:prstGeom>
          <a:noFill/>
        </p:spPr>
        <p:txBody>
          <a:bodyPr wrap="square" rtlCol="0">
            <a:spAutoFit/>
          </a:bodyPr>
          <a:lstStyle/>
          <a:p>
            <a:pPr algn="l"/>
            <a:r>
              <a:rPr lang="ja-JP" altLang="en-US" b="1" i="0" dirty="0">
                <a:solidFill>
                  <a:srgbClr val="1C1A10"/>
                </a:solidFill>
                <a:effectLst/>
                <a:latin typeface="メイリオ" panose="020B0604030504040204" pitchFamily="50" charset="-128"/>
                <a:ea typeface="メイリオ" panose="020B0604030504040204" pitchFamily="50" charset="-128"/>
              </a:rPr>
              <a:t>課題の整理：</a:t>
            </a:r>
          </a:p>
          <a:p>
            <a:pPr algn="l">
              <a:buFont typeface="Arial" panose="020B0604020202020204" pitchFamily="34" charset="0"/>
              <a:buChar char="•"/>
            </a:pPr>
            <a:r>
              <a:rPr lang="ja-JP" altLang="en-US" b="0" i="0" dirty="0">
                <a:solidFill>
                  <a:srgbClr val="1C1A10"/>
                </a:solidFill>
                <a:effectLst/>
                <a:latin typeface="メイリオ" panose="020B0604030504040204" pitchFamily="50" charset="-128"/>
                <a:ea typeface="メイリオ" panose="020B0604030504040204" pitchFamily="50" charset="-128"/>
              </a:rPr>
              <a:t>組織内で価値観が統一されていない（</a:t>
            </a:r>
            <a:r>
              <a:rPr lang="en-US" altLang="ja-JP" b="0" i="0" dirty="0">
                <a:solidFill>
                  <a:srgbClr val="1C1A10"/>
                </a:solidFill>
                <a:effectLst/>
                <a:latin typeface="メイリオ" panose="020B0604030504040204" pitchFamily="50" charset="-128"/>
                <a:ea typeface="メイリオ" panose="020B0604030504040204" pitchFamily="50" charset="-128"/>
              </a:rPr>
              <a:t>Shared Value</a:t>
            </a:r>
            <a:r>
              <a:rPr lang="ja-JP" altLang="en-US" b="0" i="0" dirty="0">
                <a:solidFill>
                  <a:srgbClr val="1C1A10"/>
                </a:solidFill>
                <a:effectLst/>
                <a:latin typeface="メイリオ" panose="020B0604030504040204" pitchFamily="50" charset="-128"/>
                <a:ea typeface="メイリオ" panose="020B0604030504040204" pitchFamily="50" charset="-128"/>
              </a:rPr>
              <a:t>）。これにより、チーム間の摩擦や目標不一致が発生している。</a:t>
            </a:r>
          </a:p>
          <a:p>
            <a:pPr algn="l">
              <a:buFont typeface="Arial" panose="020B0604020202020204" pitchFamily="34" charset="0"/>
              <a:buChar char="•"/>
            </a:pPr>
            <a:r>
              <a:rPr lang="ja-JP" altLang="en-US" b="0" i="0" dirty="0">
                <a:solidFill>
                  <a:srgbClr val="1C1A10"/>
                </a:solidFill>
                <a:effectLst/>
                <a:latin typeface="メイリオ" panose="020B0604030504040204" pitchFamily="50" charset="-128"/>
                <a:ea typeface="メイリオ" panose="020B0604030504040204" pitchFamily="50" charset="-128"/>
              </a:rPr>
              <a:t>暗黙知が属人的に運用されており、プロジェクトの生産性が低下している（</a:t>
            </a:r>
            <a:r>
              <a:rPr lang="en-US" altLang="ja-JP" b="0" i="0" dirty="0">
                <a:solidFill>
                  <a:srgbClr val="1C1A10"/>
                </a:solidFill>
                <a:effectLst/>
                <a:latin typeface="メイリオ" panose="020B0604030504040204" pitchFamily="50" charset="-128"/>
                <a:ea typeface="メイリオ" panose="020B0604030504040204" pitchFamily="50" charset="-128"/>
              </a:rPr>
              <a:t>Skill</a:t>
            </a:r>
            <a:r>
              <a:rPr lang="ja-JP" altLang="en-US" b="0" i="0" dirty="0">
                <a:solidFill>
                  <a:srgbClr val="1C1A10"/>
                </a:solidFill>
                <a:effectLst/>
                <a:latin typeface="メイリオ" panose="020B0604030504040204" pitchFamily="50" charset="-128"/>
                <a:ea typeface="メイリオ" panose="020B0604030504040204" pitchFamily="50" charset="-128"/>
              </a:rPr>
              <a:t>）。</a:t>
            </a:r>
          </a:p>
          <a:p>
            <a:pPr algn="l"/>
            <a:endParaRPr lang="en-US" altLang="ja-JP" b="1" i="0" dirty="0">
              <a:solidFill>
                <a:srgbClr val="1C1A10"/>
              </a:solidFill>
              <a:effectLst/>
              <a:latin typeface="メイリオ" panose="020B0604030504040204" pitchFamily="50" charset="-128"/>
              <a:ea typeface="メイリオ" panose="020B0604030504040204" pitchFamily="50" charset="-128"/>
            </a:endParaRPr>
          </a:p>
          <a:p>
            <a:pPr algn="l"/>
            <a:r>
              <a:rPr lang="ja-JP" altLang="en-US" b="1" i="0" dirty="0">
                <a:solidFill>
                  <a:srgbClr val="1C1A10"/>
                </a:solidFill>
                <a:effectLst/>
                <a:latin typeface="メイリオ" panose="020B0604030504040204" pitchFamily="50" charset="-128"/>
                <a:ea typeface="メイリオ" panose="020B0604030504040204" pitchFamily="50" charset="-128"/>
              </a:rPr>
              <a:t>レバレッジポイント：</a:t>
            </a:r>
          </a:p>
          <a:p>
            <a:pPr algn="l">
              <a:buFont typeface="Arial" panose="020B0604020202020204" pitchFamily="34" charset="0"/>
              <a:buChar char="•"/>
            </a:pPr>
            <a:r>
              <a:rPr lang="en-US" altLang="ja-JP" b="0" i="0" dirty="0">
                <a:solidFill>
                  <a:srgbClr val="1C1A10"/>
                </a:solidFill>
                <a:effectLst/>
                <a:latin typeface="メイリオ" panose="020B0604030504040204" pitchFamily="50" charset="-128"/>
                <a:ea typeface="メイリオ" panose="020B0604030504040204" pitchFamily="50" charset="-128"/>
              </a:rPr>
              <a:t>Shared Value</a:t>
            </a:r>
            <a:r>
              <a:rPr lang="ja-JP" altLang="en-US" b="0" i="0" dirty="0">
                <a:solidFill>
                  <a:srgbClr val="1C1A10"/>
                </a:solidFill>
                <a:effectLst/>
                <a:latin typeface="メイリオ" panose="020B0604030504040204" pitchFamily="50" charset="-128"/>
                <a:ea typeface="メイリオ" panose="020B0604030504040204" pitchFamily="50" charset="-128"/>
              </a:rPr>
              <a:t>（共通価値観）：価値観を統一することで、組織全体の方向性とモチベーションが向上する可能性が高い。</a:t>
            </a:r>
          </a:p>
          <a:p>
            <a:pPr algn="l">
              <a:buFont typeface="Arial" panose="020B0604020202020204" pitchFamily="34" charset="0"/>
              <a:buChar char="•"/>
            </a:pPr>
            <a:r>
              <a:rPr lang="en-US" altLang="ja-JP" b="0" i="0" dirty="0">
                <a:solidFill>
                  <a:srgbClr val="1C1A10"/>
                </a:solidFill>
                <a:effectLst/>
                <a:latin typeface="メイリオ" panose="020B0604030504040204" pitchFamily="50" charset="-128"/>
                <a:ea typeface="メイリオ" panose="020B0604030504040204" pitchFamily="50" charset="-128"/>
              </a:rPr>
              <a:t>Skill</a:t>
            </a:r>
            <a:r>
              <a:rPr lang="ja-JP" altLang="en-US" b="0" i="0" dirty="0">
                <a:solidFill>
                  <a:srgbClr val="1C1A10"/>
                </a:solidFill>
                <a:effectLst/>
                <a:latin typeface="メイリオ" panose="020B0604030504040204" pitchFamily="50" charset="-128"/>
                <a:ea typeface="メイリオ" panose="020B0604030504040204" pitchFamily="50" charset="-128"/>
              </a:rPr>
              <a:t>（スキル）：ナレッジ共有の仕組みを整え、全員のスキルアップを図る。</a:t>
            </a:r>
          </a:p>
          <a:p>
            <a:pPr algn="l"/>
            <a:endParaRPr lang="en-US" altLang="ja-JP" b="1" i="0" dirty="0">
              <a:solidFill>
                <a:srgbClr val="1C1A10"/>
              </a:solidFill>
              <a:effectLst/>
              <a:latin typeface="メイリオ" panose="020B0604030504040204" pitchFamily="50" charset="-128"/>
              <a:ea typeface="メイリオ" panose="020B0604030504040204" pitchFamily="50" charset="-128"/>
            </a:endParaRPr>
          </a:p>
          <a:p>
            <a:pPr algn="l"/>
            <a:r>
              <a:rPr lang="ja-JP" altLang="en-US" b="1" i="0" dirty="0">
                <a:solidFill>
                  <a:srgbClr val="1C1A10"/>
                </a:solidFill>
                <a:effectLst/>
                <a:latin typeface="メイリオ" panose="020B0604030504040204" pitchFamily="50" charset="-128"/>
                <a:ea typeface="メイリオ" panose="020B0604030504040204" pitchFamily="50" charset="-128"/>
              </a:rPr>
              <a:t>打ち手の提案：</a:t>
            </a:r>
          </a:p>
          <a:p>
            <a:pPr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社内価値観共有ワークショップの開催：</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理由：部署やチームを横断的に価値観を共有化し、一貫性ある認識を浸透させる。</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効果：協働や連携の質を向上させ、目標の認識を統一する。</a:t>
            </a:r>
          </a:p>
          <a:p>
            <a:pPr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ナレッジ共有プラットフォームの設置：</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理由：暗黙知を形式知化する仕組みを作ることで、全員がスキルにアクセスできる。</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効果：属人的な業務を減らし、生産性を向上させる。</a:t>
            </a:r>
          </a:p>
          <a:p>
            <a:pPr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メンバー間の連携を促進するプロジェクト設計：</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理由：部署間やチーム間での共通の目的を設定し、協力関係を強化。</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効果：関係の質（</a:t>
            </a:r>
            <a:r>
              <a:rPr lang="en-US" altLang="ja-JP" b="0" i="0" dirty="0">
                <a:solidFill>
                  <a:srgbClr val="1C1A10"/>
                </a:solidFill>
                <a:effectLst/>
                <a:latin typeface="メイリオ" panose="020B0604030504040204" pitchFamily="50" charset="-128"/>
                <a:ea typeface="メイリオ" panose="020B0604030504040204" pitchFamily="50" charset="-128"/>
              </a:rPr>
              <a:t>Quality Relationships</a:t>
            </a:r>
            <a:r>
              <a:rPr lang="ja-JP" altLang="en-US" b="0" i="0" dirty="0">
                <a:solidFill>
                  <a:srgbClr val="1C1A10"/>
                </a:solidFill>
                <a:effectLst/>
                <a:latin typeface="メイリオ" panose="020B0604030504040204" pitchFamily="50" charset="-128"/>
                <a:ea typeface="メイリオ" panose="020B0604030504040204" pitchFamily="50" charset="-128"/>
              </a:rPr>
              <a:t>）を向上し、全体の効率性が増加。</a:t>
            </a:r>
          </a:p>
          <a:p>
            <a:br>
              <a:rPr lang="ja-JP" altLang="en-US" dirty="0">
                <a:latin typeface="メイリオ" panose="020B0604030504040204" pitchFamily="50" charset="-128"/>
                <a:ea typeface="メイリオ" panose="020B0604030504040204" pitchFamily="50" charset="-128"/>
              </a:rPr>
            </a:br>
            <a:endParaRPr kumimoji="1" lang="ja-JP" altLang="en-US"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5426125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提出物の詳細　②レバレッジポイントとその理由</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5" name="テキスト ボックス 24">
            <a:extLst>
              <a:ext uri="{FF2B5EF4-FFF2-40B4-BE49-F238E27FC236}">
                <a16:creationId xmlns:a16="http://schemas.microsoft.com/office/drawing/2014/main" id="{3808B967-0677-8CDC-5835-8C5D7AC59462}"/>
              </a:ext>
            </a:extLst>
          </p:cNvPr>
          <p:cNvSpPr txBox="1"/>
          <p:nvPr/>
        </p:nvSpPr>
        <p:spPr>
          <a:xfrm>
            <a:off x="276946" y="899432"/>
            <a:ext cx="12094348"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en-US" altLang="ja-JP" sz="2400" b="1" dirty="0">
                <a:latin typeface="メイリオ" panose="020B0604030504040204" pitchFamily="50" charset="-128"/>
                <a:ea typeface="メイリオ" panose="020B0604030504040204" pitchFamily="50" charset="-128"/>
                <a:cs typeface="Meiryo" charset="-128"/>
              </a:rPr>
              <a:t>AI</a:t>
            </a:r>
            <a:r>
              <a:rPr lang="ja-JP" altLang="en-US" sz="2400" b="1" dirty="0">
                <a:latin typeface="メイリオ" panose="020B0604030504040204" pitchFamily="50" charset="-128"/>
                <a:ea typeface="メイリオ" panose="020B0604030504040204" pitchFamily="50" charset="-128"/>
                <a:cs typeface="Meiryo" charset="-128"/>
              </a:rPr>
              <a:t>で出力された情報を「タタキ」として自分で考える</a:t>
            </a:r>
            <a:endParaRPr lang="en-US" altLang="ja-JP" sz="2400" b="1" dirty="0">
              <a:latin typeface="メイリオ" panose="020B0604030504040204" pitchFamily="50" charset="-128"/>
              <a:ea typeface="メイリオ" panose="020B0604030504040204" pitchFamily="50" charset="-128"/>
              <a:cs typeface="Meiryo" charset="-128"/>
            </a:endParaRPr>
          </a:p>
        </p:txBody>
      </p:sp>
      <p:sp>
        <p:nvSpPr>
          <p:cNvPr id="47" name="フッター プレースホルダー 46">
            <a:extLst>
              <a:ext uri="{FF2B5EF4-FFF2-40B4-BE49-F238E27FC236}">
                <a16:creationId xmlns:a16="http://schemas.microsoft.com/office/drawing/2014/main" id="{CF81B5C6-49C4-1559-89A6-787C4F392D88}"/>
              </a:ext>
            </a:extLst>
          </p:cNvPr>
          <p:cNvSpPr>
            <a:spLocks noGrp="1"/>
          </p:cNvSpPr>
          <p:nvPr>
            <p:ph type="ftr" idx="11"/>
          </p:nvPr>
        </p:nvSpPr>
        <p:spPr/>
        <p:txBody>
          <a:bodyPr/>
          <a:lstStyle/>
          <a:p>
            <a:r>
              <a:rPr lang="en-US" altLang="zh-TW"/>
              <a:t>©2025 JFR group</a:t>
            </a:r>
            <a:endParaRPr lang="en-US"/>
          </a:p>
        </p:txBody>
      </p:sp>
      <p:sp>
        <p:nvSpPr>
          <p:cNvPr id="9" name="スライド番号プレースホルダー 8">
            <a:extLst>
              <a:ext uri="{FF2B5EF4-FFF2-40B4-BE49-F238E27FC236}">
                <a16:creationId xmlns:a16="http://schemas.microsoft.com/office/drawing/2014/main" id="{EE8F04DF-2531-9781-5948-276FFDAB22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75</a:t>
            </a:fld>
            <a:endParaRPr lang="ja-JP" altLang="en-US">
              <a:uFillTx/>
            </a:endParaRPr>
          </a:p>
        </p:txBody>
      </p:sp>
      <p:sp>
        <p:nvSpPr>
          <p:cNvPr id="15" name="テキスト ボックス 14">
            <a:extLst>
              <a:ext uri="{FF2B5EF4-FFF2-40B4-BE49-F238E27FC236}">
                <a16:creationId xmlns:a16="http://schemas.microsoft.com/office/drawing/2014/main" id="{B422B121-AF70-8B64-DD0B-391FB26BBC09}"/>
              </a:ext>
            </a:extLst>
          </p:cNvPr>
          <p:cNvSpPr txBox="1"/>
          <p:nvPr/>
        </p:nvSpPr>
        <p:spPr>
          <a:xfrm>
            <a:off x="718457" y="1491376"/>
            <a:ext cx="10319657" cy="738664"/>
          </a:xfrm>
          <a:prstGeom prst="rect">
            <a:avLst/>
          </a:prstGeom>
          <a:noFill/>
        </p:spPr>
        <p:txBody>
          <a:bodyPr wrap="square" rtlCol="0">
            <a:spAutoFit/>
          </a:bodyPr>
          <a:lstStyle/>
          <a:p>
            <a:pPr algn="l"/>
            <a:r>
              <a:rPr lang="ja-JP" altLang="en-US" b="1" i="0" dirty="0">
                <a:solidFill>
                  <a:srgbClr val="1C1A10"/>
                </a:solidFill>
                <a:effectLst/>
                <a:latin typeface="メイリオ" panose="020B0604030504040204" pitchFamily="50" charset="-128"/>
                <a:ea typeface="メイリオ" panose="020B0604030504040204" pitchFamily="50" charset="-128"/>
              </a:rPr>
              <a:t>レバレッジポイント：</a:t>
            </a:r>
          </a:p>
          <a:p>
            <a:pPr algn="l">
              <a:buFont typeface="Arial" panose="020B0604020202020204" pitchFamily="34" charset="0"/>
              <a:buChar char="•"/>
            </a:pPr>
            <a:r>
              <a:rPr lang="en-US" altLang="ja-JP" b="0" i="0" dirty="0">
                <a:solidFill>
                  <a:srgbClr val="1C1A10"/>
                </a:solidFill>
                <a:effectLst/>
                <a:latin typeface="メイリオ" panose="020B0604030504040204" pitchFamily="50" charset="-128"/>
                <a:ea typeface="メイリオ" panose="020B0604030504040204" pitchFamily="50" charset="-128"/>
              </a:rPr>
              <a:t>Shared Value</a:t>
            </a:r>
            <a:r>
              <a:rPr lang="ja-JP" altLang="en-US" b="0" i="0" dirty="0">
                <a:solidFill>
                  <a:srgbClr val="1C1A10"/>
                </a:solidFill>
                <a:effectLst/>
                <a:latin typeface="メイリオ" panose="020B0604030504040204" pitchFamily="50" charset="-128"/>
                <a:ea typeface="メイリオ" panose="020B0604030504040204" pitchFamily="50" charset="-128"/>
              </a:rPr>
              <a:t>（共通価値観）：価値観を統一することで、組織全体の方向性とモチベーションが向上する可能性が高い。</a:t>
            </a:r>
          </a:p>
          <a:p>
            <a:pPr algn="l">
              <a:buFont typeface="Arial" panose="020B0604020202020204" pitchFamily="34" charset="0"/>
              <a:buChar char="•"/>
            </a:pPr>
            <a:r>
              <a:rPr lang="en-US" altLang="ja-JP" b="0" i="0" dirty="0">
                <a:solidFill>
                  <a:srgbClr val="1C1A10"/>
                </a:solidFill>
                <a:effectLst/>
                <a:latin typeface="メイリオ" panose="020B0604030504040204" pitchFamily="50" charset="-128"/>
                <a:ea typeface="メイリオ" panose="020B0604030504040204" pitchFamily="50" charset="-128"/>
              </a:rPr>
              <a:t>Skill</a:t>
            </a:r>
            <a:r>
              <a:rPr lang="ja-JP" altLang="en-US" b="0" i="0" dirty="0">
                <a:solidFill>
                  <a:srgbClr val="1C1A10"/>
                </a:solidFill>
                <a:effectLst/>
                <a:latin typeface="メイリオ" panose="020B0604030504040204" pitchFamily="50" charset="-128"/>
                <a:ea typeface="メイリオ" panose="020B0604030504040204" pitchFamily="50" charset="-128"/>
              </a:rPr>
              <a:t>（スキル）：ナレッジ共有の仕組みを整え、全員のスキルアップを図る。</a:t>
            </a:r>
          </a:p>
        </p:txBody>
      </p:sp>
      <p:sp>
        <p:nvSpPr>
          <p:cNvPr id="2" name="正方形/長方形 1">
            <a:extLst>
              <a:ext uri="{FF2B5EF4-FFF2-40B4-BE49-F238E27FC236}">
                <a16:creationId xmlns:a16="http://schemas.microsoft.com/office/drawing/2014/main" id="{8C973906-CBD2-D9A3-7A18-4A2B9CF02F14}"/>
              </a:ext>
            </a:extLst>
          </p:cNvPr>
          <p:cNvSpPr/>
          <p:nvPr/>
        </p:nvSpPr>
        <p:spPr>
          <a:xfrm>
            <a:off x="439687" y="1361097"/>
            <a:ext cx="10413370" cy="10228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6343E6EA-8CF3-6992-9FAA-87097DE8B10A}"/>
              </a:ext>
            </a:extLst>
          </p:cNvPr>
          <p:cNvSpPr txBox="1"/>
          <p:nvPr/>
        </p:nvSpPr>
        <p:spPr>
          <a:xfrm>
            <a:off x="295671" y="2807189"/>
            <a:ext cx="11896329" cy="230832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本質的なレバレッジポイントは何か？（</a:t>
            </a:r>
            <a:r>
              <a:rPr lang="en-US" altLang="ja-JP" sz="2400" b="1" dirty="0">
                <a:latin typeface="メイリオ" panose="020B0604030504040204" pitchFamily="50" charset="-128"/>
                <a:ea typeface="メイリオ" panose="020B0604030504040204" pitchFamily="50" charset="-128"/>
                <a:cs typeface="Meiryo" charset="-128"/>
              </a:rPr>
              <a:t>3-5</a:t>
            </a:r>
            <a:r>
              <a:rPr lang="ja-JP" altLang="en-US" sz="2400" b="1" dirty="0">
                <a:latin typeface="メイリオ" panose="020B0604030504040204" pitchFamily="50" charset="-128"/>
                <a:ea typeface="メイリオ" panose="020B0604030504040204" pitchFamily="50" charset="-128"/>
                <a:cs typeface="Meiryo" charset="-128"/>
              </a:rPr>
              <a:t>つ程度）</a:t>
            </a:r>
            <a:endParaRPr lang="en-US" altLang="ja-JP" sz="2400" b="1" dirty="0">
              <a:latin typeface="メイリオ" panose="020B0604030504040204" pitchFamily="50" charset="-128"/>
              <a:ea typeface="メイリオ" panose="020B0604030504040204" pitchFamily="50" charset="-128"/>
              <a:cs typeface="Meiryo" charset="-128"/>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なぜ自社にとってそれがレバレッジポイントと言えるのか？</a:t>
            </a:r>
            <a:endParaRPr lang="en-US" altLang="ja-JP" sz="2400" b="1" dirty="0">
              <a:latin typeface="メイリオ" panose="020B0604030504040204" pitchFamily="50" charset="-128"/>
              <a:ea typeface="メイリオ" panose="020B0604030504040204" pitchFamily="50" charset="-128"/>
              <a:cs typeface="Meiryo" charset="-128"/>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endParaRPr lang="en-US" altLang="ja-JP" sz="2400" b="1" dirty="0">
              <a:latin typeface="メイリオ" panose="020B0604030504040204" pitchFamily="50" charset="-128"/>
              <a:ea typeface="メイリオ" panose="020B0604030504040204" pitchFamily="50" charset="-128"/>
              <a:cs typeface="Meiryo" charset="-128"/>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必要であれば会社のメンバーで話し合ったり、</a:t>
            </a:r>
            <a:endParaRPr lang="en-US" altLang="ja-JP" sz="2400" b="1" dirty="0">
              <a:latin typeface="メイリオ" panose="020B0604030504040204" pitchFamily="50" charset="-128"/>
              <a:ea typeface="メイリオ" panose="020B0604030504040204" pitchFamily="50" charset="-128"/>
              <a:cs typeface="Meiryo" charset="-128"/>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何度も</a:t>
            </a:r>
            <a:r>
              <a:rPr lang="en-US" altLang="ja-JP" sz="2400" b="1" dirty="0">
                <a:latin typeface="メイリオ" panose="020B0604030504040204" pitchFamily="50" charset="-128"/>
                <a:ea typeface="メイリオ" panose="020B0604030504040204" pitchFamily="50" charset="-128"/>
                <a:cs typeface="Meiryo" charset="-128"/>
              </a:rPr>
              <a:t>AI</a:t>
            </a:r>
            <a:r>
              <a:rPr lang="ja-JP" altLang="en-US" sz="2400" b="1" dirty="0">
                <a:latin typeface="メイリオ" panose="020B0604030504040204" pitchFamily="50" charset="-128"/>
                <a:ea typeface="メイリオ" panose="020B0604030504040204" pitchFamily="50" charset="-128"/>
                <a:cs typeface="Meiryo" charset="-128"/>
              </a:rPr>
              <a:t>と壁打ちして言語化にこだわる</a:t>
            </a:r>
            <a:endParaRPr lang="en-US" altLang="ja-JP" sz="2400" b="1" dirty="0">
              <a:latin typeface="メイリオ" panose="020B0604030504040204" pitchFamily="50" charset="-128"/>
              <a:ea typeface="メイリオ" panose="020B0604030504040204" pitchFamily="50" charset="-128"/>
              <a:cs typeface="Meiryo" charset="-128"/>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決して</a:t>
            </a:r>
            <a:r>
              <a:rPr lang="en-US" altLang="ja-JP" sz="2400" b="1" dirty="0">
                <a:latin typeface="メイリオ" panose="020B0604030504040204" pitchFamily="50" charset="-128"/>
                <a:ea typeface="メイリオ" panose="020B0604030504040204" pitchFamily="50" charset="-128"/>
                <a:cs typeface="Meiryo" charset="-128"/>
              </a:rPr>
              <a:t>AI</a:t>
            </a:r>
            <a:r>
              <a:rPr lang="ja-JP" altLang="en-US" sz="2400" b="1" dirty="0">
                <a:latin typeface="メイリオ" panose="020B0604030504040204" pitchFamily="50" charset="-128"/>
                <a:ea typeface="メイリオ" panose="020B0604030504040204" pitchFamily="50" charset="-128"/>
                <a:cs typeface="Meiryo" charset="-128"/>
              </a:rPr>
              <a:t>の情報を鵜呑みにしない</a:t>
            </a:r>
            <a:endParaRPr lang="en-US" altLang="ja-JP" sz="2400" b="1" dirty="0">
              <a:latin typeface="メイリオ" panose="020B0604030504040204" pitchFamily="50" charset="-128"/>
              <a:ea typeface="メイリオ" panose="020B0604030504040204" pitchFamily="50" charset="-128"/>
              <a:cs typeface="Meiryo" charset="-128"/>
            </a:endParaRPr>
          </a:p>
        </p:txBody>
      </p:sp>
      <p:sp>
        <p:nvSpPr>
          <p:cNvPr id="7" name="四角形: 角を丸くする 6">
            <a:extLst>
              <a:ext uri="{FF2B5EF4-FFF2-40B4-BE49-F238E27FC236}">
                <a16:creationId xmlns:a16="http://schemas.microsoft.com/office/drawing/2014/main" id="{D1A3EE2E-9E4B-93DC-4A46-BCAAEBBF6349}"/>
              </a:ext>
            </a:extLst>
          </p:cNvPr>
          <p:cNvSpPr/>
          <p:nvPr/>
        </p:nvSpPr>
        <p:spPr>
          <a:xfrm rot="1624050">
            <a:off x="10739966" y="299117"/>
            <a:ext cx="1227667" cy="56006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latin typeface="メイリオ" panose="020B0604030504040204" pitchFamily="50" charset="-128"/>
                <a:ea typeface="メイリオ" panose="020B0604030504040204" pitchFamily="50" charset="-128"/>
              </a:rPr>
              <a:t>提出物</a:t>
            </a:r>
          </a:p>
        </p:txBody>
      </p:sp>
    </p:spTree>
    <p:extLst>
      <p:ext uri="{BB962C8B-B14F-4D97-AF65-F5344CB8AC3E}">
        <p14:creationId xmlns:p14="http://schemas.microsoft.com/office/powerpoint/2010/main" val="34528188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rPr>
              <a:t>提出物の詳細　③打ち手</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charset="-128"/>
              <a:sym typeface="Arial"/>
            </a:endParaRPr>
          </a:p>
        </p:txBody>
      </p:sp>
      <p:sp>
        <p:nvSpPr>
          <p:cNvPr id="25" name="テキスト ボックス 24">
            <a:extLst>
              <a:ext uri="{FF2B5EF4-FFF2-40B4-BE49-F238E27FC236}">
                <a16:creationId xmlns:a16="http://schemas.microsoft.com/office/drawing/2014/main" id="{3808B967-0677-8CDC-5835-8C5D7AC59462}"/>
              </a:ext>
            </a:extLst>
          </p:cNvPr>
          <p:cNvSpPr txBox="1"/>
          <p:nvPr/>
        </p:nvSpPr>
        <p:spPr>
          <a:xfrm>
            <a:off x="276946" y="899432"/>
            <a:ext cx="12094348"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自社の現状やカルチャーにあったリアリティのある打ち手を設計する</a:t>
            </a:r>
            <a:endParaRPr lang="en-US" altLang="ja-JP" sz="2400" b="1" dirty="0">
              <a:latin typeface="メイリオ" panose="020B0604030504040204" pitchFamily="50" charset="-128"/>
              <a:ea typeface="メイリオ" panose="020B0604030504040204" pitchFamily="50" charset="-128"/>
              <a:cs typeface="Meiryo" charset="-128"/>
            </a:endParaRPr>
          </a:p>
        </p:txBody>
      </p:sp>
      <p:sp>
        <p:nvSpPr>
          <p:cNvPr id="47" name="フッター プレースホルダー 46">
            <a:extLst>
              <a:ext uri="{FF2B5EF4-FFF2-40B4-BE49-F238E27FC236}">
                <a16:creationId xmlns:a16="http://schemas.microsoft.com/office/drawing/2014/main" id="{CF81B5C6-49C4-1559-89A6-787C4F392D88}"/>
              </a:ext>
            </a:extLst>
          </p:cNvPr>
          <p:cNvSpPr>
            <a:spLocks noGrp="1"/>
          </p:cNvSpPr>
          <p:nvPr>
            <p:ph type="ftr" idx="11"/>
          </p:nvPr>
        </p:nvSpPr>
        <p:spPr/>
        <p:txBody>
          <a:bodyPr/>
          <a:lstStyle/>
          <a:p>
            <a:r>
              <a:rPr lang="en-US" altLang="zh-TW"/>
              <a:t>©2025 JFR group</a:t>
            </a:r>
            <a:endParaRPr lang="en-US"/>
          </a:p>
        </p:txBody>
      </p:sp>
      <p:sp>
        <p:nvSpPr>
          <p:cNvPr id="9" name="スライド番号プレースホルダー 8">
            <a:extLst>
              <a:ext uri="{FF2B5EF4-FFF2-40B4-BE49-F238E27FC236}">
                <a16:creationId xmlns:a16="http://schemas.microsoft.com/office/drawing/2014/main" id="{EE8F04DF-2531-9781-5948-276FFDAB22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76</a:t>
            </a:fld>
            <a:endParaRPr lang="ja-JP" altLang="en-US">
              <a:uFillTx/>
            </a:endParaRPr>
          </a:p>
        </p:txBody>
      </p:sp>
      <p:sp>
        <p:nvSpPr>
          <p:cNvPr id="15" name="テキスト ボックス 14">
            <a:extLst>
              <a:ext uri="{FF2B5EF4-FFF2-40B4-BE49-F238E27FC236}">
                <a16:creationId xmlns:a16="http://schemas.microsoft.com/office/drawing/2014/main" id="{B422B121-AF70-8B64-DD0B-391FB26BBC09}"/>
              </a:ext>
            </a:extLst>
          </p:cNvPr>
          <p:cNvSpPr txBox="1"/>
          <p:nvPr/>
        </p:nvSpPr>
        <p:spPr>
          <a:xfrm>
            <a:off x="718457" y="1491376"/>
            <a:ext cx="10319657" cy="2246769"/>
          </a:xfrm>
          <a:prstGeom prst="rect">
            <a:avLst/>
          </a:prstGeom>
          <a:noFill/>
        </p:spPr>
        <p:txBody>
          <a:bodyPr wrap="square" rtlCol="0">
            <a:spAutoFit/>
          </a:bodyPr>
          <a:lstStyle/>
          <a:p>
            <a:pPr algn="l"/>
            <a:r>
              <a:rPr lang="ja-JP" altLang="en-US" b="1" i="0" dirty="0">
                <a:solidFill>
                  <a:srgbClr val="1C1A10"/>
                </a:solidFill>
                <a:effectLst/>
                <a:latin typeface="メイリオ" panose="020B0604030504040204" pitchFamily="50" charset="-128"/>
                <a:ea typeface="メイリオ" panose="020B0604030504040204" pitchFamily="50" charset="-128"/>
              </a:rPr>
              <a:t>打ち手の提案：</a:t>
            </a:r>
          </a:p>
          <a:p>
            <a:pPr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社内価値観共有ワークショップの開催：</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理由：部署やチームを横断的に価値観を共有化し、一貫性ある認識を浸透させる。</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効果：協働や連携の質を向上させ、目標の認識を統一する。</a:t>
            </a:r>
          </a:p>
          <a:p>
            <a:pPr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ナレッジ共有プラットフォームの設置：</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理由：暗黙知を形式知化する仕組みを作ることで、全員がスキルにアクセスできる。</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効果：属人的な業務を減らし、生産性を向上させる。</a:t>
            </a:r>
          </a:p>
          <a:p>
            <a:pPr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メンバー間の連携を促進するプロジェクト設計：</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理由：部署間やチーム間での共通の目的を設定し、協力関係を強化。</a:t>
            </a:r>
          </a:p>
          <a:p>
            <a:pPr marL="742950" lvl="1" indent="-285750" algn="l">
              <a:buFont typeface="+mj-lt"/>
              <a:buAutoNum type="arabicPeriod"/>
            </a:pPr>
            <a:r>
              <a:rPr lang="ja-JP" altLang="en-US" b="0" i="0" dirty="0">
                <a:solidFill>
                  <a:srgbClr val="1C1A10"/>
                </a:solidFill>
                <a:effectLst/>
                <a:latin typeface="メイリオ" panose="020B0604030504040204" pitchFamily="50" charset="-128"/>
                <a:ea typeface="メイリオ" panose="020B0604030504040204" pitchFamily="50" charset="-128"/>
              </a:rPr>
              <a:t>効果：関係の質（</a:t>
            </a:r>
            <a:r>
              <a:rPr lang="en-US" altLang="ja-JP" b="0" i="0" dirty="0">
                <a:solidFill>
                  <a:srgbClr val="1C1A10"/>
                </a:solidFill>
                <a:effectLst/>
                <a:latin typeface="メイリオ" panose="020B0604030504040204" pitchFamily="50" charset="-128"/>
                <a:ea typeface="メイリオ" panose="020B0604030504040204" pitchFamily="50" charset="-128"/>
              </a:rPr>
              <a:t>Quality Relationships</a:t>
            </a:r>
            <a:r>
              <a:rPr lang="ja-JP" altLang="en-US" b="0" i="0" dirty="0">
                <a:solidFill>
                  <a:srgbClr val="1C1A10"/>
                </a:solidFill>
                <a:effectLst/>
                <a:latin typeface="メイリオ" panose="020B0604030504040204" pitchFamily="50" charset="-128"/>
                <a:ea typeface="メイリオ" panose="020B0604030504040204" pitchFamily="50" charset="-128"/>
              </a:rPr>
              <a:t>）を向上し、全体の効率性が増加。</a:t>
            </a:r>
          </a:p>
        </p:txBody>
      </p:sp>
      <p:sp>
        <p:nvSpPr>
          <p:cNvPr id="2" name="正方形/長方形 1">
            <a:extLst>
              <a:ext uri="{FF2B5EF4-FFF2-40B4-BE49-F238E27FC236}">
                <a16:creationId xmlns:a16="http://schemas.microsoft.com/office/drawing/2014/main" id="{8C973906-CBD2-D9A3-7A18-4A2B9CF02F14}"/>
              </a:ext>
            </a:extLst>
          </p:cNvPr>
          <p:cNvSpPr/>
          <p:nvPr/>
        </p:nvSpPr>
        <p:spPr>
          <a:xfrm>
            <a:off x="439687" y="1361097"/>
            <a:ext cx="10413370" cy="248156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6343E6EA-8CF3-6992-9FAA-87097DE8B10A}"/>
              </a:ext>
            </a:extLst>
          </p:cNvPr>
          <p:cNvSpPr txBox="1"/>
          <p:nvPr/>
        </p:nvSpPr>
        <p:spPr>
          <a:xfrm>
            <a:off x="276946" y="4122606"/>
            <a:ext cx="11896329" cy="830997"/>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いつまでに、誰が、何をするのか</a:t>
            </a:r>
            <a:endParaRPr lang="en-US" altLang="ja-JP" sz="2400" b="1" dirty="0">
              <a:latin typeface="メイリオ" panose="020B0604030504040204" pitchFamily="50" charset="-128"/>
              <a:ea typeface="メイリオ" panose="020B0604030504040204" pitchFamily="50" charset="-128"/>
              <a:cs typeface="Meiryo" charset="-128"/>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b="1" dirty="0">
                <a:latin typeface="メイリオ" panose="020B0604030504040204" pitchFamily="50" charset="-128"/>
                <a:ea typeface="メイリオ" panose="020B0604030504040204" pitchFamily="50" charset="-128"/>
                <a:cs typeface="Meiryo" charset="-128"/>
              </a:rPr>
              <a:t>具体的な</a:t>
            </a:r>
            <a:r>
              <a:rPr lang="en-US" altLang="ja-JP" sz="2400" b="1" dirty="0">
                <a:latin typeface="メイリオ" panose="020B0604030504040204" pitchFamily="50" charset="-128"/>
                <a:ea typeface="メイリオ" panose="020B0604030504040204" pitchFamily="50" charset="-128"/>
                <a:cs typeface="Meiryo" charset="-128"/>
              </a:rPr>
              <a:t>Next Action</a:t>
            </a:r>
            <a:r>
              <a:rPr lang="ja-JP" altLang="en-US" sz="2400" b="1" dirty="0">
                <a:latin typeface="メイリオ" panose="020B0604030504040204" pitchFamily="50" charset="-128"/>
                <a:ea typeface="メイリオ" panose="020B0604030504040204" pitchFamily="50" charset="-128"/>
                <a:cs typeface="Meiryo" charset="-128"/>
              </a:rPr>
              <a:t>になっていないと物事は動かない</a:t>
            </a:r>
            <a:endParaRPr lang="en-US" altLang="ja-JP" sz="2400" b="1" dirty="0">
              <a:latin typeface="メイリオ" panose="020B0604030504040204" pitchFamily="50" charset="-128"/>
              <a:ea typeface="メイリオ" panose="020B0604030504040204" pitchFamily="50" charset="-128"/>
              <a:cs typeface="Meiryo" charset="-128"/>
            </a:endParaRPr>
          </a:p>
        </p:txBody>
      </p:sp>
      <p:sp>
        <p:nvSpPr>
          <p:cNvPr id="7" name="四角形: 角を丸くする 6">
            <a:extLst>
              <a:ext uri="{FF2B5EF4-FFF2-40B4-BE49-F238E27FC236}">
                <a16:creationId xmlns:a16="http://schemas.microsoft.com/office/drawing/2014/main" id="{A7495EE8-79A2-B73A-C15C-07FB755321CC}"/>
              </a:ext>
            </a:extLst>
          </p:cNvPr>
          <p:cNvSpPr/>
          <p:nvPr/>
        </p:nvSpPr>
        <p:spPr>
          <a:xfrm rot="1624050">
            <a:off x="10739966" y="299117"/>
            <a:ext cx="1227667" cy="56006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latin typeface="メイリオ" panose="020B0604030504040204" pitchFamily="50" charset="-128"/>
                <a:ea typeface="メイリオ" panose="020B0604030504040204" pitchFamily="50" charset="-128"/>
              </a:rPr>
              <a:t>提出物</a:t>
            </a:r>
          </a:p>
        </p:txBody>
      </p:sp>
    </p:spTree>
    <p:extLst>
      <p:ext uri="{BB962C8B-B14F-4D97-AF65-F5344CB8AC3E}">
        <p14:creationId xmlns:p14="http://schemas.microsoft.com/office/powerpoint/2010/main" val="16614726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テキスト ボックス 3"/>
          <p:cNvSpPr txBox="1"/>
          <p:nvPr/>
        </p:nvSpPr>
        <p:spPr>
          <a:xfrm>
            <a:off x="486576" y="127937"/>
            <a:ext cx="8692078" cy="523220"/>
          </a:xfrm>
          <a:prstGeom prst="rect">
            <a:avLst/>
          </a:prstGeom>
          <a:noFill/>
        </p:spPr>
        <p:txBody>
          <a:bodyPr wrap="square" rtlCol="0">
            <a:spAutoFit/>
          </a:bodyPr>
          <a:lstStyle/>
          <a:p>
            <a:r>
              <a:rPr lang="ja-JP" altLang="en-US" sz="2800" b="1" dirty="0">
                <a:latin typeface="Meiryo" charset="-128"/>
                <a:ea typeface="Meiryo" charset="-128"/>
                <a:cs typeface="Meiryo" charset="-128"/>
              </a:rPr>
              <a:t>本日の過ごし方</a:t>
            </a:r>
          </a:p>
        </p:txBody>
      </p:sp>
      <p:cxnSp>
        <p:nvCxnSpPr>
          <p:cNvPr id="5" name="直線コネクタ 4"/>
          <p:cNvCxnSpPr/>
          <p:nvPr/>
        </p:nvCxnSpPr>
        <p:spPr>
          <a:xfrm>
            <a:off x="276946" y="651157"/>
            <a:ext cx="116295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角丸四角形 5"/>
          <p:cNvSpPr/>
          <p:nvPr/>
        </p:nvSpPr>
        <p:spPr>
          <a:xfrm>
            <a:off x="295671" y="147101"/>
            <a:ext cx="144016" cy="432048"/>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latin typeface="Meiryo" charset="-128"/>
              <a:ea typeface="Meiryo" charset="-128"/>
              <a:cs typeface="Meiryo" charset="-128"/>
            </a:endParaRPr>
          </a:p>
        </p:txBody>
      </p:sp>
      <p:sp>
        <p:nvSpPr>
          <p:cNvPr id="3" name="フッター プレースホルダー 2"/>
          <p:cNvSpPr>
            <a:spLocks noGrp="1"/>
          </p:cNvSpPr>
          <p:nvPr>
            <p:ph type="ftr" idx="11"/>
          </p:nvPr>
        </p:nvSpPr>
        <p:spPr/>
        <p:txBody>
          <a:bodyPr/>
          <a:lstStyle/>
          <a:p>
            <a:r>
              <a:rPr lang="en-US"/>
              <a:t>©2022 LINE</a:t>
            </a:r>
          </a:p>
        </p:txBody>
      </p:sp>
      <p:sp>
        <p:nvSpPr>
          <p:cNvPr id="7" name="スライド番号プレースホルダー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JP" smtClean="0">
                <a:uFillTx/>
              </a:rPr>
              <a:t>77</a:t>
            </a:fld>
            <a:endParaRPr lang="ja-JP" altLang="en-US">
              <a:uFillTx/>
            </a:endParaRPr>
          </a:p>
        </p:txBody>
      </p:sp>
      <p:sp>
        <p:nvSpPr>
          <p:cNvPr id="8" name="正方形/長方形 7">
            <a:extLst>
              <a:ext uri="{FF2B5EF4-FFF2-40B4-BE49-F238E27FC236}">
                <a16:creationId xmlns:a16="http://schemas.microsoft.com/office/drawing/2014/main" id="{202FA2B0-B568-CF67-2E75-E16156D7D53F}"/>
              </a:ext>
            </a:extLst>
          </p:cNvPr>
          <p:cNvSpPr/>
          <p:nvPr/>
        </p:nvSpPr>
        <p:spPr>
          <a:xfrm>
            <a:off x="747833" y="1174377"/>
            <a:ext cx="10094338" cy="523220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組織開発とはなにか？</a:t>
            </a:r>
            <a:endParaRPr kumimoji="0" lang="en-US" altLang="ja-JP"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組織開発の狙い</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組織開発の効果</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ja-JP" altLang="en-US" sz="2400" dirty="0">
                <a:latin typeface="メイリオ" panose="020B0604030504040204" pitchFamily="50" charset="-128"/>
                <a:ea typeface="メイリオ" panose="020B0604030504040204" pitchFamily="50" charset="-128"/>
              </a:rPr>
              <a:t>組織開発が求められる背景</a:t>
            </a:r>
            <a:endParaRPr lang="en-US" altLang="ja-JP" sz="2400" dirty="0">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lang="en-US" altLang="ja-JP" sz="2400" dirty="0">
                <a:latin typeface="メイリオ" panose="020B0604030504040204" pitchFamily="50" charset="-128"/>
                <a:ea typeface="メイリオ" panose="020B0604030504040204" pitchFamily="50" charset="-128"/>
              </a:rPr>
              <a:t>1on1</a:t>
            </a:r>
            <a:r>
              <a:rPr lang="ja-JP" altLang="en-US" sz="2400" dirty="0">
                <a:latin typeface="メイリオ" panose="020B0604030504040204" pitchFamily="50" charset="-128"/>
                <a:ea typeface="メイリオ" panose="020B0604030504040204" pitchFamily="50" charset="-128"/>
              </a:rPr>
              <a:t>の次の武器、組織開発</a:t>
            </a:r>
            <a:endParaRPr lang="en-US" altLang="ja-JP" sz="2400" dirty="0">
              <a:latin typeface="メイリオ" panose="020B0604030504040204" pitchFamily="50" charset="-128"/>
              <a:ea typeface="メイリオ"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代表的な考え方のフレームと事例</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組織開発の手法で課題を見立てる</a:t>
            </a:r>
            <a:endParaRPr kumimoji="0" lang="en-US" altLang="ja-JP" sz="4000" b="1"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組織開発への反応</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レバレッジポイントの合意</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レバレッジポイントを探しに行く</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ja-JP" altLang="en-US"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rPr>
              <a:t>組織課題の見立て（私の場合）</a:t>
            </a:r>
            <a:endParaRPr kumimoji="0" lang="en-US" altLang="ja-JP" sz="2400" b="0" i="0" u="none" strike="noStrike" kern="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a:sym typeface="Arial"/>
            </a:endParaRPr>
          </a:p>
          <a:p>
            <a:endParaRPr lang="en-US" altLang="ja-JP"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448967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193636" y="-311970"/>
            <a:ext cx="12500386" cy="721300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p:cNvSpPr>
            <a:spLocks noGrp="1"/>
          </p:cNvSpPr>
          <p:nvPr>
            <p:ph type="sldNum" sz="quarter" idx="12"/>
          </p:nvPr>
        </p:nvSpPr>
        <p:spPr/>
        <p:txBody>
          <a:bodyPr/>
          <a:lstStyle/>
          <a:p>
            <a:fld id="{7EB29901-185E-436F-B7EE-94CD3DCFCF3C}" type="slidenum">
              <a:rPr kumimoji="1" lang="ja-JP" altLang="en-US" smtClean="0">
                <a:solidFill>
                  <a:schemeClr val="bg1">
                    <a:lumMod val="50000"/>
                  </a:schemeClr>
                </a:solidFill>
              </a:rPr>
              <a:t>78</a:t>
            </a:fld>
            <a:endParaRPr kumimoji="1" lang="ja-JP" altLang="en-US" dirty="0">
              <a:solidFill>
                <a:schemeClr val="bg1">
                  <a:lumMod val="50000"/>
                </a:schemeClr>
              </a:solidFill>
            </a:endParaRPr>
          </a:p>
        </p:txBody>
      </p:sp>
      <p:sp>
        <p:nvSpPr>
          <p:cNvPr id="4" name="フッター プレースホルダー 3"/>
          <p:cNvSpPr>
            <a:spLocks noGrp="1"/>
          </p:cNvSpPr>
          <p:nvPr>
            <p:ph type="ftr" sz="quarter" idx="11"/>
          </p:nvPr>
        </p:nvSpPr>
        <p:spPr>
          <a:xfrm>
            <a:off x="4648200" y="6356351"/>
            <a:ext cx="3175992" cy="365125"/>
          </a:xfrm>
        </p:spPr>
        <p:txBody>
          <a:bodyPr/>
          <a:lstStyle/>
          <a:p>
            <a:r>
              <a:rPr kumimoji="1" lang="en-US" altLang="ja-JP">
                <a:solidFill>
                  <a:schemeClr val="bg1">
                    <a:lumMod val="50000"/>
                  </a:schemeClr>
                </a:solidFill>
              </a:rPr>
              <a:t>©2022 LINE</a:t>
            </a:r>
            <a:endParaRPr kumimoji="1" lang="ja-JP" altLang="en-US" dirty="0">
              <a:solidFill>
                <a:schemeClr val="bg1">
                  <a:lumMod val="50000"/>
                </a:schemeClr>
              </a:solidFill>
            </a:endParaRPr>
          </a:p>
        </p:txBody>
      </p:sp>
      <p:sp>
        <p:nvSpPr>
          <p:cNvPr id="14" name="テキスト ボックス 13"/>
          <p:cNvSpPr txBox="1"/>
          <p:nvPr/>
        </p:nvSpPr>
        <p:spPr>
          <a:xfrm>
            <a:off x="1124508" y="2687433"/>
            <a:ext cx="10302949" cy="1015663"/>
          </a:xfrm>
          <a:prstGeom prst="rect">
            <a:avLst/>
          </a:prstGeom>
          <a:noFill/>
        </p:spPr>
        <p:txBody>
          <a:bodyPr wrap="square" rtlCol="0" anchor="ctr">
            <a:spAutoFit/>
          </a:bodyPr>
          <a:lstStyle/>
          <a:p>
            <a:pPr algn="ctr"/>
            <a:r>
              <a:rPr lang="en-US" altLang="ja-JP" sz="6000" b="1" dirty="0">
                <a:solidFill>
                  <a:schemeClr val="bg1"/>
                </a:solidFill>
              </a:rPr>
              <a:t>The future is in our hands</a:t>
            </a:r>
            <a:endParaRPr lang="en-US" altLang="ja-JP" sz="88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p:cNvSpPr txBox="1"/>
          <p:nvPr/>
        </p:nvSpPr>
        <p:spPr>
          <a:xfrm>
            <a:off x="1124507" y="3619885"/>
            <a:ext cx="10302949" cy="707886"/>
          </a:xfrm>
          <a:prstGeom prst="rect">
            <a:avLst/>
          </a:prstGeom>
          <a:noFill/>
        </p:spPr>
        <p:txBody>
          <a:bodyPr wrap="square" rtlCol="0" anchor="ctr">
            <a:spAutoFit/>
          </a:bodyPr>
          <a:lstStyle/>
          <a:p>
            <a:pPr algn="ctr"/>
            <a:r>
              <a:rPr lang="ja-JP" altLang="en-US" sz="4000" b="1" dirty="0">
                <a:solidFill>
                  <a:schemeClr val="bg1"/>
                </a:solidFill>
                <a:latin typeface="メイリオ" panose="020B0604030504040204" pitchFamily="50" charset="-128"/>
                <a:ea typeface="メイリオ" panose="020B0604030504040204" pitchFamily="50" charset="-128"/>
              </a:rPr>
              <a:t>未来は僕らの手の中</a:t>
            </a:r>
            <a:endParaRPr lang="en-US" altLang="ja-JP" sz="6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8054030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2"/>
          </p:nvPr>
        </p:nvSpPr>
        <p:spPr/>
        <p:txBody>
          <a:bodyPr/>
          <a:lstStyle/>
          <a:p>
            <a:fld id="{7EB29901-185E-436F-B7EE-94CD3DCFCF3C}" type="slidenum">
              <a:rPr kumimoji="1" lang="ja-JP" altLang="en-US" smtClean="0"/>
              <a:t>79</a:t>
            </a:fld>
            <a:endParaRPr kumimoji="1" lang="ja-JP" altLang="en-US" dirty="0"/>
          </a:p>
        </p:txBody>
      </p:sp>
      <p:sp>
        <p:nvSpPr>
          <p:cNvPr id="3" name="フッター プレースホルダー 2"/>
          <p:cNvSpPr>
            <a:spLocks noGrp="1"/>
          </p:cNvSpPr>
          <p:nvPr>
            <p:ph type="ftr" sz="quarter" idx="11"/>
          </p:nvPr>
        </p:nvSpPr>
        <p:spPr/>
        <p:txBody>
          <a:bodyPr/>
          <a:lstStyle/>
          <a:p>
            <a:r>
              <a:rPr kumimoji="1" lang="en-US" altLang="ja-JP"/>
              <a:t>©Hiroshi Komukai</a:t>
            </a:r>
            <a:endParaRPr kumimoji="1" lang="ja-JP" altLang="en-US"/>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775" y="1484784"/>
            <a:ext cx="6648450" cy="3810000"/>
          </a:xfrm>
          <a:prstGeom prst="rect">
            <a:avLst/>
          </a:prstGeom>
        </p:spPr>
      </p:pic>
    </p:spTree>
    <p:extLst>
      <p:ext uri="{BB962C8B-B14F-4D97-AF65-F5344CB8AC3E}">
        <p14:creationId xmlns:p14="http://schemas.microsoft.com/office/powerpoint/2010/main" val="4162306800"/>
      </p:ext>
    </p:extLst>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19530</TotalTime>
  <Words>9855</Words>
  <Application>Microsoft Macintosh PowerPoint</Application>
  <PresentationFormat>ワイド画面</PresentationFormat>
  <Paragraphs>2261</Paragraphs>
  <Slides>79</Slides>
  <Notes>77</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79</vt:i4>
      </vt:variant>
    </vt:vector>
  </HeadingPairs>
  <TitlesOfParts>
    <vt:vector size="88" baseType="lpstr">
      <vt:lpstr>HGP創英角ｺﾞｼｯｸUB</vt:lpstr>
      <vt:lpstr>HG教科書体</vt:lpstr>
      <vt:lpstr>Meiryo UI</vt:lpstr>
      <vt:lpstr>Meiryo</vt:lpstr>
      <vt:lpstr>Meiryo</vt:lpstr>
      <vt:lpstr>Arial</vt:lpstr>
      <vt:lpstr>Wingdings</vt:lpstr>
      <vt:lpstr>Office テーマ</vt:lpstr>
      <vt:lpstr>1_Office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Komukai Hiroshi</dc:creator>
  <cp:lastModifiedBy>フィッシャーマン・ジャパン</cp:lastModifiedBy>
  <cp:revision>138</cp:revision>
  <dcterms:created xsi:type="dcterms:W3CDTF">2020-08-31T07:46:34Z</dcterms:created>
  <dcterms:modified xsi:type="dcterms:W3CDTF">2025-11-29T07:59:20Z</dcterms:modified>
</cp:coreProperties>
</file>